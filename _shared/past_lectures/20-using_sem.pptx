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45"/>
  </p:notesMasterIdLst>
  <p:sldIdLst>
    <p:sldId id="257" r:id="rId2"/>
    <p:sldId id="259" r:id="rId3"/>
    <p:sldId id="362" r:id="rId4"/>
    <p:sldId id="363" r:id="rId5"/>
    <p:sldId id="364" r:id="rId6"/>
    <p:sldId id="357" r:id="rId7"/>
    <p:sldId id="358" r:id="rId8"/>
    <p:sldId id="345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46" r:id="rId31"/>
    <p:sldId id="347" r:id="rId32"/>
    <p:sldId id="348" r:id="rId33"/>
    <p:sldId id="349" r:id="rId34"/>
    <p:sldId id="341" r:id="rId35"/>
    <p:sldId id="342" r:id="rId36"/>
    <p:sldId id="343" r:id="rId37"/>
    <p:sldId id="344" r:id="rId38"/>
    <p:sldId id="355" r:id="rId39"/>
    <p:sldId id="350" r:id="rId40"/>
    <p:sldId id="352" r:id="rId41"/>
    <p:sldId id="351" r:id="rId42"/>
    <p:sldId id="354" r:id="rId43"/>
    <p:sldId id="35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E85810"/>
    <a:srgbClr val="EF5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820" autoAdjust="0"/>
  </p:normalViewPr>
  <p:slideViewPr>
    <p:cSldViewPr snapToGrid="0" snapToObjects="1">
      <p:cViewPr varScale="1">
        <p:scale>
          <a:sx n="120" d="100"/>
          <a:sy n="120" d="100"/>
        </p:scale>
        <p:origin x="-1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interSettings" Target="printerSettings/printerSettings1.bin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52CE7-4774-CA43-9A9C-CC2060843298}" type="datetimeFigureOut">
              <a:rPr lang="en-US" smtClean="0"/>
              <a:t>3/12/14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A69CB-4233-3440-95E2-D1EA89432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64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BEDE5D-08B0-FD4C-810C-A4470B8AF5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A69CB-4233-3440-95E2-D1EA894328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61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Just</a:t>
            </a:r>
            <a:r>
              <a:rPr lang="en-US" baseline="0" dirty="0" smtClean="0"/>
              <a:t> a lock surrounding a critical section.  That’s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A69CB-4233-3440-95E2-D1EA894328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5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We’ll see how to use semaphores to solve two</a:t>
            </a:r>
            <a:r>
              <a:rPr lang="en-US" baseline="0" dirty="0" smtClean="0"/>
              <a:t> practical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A69CB-4233-3440-95E2-D1EA894328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52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DO: The animation may</a:t>
            </a:r>
            <a:r>
              <a:rPr lang="en-US" baseline="0" dirty="0" smtClean="0"/>
              <a:t> need to be adjusted in </a:t>
            </a:r>
            <a:r>
              <a:rPr lang="en-US" baseline="0" smtClean="0"/>
              <a:t>this slide.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A69CB-4233-3440-95E2-D1EA894328B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01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Note, the</a:t>
            </a:r>
            <a:r>
              <a:rPr lang="en-US" baseline="0" dirty="0" smtClean="0"/>
              <a:t> slides from Fall 2011 have a complete solution with semaphores, and some nice explanation of it, which guarantees no starvation for readers or writers.  I didn’t include that here due to time and complexity of the example.  See: 16-ClassicSynch.ppt</a:t>
            </a:r>
          </a:p>
          <a:p>
            <a:endParaRPr lang="en-US" baseline="0" dirty="0" smtClean="0"/>
          </a:p>
          <a:p>
            <a:r>
              <a:rPr lang="en-US" baseline="0" dirty="0" smtClean="0"/>
              <a:t>In the Condition Variables lecture coming up later, I did include a condition variable-based solution which guarantees no starvation for readers or writers, and is (I think) a little simpler.  (It’s also not *quite* as good, in that there’s a bit of extra signaling overhead.  But it does demonstrate the main idea.)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A69CB-4233-3440-95E2-D1EA894328B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39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Note, the</a:t>
            </a:r>
            <a:r>
              <a:rPr lang="en-US" baseline="0" dirty="0" smtClean="0"/>
              <a:t> slides from Fall 2011 have a complete solution with semaphores, and some nice explanation of it, which guarantees no starvation for readers or writers.  I didn’t include that here due to time and complexity of the example.  See: 16-ClassicSynch.ppt</a:t>
            </a:r>
          </a:p>
          <a:p>
            <a:endParaRPr lang="en-US" baseline="0" dirty="0" smtClean="0"/>
          </a:p>
          <a:p>
            <a:r>
              <a:rPr lang="en-US" baseline="0" dirty="0" smtClean="0"/>
              <a:t>In the Condition Variables lecture coming up later, I did include a condition variable-based solution which guarantees no starvation for readers or writers, and is (I think) a little simpler.  (It’s also not *quite* as good, in that there’s a bit of extra signaling overhead.  But it does demonstrate the main idea.)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A69CB-4233-3440-95E2-D1EA894328B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85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Museo 500"/>
                <a:cs typeface="Museo 50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latin typeface="Gill Sans MT"/>
                <a:cs typeface="Gill Sans M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19400"/>
            <a:ext cx="8382000" cy="1362075"/>
          </a:xfrm>
        </p:spPr>
        <p:txBody>
          <a:bodyPr anchor="t"/>
          <a:lstStyle>
            <a:lvl1pPr algn="ctr">
              <a:defRPr sz="4000" b="1" cap="none">
                <a:solidFill>
                  <a:srgbClr val="EE6E12"/>
                </a:solidFill>
                <a:latin typeface="Museo 500"/>
                <a:cs typeface="Museo 50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1" y="371182"/>
            <a:ext cx="838890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74091" y="1524000"/>
            <a:ext cx="8388909" cy="4953000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1" y="371182"/>
            <a:ext cx="838890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946150" y="64770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477000"/>
            <a:ext cx="3886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4770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77501225-10BC-4340-9EAB-10F7BD88EA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7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838891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8" name="Rectangle 7"/>
          <p:cNvSpPr/>
          <p:nvPr/>
        </p:nvSpPr>
        <p:spPr>
          <a:xfrm>
            <a:off x="8830843" y="6611779"/>
            <a:ext cx="3424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pitchFamily="-96" charset="-128"/>
                <a:cs typeface="Gill Sans MT"/>
              </a:rPr>
              <a:pPr/>
              <a:t>‹#›</a:t>
            </a:fld>
            <a:endParaRPr lang="en-US" dirty="0">
              <a:latin typeface="Gill Sans MT"/>
              <a:cs typeface="Gill Sans M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74090" y="1524000"/>
            <a:ext cx="838891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Text</a:t>
            </a:r>
          </a:p>
          <a:p>
            <a:pPr lvl="1"/>
            <a:r>
              <a:rPr lang="en-US" dirty="0" smtClean="0"/>
              <a:t>More text</a:t>
            </a:r>
          </a:p>
          <a:p>
            <a:pPr lvl="2"/>
            <a:r>
              <a:rPr lang="en-US" dirty="0" smtClean="0"/>
              <a:t>Still more text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marL="0" indent="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EE6E12"/>
          </a:solidFill>
          <a:latin typeface="Museo 500"/>
          <a:ea typeface="+mj-ea"/>
          <a:cs typeface="Museo 500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0" indent="0" algn="l" rtl="0" eaLnBrk="1" fontAlgn="base" hangingPunct="1">
        <a:spcBef>
          <a:spcPts val="1800"/>
        </a:spcBef>
        <a:spcAft>
          <a:spcPct val="0"/>
        </a:spcAft>
        <a:buClr>
          <a:schemeClr val="bg1"/>
        </a:buClr>
        <a:buSzPct val="25000"/>
        <a:buFont typeface="Arial"/>
        <a:buNone/>
        <a:defRPr sz="2500" b="0">
          <a:solidFill>
            <a:schemeClr val="tx1"/>
          </a:solidFill>
          <a:latin typeface="Gill Sans MT"/>
          <a:ea typeface="+mn-ea"/>
          <a:cs typeface="Gill Sans MT"/>
        </a:defRPr>
      </a:lvl1pPr>
      <a:lvl2pPr marL="715963" indent="-273050" algn="l" rtl="0" eaLnBrk="1" fontAlgn="base" hangingPunct="1">
        <a:spcBef>
          <a:spcPts val="480"/>
        </a:spcBef>
        <a:spcAft>
          <a:spcPct val="0"/>
        </a:spcAft>
        <a:buClrTx/>
        <a:buSzPct val="110000"/>
        <a:buFont typeface="Arial"/>
        <a:buChar char="•"/>
        <a:defRPr sz="2000" baseline="0">
          <a:solidFill>
            <a:schemeClr val="tx1"/>
          </a:solidFill>
          <a:latin typeface="Gill Sans MT"/>
          <a:cs typeface="Gill Sans M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 baseline="0">
          <a:solidFill>
            <a:schemeClr val="tx1"/>
          </a:solidFill>
          <a:latin typeface="Gill Sans MT"/>
          <a:cs typeface="Gill Sans M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Gill Sans"/>
          <a:cs typeface="Gill San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Gill Sans"/>
          <a:cs typeface="Gill San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wmf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wmf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wmf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9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Using Semaphores</a:t>
            </a:r>
            <a:endParaRPr lang="en-US" dirty="0"/>
          </a:p>
        </p:txBody>
      </p:sp>
      <p:sp>
        <p:nvSpPr>
          <p:cNvPr id="8" name="Subtitle 1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4425018" cy="2971800"/>
          </a:xfrm>
        </p:spPr>
        <p:txBody>
          <a:bodyPr>
            <a:normAutofit/>
          </a:bodyPr>
          <a:lstStyle/>
          <a:p>
            <a:r>
              <a:rPr lang="en-US" dirty="0"/>
              <a:t>CS 241</a:t>
            </a:r>
          </a:p>
          <a:p>
            <a:r>
              <a:rPr lang="en-US" smtClean="0"/>
              <a:t>March </a:t>
            </a:r>
            <a:r>
              <a:rPr lang="en-US" smtClean="0"/>
              <a:t>12, 2014</a:t>
            </a:r>
            <a:endParaRPr lang="en-US" dirty="0"/>
          </a:p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University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of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Illinois</a:t>
            </a:r>
          </a:p>
          <a:p>
            <a:r>
              <a:rPr lang="en-US" sz="1100" dirty="0" smtClean="0">
                <a:solidFill>
                  <a:schemeClr val="bg1">
                    <a:lumMod val="85000"/>
                  </a:schemeClr>
                </a:solidFill>
              </a:rPr>
              <a:t>Slides adapted in 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part from </a:t>
            </a:r>
            <a:r>
              <a:rPr lang="en-US" sz="1100" dirty="0" smtClean="0">
                <a:solidFill>
                  <a:schemeClr val="bg1">
                    <a:lumMod val="85000"/>
                  </a:schemeClr>
                </a:solidFill>
              </a:rPr>
              <a:t>material accompanying Bryant &amp; </a:t>
            </a:r>
            <a:r>
              <a:rPr lang="en-US" sz="1100" dirty="0" err="1" smtClean="0">
                <a:solidFill>
                  <a:schemeClr val="bg1">
                    <a:lumMod val="85000"/>
                  </a:schemeClr>
                </a:solidFill>
              </a:rPr>
              <a:t>O’Hallaron</a:t>
            </a:r>
            <a:r>
              <a:rPr lang="en-US" sz="1100" dirty="0" smtClean="0">
                <a:solidFill>
                  <a:schemeClr val="bg1">
                    <a:lumMod val="85000"/>
                  </a:schemeClr>
                </a:solidFill>
              </a:rPr>
              <a:t>, “Computer 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Systems: A Programmer's </a:t>
            </a:r>
            <a:r>
              <a:rPr lang="en-US" sz="1100" dirty="0" smtClean="0">
                <a:solidFill>
                  <a:schemeClr val="bg1">
                    <a:lumMod val="85000"/>
                  </a:schemeClr>
                </a:solidFill>
              </a:rPr>
              <a:t>Perspective”, 2/E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995" y="2746457"/>
            <a:ext cx="5105006" cy="381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0894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Midterm</a:t>
            </a:r>
          </a:p>
          <a:p>
            <a:pPr lvl="1"/>
            <a:r>
              <a:rPr lang="en-US" dirty="0" smtClean="0"/>
              <a:t>Grades by Friday</a:t>
            </a:r>
          </a:p>
          <a:p>
            <a:pPr lvl="1"/>
            <a:r>
              <a:rPr lang="en-US" dirty="0" smtClean="0"/>
              <a:t>No discussion of solutions yet</a:t>
            </a:r>
          </a:p>
          <a:p>
            <a:pPr lvl="2"/>
            <a:r>
              <a:rPr lang="en-US" dirty="0" smtClean="0"/>
              <a:t>We will discuss them next week</a:t>
            </a:r>
            <a:endParaRPr lang="en-US" dirty="0" smtClean="0"/>
          </a:p>
          <a:p>
            <a:r>
              <a:rPr lang="en-US" dirty="0" smtClean="0"/>
              <a:t>Brighten lecturing now</a:t>
            </a:r>
          </a:p>
          <a:p>
            <a:pPr lvl="1"/>
            <a:r>
              <a:rPr lang="en-US" dirty="0" smtClean="0"/>
              <a:t>Office hours: Mondays right after lecture</a:t>
            </a:r>
            <a:endParaRPr lang="en-US" dirty="0" smtClean="0"/>
          </a:p>
          <a:p>
            <a:r>
              <a:rPr lang="en-US" dirty="0" smtClean="0"/>
              <a:t>Today</a:t>
            </a:r>
            <a:endParaRPr lang="en-US" dirty="0" smtClean="0"/>
          </a:p>
          <a:p>
            <a:pPr lvl="1"/>
            <a:r>
              <a:rPr lang="en-US" dirty="0" smtClean="0"/>
              <a:t>Using </a:t>
            </a:r>
            <a:r>
              <a:rPr lang="en-US" dirty="0" smtClean="0"/>
              <a:t>semaphores: the </a:t>
            </a:r>
            <a:r>
              <a:rPr lang="en-US" dirty="0" smtClean="0">
                <a:solidFill>
                  <a:srgbClr val="EF5B00"/>
                </a:solidFill>
              </a:rPr>
              <a:t>producer-consumer </a:t>
            </a:r>
            <a:r>
              <a:rPr lang="en-US" dirty="0" smtClean="0"/>
              <a:t>problem</a:t>
            </a:r>
          </a:p>
          <a:p>
            <a:pPr lvl="1"/>
            <a:r>
              <a:rPr lang="en-US" dirty="0" smtClean="0"/>
              <a:t>Using semaphores: the </a:t>
            </a:r>
            <a:r>
              <a:rPr lang="en-US" dirty="0" smtClean="0">
                <a:solidFill>
                  <a:srgbClr val="EF5B00"/>
                </a:solidFill>
              </a:rPr>
              <a:t>readers-writers </a:t>
            </a:r>
            <a:r>
              <a:rPr lang="en-US" dirty="0" smtClean="0"/>
              <a:t>problem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522187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Semaphores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2285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Review: Semaphores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Problem: coordinating simultaneous access to shared data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Solution: mutually exclusive access to critical region</a:t>
            </a:r>
          </a:p>
          <a:p>
            <a:pPr lvl="1"/>
            <a:r>
              <a:rPr lang="en-US" dirty="0" smtClean="0"/>
              <a:t>Only one thread/process accesses shared data at a time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20304" y="2152374"/>
            <a:ext cx="597180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solidFill>
                  <a:srgbClr val="0000FF"/>
                </a:solidFill>
                <a:latin typeface="Monaco"/>
              </a:rPr>
              <a:t>int</a:t>
            </a:r>
            <a:r>
              <a:rPr lang="en-US" sz="1600" dirty="0" smtClean="0">
                <a:solidFill>
                  <a:prstClr val="black"/>
                </a:solidFill>
                <a:latin typeface="Monaco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Monaco"/>
              </a:rPr>
              <a:t>cnt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 = </a:t>
            </a:r>
            <a:r>
              <a:rPr lang="en-US" sz="1600" dirty="0">
                <a:solidFill>
                  <a:srgbClr val="0000CD"/>
                </a:solidFill>
                <a:latin typeface="Monaco"/>
              </a:rPr>
              <a:t>0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;</a:t>
            </a:r>
            <a:br>
              <a:rPr lang="en-US" sz="1600" dirty="0">
                <a:solidFill>
                  <a:prstClr val="black"/>
                </a:solidFill>
                <a:latin typeface="Monaco"/>
              </a:rPr>
            </a:br>
            <a:r>
              <a:rPr lang="en-US" sz="1600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dirty="0">
                <a:solidFill>
                  <a:prstClr val="black"/>
                </a:solidFill>
                <a:latin typeface="Monaco"/>
              </a:rPr>
            </a:br>
            <a:r>
              <a:rPr lang="en-US" sz="1600" dirty="0">
                <a:solidFill>
                  <a:srgbClr val="0000FF"/>
                </a:solidFill>
                <a:latin typeface="Monaco"/>
              </a:rPr>
              <a:t>void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 * </a:t>
            </a:r>
            <a:r>
              <a:rPr lang="en-US" sz="1600" b="1" dirty="0">
                <a:solidFill>
                  <a:srgbClr val="0000A2"/>
                </a:solidFill>
                <a:latin typeface="Monaco"/>
              </a:rPr>
              <a:t>worker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( </a:t>
            </a:r>
            <a:r>
              <a:rPr lang="en-US" sz="1600" dirty="0">
                <a:solidFill>
                  <a:srgbClr val="0000FF"/>
                </a:solidFill>
                <a:latin typeface="Monaco"/>
              </a:rPr>
              <a:t>void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 *</a:t>
            </a:r>
            <a:r>
              <a:rPr lang="en-US" sz="1600" dirty="0" err="1">
                <a:solidFill>
                  <a:prstClr val="black"/>
                </a:solidFill>
                <a:latin typeface="Monaco"/>
              </a:rPr>
              <a:t>ptr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 )</a:t>
            </a:r>
            <a:br>
              <a:rPr lang="en-US" sz="1600" dirty="0">
                <a:solidFill>
                  <a:prstClr val="black"/>
                </a:solidFill>
                <a:latin typeface="Monaco"/>
              </a:rPr>
            </a:br>
            <a:r>
              <a:rPr lang="en-US" sz="1600" dirty="0">
                <a:solidFill>
                  <a:prstClr val="black"/>
                </a:solidFill>
                <a:latin typeface="Monaco"/>
              </a:rPr>
              <a:t>{</a:t>
            </a:r>
            <a:br>
              <a:rPr lang="en-US" sz="1600" dirty="0">
                <a:solidFill>
                  <a:prstClr val="black"/>
                </a:solidFill>
                <a:latin typeface="Monaco"/>
              </a:rPr>
            </a:br>
            <a:r>
              <a:rPr lang="en-US" sz="1600" dirty="0">
                <a:solidFill>
                  <a:prstClr val="black"/>
                </a:solidFill>
                <a:latin typeface="Monaco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Monaco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Monaco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;</a:t>
            </a:r>
            <a:br>
              <a:rPr lang="en-US" sz="1600" dirty="0">
                <a:solidFill>
                  <a:prstClr val="black"/>
                </a:solidFill>
                <a:latin typeface="Monaco"/>
              </a:rPr>
            </a:br>
            <a:r>
              <a:rPr lang="en-US" sz="1600" dirty="0">
                <a:solidFill>
                  <a:prstClr val="black"/>
                </a:solidFill>
                <a:latin typeface="Monaco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Monaco"/>
              </a:rPr>
              <a:t>for 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Monaco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 = </a:t>
            </a:r>
            <a:r>
              <a:rPr lang="en-US" sz="1600" dirty="0">
                <a:solidFill>
                  <a:srgbClr val="0000CD"/>
                </a:solidFill>
                <a:latin typeface="Monaco"/>
              </a:rPr>
              <a:t>0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; </a:t>
            </a:r>
            <a:r>
              <a:rPr lang="en-US" sz="1600" dirty="0" err="1">
                <a:solidFill>
                  <a:prstClr val="black"/>
                </a:solidFill>
                <a:latin typeface="Monaco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 &lt; ITERATIONS_PER_THREAD; </a:t>
            </a:r>
            <a:r>
              <a:rPr lang="en-US" sz="1600" dirty="0" err="1">
                <a:solidFill>
                  <a:prstClr val="black"/>
                </a:solidFill>
                <a:latin typeface="Monaco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++)</a:t>
            </a:r>
            <a:br>
              <a:rPr lang="en-US" sz="1600" dirty="0">
                <a:solidFill>
                  <a:prstClr val="black"/>
                </a:solidFill>
                <a:latin typeface="Monaco"/>
              </a:rPr>
            </a:br>
            <a:r>
              <a:rPr lang="en-US" sz="1600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dirty="0" err="1">
                <a:solidFill>
                  <a:prstClr val="black"/>
                </a:solidFill>
                <a:latin typeface="Monaco"/>
              </a:rPr>
              <a:t>cnt</a:t>
            </a:r>
            <a:r>
              <a:rPr lang="en-US" sz="1600" dirty="0">
                <a:solidFill>
                  <a:prstClr val="black"/>
                </a:solidFill>
                <a:latin typeface="Monaco"/>
              </a:rPr>
              <a:t>++;</a:t>
            </a:r>
            <a:br>
              <a:rPr lang="en-US" sz="1600" dirty="0">
                <a:solidFill>
                  <a:prstClr val="black"/>
                </a:solidFill>
                <a:latin typeface="Monaco"/>
              </a:rPr>
            </a:br>
            <a:r>
              <a:rPr lang="en-US" sz="1600" dirty="0" smtClean="0">
                <a:solidFill>
                  <a:prstClr val="black"/>
                </a:solidFill>
                <a:latin typeface="Monaco"/>
              </a:rPr>
              <a:t>}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48192" y="4029811"/>
            <a:ext cx="3981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EF5B00"/>
                </a:solidFill>
                <a:latin typeface="Gill Sans MT"/>
                <a:cs typeface="Gill Sans MT"/>
              </a:rPr>
              <a:t>Critical section</a:t>
            </a:r>
          </a:p>
          <a:p>
            <a:r>
              <a:rPr lang="en-US" sz="2000" dirty="0" smtClean="0">
                <a:solidFill>
                  <a:srgbClr val="EF5B00"/>
                </a:solidFill>
                <a:latin typeface="Gill Sans MT"/>
                <a:cs typeface="Gill Sans MT"/>
              </a:rPr>
              <a:t>(just one line in this simple example)</a:t>
            </a:r>
            <a:endParaRPr lang="en-US" sz="2000" dirty="0" smtClean="0">
              <a:solidFill>
                <a:srgbClr val="EF5B00"/>
              </a:solidFill>
              <a:latin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35913" y="2152374"/>
            <a:ext cx="1402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EF5B00"/>
                </a:solidFill>
                <a:latin typeface="Gill Sans MT"/>
                <a:cs typeface="Gill Sans MT"/>
              </a:rPr>
              <a:t>Shared data</a:t>
            </a:r>
            <a:endParaRPr lang="en-US" sz="2000" dirty="0" smtClean="0">
              <a:solidFill>
                <a:srgbClr val="EF5B00"/>
              </a:solidFill>
              <a:latin typeface="Arial"/>
              <a:cs typeface="Arial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>
            <a:off x="2771913" y="2352261"/>
            <a:ext cx="864000" cy="0"/>
          </a:xfrm>
          <a:prstGeom prst="straightConnector1">
            <a:avLst/>
          </a:prstGeom>
          <a:noFill/>
          <a:ln w="25400" cap="flat" cmpd="sng" algn="ctr">
            <a:solidFill>
              <a:srgbClr val="EF5B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H="1" flipV="1">
            <a:off x="3043030" y="3835451"/>
            <a:ext cx="2005162" cy="379026"/>
          </a:xfrm>
          <a:prstGeom prst="straightConnector1">
            <a:avLst/>
          </a:prstGeom>
          <a:noFill/>
          <a:ln w="25400" cap="flat" cmpd="sng" algn="ctr">
            <a:solidFill>
              <a:srgbClr val="EF5B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611584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Semaphores for mutual exclusion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</a:t>
            </a:r>
            <a:r>
              <a:rPr lang="en-US" dirty="0" smtClean="0"/>
              <a:t>idea</a:t>
            </a:r>
            <a:endParaRPr lang="en-US" dirty="0"/>
          </a:p>
          <a:p>
            <a:pPr lvl="1"/>
            <a:r>
              <a:rPr lang="en-US" dirty="0"/>
              <a:t>Associate a unique semaphore </a:t>
            </a:r>
            <a:r>
              <a:rPr lang="en-US" i="1" dirty="0" err="1"/>
              <a:t>mutex</a:t>
            </a:r>
            <a:r>
              <a:rPr lang="en-US" dirty="0"/>
              <a:t>, initially </a:t>
            </a:r>
            <a:r>
              <a:rPr lang="en-US" dirty="0">
                <a:latin typeface="Arial"/>
                <a:cs typeface="Arial"/>
              </a:rPr>
              <a:t>1</a:t>
            </a:r>
            <a:r>
              <a:rPr lang="en-US" dirty="0"/>
              <a:t>, with each shared variable (or related set of shared variables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Surround corresponding critical sections with </a:t>
            </a:r>
            <a:r>
              <a:rPr lang="en-US" i="1" dirty="0" smtClean="0"/>
              <a:t>wait(</a:t>
            </a:r>
            <a:r>
              <a:rPr lang="en-US" i="1" dirty="0" err="1"/>
              <a:t>mutex</a:t>
            </a:r>
            <a:r>
              <a:rPr lang="en-US" i="1" dirty="0"/>
              <a:t>)</a:t>
            </a:r>
            <a:r>
              <a:rPr lang="en-US" dirty="0"/>
              <a:t> and </a:t>
            </a:r>
          </a:p>
          <a:p>
            <a:pPr lvl="1">
              <a:buNone/>
            </a:pPr>
            <a:r>
              <a:rPr lang="en-US" i="1" dirty="0"/>
              <a:t>	</a:t>
            </a:r>
            <a:r>
              <a:rPr lang="en-US" i="1" dirty="0" smtClean="0"/>
              <a:t>post(</a:t>
            </a:r>
            <a:r>
              <a:rPr lang="en-US" i="1" dirty="0" err="1"/>
              <a:t>mutex</a:t>
            </a:r>
            <a:r>
              <a:rPr lang="en-US" i="1" dirty="0"/>
              <a:t>)</a:t>
            </a:r>
            <a:r>
              <a:rPr lang="en-US" dirty="0"/>
              <a:t> operations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Terminology</a:t>
            </a:r>
            <a:endParaRPr lang="en-US" dirty="0"/>
          </a:p>
          <a:p>
            <a:pPr lvl="1"/>
            <a:r>
              <a:rPr lang="en-US" b="1" dirty="0">
                <a:solidFill>
                  <a:srgbClr val="EF5B00"/>
                </a:solidFill>
              </a:rPr>
              <a:t>Binary semaphore</a:t>
            </a:r>
            <a:r>
              <a:rPr lang="en-US" dirty="0"/>
              <a:t>: semaphore whose value is always 0 or </a:t>
            </a:r>
            <a:r>
              <a:rPr lang="en-US" dirty="0">
                <a:latin typeface="Helvetica"/>
                <a:cs typeface="Helvetica"/>
              </a:rPr>
              <a:t>1</a:t>
            </a:r>
          </a:p>
          <a:p>
            <a:pPr lvl="1"/>
            <a:r>
              <a:rPr lang="en-US" b="1" dirty="0" err="1" smtClean="0">
                <a:solidFill>
                  <a:srgbClr val="EF5B00"/>
                </a:solidFill>
              </a:rPr>
              <a:t>Mutex</a:t>
            </a:r>
            <a:r>
              <a:rPr lang="en-US" b="1" dirty="0" smtClean="0">
                <a:solidFill>
                  <a:srgbClr val="EF5B00"/>
                </a:solidFill>
              </a:rPr>
              <a:t>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binary semaphore used for mutual exclusion</a:t>
            </a:r>
          </a:p>
          <a:p>
            <a:pPr lvl="2"/>
            <a:r>
              <a:rPr lang="en-US" i="1" dirty="0" smtClean="0"/>
              <a:t>wait</a:t>
            </a:r>
            <a:r>
              <a:rPr lang="en-US" dirty="0" smtClean="0"/>
              <a:t> </a:t>
            </a:r>
            <a:r>
              <a:rPr lang="en-US" dirty="0"/>
              <a:t>operation: </a:t>
            </a:r>
            <a:r>
              <a:rPr lang="en-US" dirty="0">
                <a:solidFill>
                  <a:srgbClr val="EF5B00"/>
                </a:solidFill>
              </a:rPr>
              <a:t>“locking”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the </a:t>
            </a:r>
            <a:r>
              <a:rPr lang="en-US" dirty="0" err="1"/>
              <a:t>mutex</a:t>
            </a:r>
            <a:endParaRPr lang="en-US" dirty="0">
              <a:solidFill>
                <a:srgbClr val="EF5B00"/>
              </a:solidFill>
            </a:endParaRPr>
          </a:p>
          <a:p>
            <a:pPr lvl="2"/>
            <a:r>
              <a:rPr lang="en-US" i="1" dirty="0" smtClean="0">
                <a:solidFill>
                  <a:srgbClr val="EF5B00"/>
                </a:solidFill>
              </a:rPr>
              <a:t>post</a:t>
            </a:r>
            <a:r>
              <a:rPr lang="en-US" dirty="0" smtClean="0">
                <a:solidFill>
                  <a:srgbClr val="EF5B00"/>
                </a:solidFill>
              </a:rPr>
              <a:t> </a:t>
            </a:r>
            <a:r>
              <a:rPr lang="en-US" dirty="0">
                <a:solidFill>
                  <a:srgbClr val="EF5B00"/>
                </a:solidFill>
              </a:rPr>
              <a:t>operation: “unlocking” or “releasing”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the </a:t>
            </a:r>
            <a:r>
              <a:rPr lang="en-US" dirty="0" err="1"/>
              <a:t>mutex</a:t>
            </a:r>
            <a:endParaRPr lang="en-US" dirty="0"/>
          </a:p>
          <a:p>
            <a:pPr lvl="2"/>
            <a:r>
              <a:rPr lang="en-US" dirty="0">
                <a:solidFill>
                  <a:srgbClr val="EF5B00"/>
                </a:solidFill>
              </a:rPr>
              <a:t>“Holding”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a </a:t>
            </a:r>
            <a:r>
              <a:rPr lang="en-US" dirty="0" err="1"/>
              <a:t>mutex</a:t>
            </a:r>
            <a:r>
              <a:rPr lang="en-US" dirty="0"/>
              <a:t>: locked and not yet </a:t>
            </a:r>
            <a:r>
              <a:rPr lang="en-US" dirty="0" smtClean="0"/>
              <a:t>unlocked</a:t>
            </a:r>
            <a:endParaRPr lang="en-US" dirty="0"/>
          </a:p>
          <a:p>
            <a:pPr lvl="1"/>
            <a:r>
              <a:rPr lang="en-US" b="1" dirty="0">
                <a:solidFill>
                  <a:srgbClr val="EF5B00"/>
                </a:solidFill>
              </a:rPr>
              <a:t>Counting semaphore</a:t>
            </a:r>
            <a:r>
              <a:rPr lang="en-US" dirty="0"/>
              <a:t>: used </a:t>
            </a:r>
            <a:r>
              <a:rPr lang="en-US" dirty="0" smtClean="0"/>
              <a:t>to count a </a:t>
            </a:r>
            <a:r>
              <a:rPr lang="en-US" dirty="0"/>
              <a:t>set of available </a:t>
            </a:r>
            <a:r>
              <a:rPr lang="en-US" dirty="0" smtClean="0"/>
              <a:t>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2164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Before: Basic use of semaphores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85725" y="2619452"/>
            <a:ext cx="62180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600" b="1" dirty="0" err="1" smtClean="0">
                <a:solidFill>
                  <a:srgbClr val="0000FF"/>
                </a:solidFill>
                <a:latin typeface="Monaco"/>
              </a:rPr>
              <a:t>void</a:t>
            </a:r>
            <a:r>
              <a:rPr lang="fi-FI" sz="1600" b="1" dirty="0" smtClean="0">
                <a:solidFill>
                  <a:prstClr val="black"/>
                </a:solidFill>
                <a:latin typeface="Monaco"/>
              </a:rPr>
              <a:t> </a:t>
            </a:r>
            <a:r>
              <a:rPr lang="fi-FI" sz="1600" b="1" dirty="0">
                <a:solidFill>
                  <a:prstClr val="black"/>
                </a:solidFill>
                <a:latin typeface="Monaco"/>
              </a:rPr>
              <a:t>* </a:t>
            </a:r>
            <a:r>
              <a:rPr lang="fi-FI" sz="1600" b="1" dirty="0" err="1">
                <a:solidFill>
                  <a:srgbClr val="0000A2"/>
                </a:solidFill>
                <a:latin typeface="Monaco"/>
              </a:rPr>
              <a:t>worker</a:t>
            </a:r>
            <a:r>
              <a:rPr lang="fi-FI" sz="1600" b="1" dirty="0">
                <a:solidFill>
                  <a:prstClr val="black"/>
                </a:solidFill>
                <a:latin typeface="Monaco"/>
              </a:rPr>
              <a:t>( </a:t>
            </a:r>
            <a:r>
              <a:rPr lang="fi-FI" sz="1600" b="1" dirty="0" err="1">
                <a:solidFill>
                  <a:srgbClr val="0000FF"/>
                </a:solidFill>
                <a:latin typeface="Monaco"/>
              </a:rPr>
              <a:t>void</a:t>
            </a:r>
            <a:r>
              <a:rPr lang="fi-FI" sz="1600" b="1" dirty="0">
                <a:solidFill>
                  <a:prstClr val="black"/>
                </a:solidFill>
                <a:latin typeface="Monaco"/>
              </a:rPr>
              <a:t> *</a:t>
            </a:r>
            <a:r>
              <a:rPr lang="fi-FI" sz="1600" b="1" dirty="0" err="1">
                <a:solidFill>
                  <a:prstClr val="black"/>
                </a:solidFill>
                <a:latin typeface="Monaco"/>
              </a:rPr>
              <a:t>ptr</a:t>
            </a:r>
            <a:r>
              <a:rPr lang="fi-FI" sz="1600" b="1" dirty="0">
                <a:solidFill>
                  <a:prstClr val="black"/>
                </a:solidFill>
                <a:latin typeface="Monaco"/>
              </a:rPr>
              <a:t> )</a:t>
            </a:r>
            <a:br>
              <a:rPr lang="fi-FI" sz="1600" b="1" dirty="0">
                <a:solidFill>
                  <a:prstClr val="black"/>
                </a:solidFill>
                <a:latin typeface="Monaco"/>
              </a:rPr>
            </a:br>
            <a:r>
              <a:rPr lang="fi-FI" sz="1600" b="1" dirty="0">
                <a:solidFill>
                  <a:prstClr val="black"/>
                </a:solidFill>
                <a:latin typeface="Monaco"/>
              </a:rPr>
              <a:t>{</a:t>
            </a:r>
            <a:br>
              <a:rPr lang="fi-FI" sz="1600" b="1" dirty="0">
                <a:solidFill>
                  <a:prstClr val="black"/>
                </a:solidFill>
                <a:latin typeface="Monaco"/>
              </a:rPr>
            </a:br>
            <a:r>
              <a:rPr lang="fi-FI" sz="1600" b="1" dirty="0">
                <a:solidFill>
                  <a:prstClr val="black"/>
                </a:solidFill>
                <a:latin typeface="Monaco"/>
              </a:rPr>
              <a:t>    </a:t>
            </a:r>
            <a:r>
              <a:rPr lang="fi-FI" sz="1600" b="1" dirty="0" err="1">
                <a:solidFill>
                  <a:srgbClr val="0000FF"/>
                </a:solidFill>
                <a:latin typeface="Monaco"/>
              </a:rPr>
              <a:t>int</a:t>
            </a:r>
            <a:r>
              <a:rPr lang="fi-FI" sz="1600" b="1" dirty="0">
                <a:solidFill>
                  <a:prstClr val="black"/>
                </a:solidFill>
                <a:latin typeface="Monaco"/>
              </a:rPr>
              <a:t> i;</a:t>
            </a:r>
            <a:br>
              <a:rPr lang="fi-FI" sz="1600" b="1" dirty="0">
                <a:solidFill>
                  <a:prstClr val="black"/>
                </a:solidFill>
                <a:latin typeface="Monaco"/>
              </a:rPr>
            </a:br>
            <a:r>
              <a:rPr lang="fi-FI" sz="1600" b="1" dirty="0">
                <a:solidFill>
                  <a:prstClr val="black"/>
                </a:solidFill>
                <a:latin typeface="Monaco"/>
              </a:rPr>
              <a:t>    </a:t>
            </a:r>
            <a:r>
              <a:rPr lang="fi-FI" sz="1600" b="1" dirty="0">
                <a:solidFill>
                  <a:srgbClr val="0000FF"/>
                </a:solidFill>
                <a:latin typeface="Monaco"/>
              </a:rPr>
              <a:t>for </a:t>
            </a:r>
            <a:r>
              <a:rPr lang="fi-FI" sz="1600" b="1" dirty="0">
                <a:solidFill>
                  <a:prstClr val="black"/>
                </a:solidFill>
                <a:latin typeface="Monaco"/>
              </a:rPr>
              <a:t>(i = </a:t>
            </a:r>
            <a:r>
              <a:rPr lang="fi-FI" sz="1600" b="1" dirty="0">
                <a:solidFill>
                  <a:srgbClr val="0000CD"/>
                </a:solidFill>
                <a:latin typeface="Monaco"/>
              </a:rPr>
              <a:t>0</a:t>
            </a:r>
            <a:r>
              <a:rPr lang="fi-FI" sz="1600" b="1" dirty="0">
                <a:solidFill>
                  <a:prstClr val="black"/>
                </a:solidFill>
                <a:latin typeface="Monaco"/>
              </a:rPr>
              <a:t>; i &lt; ITERATIONS_PER_THREAD; i++) {</a:t>
            </a:r>
            <a:br>
              <a:rPr lang="fi-FI" sz="1600" b="1" dirty="0">
                <a:solidFill>
                  <a:prstClr val="black"/>
                </a:solidFill>
                <a:latin typeface="Monaco"/>
              </a:rPr>
            </a:br>
            <a:r>
              <a:rPr lang="fi-FI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fi-FI" sz="1600" b="1" dirty="0" err="1">
                <a:solidFill>
                  <a:srgbClr val="0000A2"/>
                </a:solidFill>
                <a:latin typeface="Monaco"/>
              </a:rPr>
              <a:t>sem_wait</a:t>
            </a:r>
            <a:r>
              <a:rPr lang="fi-FI" sz="1600" b="1" dirty="0" err="1">
                <a:solidFill>
                  <a:prstClr val="black"/>
                </a:solidFill>
                <a:latin typeface="Monaco"/>
              </a:rPr>
              <a:t>(&amp;cnt_mutex</a:t>
            </a:r>
            <a:r>
              <a:rPr lang="fi-FI" sz="1600" b="1" dirty="0">
                <a:solidFill>
                  <a:prstClr val="black"/>
                </a:solidFill>
                <a:latin typeface="Monaco"/>
              </a:rPr>
              <a:t>);</a:t>
            </a:r>
            <a:br>
              <a:rPr lang="fi-FI" sz="1600" b="1" dirty="0">
                <a:solidFill>
                  <a:prstClr val="black"/>
                </a:solidFill>
                <a:latin typeface="Monaco"/>
              </a:rPr>
            </a:br>
            <a:r>
              <a:rPr lang="fi-FI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fi-FI" sz="1600" b="1" dirty="0" err="1">
                <a:solidFill>
                  <a:prstClr val="black"/>
                </a:solidFill>
                <a:latin typeface="Monaco"/>
              </a:rPr>
              <a:t>cnt</a:t>
            </a:r>
            <a:r>
              <a:rPr lang="fi-FI" sz="1600" b="1" dirty="0">
                <a:solidFill>
                  <a:prstClr val="black"/>
                </a:solidFill>
                <a:latin typeface="Monaco"/>
              </a:rPr>
              <a:t>++;</a:t>
            </a:r>
            <a:br>
              <a:rPr lang="fi-FI" sz="1600" b="1" dirty="0">
                <a:solidFill>
                  <a:prstClr val="black"/>
                </a:solidFill>
                <a:latin typeface="Monaco"/>
              </a:rPr>
            </a:br>
            <a:r>
              <a:rPr lang="fi-FI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fi-FI" sz="1600" b="1" dirty="0" err="1">
                <a:solidFill>
                  <a:srgbClr val="0000A2"/>
                </a:solidFill>
                <a:latin typeface="Monaco"/>
              </a:rPr>
              <a:t>sem_post</a:t>
            </a:r>
            <a:r>
              <a:rPr lang="fi-FI" sz="1600" b="1" dirty="0" err="1">
                <a:solidFill>
                  <a:prstClr val="black"/>
                </a:solidFill>
                <a:latin typeface="Monaco"/>
              </a:rPr>
              <a:t>(&amp;cnt_mutex</a:t>
            </a:r>
            <a:r>
              <a:rPr lang="fi-FI" sz="1600" b="1" dirty="0">
                <a:solidFill>
                  <a:prstClr val="black"/>
                </a:solidFill>
                <a:latin typeface="Monaco"/>
              </a:rPr>
              <a:t>);</a:t>
            </a:r>
            <a:br>
              <a:rPr lang="fi-FI" sz="1600" b="1" dirty="0">
                <a:solidFill>
                  <a:prstClr val="black"/>
                </a:solidFill>
                <a:latin typeface="Monaco"/>
              </a:rPr>
            </a:br>
            <a:r>
              <a:rPr lang="fi-FI" sz="1600" b="1" dirty="0">
                <a:solidFill>
                  <a:prstClr val="black"/>
                </a:solidFill>
                <a:latin typeface="Monaco"/>
              </a:rPr>
              <a:t>    }</a:t>
            </a:r>
            <a:br>
              <a:rPr lang="fi-FI" sz="1600" b="1" dirty="0">
                <a:solidFill>
                  <a:prstClr val="black"/>
                </a:solidFill>
                <a:latin typeface="Monaco"/>
              </a:rPr>
            </a:br>
            <a:r>
              <a:rPr lang="fi-FI" sz="1600" b="1" dirty="0" smtClean="0">
                <a:solidFill>
                  <a:prstClr val="black"/>
                </a:solidFill>
                <a:latin typeface="Monaco"/>
              </a:rPr>
              <a:t>}</a:t>
            </a:r>
            <a:endParaRPr lang="en-US" sz="1600" b="1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430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Today: Advanced use of semaphores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796" y="3194090"/>
            <a:ext cx="4832204" cy="3348027"/>
          </a:xfrm>
          <a:prstGeom prst="rect">
            <a:avLst/>
          </a:prstGeom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91" y="1520076"/>
            <a:ext cx="4464036" cy="3348027"/>
          </a:xfrm>
          <a:prstGeom prst="rect">
            <a:avLst/>
          </a:prstGeom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1855542" y="6280507"/>
            <a:ext cx="1925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chemeClr val="bg1">
                    <a:lumMod val="85000"/>
                  </a:schemeClr>
                </a:solidFill>
                <a:latin typeface="Gill Sans MT"/>
                <a:cs typeface="Gill Sans MT"/>
              </a:rPr>
              <a:t>[Monty Python’s Flying Circus]</a:t>
            </a:r>
            <a:endParaRPr lang="en-US" sz="1100" b="0" dirty="0" smtClean="0">
              <a:solidFill>
                <a:schemeClr val="bg1">
                  <a:lumMod val="85000"/>
                </a:schemeClr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8237097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semaphores:</a:t>
            </a:r>
            <a:br>
              <a:rPr lang="en-US" dirty="0" smtClean="0"/>
            </a:br>
            <a:r>
              <a:rPr lang="en-US" dirty="0" smtClean="0"/>
              <a:t>The Producer-Consumer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0274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Producer-consumer problem</a:t>
            </a:r>
          </a:p>
        </p:txBody>
      </p:sp>
      <p:sp>
        <p:nvSpPr>
          <p:cNvPr id="16387" name="Content Placeholder 5"/>
          <p:cNvSpPr>
            <a:spLocks noGrp="1"/>
          </p:cNvSpPr>
          <p:nvPr>
            <p:ph type="body" sz="quarter" idx="10"/>
          </p:nvPr>
        </p:nvSpPr>
        <p:spPr>
          <a:xfrm>
            <a:off x="3352800" y="1981200"/>
            <a:ext cx="52578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Chefs cook items and put them on a conveyer belt</a:t>
            </a:r>
          </a:p>
        </p:txBody>
      </p:sp>
      <p:grpSp>
        <p:nvGrpSpPr>
          <p:cNvPr id="16390" name="Group 14"/>
          <p:cNvGrpSpPr>
            <a:grpSpLocks/>
          </p:cNvGrpSpPr>
          <p:nvPr/>
        </p:nvGrpSpPr>
        <p:grpSpPr bwMode="auto">
          <a:xfrm>
            <a:off x="0" y="3276600"/>
            <a:ext cx="8596313" cy="1758950"/>
            <a:chOff x="57144" y="3709990"/>
            <a:chExt cx="8596326" cy="1759743"/>
          </a:xfrm>
        </p:grpSpPr>
        <p:pic>
          <p:nvPicPr>
            <p:cNvPr id="16398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44" y="3709990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9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9272" y="3836198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00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1400" y="3962400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01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8770" y="4088608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1925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9530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3400425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3400425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3400425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3400425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15478" y="5515904"/>
            <a:ext cx="41370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Waiters pick items off the belt</a:t>
            </a:r>
          </a:p>
        </p:txBody>
      </p:sp>
    </p:spTree>
    <p:extLst>
      <p:ext uri="{BB962C8B-B14F-4D97-AF65-F5344CB8AC3E}">
        <p14:creationId xmlns:p14="http://schemas.microsoft.com/office/powerpoint/2010/main" val="304224268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14584 0.01875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2" y="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83 0.01875 L 0.3375 0.04097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83" y="111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14584 0.01875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2" y="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75 0.04097 L 0.54583 0.06319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17" y="111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14584 0.01875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2" y="92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83 0.01875 L 0.3375 0.04097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83" y="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Producer-consumer problem</a:t>
            </a:r>
            <a:endParaRPr lang="en-US" dirty="0">
              <a:latin typeface="Arial" charset="0"/>
            </a:endParaRPr>
          </a:p>
        </p:txBody>
      </p:sp>
      <p:sp>
        <p:nvSpPr>
          <p:cNvPr id="17411" name="Content Placeholder 5"/>
          <p:cNvSpPr>
            <a:spLocks noGrp="1"/>
          </p:cNvSpPr>
          <p:nvPr>
            <p:ph type="body" sz="quarter" idx="10"/>
          </p:nvPr>
        </p:nvSpPr>
        <p:spPr>
          <a:xfrm>
            <a:off x="4572000" y="1981200"/>
            <a:ext cx="40386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Now imagine many chefs!</a:t>
            </a:r>
          </a:p>
        </p:txBody>
      </p:sp>
      <p:grpSp>
        <p:nvGrpSpPr>
          <p:cNvPr id="17414" name="Group 14"/>
          <p:cNvGrpSpPr>
            <a:grpSpLocks/>
          </p:cNvGrpSpPr>
          <p:nvPr/>
        </p:nvGrpSpPr>
        <p:grpSpPr bwMode="auto">
          <a:xfrm>
            <a:off x="0" y="3276600"/>
            <a:ext cx="8596313" cy="1758950"/>
            <a:chOff x="57144" y="3709990"/>
            <a:chExt cx="8596326" cy="1759743"/>
          </a:xfrm>
        </p:grpSpPr>
        <p:pic>
          <p:nvPicPr>
            <p:cNvPr id="17426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44" y="3709990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7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9272" y="3836198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8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1400" y="3962400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9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8770" y="4088608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415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9530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7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7526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8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8669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8768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8006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3400425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52825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6576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8100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74091" y="5400455"/>
            <a:ext cx="274774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...and many waiters!</a:t>
            </a:r>
          </a:p>
        </p:txBody>
      </p:sp>
    </p:spTree>
    <p:extLst>
      <p:ext uri="{BB962C8B-B14F-4D97-AF65-F5344CB8AC3E}">
        <p14:creationId xmlns:p14="http://schemas.microsoft.com/office/powerpoint/2010/main" val="427535933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Producer-consumer problem</a:t>
            </a:r>
            <a:endParaRPr lang="en-US" dirty="0"/>
          </a:p>
        </p:txBody>
      </p:sp>
      <p:sp>
        <p:nvSpPr>
          <p:cNvPr id="18435" name="Content Placeholder 5"/>
          <p:cNvSpPr>
            <a:spLocks noGrp="1"/>
          </p:cNvSpPr>
          <p:nvPr>
            <p:ph type="body" sz="quarter" idx="10"/>
          </p:nvPr>
        </p:nvSpPr>
        <p:spPr>
          <a:xfrm>
            <a:off x="4572000" y="1981200"/>
            <a:ext cx="40386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potential mess!</a:t>
            </a:r>
          </a:p>
        </p:txBody>
      </p:sp>
      <p:grpSp>
        <p:nvGrpSpPr>
          <p:cNvPr id="18438" name="Group 14"/>
          <p:cNvGrpSpPr>
            <a:grpSpLocks/>
          </p:cNvGrpSpPr>
          <p:nvPr/>
        </p:nvGrpSpPr>
        <p:grpSpPr bwMode="auto">
          <a:xfrm>
            <a:off x="0" y="3276600"/>
            <a:ext cx="8596313" cy="1758950"/>
            <a:chOff x="57144" y="3709990"/>
            <a:chExt cx="8596326" cy="1759743"/>
          </a:xfrm>
        </p:grpSpPr>
        <p:pic>
          <p:nvPicPr>
            <p:cNvPr id="18470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44" y="3709990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71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9272" y="3836198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7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1400" y="3962400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73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8770" y="4088608"/>
              <a:ext cx="33147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8439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9530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7526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8669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8768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4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8006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3400425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52825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7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6576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8100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938" y="3733800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0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5814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5052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138" y="3552825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738" y="3657600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538" y="3581400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3505200"/>
            <a:ext cx="8556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00425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7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5052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4290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528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0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4290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24674">
            <a:off x="7561263" y="3762375"/>
            <a:ext cx="8572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73380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686175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06938">
            <a:off x="7713663" y="3914775"/>
            <a:ext cx="8572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927272">
            <a:off x="7866063" y="4143375"/>
            <a:ext cx="8572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615113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7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538913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6372225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6296025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538200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 bwMode="auto">
          <a:xfrm>
            <a:off x="3232955" y="4412720"/>
            <a:ext cx="2723822" cy="89794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</a:t>
            </a:r>
            <a:r>
              <a:rPr lang="en-US" dirty="0" smtClean="0"/>
              <a:t>-</a:t>
            </a:r>
            <a:r>
              <a:rPr lang="en-US" dirty="0"/>
              <a:t>c</a:t>
            </a:r>
            <a:r>
              <a:rPr lang="en-US" dirty="0" smtClean="0"/>
              <a:t>onsumer problem</a:t>
            </a:r>
            <a:endParaRPr lang="en-US" dirty="0"/>
          </a:p>
        </p:txBody>
      </p:sp>
      <p:pic>
        <p:nvPicPr>
          <p:cNvPr id="19468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9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242" y="3754952"/>
            <a:ext cx="18459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MT"/>
                <a:cs typeface="Gill Sans MT"/>
              </a:rPr>
              <a:t>i</a:t>
            </a:r>
            <a:r>
              <a:rPr lang="en-US" sz="2500" dirty="0" smtClean="0">
                <a:latin typeface="Gill Sans MT"/>
                <a:cs typeface="Gill Sans MT"/>
              </a:rPr>
              <a:t>nserts items</a:t>
            </a:r>
            <a:endParaRPr lang="en-US" sz="2500" b="0" dirty="0" smtClean="0">
              <a:latin typeface="Gill Sans MT"/>
              <a:cs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82126" y="3754952"/>
            <a:ext cx="208087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MT"/>
                <a:cs typeface="Gill Sans MT"/>
              </a:rPr>
              <a:t>r</a:t>
            </a:r>
            <a:r>
              <a:rPr lang="en-US" sz="2500" b="0" dirty="0" smtClean="0">
                <a:latin typeface="Gill Sans MT"/>
                <a:cs typeface="Gill Sans MT"/>
              </a:rPr>
              <a:t>emoves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2954" y="4412720"/>
            <a:ext cx="272382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solidFill>
                  <a:srgbClr val="EF5B00"/>
                </a:solidFill>
                <a:latin typeface="Gill Sans MT"/>
                <a:cs typeface="Gill Sans MT"/>
              </a:rPr>
              <a:t>Shared resource:</a:t>
            </a:r>
          </a:p>
          <a:p>
            <a:r>
              <a:rPr lang="en-US" sz="2500" dirty="0" smtClean="0">
                <a:solidFill>
                  <a:srgbClr val="EF5B00"/>
                </a:solidFill>
                <a:latin typeface="Gill Sans MT"/>
                <a:cs typeface="Gill Sans MT"/>
              </a:rPr>
              <a:t>bounded buffer</a:t>
            </a:r>
          </a:p>
          <a:p>
            <a:endParaRPr lang="en-US" sz="2500" b="0" dirty="0">
              <a:latin typeface="Gill Sans MT"/>
              <a:cs typeface="Gill Sans MT"/>
            </a:endParaRPr>
          </a:p>
          <a:p>
            <a:r>
              <a:rPr lang="en-US" sz="2000" dirty="0" smtClean="0">
                <a:latin typeface="Gill Sans MT"/>
                <a:cs typeface="Gill Sans MT"/>
              </a:rPr>
              <a:t>Efficient implementation:</a:t>
            </a:r>
          </a:p>
          <a:p>
            <a:r>
              <a:rPr lang="en-US" sz="2000" b="0" dirty="0" smtClean="0">
                <a:latin typeface="Gill Sans MT"/>
                <a:cs typeface="Gill Sans MT"/>
              </a:rPr>
              <a:t>circular fixed-size buffer</a:t>
            </a:r>
          </a:p>
        </p:txBody>
      </p:sp>
      <p:cxnSp>
        <p:nvCxnSpPr>
          <p:cNvPr id="7" name="Curved Connector 6"/>
          <p:cNvCxnSpPr>
            <a:stCxn id="3" idx="2"/>
          </p:cNvCxnSpPr>
          <p:nvPr/>
        </p:nvCxnSpPr>
        <p:spPr bwMode="auto">
          <a:xfrm rot="16200000" flipH="1">
            <a:off x="1878576" y="3558624"/>
            <a:ext cx="680997" cy="2027760"/>
          </a:xfrm>
          <a:prstGeom prst="curved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urved Connector 18"/>
          <p:cNvCxnSpPr>
            <a:endCxn id="4" idx="2"/>
          </p:cNvCxnSpPr>
          <p:nvPr/>
        </p:nvCxnSpPr>
        <p:spPr bwMode="auto">
          <a:xfrm flipV="1">
            <a:off x="5956777" y="4232006"/>
            <a:ext cx="1765786" cy="591203"/>
          </a:xfrm>
          <a:prstGeom prst="curved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67848412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 smtClean="0"/>
              <a:t>Shared buffer</a:t>
            </a:r>
            <a:endParaRPr lang="en-US" dirty="0"/>
          </a:p>
        </p:txBody>
      </p:sp>
      <p:grpSp>
        <p:nvGrpSpPr>
          <p:cNvPr id="20488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7177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178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179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180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181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7182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pic>
        <p:nvPicPr>
          <p:cNvPr id="20493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4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Arc 33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</p:spTree>
    <p:extLst>
      <p:ext uri="{BB962C8B-B14F-4D97-AF65-F5344CB8AC3E}">
        <p14:creationId xmlns:p14="http://schemas.microsoft.com/office/powerpoint/2010/main" val="48551425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21512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7177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178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179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180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181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7182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7183" name="Rectangle 15"/>
          <p:cNvSpPr>
            <a:spLocks/>
          </p:cNvSpPr>
          <p:nvPr/>
        </p:nvSpPr>
        <p:spPr bwMode="auto">
          <a:xfrm>
            <a:off x="1600200" y="3363913"/>
            <a:ext cx="956876" cy="307777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000" dirty="0" err="1">
                <a:latin typeface="Gill Sans MT"/>
                <a:ea typeface="Verdana" pitchFamily="34" charset="0"/>
                <a:cs typeface="Gill Sans MT"/>
                <a:sym typeface="Verdana" pitchFamily="34" charset="0"/>
              </a:rPr>
              <a:t>insertPtr</a:t>
            </a:r>
            <a:endParaRPr lang="en-US" sz="2000" dirty="0">
              <a:latin typeface="Gill Sans MT"/>
              <a:ea typeface="Verdana" pitchFamily="34" charset="0"/>
              <a:cs typeface="Gill Sans MT"/>
              <a:sym typeface="Verdana" pitchFamily="34" charset="0"/>
            </a:endParaRPr>
          </a:p>
        </p:txBody>
      </p:sp>
      <p:sp>
        <p:nvSpPr>
          <p:cNvPr id="7184" name="Rectangle 16"/>
          <p:cNvSpPr>
            <a:spLocks/>
          </p:cNvSpPr>
          <p:nvPr/>
        </p:nvSpPr>
        <p:spPr bwMode="auto">
          <a:xfrm>
            <a:off x="6318250" y="4038600"/>
            <a:ext cx="1144854" cy="307777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000" dirty="0" err="1">
                <a:latin typeface="Gill Sans MT"/>
                <a:ea typeface="Verdana" pitchFamily="34" charset="0"/>
                <a:cs typeface="Gill Sans MT"/>
                <a:sym typeface="Verdana" pitchFamily="34" charset="0"/>
              </a:rPr>
              <a:t>removePtr</a:t>
            </a:r>
            <a:endParaRPr lang="en-US" sz="2000" dirty="0">
              <a:latin typeface="Gill Sans MT"/>
              <a:ea typeface="Verdana" pitchFamily="34" charset="0"/>
              <a:cs typeface="Gill Sans MT"/>
              <a:sym typeface="Verdana" pitchFamily="34" charset="0"/>
            </a:endParaRPr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>
            <a:off x="2378075" y="3733800"/>
            <a:ext cx="822325" cy="76200"/>
          </a:xfrm>
          <a:prstGeom prst="line">
            <a:avLst/>
          </a:prstGeom>
          <a:noFill/>
          <a:ln w="5715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7186" name="Line 18"/>
          <p:cNvSpPr>
            <a:spLocks noChangeShapeType="1"/>
          </p:cNvSpPr>
          <p:nvPr/>
        </p:nvSpPr>
        <p:spPr bwMode="auto">
          <a:xfrm flipH="1">
            <a:off x="4648200" y="4267200"/>
            <a:ext cx="1600200" cy="685800"/>
          </a:xfrm>
          <a:prstGeom prst="line">
            <a:avLst/>
          </a:prstGeom>
          <a:noFill/>
          <a:ln w="5715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7187" name="Oval 19"/>
          <p:cNvSpPr>
            <a:spLocks/>
          </p:cNvSpPr>
          <p:nvPr/>
        </p:nvSpPr>
        <p:spPr bwMode="auto">
          <a:xfrm>
            <a:off x="3663950" y="4964113"/>
            <a:ext cx="152400" cy="152400"/>
          </a:xfrm>
          <a:prstGeom prst="ellipse">
            <a:avLst/>
          </a:prstGeom>
          <a:solidFill>
            <a:srgbClr val="FFFFFF"/>
          </a:solidFill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7188" name="Oval 20"/>
          <p:cNvSpPr>
            <a:spLocks/>
          </p:cNvSpPr>
          <p:nvPr/>
        </p:nvSpPr>
        <p:spPr bwMode="auto">
          <a:xfrm>
            <a:off x="4379913" y="4941888"/>
            <a:ext cx="152400" cy="152400"/>
          </a:xfrm>
          <a:prstGeom prst="ellipse">
            <a:avLst/>
          </a:prstGeom>
          <a:solidFill>
            <a:srgbClr val="FFFFFF"/>
          </a:solidFill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7189" name="Oval 21"/>
          <p:cNvSpPr>
            <a:spLocks/>
          </p:cNvSpPr>
          <p:nvPr/>
        </p:nvSpPr>
        <p:spPr bwMode="auto">
          <a:xfrm>
            <a:off x="3140075" y="4440238"/>
            <a:ext cx="152400" cy="152400"/>
          </a:xfrm>
          <a:prstGeom prst="ellipse">
            <a:avLst/>
          </a:prstGeom>
          <a:solidFill>
            <a:srgbClr val="FFFFFF"/>
          </a:solidFill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pic>
        <p:nvPicPr>
          <p:cNvPr id="2152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0000">
            <a:off x="35052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0000">
            <a:off x="2971800" y="4419600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7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8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30" name="Rectangle 9"/>
          <p:cNvSpPr>
            <a:spLocks/>
          </p:cNvSpPr>
          <p:nvPr/>
        </p:nvSpPr>
        <p:spPr bwMode="auto">
          <a:xfrm>
            <a:off x="228600" y="4591050"/>
            <a:ext cx="2514600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What does the chef do with a new pizza?</a:t>
            </a:r>
          </a:p>
        </p:txBody>
      </p:sp>
      <p:pic>
        <p:nvPicPr>
          <p:cNvPr id="2153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34050"/>
            <a:ext cx="10683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32" name="Rectangle 9"/>
          <p:cNvSpPr>
            <a:spLocks/>
          </p:cNvSpPr>
          <p:nvPr/>
        </p:nvSpPr>
        <p:spPr bwMode="auto">
          <a:xfrm>
            <a:off x="6096000" y="4591050"/>
            <a:ext cx="2514600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>
                <a:latin typeface="Gill Sans MT"/>
                <a:cs typeface="Gill Sans MT"/>
                <a:sym typeface="Arial" charset="0"/>
              </a:rPr>
              <a:t>Where does the waiter take a pizza from?</a:t>
            </a:r>
          </a:p>
        </p:txBody>
      </p:sp>
      <p:sp>
        <p:nvSpPr>
          <p:cNvPr id="38" name="Arc 37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</p:spTree>
    <p:extLst>
      <p:ext uri="{BB962C8B-B14F-4D97-AF65-F5344CB8AC3E}">
        <p14:creationId xmlns:p14="http://schemas.microsoft.com/office/powerpoint/2010/main" val="349273664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3" grpId="0"/>
      <p:bldP spid="718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22536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22559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60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61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62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63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2537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207" name="Rectangle 15"/>
          <p:cNvSpPr>
            <a:spLocks/>
          </p:cNvSpPr>
          <p:nvPr/>
        </p:nvSpPr>
        <p:spPr bwMode="auto">
          <a:xfrm>
            <a:off x="1820863" y="2819400"/>
            <a:ext cx="956876" cy="307777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000" dirty="0" err="1">
                <a:latin typeface="Gill Sans MT"/>
                <a:ea typeface="Verdana" pitchFamily="34" charset="0"/>
                <a:cs typeface="Gill Sans MT"/>
                <a:sym typeface="Verdana" pitchFamily="34" charset="0"/>
              </a:rPr>
              <a:t>insertPtr</a:t>
            </a:r>
            <a:endParaRPr lang="en-US" sz="2000" dirty="0">
              <a:latin typeface="Gill Sans MT"/>
              <a:ea typeface="Verdana" pitchFamily="34" charset="0"/>
              <a:cs typeface="Gill Sans MT"/>
              <a:sym typeface="Verdana" pitchFamily="34" charset="0"/>
            </a:endParaRPr>
          </a:p>
        </p:txBody>
      </p:sp>
      <p:sp>
        <p:nvSpPr>
          <p:cNvPr id="8208" name="Rectangle 16"/>
          <p:cNvSpPr>
            <a:spLocks/>
          </p:cNvSpPr>
          <p:nvPr/>
        </p:nvSpPr>
        <p:spPr bwMode="auto">
          <a:xfrm>
            <a:off x="6318250" y="4572000"/>
            <a:ext cx="1144854" cy="307777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000">
                <a:latin typeface="Gill Sans MT"/>
                <a:ea typeface="Verdana" pitchFamily="34" charset="0"/>
                <a:cs typeface="Gill Sans MT"/>
                <a:sym typeface="Verdana" pitchFamily="34" charset="0"/>
              </a:rPr>
              <a:t>removePtr</a:t>
            </a:r>
          </a:p>
        </p:txBody>
      </p:sp>
      <p:sp>
        <p:nvSpPr>
          <p:cNvPr id="8209" name="Line 17"/>
          <p:cNvSpPr>
            <a:spLocks noChangeShapeType="1"/>
          </p:cNvSpPr>
          <p:nvPr/>
        </p:nvSpPr>
        <p:spPr bwMode="auto">
          <a:xfrm>
            <a:off x="2971800" y="3048000"/>
            <a:ext cx="685800" cy="228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41" name="Line 18"/>
          <p:cNvSpPr>
            <a:spLocks noChangeShapeType="1"/>
          </p:cNvSpPr>
          <p:nvPr/>
        </p:nvSpPr>
        <p:spPr bwMode="auto">
          <a:xfrm flipH="1">
            <a:off x="4648200" y="4800600"/>
            <a:ext cx="16002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42" name="Oval 19"/>
          <p:cNvSpPr>
            <a:spLocks/>
          </p:cNvSpPr>
          <p:nvPr/>
        </p:nvSpPr>
        <p:spPr bwMode="auto">
          <a:xfrm>
            <a:off x="3663950" y="4964113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43" name="Oval 20"/>
          <p:cNvSpPr>
            <a:spLocks/>
          </p:cNvSpPr>
          <p:nvPr/>
        </p:nvSpPr>
        <p:spPr bwMode="auto">
          <a:xfrm>
            <a:off x="4379913" y="494188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44" name="Oval 21"/>
          <p:cNvSpPr>
            <a:spLocks/>
          </p:cNvSpPr>
          <p:nvPr/>
        </p:nvSpPr>
        <p:spPr bwMode="auto">
          <a:xfrm>
            <a:off x="3140075" y="444023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254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0000">
            <a:off x="35052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50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0000">
            <a:off x="2971800" y="4419600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67697">
            <a:off x="2969419" y="3721894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52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53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Arc 34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2255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6" name="Rectangle 9"/>
          <p:cNvSpPr>
            <a:spLocks/>
          </p:cNvSpPr>
          <p:nvPr/>
        </p:nvSpPr>
        <p:spPr bwMode="auto">
          <a:xfrm>
            <a:off x="2286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Insert pizza</a:t>
            </a:r>
          </a:p>
        </p:txBody>
      </p:sp>
      <p:sp>
        <p:nvSpPr>
          <p:cNvPr id="38" name="Rectangle 15"/>
          <p:cNvSpPr>
            <a:spLocks/>
          </p:cNvSpPr>
          <p:nvPr/>
        </p:nvSpPr>
        <p:spPr bwMode="auto">
          <a:xfrm>
            <a:off x="1600200" y="3363913"/>
            <a:ext cx="956876" cy="307777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000" dirty="0" err="1">
                <a:latin typeface="Gill Sans MT"/>
                <a:ea typeface="Verdana" pitchFamily="34" charset="0"/>
                <a:cs typeface="Gill Sans MT"/>
                <a:sym typeface="Verdana" pitchFamily="34" charset="0"/>
              </a:rPr>
              <a:t>insertPtr</a:t>
            </a:r>
            <a:endParaRPr lang="en-US" sz="2000" dirty="0">
              <a:latin typeface="Gill Sans MT"/>
              <a:ea typeface="Verdana" pitchFamily="34" charset="0"/>
              <a:cs typeface="Gill Sans MT"/>
              <a:sym typeface="Verdana" pitchFamily="34" charset="0"/>
            </a:endParaRPr>
          </a:p>
        </p:txBody>
      </p:sp>
      <p:sp>
        <p:nvSpPr>
          <p:cNvPr id="39" name="Line 17"/>
          <p:cNvSpPr>
            <a:spLocks noChangeShapeType="1"/>
          </p:cNvSpPr>
          <p:nvPr/>
        </p:nvSpPr>
        <p:spPr bwMode="auto">
          <a:xfrm>
            <a:off x="2378075" y="3733800"/>
            <a:ext cx="822325" cy="76200"/>
          </a:xfrm>
          <a:prstGeom prst="line">
            <a:avLst/>
          </a:prstGeom>
          <a:noFill/>
          <a:ln w="5715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</p:spTree>
    <p:extLst>
      <p:ext uri="{BB962C8B-B14F-4D97-AF65-F5344CB8AC3E}">
        <p14:creationId xmlns:p14="http://schemas.microsoft.com/office/powerpoint/2010/main" val="76139729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7" grpId="0"/>
      <p:bldP spid="8209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9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23560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23584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3585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3586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3587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3588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3561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31" name="Rectangle 15"/>
          <p:cNvSpPr>
            <a:spLocks/>
          </p:cNvSpPr>
          <p:nvPr/>
        </p:nvSpPr>
        <p:spPr bwMode="auto">
          <a:xfrm>
            <a:off x="3581400" y="2362200"/>
            <a:ext cx="956876" cy="307777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000" dirty="0" err="1">
                <a:latin typeface="Gill Sans MT"/>
                <a:ea typeface="Verdana" pitchFamily="34" charset="0"/>
                <a:cs typeface="Gill Sans MT"/>
                <a:sym typeface="Verdana" pitchFamily="34" charset="0"/>
              </a:rPr>
              <a:t>insertPtr</a:t>
            </a:r>
            <a:endParaRPr lang="en-US" sz="2000" dirty="0">
              <a:latin typeface="Gill Sans MT"/>
              <a:ea typeface="Verdana" pitchFamily="34" charset="0"/>
              <a:cs typeface="Gill Sans MT"/>
              <a:sym typeface="Verdana" pitchFamily="34" charset="0"/>
            </a:endParaRPr>
          </a:p>
        </p:txBody>
      </p:sp>
      <p:sp>
        <p:nvSpPr>
          <p:cNvPr id="9232" name="Rectangle 16"/>
          <p:cNvSpPr>
            <a:spLocks/>
          </p:cNvSpPr>
          <p:nvPr/>
        </p:nvSpPr>
        <p:spPr bwMode="auto">
          <a:xfrm>
            <a:off x="6318250" y="4572000"/>
            <a:ext cx="1144854" cy="307777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000">
                <a:latin typeface="Gill Sans MT"/>
                <a:ea typeface="Verdana" pitchFamily="34" charset="0"/>
                <a:cs typeface="Gill Sans MT"/>
                <a:sym typeface="Verdana" pitchFamily="34" charset="0"/>
              </a:rPr>
              <a:t>removePtr</a:t>
            </a:r>
          </a:p>
        </p:txBody>
      </p:sp>
      <p:sp>
        <p:nvSpPr>
          <p:cNvPr id="23564" name="Line 17"/>
          <p:cNvSpPr>
            <a:spLocks noChangeShapeType="1"/>
          </p:cNvSpPr>
          <p:nvPr/>
        </p:nvSpPr>
        <p:spPr bwMode="auto">
          <a:xfrm>
            <a:off x="4114800" y="2743200"/>
            <a:ext cx="2286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65" name="Line 18"/>
          <p:cNvSpPr>
            <a:spLocks noChangeShapeType="1"/>
          </p:cNvSpPr>
          <p:nvPr/>
        </p:nvSpPr>
        <p:spPr bwMode="auto">
          <a:xfrm flipH="1">
            <a:off x="4648200" y="4800600"/>
            <a:ext cx="16002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66" name="Oval 19"/>
          <p:cNvSpPr>
            <a:spLocks/>
          </p:cNvSpPr>
          <p:nvPr/>
        </p:nvSpPr>
        <p:spPr bwMode="auto">
          <a:xfrm>
            <a:off x="3663950" y="4964113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67" name="Oval 20"/>
          <p:cNvSpPr>
            <a:spLocks/>
          </p:cNvSpPr>
          <p:nvPr/>
        </p:nvSpPr>
        <p:spPr bwMode="auto">
          <a:xfrm>
            <a:off x="4379913" y="494188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68" name="Oval 21"/>
          <p:cNvSpPr>
            <a:spLocks/>
          </p:cNvSpPr>
          <p:nvPr/>
        </p:nvSpPr>
        <p:spPr bwMode="auto">
          <a:xfrm>
            <a:off x="3140075" y="444023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69" name="Oval 22"/>
          <p:cNvSpPr>
            <a:spLocks/>
          </p:cNvSpPr>
          <p:nvPr/>
        </p:nvSpPr>
        <p:spPr bwMode="auto">
          <a:xfrm>
            <a:off x="31242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70" name="Oval 23"/>
          <p:cNvSpPr>
            <a:spLocks/>
          </p:cNvSpPr>
          <p:nvPr/>
        </p:nvSpPr>
        <p:spPr bwMode="auto">
          <a:xfrm>
            <a:off x="3657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357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7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0000">
            <a:off x="35052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7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0000">
            <a:off x="2971800" y="4419600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77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67697">
            <a:off x="2969419" y="3721894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7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19270">
            <a:off x="3459163" y="3197225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79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80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Arc 36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2358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83" name="Rectangle 9"/>
          <p:cNvSpPr>
            <a:spLocks/>
          </p:cNvSpPr>
          <p:nvPr/>
        </p:nvSpPr>
        <p:spPr bwMode="auto">
          <a:xfrm>
            <a:off x="2286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Insert pizza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</p:spTree>
    <p:extLst>
      <p:ext uri="{BB962C8B-B14F-4D97-AF65-F5344CB8AC3E}">
        <p14:creationId xmlns:p14="http://schemas.microsoft.com/office/powerpoint/2010/main" val="230799893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3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24584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24610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611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612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613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614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4585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55" name="Rectangle 15"/>
          <p:cNvSpPr>
            <a:spLocks/>
          </p:cNvSpPr>
          <p:nvPr/>
        </p:nvSpPr>
        <p:spPr bwMode="auto">
          <a:xfrm>
            <a:off x="4953000" y="30480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  <a:endParaRPr lang="en-US" sz="2400" dirty="0"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10256" name="Rectangle 16"/>
          <p:cNvSpPr>
            <a:spLocks/>
          </p:cNvSpPr>
          <p:nvPr/>
        </p:nvSpPr>
        <p:spPr bwMode="auto">
          <a:xfrm>
            <a:off x="6318250" y="45720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</a:p>
        </p:txBody>
      </p:sp>
      <p:sp>
        <p:nvSpPr>
          <p:cNvPr id="24588" name="Line 17"/>
          <p:cNvSpPr>
            <a:spLocks noChangeShapeType="1"/>
          </p:cNvSpPr>
          <p:nvPr/>
        </p:nvSpPr>
        <p:spPr bwMode="auto">
          <a:xfrm flipH="1">
            <a:off x="4953000" y="3429000"/>
            <a:ext cx="3048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9" name="Line 18"/>
          <p:cNvSpPr>
            <a:spLocks noChangeShapeType="1"/>
          </p:cNvSpPr>
          <p:nvPr/>
        </p:nvSpPr>
        <p:spPr bwMode="auto">
          <a:xfrm flipH="1">
            <a:off x="4648200" y="4800600"/>
            <a:ext cx="16002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90" name="Oval 19"/>
          <p:cNvSpPr>
            <a:spLocks/>
          </p:cNvSpPr>
          <p:nvPr/>
        </p:nvSpPr>
        <p:spPr bwMode="auto">
          <a:xfrm>
            <a:off x="3663950" y="4964113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91" name="Oval 20"/>
          <p:cNvSpPr>
            <a:spLocks/>
          </p:cNvSpPr>
          <p:nvPr/>
        </p:nvSpPr>
        <p:spPr bwMode="auto">
          <a:xfrm>
            <a:off x="4379913" y="494188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92" name="Oval 21"/>
          <p:cNvSpPr>
            <a:spLocks/>
          </p:cNvSpPr>
          <p:nvPr/>
        </p:nvSpPr>
        <p:spPr bwMode="auto">
          <a:xfrm>
            <a:off x="3140075" y="444023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93" name="Oval 22"/>
          <p:cNvSpPr>
            <a:spLocks/>
          </p:cNvSpPr>
          <p:nvPr/>
        </p:nvSpPr>
        <p:spPr bwMode="auto">
          <a:xfrm>
            <a:off x="31242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94" name="Oval 23"/>
          <p:cNvSpPr>
            <a:spLocks/>
          </p:cNvSpPr>
          <p:nvPr/>
        </p:nvSpPr>
        <p:spPr bwMode="auto">
          <a:xfrm>
            <a:off x="3657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95" name="Oval 24"/>
          <p:cNvSpPr>
            <a:spLocks/>
          </p:cNvSpPr>
          <p:nvPr/>
        </p:nvSpPr>
        <p:spPr bwMode="auto">
          <a:xfrm>
            <a:off x="4419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459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0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0000">
            <a:off x="35052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0000">
            <a:off x="2971800" y="4419600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67697">
            <a:off x="2969419" y="3721894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19270">
            <a:off x="3459163" y="3197225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86512">
            <a:off x="4225925" y="3144838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5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6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Arc 38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2460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33" name="Rectangle 9"/>
          <p:cNvSpPr>
            <a:spLocks/>
          </p:cNvSpPr>
          <p:nvPr/>
        </p:nvSpPr>
        <p:spPr bwMode="auto">
          <a:xfrm>
            <a:off x="2286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Insert pizza</a:t>
            </a:r>
          </a:p>
        </p:txBody>
      </p:sp>
    </p:spTree>
    <p:extLst>
      <p:ext uri="{BB962C8B-B14F-4D97-AF65-F5344CB8AC3E}">
        <p14:creationId xmlns:p14="http://schemas.microsoft.com/office/powerpoint/2010/main" val="268482991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734050"/>
            <a:ext cx="10683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25609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25636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5637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5638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5639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5640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5610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279" name="Rectangle 15"/>
          <p:cNvSpPr>
            <a:spLocks/>
          </p:cNvSpPr>
          <p:nvPr/>
        </p:nvSpPr>
        <p:spPr bwMode="auto">
          <a:xfrm>
            <a:off x="4953000" y="30480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  <a:endParaRPr lang="en-US" sz="2400" dirty="0"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11280" name="Rectangle 16"/>
          <p:cNvSpPr>
            <a:spLocks/>
          </p:cNvSpPr>
          <p:nvPr/>
        </p:nvSpPr>
        <p:spPr bwMode="auto">
          <a:xfrm>
            <a:off x="4267200" y="60198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</a:p>
        </p:txBody>
      </p:sp>
      <p:sp>
        <p:nvSpPr>
          <p:cNvPr id="25613" name="Line 17"/>
          <p:cNvSpPr>
            <a:spLocks noChangeShapeType="1"/>
          </p:cNvSpPr>
          <p:nvPr/>
        </p:nvSpPr>
        <p:spPr bwMode="auto">
          <a:xfrm flipH="1">
            <a:off x="4953000" y="3429000"/>
            <a:ext cx="3048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282" name="Line 18"/>
          <p:cNvSpPr>
            <a:spLocks noChangeShapeType="1"/>
          </p:cNvSpPr>
          <p:nvPr/>
        </p:nvSpPr>
        <p:spPr bwMode="auto">
          <a:xfrm rot="10800000">
            <a:off x="3886200" y="5105400"/>
            <a:ext cx="533400" cy="914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15" name="Oval 19"/>
          <p:cNvSpPr>
            <a:spLocks/>
          </p:cNvSpPr>
          <p:nvPr/>
        </p:nvSpPr>
        <p:spPr bwMode="auto">
          <a:xfrm>
            <a:off x="3663950" y="4964113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16" name="Oval 20"/>
          <p:cNvSpPr>
            <a:spLocks/>
          </p:cNvSpPr>
          <p:nvPr/>
        </p:nvSpPr>
        <p:spPr bwMode="auto">
          <a:xfrm>
            <a:off x="3140075" y="444023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17" name="Oval 21"/>
          <p:cNvSpPr>
            <a:spLocks/>
          </p:cNvSpPr>
          <p:nvPr/>
        </p:nvSpPr>
        <p:spPr bwMode="auto">
          <a:xfrm>
            <a:off x="31242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18" name="Oval 22"/>
          <p:cNvSpPr>
            <a:spLocks/>
          </p:cNvSpPr>
          <p:nvPr/>
        </p:nvSpPr>
        <p:spPr bwMode="auto">
          <a:xfrm>
            <a:off x="3657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19" name="Oval 23"/>
          <p:cNvSpPr>
            <a:spLocks/>
          </p:cNvSpPr>
          <p:nvPr/>
        </p:nvSpPr>
        <p:spPr bwMode="auto">
          <a:xfrm>
            <a:off x="4419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562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0000">
            <a:off x="35052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0000">
            <a:off x="2971800" y="4419600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67697">
            <a:off x="2969419" y="3721894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19270">
            <a:off x="3459163" y="3197225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7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86512">
            <a:off x="4225925" y="3144838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8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9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Arc 37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3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32" name="Rectangle 9"/>
          <p:cNvSpPr>
            <a:spLocks/>
          </p:cNvSpPr>
          <p:nvPr/>
        </p:nvSpPr>
        <p:spPr bwMode="auto">
          <a:xfrm>
            <a:off x="6096000" y="5268913"/>
            <a:ext cx="251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400">
                <a:latin typeface="Arial" charset="0"/>
                <a:cs typeface="Arial" charset="0"/>
                <a:sym typeface="Arial" charset="0"/>
              </a:rPr>
              <a:t>Remove pizza</a:t>
            </a:r>
          </a:p>
        </p:txBody>
      </p:sp>
      <p:sp>
        <p:nvSpPr>
          <p:cNvPr id="42" name="Rectangle 16"/>
          <p:cNvSpPr>
            <a:spLocks/>
          </p:cNvSpPr>
          <p:nvPr/>
        </p:nvSpPr>
        <p:spPr bwMode="auto">
          <a:xfrm>
            <a:off x="6318250" y="45720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  <a:endParaRPr lang="en-US" sz="2400" dirty="0"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43" name="Line 18"/>
          <p:cNvSpPr>
            <a:spLocks noChangeShapeType="1"/>
          </p:cNvSpPr>
          <p:nvPr/>
        </p:nvSpPr>
        <p:spPr bwMode="auto">
          <a:xfrm flipH="1">
            <a:off x="4648200" y="4800600"/>
            <a:ext cx="16002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4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</p:spTree>
    <p:extLst>
      <p:ext uri="{BB962C8B-B14F-4D97-AF65-F5344CB8AC3E}">
        <p14:creationId xmlns:p14="http://schemas.microsoft.com/office/powerpoint/2010/main" val="33335264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0" grpId="0"/>
      <p:bldP spid="11282" grpId="0" animBg="1"/>
      <p:bldP spid="42" grpId="0"/>
      <p:bldP spid="4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26632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26658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59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60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61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62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6633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03" name="Rectangle 15"/>
          <p:cNvSpPr>
            <a:spLocks/>
          </p:cNvSpPr>
          <p:nvPr/>
        </p:nvSpPr>
        <p:spPr bwMode="auto">
          <a:xfrm>
            <a:off x="5638800" y="41148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  <a:endParaRPr lang="en-US" sz="2400" dirty="0"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26635" name="Line 16"/>
          <p:cNvSpPr>
            <a:spLocks noChangeShapeType="1"/>
          </p:cNvSpPr>
          <p:nvPr/>
        </p:nvSpPr>
        <p:spPr bwMode="auto">
          <a:xfrm flipH="1">
            <a:off x="4953000" y="4343400"/>
            <a:ext cx="685800" cy="228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6" name="Oval 17"/>
          <p:cNvSpPr>
            <a:spLocks/>
          </p:cNvSpPr>
          <p:nvPr/>
        </p:nvSpPr>
        <p:spPr bwMode="auto">
          <a:xfrm>
            <a:off x="3663950" y="4964113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7" name="Oval 18"/>
          <p:cNvSpPr>
            <a:spLocks/>
          </p:cNvSpPr>
          <p:nvPr/>
        </p:nvSpPr>
        <p:spPr bwMode="auto">
          <a:xfrm>
            <a:off x="3140075" y="444023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8" name="Oval 19"/>
          <p:cNvSpPr>
            <a:spLocks/>
          </p:cNvSpPr>
          <p:nvPr/>
        </p:nvSpPr>
        <p:spPr bwMode="auto">
          <a:xfrm>
            <a:off x="31242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9" name="Oval 20"/>
          <p:cNvSpPr>
            <a:spLocks/>
          </p:cNvSpPr>
          <p:nvPr/>
        </p:nvSpPr>
        <p:spPr bwMode="auto">
          <a:xfrm>
            <a:off x="3657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40" name="Oval 21"/>
          <p:cNvSpPr>
            <a:spLocks/>
          </p:cNvSpPr>
          <p:nvPr/>
        </p:nvSpPr>
        <p:spPr bwMode="auto">
          <a:xfrm>
            <a:off x="4419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41" name="Oval 22"/>
          <p:cNvSpPr>
            <a:spLocks/>
          </p:cNvSpPr>
          <p:nvPr/>
        </p:nvSpPr>
        <p:spPr bwMode="auto">
          <a:xfrm>
            <a:off x="48768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11" name="Rectangle 23"/>
          <p:cNvSpPr>
            <a:spLocks/>
          </p:cNvSpPr>
          <p:nvPr/>
        </p:nvSpPr>
        <p:spPr bwMode="auto">
          <a:xfrm>
            <a:off x="4267200" y="60198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</a:p>
        </p:txBody>
      </p:sp>
      <p:sp>
        <p:nvSpPr>
          <p:cNvPr id="26643" name="Line 24"/>
          <p:cNvSpPr>
            <a:spLocks noChangeShapeType="1"/>
          </p:cNvSpPr>
          <p:nvPr/>
        </p:nvSpPr>
        <p:spPr bwMode="auto">
          <a:xfrm rot="10800000">
            <a:off x="3886200" y="5105400"/>
            <a:ext cx="533400" cy="914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6647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015555">
            <a:off x="4733925" y="3636963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0000">
            <a:off x="35052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0000">
            <a:off x="2971800" y="4419600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50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67697">
            <a:off x="2969419" y="3721894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5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19270">
            <a:off x="3459163" y="3197225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5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86512">
            <a:off x="4225925" y="3144838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53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54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Arc 38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2665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57" name="Rectangle 9"/>
          <p:cNvSpPr>
            <a:spLocks/>
          </p:cNvSpPr>
          <p:nvPr/>
        </p:nvSpPr>
        <p:spPr bwMode="auto">
          <a:xfrm>
            <a:off x="228600" y="5268913"/>
            <a:ext cx="251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400">
                <a:latin typeface="Arial" charset="0"/>
                <a:cs typeface="Arial" charset="0"/>
                <a:sym typeface="Arial" charset="0"/>
              </a:rPr>
              <a:t>Insert pizza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</p:spTree>
    <p:extLst>
      <p:ext uri="{BB962C8B-B14F-4D97-AF65-F5344CB8AC3E}">
        <p14:creationId xmlns:p14="http://schemas.microsoft.com/office/powerpoint/2010/main" val="403514486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27656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27684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85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86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87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88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7657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327" name="Rectangle 15"/>
          <p:cNvSpPr>
            <a:spLocks/>
          </p:cNvSpPr>
          <p:nvPr/>
        </p:nvSpPr>
        <p:spPr bwMode="auto">
          <a:xfrm>
            <a:off x="5410200" y="51054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  <a:endParaRPr lang="en-US" sz="2400" dirty="0"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27659" name="Line 16"/>
          <p:cNvSpPr>
            <a:spLocks noChangeShapeType="1"/>
          </p:cNvSpPr>
          <p:nvPr/>
        </p:nvSpPr>
        <p:spPr bwMode="auto">
          <a:xfrm rot="10800000">
            <a:off x="4495800" y="5105400"/>
            <a:ext cx="9144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0" name="Oval 17"/>
          <p:cNvSpPr>
            <a:spLocks/>
          </p:cNvSpPr>
          <p:nvPr/>
        </p:nvSpPr>
        <p:spPr bwMode="auto">
          <a:xfrm>
            <a:off x="3663950" y="4964113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1" name="Oval 18"/>
          <p:cNvSpPr>
            <a:spLocks/>
          </p:cNvSpPr>
          <p:nvPr/>
        </p:nvSpPr>
        <p:spPr bwMode="auto">
          <a:xfrm>
            <a:off x="3140075" y="444023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2" name="Oval 19"/>
          <p:cNvSpPr>
            <a:spLocks/>
          </p:cNvSpPr>
          <p:nvPr/>
        </p:nvSpPr>
        <p:spPr bwMode="auto">
          <a:xfrm>
            <a:off x="31242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3" name="Oval 20"/>
          <p:cNvSpPr>
            <a:spLocks/>
          </p:cNvSpPr>
          <p:nvPr/>
        </p:nvSpPr>
        <p:spPr bwMode="auto">
          <a:xfrm>
            <a:off x="3657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4" name="Oval 21"/>
          <p:cNvSpPr>
            <a:spLocks/>
          </p:cNvSpPr>
          <p:nvPr/>
        </p:nvSpPr>
        <p:spPr bwMode="auto">
          <a:xfrm>
            <a:off x="4419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5" name="Oval 22"/>
          <p:cNvSpPr>
            <a:spLocks/>
          </p:cNvSpPr>
          <p:nvPr/>
        </p:nvSpPr>
        <p:spPr bwMode="auto">
          <a:xfrm>
            <a:off x="48768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335" name="Rectangle 23"/>
          <p:cNvSpPr>
            <a:spLocks/>
          </p:cNvSpPr>
          <p:nvPr/>
        </p:nvSpPr>
        <p:spPr bwMode="auto">
          <a:xfrm>
            <a:off x="4267200" y="60198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</a:p>
        </p:txBody>
      </p:sp>
      <p:sp>
        <p:nvSpPr>
          <p:cNvPr id="27667" name="Line 24"/>
          <p:cNvSpPr>
            <a:spLocks noChangeShapeType="1"/>
          </p:cNvSpPr>
          <p:nvPr/>
        </p:nvSpPr>
        <p:spPr bwMode="auto">
          <a:xfrm rot="10800000">
            <a:off x="3886200" y="5105400"/>
            <a:ext cx="533400" cy="914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8" name="Oval 25"/>
          <p:cNvSpPr>
            <a:spLocks/>
          </p:cNvSpPr>
          <p:nvPr/>
        </p:nvSpPr>
        <p:spPr bwMode="auto">
          <a:xfrm>
            <a:off x="4876800" y="4495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767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015555">
            <a:off x="4733925" y="3636963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0000">
            <a:off x="35052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0000">
            <a:off x="2971800" y="4419600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67697">
            <a:off x="2969419" y="3721894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19270">
            <a:off x="3459163" y="3197225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7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86512">
            <a:off x="4225925" y="3144838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498283">
            <a:off x="4714875" y="4484688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9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0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Arc 40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2768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83" name="Rectangle 9"/>
          <p:cNvSpPr>
            <a:spLocks/>
          </p:cNvSpPr>
          <p:nvPr/>
        </p:nvSpPr>
        <p:spPr bwMode="auto">
          <a:xfrm>
            <a:off x="228600" y="5268913"/>
            <a:ext cx="251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400">
                <a:latin typeface="Arial" charset="0"/>
                <a:cs typeface="Arial" charset="0"/>
                <a:sym typeface="Arial" charset="0"/>
              </a:rPr>
              <a:t>Insert pizza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</p:spTree>
    <p:extLst>
      <p:ext uri="{BB962C8B-B14F-4D97-AF65-F5344CB8AC3E}">
        <p14:creationId xmlns:p14="http://schemas.microsoft.com/office/powerpoint/2010/main" val="373804475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28680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28712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8713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8714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8715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8716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8681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351" name="Rectangle 15"/>
          <p:cNvSpPr>
            <a:spLocks/>
          </p:cNvSpPr>
          <p:nvPr/>
        </p:nvSpPr>
        <p:spPr bwMode="auto">
          <a:xfrm>
            <a:off x="4419600" y="54102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  <a:endParaRPr lang="en-US" sz="2400" dirty="0">
              <a:solidFill>
                <a:schemeClr val="tx2"/>
              </a:solidFill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28683" name="Line 16"/>
          <p:cNvSpPr>
            <a:spLocks noChangeShapeType="1"/>
          </p:cNvSpPr>
          <p:nvPr/>
        </p:nvSpPr>
        <p:spPr bwMode="auto">
          <a:xfrm rot="10800000">
            <a:off x="3962400" y="5105400"/>
            <a:ext cx="838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4" name="Oval 17"/>
          <p:cNvSpPr>
            <a:spLocks/>
          </p:cNvSpPr>
          <p:nvPr/>
        </p:nvSpPr>
        <p:spPr bwMode="auto">
          <a:xfrm>
            <a:off x="3663950" y="4964113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5" name="Oval 18"/>
          <p:cNvSpPr>
            <a:spLocks/>
          </p:cNvSpPr>
          <p:nvPr/>
        </p:nvSpPr>
        <p:spPr bwMode="auto">
          <a:xfrm>
            <a:off x="3140075" y="444023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6" name="Oval 19"/>
          <p:cNvSpPr>
            <a:spLocks/>
          </p:cNvSpPr>
          <p:nvPr/>
        </p:nvSpPr>
        <p:spPr bwMode="auto">
          <a:xfrm>
            <a:off x="31242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7" name="Oval 20"/>
          <p:cNvSpPr>
            <a:spLocks/>
          </p:cNvSpPr>
          <p:nvPr/>
        </p:nvSpPr>
        <p:spPr bwMode="auto">
          <a:xfrm>
            <a:off x="3657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8" name="Oval 21"/>
          <p:cNvSpPr>
            <a:spLocks/>
          </p:cNvSpPr>
          <p:nvPr/>
        </p:nvSpPr>
        <p:spPr bwMode="auto">
          <a:xfrm>
            <a:off x="4419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9" name="Oval 22"/>
          <p:cNvSpPr>
            <a:spLocks/>
          </p:cNvSpPr>
          <p:nvPr/>
        </p:nvSpPr>
        <p:spPr bwMode="auto">
          <a:xfrm>
            <a:off x="48768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359" name="Rectangle 23"/>
          <p:cNvSpPr>
            <a:spLocks/>
          </p:cNvSpPr>
          <p:nvPr/>
        </p:nvSpPr>
        <p:spPr bwMode="auto">
          <a:xfrm>
            <a:off x="4267200" y="60198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</a:p>
        </p:txBody>
      </p:sp>
      <p:sp>
        <p:nvSpPr>
          <p:cNvPr id="28691" name="Line 24"/>
          <p:cNvSpPr>
            <a:spLocks noChangeShapeType="1"/>
          </p:cNvSpPr>
          <p:nvPr/>
        </p:nvSpPr>
        <p:spPr bwMode="auto">
          <a:xfrm rot="10800000">
            <a:off x="3886200" y="5105400"/>
            <a:ext cx="533400" cy="914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92" name="Oval 25"/>
          <p:cNvSpPr>
            <a:spLocks/>
          </p:cNvSpPr>
          <p:nvPr/>
        </p:nvSpPr>
        <p:spPr bwMode="auto">
          <a:xfrm>
            <a:off x="4876800" y="4495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93" name="Oval 26"/>
          <p:cNvSpPr>
            <a:spLocks/>
          </p:cNvSpPr>
          <p:nvPr/>
        </p:nvSpPr>
        <p:spPr bwMode="auto">
          <a:xfrm>
            <a:off x="4419600" y="4953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363" name="Rectangle 27"/>
          <p:cNvSpPr>
            <a:spLocks/>
          </p:cNvSpPr>
          <p:nvPr/>
        </p:nvSpPr>
        <p:spPr bwMode="auto">
          <a:xfrm>
            <a:off x="365125" y="3441700"/>
            <a:ext cx="2578100" cy="1206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39" bIns="0"/>
          <a:lstStyle/>
          <a:p>
            <a:pPr marL="39688">
              <a:defRPr/>
            </a:pPr>
            <a:r>
              <a:rPr lang="en-US" sz="2400" dirty="0">
                <a:solidFill>
                  <a:schemeClr val="tx2"/>
                </a:solidFill>
                <a:latin typeface="+mn-lt"/>
                <a:ea typeface="+mn-ea"/>
                <a:cs typeface="Tahoma Bold" charset="0"/>
                <a:sym typeface="Tahoma Bold" charset="0"/>
              </a:rPr>
              <a:t>BUFFER FULL: Producer </a:t>
            </a:r>
            <a:r>
              <a:rPr lang="en-US" sz="2400" dirty="0" smtClean="0">
                <a:solidFill>
                  <a:schemeClr val="tx2"/>
                </a:solidFill>
                <a:latin typeface="+mn-lt"/>
                <a:ea typeface="+mn-ea"/>
                <a:cs typeface="Tahoma Bold" charset="0"/>
                <a:sym typeface="Tahoma Bold" charset="0"/>
              </a:rPr>
              <a:t>must wait!</a:t>
            </a:r>
            <a:endParaRPr lang="en-US" sz="2400" dirty="0">
              <a:solidFill>
                <a:schemeClr val="tx2"/>
              </a:solidFill>
              <a:latin typeface="+mn-lt"/>
              <a:ea typeface="+mn-ea"/>
              <a:cs typeface="Tahoma Bold" charset="0"/>
              <a:sym typeface="Tahoma Bold" charset="0"/>
            </a:endParaRPr>
          </a:p>
        </p:txBody>
      </p:sp>
      <p:pic>
        <p:nvPicPr>
          <p:cNvPr id="2869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015555">
            <a:off x="4733925" y="3636963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0000">
            <a:off x="35052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0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0000">
            <a:off x="2971800" y="4419600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67697">
            <a:off x="2969419" y="3721894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19270">
            <a:off x="3459163" y="3197225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86512">
            <a:off x="4225925" y="3144838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498283">
            <a:off x="4714875" y="4484688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6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7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Arc 43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2870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710" name="Rectangle 9"/>
          <p:cNvSpPr>
            <a:spLocks/>
          </p:cNvSpPr>
          <p:nvPr/>
        </p:nvSpPr>
        <p:spPr bwMode="auto">
          <a:xfrm>
            <a:off x="228600" y="5268913"/>
            <a:ext cx="251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400">
                <a:latin typeface="Arial" charset="0"/>
                <a:cs typeface="Arial" charset="0"/>
                <a:sym typeface="Arial" charset="0"/>
              </a:rPr>
              <a:t>Insert pizza</a:t>
            </a:r>
          </a:p>
        </p:txBody>
      </p:sp>
      <p:pic>
        <p:nvPicPr>
          <p:cNvPr id="28711" name="Picture 2" descr="C:\Users\rhk\AppData\Local\Microsoft\Windows\Temporary Internet Files\Content.IE5\MXL9JB0U\MC900434805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5626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</p:spTree>
    <p:extLst>
      <p:ext uri="{BB962C8B-B14F-4D97-AF65-F5344CB8AC3E}">
        <p14:creationId xmlns:p14="http://schemas.microsoft.com/office/powerpoint/2010/main" val="325373963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3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29704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29733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9734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9735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9736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9737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9705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375" name="Rectangle 15"/>
          <p:cNvSpPr>
            <a:spLocks/>
          </p:cNvSpPr>
          <p:nvPr/>
        </p:nvSpPr>
        <p:spPr bwMode="auto">
          <a:xfrm>
            <a:off x="4419600" y="54102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</a:p>
        </p:txBody>
      </p:sp>
      <p:sp>
        <p:nvSpPr>
          <p:cNvPr id="29707" name="Line 16"/>
          <p:cNvSpPr>
            <a:spLocks noChangeShapeType="1"/>
          </p:cNvSpPr>
          <p:nvPr/>
        </p:nvSpPr>
        <p:spPr bwMode="auto">
          <a:xfrm rot="10800000">
            <a:off x="3962400" y="5105400"/>
            <a:ext cx="838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8" name="Oval 17"/>
          <p:cNvSpPr>
            <a:spLocks/>
          </p:cNvSpPr>
          <p:nvPr/>
        </p:nvSpPr>
        <p:spPr bwMode="auto">
          <a:xfrm>
            <a:off x="3140075" y="4440238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9" name="Oval 18"/>
          <p:cNvSpPr>
            <a:spLocks/>
          </p:cNvSpPr>
          <p:nvPr/>
        </p:nvSpPr>
        <p:spPr bwMode="auto">
          <a:xfrm>
            <a:off x="31242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0" name="Oval 19"/>
          <p:cNvSpPr>
            <a:spLocks/>
          </p:cNvSpPr>
          <p:nvPr/>
        </p:nvSpPr>
        <p:spPr bwMode="auto">
          <a:xfrm>
            <a:off x="3657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1" name="Oval 20"/>
          <p:cNvSpPr>
            <a:spLocks/>
          </p:cNvSpPr>
          <p:nvPr/>
        </p:nvSpPr>
        <p:spPr bwMode="auto">
          <a:xfrm>
            <a:off x="4419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2" name="Oval 21"/>
          <p:cNvSpPr>
            <a:spLocks/>
          </p:cNvSpPr>
          <p:nvPr/>
        </p:nvSpPr>
        <p:spPr bwMode="auto">
          <a:xfrm>
            <a:off x="48768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382" name="Rectangle 22"/>
          <p:cNvSpPr>
            <a:spLocks/>
          </p:cNvSpPr>
          <p:nvPr/>
        </p:nvSpPr>
        <p:spPr bwMode="auto">
          <a:xfrm>
            <a:off x="2667000" y="55626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  <a:endParaRPr lang="en-US" sz="2400" dirty="0"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29714" name="Line 23"/>
          <p:cNvSpPr>
            <a:spLocks noChangeShapeType="1"/>
          </p:cNvSpPr>
          <p:nvPr/>
        </p:nvSpPr>
        <p:spPr bwMode="auto">
          <a:xfrm rot="10800000">
            <a:off x="3200400" y="4648200"/>
            <a:ext cx="76200" cy="914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5" name="Oval 24"/>
          <p:cNvSpPr>
            <a:spLocks/>
          </p:cNvSpPr>
          <p:nvPr/>
        </p:nvSpPr>
        <p:spPr bwMode="auto">
          <a:xfrm>
            <a:off x="4876800" y="4495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6" name="Oval 25"/>
          <p:cNvSpPr>
            <a:spLocks/>
          </p:cNvSpPr>
          <p:nvPr/>
        </p:nvSpPr>
        <p:spPr bwMode="auto">
          <a:xfrm>
            <a:off x="4419600" y="4953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9720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015555">
            <a:off x="4733925" y="3636963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2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0000">
            <a:off x="2971800" y="4419600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2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67697">
            <a:off x="2969419" y="3721894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2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19270">
            <a:off x="3459163" y="3197225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2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86512">
            <a:off x="4225925" y="3144838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2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498283">
            <a:off x="4714875" y="4484688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2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27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28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Arc 40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2973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734050"/>
            <a:ext cx="10683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3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36" name="Rectangle 9"/>
          <p:cNvSpPr>
            <a:spLocks/>
          </p:cNvSpPr>
          <p:nvPr/>
        </p:nvSpPr>
        <p:spPr bwMode="auto">
          <a:xfrm>
            <a:off x="60960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Remove pizza</a:t>
            </a:r>
          </a:p>
        </p:txBody>
      </p:sp>
    </p:spTree>
    <p:extLst>
      <p:ext uri="{BB962C8B-B14F-4D97-AF65-F5344CB8AC3E}">
        <p14:creationId xmlns:p14="http://schemas.microsoft.com/office/powerpoint/2010/main" val="23621019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7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30728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30755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756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757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758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759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30729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399" name="Rectangle 15"/>
          <p:cNvSpPr>
            <a:spLocks/>
          </p:cNvSpPr>
          <p:nvPr/>
        </p:nvSpPr>
        <p:spPr bwMode="auto">
          <a:xfrm>
            <a:off x="4419600" y="54102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</a:p>
        </p:txBody>
      </p:sp>
      <p:sp>
        <p:nvSpPr>
          <p:cNvPr id="30731" name="Line 16"/>
          <p:cNvSpPr>
            <a:spLocks noChangeShapeType="1"/>
          </p:cNvSpPr>
          <p:nvPr/>
        </p:nvSpPr>
        <p:spPr bwMode="auto">
          <a:xfrm rot="10800000">
            <a:off x="3962400" y="5105400"/>
            <a:ext cx="838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2" name="Oval 17"/>
          <p:cNvSpPr>
            <a:spLocks/>
          </p:cNvSpPr>
          <p:nvPr/>
        </p:nvSpPr>
        <p:spPr bwMode="auto">
          <a:xfrm>
            <a:off x="31242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3" name="Oval 18"/>
          <p:cNvSpPr>
            <a:spLocks/>
          </p:cNvSpPr>
          <p:nvPr/>
        </p:nvSpPr>
        <p:spPr bwMode="auto">
          <a:xfrm>
            <a:off x="3657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4" name="Oval 19"/>
          <p:cNvSpPr>
            <a:spLocks/>
          </p:cNvSpPr>
          <p:nvPr/>
        </p:nvSpPr>
        <p:spPr bwMode="auto">
          <a:xfrm>
            <a:off x="4419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5" name="Oval 20"/>
          <p:cNvSpPr>
            <a:spLocks/>
          </p:cNvSpPr>
          <p:nvPr/>
        </p:nvSpPr>
        <p:spPr bwMode="auto">
          <a:xfrm>
            <a:off x="48768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405" name="Rectangle 21"/>
          <p:cNvSpPr>
            <a:spLocks/>
          </p:cNvSpPr>
          <p:nvPr/>
        </p:nvSpPr>
        <p:spPr bwMode="auto">
          <a:xfrm>
            <a:off x="1295400" y="45720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  <a:endParaRPr lang="en-US" sz="2400" dirty="0"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30737" name="Line 22"/>
          <p:cNvSpPr>
            <a:spLocks noChangeShapeType="1"/>
          </p:cNvSpPr>
          <p:nvPr/>
        </p:nvSpPr>
        <p:spPr bwMode="auto">
          <a:xfrm rot="10800000" flipH="1">
            <a:off x="2286000" y="3962400"/>
            <a:ext cx="8382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8" name="Oval 23"/>
          <p:cNvSpPr>
            <a:spLocks/>
          </p:cNvSpPr>
          <p:nvPr/>
        </p:nvSpPr>
        <p:spPr bwMode="auto">
          <a:xfrm>
            <a:off x="4876800" y="4495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9" name="Oval 24"/>
          <p:cNvSpPr>
            <a:spLocks/>
          </p:cNvSpPr>
          <p:nvPr/>
        </p:nvSpPr>
        <p:spPr bwMode="auto">
          <a:xfrm>
            <a:off x="4419600" y="4953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074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015555">
            <a:off x="4733925" y="3636963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67697">
            <a:off x="2969419" y="3721894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19270">
            <a:off x="3459163" y="3197225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86512">
            <a:off x="4225925" y="3144838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7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498283">
            <a:off x="4714875" y="4484688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9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0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Arc 39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3075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734050"/>
            <a:ext cx="10683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34" name="Rectangle 9"/>
          <p:cNvSpPr>
            <a:spLocks/>
          </p:cNvSpPr>
          <p:nvPr/>
        </p:nvSpPr>
        <p:spPr bwMode="auto">
          <a:xfrm>
            <a:off x="60960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Remove pizza</a:t>
            </a:r>
          </a:p>
        </p:txBody>
      </p:sp>
    </p:spTree>
    <p:extLst>
      <p:ext uri="{BB962C8B-B14F-4D97-AF65-F5344CB8AC3E}">
        <p14:creationId xmlns:p14="http://schemas.microsoft.com/office/powerpoint/2010/main" val="411744303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1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31752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31777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1778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1779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1780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1781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31753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423" name="Rectangle 15"/>
          <p:cNvSpPr>
            <a:spLocks/>
          </p:cNvSpPr>
          <p:nvPr/>
        </p:nvSpPr>
        <p:spPr bwMode="auto">
          <a:xfrm>
            <a:off x="4419600" y="54102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</a:p>
        </p:txBody>
      </p:sp>
      <p:sp>
        <p:nvSpPr>
          <p:cNvPr id="31755" name="Line 16"/>
          <p:cNvSpPr>
            <a:spLocks noChangeShapeType="1"/>
          </p:cNvSpPr>
          <p:nvPr/>
        </p:nvSpPr>
        <p:spPr bwMode="auto">
          <a:xfrm rot="10800000">
            <a:off x="3962400" y="5105400"/>
            <a:ext cx="838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6" name="Oval 17"/>
          <p:cNvSpPr>
            <a:spLocks/>
          </p:cNvSpPr>
          <p:nvPr/>
        </p:nvSpPr>
        <p:spPr bwMode="auto">
          <a:xfrm>
            <a:off x="3657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7" name="Oval 18"/>
          <p:cNvSpPr>
            <a:spLocks/>
          </p:cNvSpPr>
          <p:nvPr/>
        </p:nvSpPr>
        <p:spPr bwMode="auto">
          <a:xfrm>
            <a:off x="4419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8" name="Oval 19"/>
          <p:cNvSpPr>
            <a:spLocks/>
          </p:cNvSpPr>
          <p:nvPr/>
        </p:nvSpPr>
        <p:spPr bwMode="auto">
          <a:xfrm>
            <a:off x="48768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428" name="Rectangle 20"/>
          <p:cNvSpPr>
            <a:spLocks/>
          </p:cNvSpPr>
          <p:nvPr/>
        </p:nvSpPr>
        <p:spPr bwMode="auto">
          <a:xfrm>
            <a:off x="1447800" y="32004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  <a:endParaRPr lang="en-US" sz="2400" dirty="0"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31760" name="Line 21"/>
          <p:cNvSpPr>
            <a:spLocks noChangeShapeType="1"/>
          </p:cNvSpPr>
          <p:nvPr/>
        </p:nvSpPr>
        <p:spPr bwMode="auto">
          <a:xfrm rot="10800000" flipH="1">
            <a:off x="2819400" y="3276600"/>
            <a:ext cx="83820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61" name="Oval 22"/>
          <p:cNvSpPr>
            <a:spLocks/>
          </p:cNvSpPr>
          <p:nvPr/>
        </p:nvSpPr>
        <p:spPr bwMode="auto">
          <a:xfrm>
            <a:off x="4876800" y="4495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62" name="Oval 23"/>
          <p:cNvSpPr>
            <a:spLocks/>
          </p:cNvSpPr>
          <p:nvPr/>
        </p:nvSpPr>
        <p:spPr bwMode="auto">
          <a:xfrm>
            <a:off x="4419600" y="4953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176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015555">
            <a:off x="4733925" y="3636963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67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19270">
            <a:off x="3459163" y="3197225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6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86512">
            <a:off x="4225925" y="3144838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6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498283">
            <a:off x="4714875" y="4484688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70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71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72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Arc 38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317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734050"/>
            <a:ext cx="10683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7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32" name="Rectangle 9"/>
          <p:cNvSpPr>
            <a:spLocks/>
          </p:cNvSpPr>
          <p:nvPr/>
        </p:nvSpPr>
        <p:spPr bwMode="auto">
          <a:xfrm>
            <a:off x="60960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Remove pizza</a:t>
            </a:r>
          </a:p>
        </p:txBody>
      </p:sp>
    </p:spTree>
    <p:extLst>
      <p:ext uri="{BB962C8B-B14F-4D97-AF65-F5344CB8AC3E}">
        <p14:creationId xmlns:p14="http://schemas.microsoft.com/office/powerpoint/2010/main" val="421533683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32776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32799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800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801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802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803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32777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447" name="Rectangle 15"/>
          <p:cNvSpPr>
            <a:spLocks/>
          </p:cNvSpPr>
          <p:nvPr/>
        </p:nvSpPr>
        <p:spPr bwMode="auto">
          <a:xfrm>
            <a:off x="4419600" y="54102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j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</a:p>
        </p:txBody>
      </p:sp>
      <p:sp>
        <p:nvSpPr>
          <p:cNvPr id="32779" name="Line 16"/>
          <p:cNvSpPr>
            <a:spLocks noChangeShapeType="1"/>
          </p:cNvSpPr>
          <p:nvPr/>
        </p:nvSpPr>
        <p:spPr bwMode="auto">
          <a:xfrm rot="10800000">
            <a:off x="3962400" y="5105400"/>
            <a:ext cx="838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0" name="Oval 17"/>
          <p:cNvSpPr>
            <a:spLocks/>
          </p:cNvSpPr>
          <p:nvPr/>
        </p:nvSpPr>
        <p:spPr bwMode="auto">
          <a:xfrm>
            <a:off x="4419600" y="3200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1" name="Oval 18"/>
          <p:cNvSpPr>
            <a:spLocks/>
          </p:cNvSpPr>
          <p:nvPr/>
        </p:nvSpPr>
        <p:spPr bwMode="auto">
          <a:xfrm>
            <a:off x="48768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451" name="Rectangle 19"/>
          <p:cNvSpPr>
            <a:spLocks/>
          </p:cNvSpPr>
          <p:nvPr/>
        </p:nvSpPr>
        <p:spPr bwMode="auto">
          <a:xfrm>
            <a:off x="3124200" y="23622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j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  <a:endParaRPr lang="en-US" sz="2400" dirty="0">
              <a:latin typeface="+mj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32783" name="Line 20"/>
          <p:cNvSpPr>
            <a:spLocks noChangeShapeType="1"/>
          </p:cNvSpPr>
          <p:nvPr/>
        </p:nvSpPr>
        <p:spPr bwMode="auto">
          <a:xfrm>
            <a:off x="3962400" y="2667000"/>
            <a:ext cx="3810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4" name="Oval 21"/>
          <p:cNvSpPr>
            <a:spLocks/>
          </p:cNvSpPr>
          <p:nvPr/>
        </p:nvSpPr>
        <p:spPr bwMode="auto">
          <a:xfrm>
            <a:off x="4876800" y="4495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85" name="Oval 22"/>
          <p:cNvSpPr>
            <a:spLocks/>
          </p:cNvSpPr>
          <p:nvPr/>
        </p:nvSpPr>
        <p:spPr bwMode="auto">
          <a:xfrm>
            <a:off x="4419600" y="4953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278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015555">
            <a:off x="4733925" y="3636963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90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86512">
            <a:off x="4225925" y="3144838"/>
            <a:ext cx="457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9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498283">
            <a:off x="4714875" y="4484688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9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93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94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Arc 34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3279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734050"/>
            <a:ext cx="10683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97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30" name="Rectangle 9"/>
          <p:cNvSpPr>
            <a:spLocks/>
          </p:cNvSpPr>
          <p:nvPr/>
        </p:nvSpPr>
        <p:spPr bwMode="auto">
          <a:xfrm>
            <a:off x="60960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Remove pizza</a:t>
            </a:r>
          </a:p>
        </p:txBody>
      </p:sp>
    </p:spTree>
    <p:extLst>
      <p:ext uri="{BB962C8B-B14F-4D97-AF65-F5344CB8AC3E}">
        <p14:creationId xmlns:p14="http://schemas.microsoft.com/office/powerpoint/2010/main" val="125631393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9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33800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33821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22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23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24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25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33801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71" name="Rectangle 15"/>
          <p:cNvSpPr>
            <a:spLocks/>
          </p:cNvSpPr>
          <p:nvPr/>
        </p:nvSpPr>
        <p:spPr bwMode="auto">
          <a:xfrm>
            <a:off x="4419600" y="54102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j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</a:p>
        </p:txBody>
      </p:sp>
      <p:sp>
        <p:nvSpPr>
          <p:cNvPr id="33803" name="Line 16"/>
          <p:cNvSpPr>
            <a:spLocks noChangeShapeType="1"/>
          </p:cNvSpPr>
          <p:nvPr/>
        </p:nvSpPr>
        <p:spPr bwMode="auto">
          <a:xfrm rot="10800000">
            <a:off x="3962400" y="5105400"/>
            <a:ext cx="838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04" name="Oval 17"/>
          <p:cNvSpPr>
            <a:spLocks/>
          </p:cNvSpPr>
          <p:nvPr/>
        </p:nvSpPr>
        <p:spPr bwMode="auto">
          <a:xfrm>
            <a:off x="4876800" y="3733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74" name="Rectangle 18"/>
          <p:cNvSpPr>
            <a:spLocks/>
          </p:cNvSpPr>
          <p:nvPr/>
        </p:nvSpPr>
        <p:spPr bwMode="auto">
          <a:xfrm>
            <a:off x="4876800" y="26670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j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  <a:endParaRPr lang="en-US" sz="2400" dirty="0">
              <a:latin typeface="+mj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33806" name="Line 19"/>
          <p:cNvSpPr>
            <a:spLocks noChangeShapeType="1"/>
          </p:cNvSpPr>
          <p:nvPr/>
        </p:nvSpPr>
        <p:spPr bwMode="auto">
          <a:xfrm flipH="1">
            <a:off x="4953000" y="2971800"/>
            <a:ext cx="228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07" name="Oval 20"/>
          <p:cNvSpPr>
            <a:spLocks/>
          </p:cNvSpPr>
          <p:nvPr/>
        </p:nvSpPr>
        <p:spPr bwMode="auto">
          <a:xfrm>
            <a:off x="4876800" y="4495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08" name="Oval 21"/>
          <p:cNvSpPr>
            <a:spLocks/>
          </p:cNvSpPr>
          <p:nvPr/>
        </p:nvSpPr>
        <p:spPr bwMode="auto">
          <a:xfrm>
            <a:off x="4419600" y="4953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3812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015555">
            <a:off x="4733925" y="3636963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498283">
            <a:off x="4714875" y="4484688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4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5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6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Arc 33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338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734050"/>
            <a:ext cx="10683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9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28" name="Rectangle 9"/>
          <p:cNvSpPr>
            <a:spLocks/>
          </p:cNvSpPr>
          <p:nvPr/>
        </p:nvSpPr>
        <p:spPr bwMode="auto">
          <a:xfrm>
            <a:off x="60960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Remove pizza</a:t>
            </a:r>
          </a:p>
        </p:txBody>
      </p:sp>
    </p:spTree>
    <p:extLst>
      <p:ext uri="{BB962C8B-B14F-4D97-AF65-F5344CB8AC3E}">
        <p14:creationId xmlns:p14="http://schemas.microsoft.com/office/powerpoint/2010/main" val="309243329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3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34824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34843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44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45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46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47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34825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95" name="Rectangle 15"/>
          <p:cNvSpPr>
            <a:spLocks/>
          </p:cNvSpPr>
          <p:nvPr/>
        </p:nvSpPr>
        <p:spPr bwMode="auto">
          <a:xfrm>
            <a:off x="4419600" y="54102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</a:p>
        </p:txBody>
      </p:sp>
      <p:sp>
        <p:nvSpPr>
          <p:cNvPr id="34827" name="Line 16"/>
          <p:cNvSpPr>
            <a:spLocks noChangeShapeType="1"/>
          </p:cNvSpPr>
          <p:nvPr/>
        </p:nvSpPr>
        <p:spPr bwMode="auto">
          <a:xfrm rot="10800000">
            <a:off x="3962400" y="5105400"/>
            <a:ext cx="838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97" name="Rectangle 17"/>
          <p:cNvSpPr>
            <a:spLocks/>
          </p:cNvSpPr>
          <p:nvPr/>
        </p:nvSpPr>
        <p:spPr bwMode="auto">
          <a:xfrm>
            <a:off x="5486400" y="36576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  <a:endParaRPr lang="en-US" sz="2400" dirty="0"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34829" name="Line 18"/>
          <p:cNvSpPr>
            <a:spLocks noChangeShapeType="1"/>
          </p:cNvSpPr>
          <p:nvPr/>
        </p:nvSpPr>
        <p:spPr bwMode="auto">
          <a:xfrm flipH="1">
            <a:off x="5105400" y="3962400"/>
            <a:ext cx="5334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830" name="Oval 19"/>
          <p:cNvSpPr>
            <a:spLocks/>
          </p:cNvSpPr>
          <p:nvPr/>
        </p:nvSpPr>
        <p:spPr bwMode="auto">
          <a:xfrm>
            <a:off x="4876800" y="44958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831" name="Oval 20"/>
          <p:cNvSpPr>
            <a:spLocks/>
          </p:cNvSpPr>
          <p:nvPr/>
        </p:nvSpPr>
        <p:spPr bwMode="auto">
          <a:xfrm>
            <a:off x="4419600" y="4953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4835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498283">
            <a:off x="4714875" y="4484688"/>
            <a:ext cx="4572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6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7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8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Arc 32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3484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734050"/>
            <a:ext cx="10683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41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26" name="Rectangle 9"/>
          <p:cNvSpPr>
            <a:spLocks/>
          </p:cNvSpPr>
          <p:nvPr/>
        </p:nvSpPr>
        <p:spPr bwMode="auto">
          <a:xfrm>
            <a:off x="60960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Remove pizza</a:t>
            </a:r>
          </a:p>
        </p:txBody>
      </p:sp>
    </p:spTree>
    <p:extLst>
      <p:ext uri="{BB962C8B-B14F-4D97-AF65-F5344CB8AC3E}">
        <p14:creationId xmlns:p14="http://schemas.microsoft.com/office/powerpoint/2010/main" val="45215860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7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35848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35865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66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67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68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69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35849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19" name="Rectangle 15"/>
          <p:cNvSpPr>
            <a:spLocks/>
          </p:cNvSpPr>
          <p:nvPr/>
        </p:nvSpPr>
        <p:spPr bwMode="auto">
          <a:xfrm>
            <a:off x="4419600" y="54102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</a:p>
        </p:txBody>
      </p:sp>
      <p:sp>
        <p:nvSpPr>
          <p:cNvPr id="35851" name="Line 16"/>
          <p:cNvSpPr>
            <a:spLocks noChangeShapeType="1"/>
          </p:cNvSpPr>
          <p:nvPr/>
        </p:nvSpPr>
        <p:spPr bwMode="auto">
          <a:xfrm rot="10800000">
            <a:off x="3962400" y="5105400"/>
            <a:ext cx="838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21" name="Rectangle 17"/>
          <p:cNvSpPr>
            <a:spLocks/>
          </p:cNvSpPr>
          <p:nvPr/>
        </p:nvSpPr>
        <p:spPr bwMode="auto">
          <a:xfrm>
            <a:off x="5334000" y="44958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  <a:endParaRPr lang="en-US" sz="2400" dirty="0"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35853" name="Line 18"/>
          <p:cNvSpPr>
            <a:spLocks noChangeShapeType="1"/>
          </p:cNvSpPr>
          <p:nvPr/>
        </p:nvSpPr>
        <p:spPr bwMode="auto">
          <a:xfrm flipH="1">
            <a:off x="4648200" y="4876800"/>
            <a:ext cx="8382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4" name="Oval 19"/>
          <p:cNvSpPr>
            <a:spLocks/>
          </p:cNvSpPr>
          <p:nvPr/>
        </p:nvSpPr>
        <p:spPr bwMode="auto">
          <a:xfrm>
            <a:off x="4419600" y="4953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5858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00000">
            <a:off x="4191000" y="4953000"/>
            <a:ext cx="4572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9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0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Arc 28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358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734050"/>
            <a:ext cx="10683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3" name="Picture 6" descr="C:\Users\rhk\AppData\Local\Microsoft\Windows\Temporary Internet Files\Content.IE5\FZ14M4RJ\MC900038624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34050"/>
            <a:ext cx="8556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60960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Remove pizza</a:t>
            </a:r>
          </a:p>
        </p:txBody>
      </p:sp>
    </p:spTree>
    <p:extLst>
      <p:ext uri="{BB962C8B-B14F-4D97-AF65-F5344CB8AC3E}">
        <p14:creationId xmlns:p14="http://schemas.microsoft.com/office/powerpoint/2010/main" val="137778246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Shared buffer</a:t>
            </a:r>
            <a:endParaRPr lang="en-US" dirty="0">
              <a:latin typeface="Arial" charset="0"/>
            </a:endParaRPr>
          </a:p>
        </p:txBody>
      </p:sp>
      <p:grpSp>
        <p:nvGrpSpPr>
          <p:cNvPr id="36872" name="Group 8"/>
          <p:cNvGrpSpPr>
            <a:grpSpLocks/>
          </p:cNvGrpSpPr>
          <p:nvPr/>
        </p:nvGrpSpPr>
        <p:grpSpPr bwMode="auto">
          <a:xfrm>
            <a:off x="2987675" y="3048000"/>
            <a:ext cx="2209800" cy="2209800"/>
            <a:chOff x="0" y="0"/>
            <a:chExt cx="1392" cy="1392"/>
          </a:xfrm>
        </p:grpSpPr>
        <p:sp>
          <p:nvSpPr>
            <p:cNvPr id="36888" name="Oval 9"/>
            <p:cNvSpPr>
              <a:spLocks/>
            </p:cNvSpPr>
            <p:nvPr/>
          </p:nvSpPr>
          <p:spPr bwMode="auto">
            <a:xfrm>
              <a:off x="0" y="0"/>
              <a:ext cx="1392" cy="13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9" name="Line 10"/>
            <p:cNvSpPr>
              <a:spLocks noChangeShapeType="1"/>
            </p:cNvSpPr>
            <p:nvPr/>
          </p:nvSpPr>
          <p:spPr bwMode="auto">
            <a:xfrm>
              <a:off x="699" y="0"/>
              <a:ext cx="1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0" name="Line 11"/>
            <p:cNvSpPr>
              <a:spLocks noChangeShapeType="1"/>
            </p:cNvSpPr>
            <p:nvPr/>
          </p:nvSpPr>
          <p:spPr bwMode="auto">
            <a:xfrm rot="10800000" flipH="1">
              <a:off x="0" y="719"/>
              <a:ext cx="1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1" name="Line 12"/>
            <p:cNvSpPr>
              <a:spLocks noChangeShapeType="1"/>
            </p:cNvSpPr>
            <p:nvPr/>
          </p:nvSpPr>
          <p:spPr bwMode="auto">
            <a:xfrm>
              <a:off x="192" y="206"/>
              <a:ext cx="967" cy="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2" name="Line 13"/>
            <p:cNvSpPr>
              <a:spLocks noChangeShapeType="1"/>
            </p:cNvSpPr>
            <p:nvPr/>
          </p:nvSpPr>
          <p:spPr bwMode="auto">
            <a:xfrm rot="10800000" flipH="1">
              <a:off x="206" y="226"/>
              <a:ext cx="100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36873" name="Oval 14"/>
          <p:cNvSpPr>
            <a:spLocks/>
          </p:cNvSpPr>
          <p:nvPr/>
        </p:nvSpPr>
        <p:spPr bwMode="auto">
          <a:xfrm>
            <a:off x="3292475" y="3352800"/>
            <a:ext cx="1600200" cy="1600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43" name="Rectangle 15"/>
          <p:cNvSpPr>
            <a:spLocks/>
          </p:cNvSpPr>
          <p:nvPr/>
        </p:nvSpPr>
        <p:spPr bwMode="auto">
          <a:xfrm>
            <a:off x="4419600" y="5410200"/>
            <a:ext cx="1227138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insertPtr</a:t>
            </a:r>
          </a:p>
        </p:txBody>
      </p:sp>
      <p:sp>
        <p:nvSpPr>
          <p:cNvPr id="36875" name="Line 16"/>
          <p:cNvSpPr>
            <a:spLocks noChangeShapeType="1"/>
          </p:cNvSpPr>
          <p:nvPr/>
        </p:nvSpPr>
        <p:spPr bwMode="auto">
          <a:xfrm rot="10800000">
            <a:off x="3962400" y="5105400"/>
            <a:ext cx="838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45" name="Rectangle 17"/>
          <p:cNvSpPr>
            <a:spLocks/>
          </p:cNvSpPr>
          <p:nvPr/>
        </p:nvSpPr>
        <p:spPr bwMode="auto">
          <a:xfrm>
            <a:off x="5334000" y="4953000"/>
            <a:ext cx="1501775" cy="36988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 err="1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  <a:sym typeface="Verdana" pitchFamily="34" charset="0"/>
              </a:rPr>
              <a:t>removePtr</a:t>
            </a:r>
            <a:endParaRPr lang="en-US" sz="2400" dirty="0">
              <a:solidFill>
                <a:schemeClr val="tx2"/>
              </a:solidFill>
              <a:latin typeface="+mn-lt"/>
              <a:ea typeface="Verdana" pitchFamily="34" charset="0"/>
              <a:cs typeface="Verdana" pitchFamily="34" charset="0"/>
              <a:sym typeface="Verdana" pitchFamily="34" charset="0"/>
            </a:endParaRPr>
          </a:p>
        </p:txBody>
      </p:sp>
      <p:sp>
        <p:nvSpPr>
          <p:cNvPr id="36877" name="Line 18"/>
          <p:cNvSpPr>
            <a:spLocks noChangeShapeType="1"/>
          </p:cNvSpPr>
          <p:nvPr/>
        </p:nvSpPr>
        <p:spPr bwMode="auto">
          <a:xfrm rot="10800000">
            <a:off x="3962400" y="5029200"/>
            <a:ext cx="13716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47" name="Rectangle 19"/>
          <p:cNvSpPr>
            <a:spLocks/>
          </p:cNvSpPr>
          <p:nvPr/>
        </p:nvSpPr>
        <p:spPr bwMode="auto">
          <a:xfrm>
            <a:off x="6259634" y="3587752"/>
            <a:ext cx="2768600" cy="1206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39" bIns="0"/>
          <a:lstStyle/>
          <a:p>
            <a:pPr marL="39688">
              <a:defRPr/>
            </a:pPr>
            <a:r>
              <a:rPr lang="en-US" sz="2500" dirty="0" smtClean="0">
                <a:solidFill>
                  <a:srgbClr val="EF5B00"/>
                </a:solidFill>
                <a:latin typeface="Gill Sans MT"/>
                <a:ea typeface="+mn-ea"/>
                <a:cs typeface="Gill Sans MT"/>
                <a:sym typeface="Tahoma Bold" charset="0"/>
              </a:rPr>
              <a:t>Buffer empty:</a:t>
            </a:r>
            <a:r>
              <a:rPr lang="en-US" sz="2500" dirty="0" smtClean="0">
                <a:solidFill>
                  <a:schemeClr val="tx2"/>
                </a:solidFill>
                <a:latin typeface="Gill Sans MT"/>
                <a:ea typeface="+mn-ea"/>
                <a:cs typeface="Gill Sans MT"/>
                <a:sym typeface="Tahoma Bold" charset="0"/>
              </a:rPr>
              <a:t> </a:t>
            </a:r>
            <a:r>
              <a:rPr lang="en-US" sz="2500" dirty="0">
                <a:solidFill>
                  <a:schemeClr val="tx2"/>
                </a:solidFill>
                <a:latin typeface="Gill Sans MT"/>
                <a:ea typeface="+mn-ea"/>
                <a:cs typeface="Gill Sans MT"/>
                <a:sym typeface="Tahoma Bold" charset="0"/>
              </a:rPr>
              <a:t>Consumer must be blocked!</a:t>
            </a:r>
          </a:p>
        </p:txBody>
      </p:sp>
      <p:pic>
        <p:nvPicPr>
          <p:cNvPr id="36882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3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Arc 27"/>
          <p:cNvSpPr/>
          <p:nvPr/>
        </p:nvSpPr>
        <p:spPr bwMode="auto">
          <a:xfrm>
            <a:off x="3581400" y="3657600"/>
            <a:ext cx="1066800" cy="1066800"/>
          </a:xfrm>
          <a:prstGeom prst="arc">
            <a:avLst>
              <a:gd name="adj1" fmla="val 16200000"/>
              <a:gd name="adj2" fmla="val 12749183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>
              <a:latin typeface="Arial" pitchFamily="34" charset="0"/>
              <a:ea typeface="+mn-ea"/>
            </a:endParaRPr>
          </a:p>
        </p:txBody>
      </p:sp>
      <p:pic>
        <p:nvPicPr>
          <p:cNvPr id="3688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734050"/>
            <a:ext cx="10683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86" name="Rectangle 9"/>
          <p:cNvSpPr>
            <a:spLocks/>
          </p:cNvSpPr>
          <p:nvPr/>
        </p:nvSpPr>
        <p:spPr bwMode="auto">
          <a:xfrm>
            <a:off x="6096000" y="5268913"/>
            <a:ext cx="251460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>
            <a:spAutoFit/>
          </a:bodyPr>
          <a:lstStyle/>
          <a:p>
            <a:pPr marL="39688" algn="ctr"/>
            <a:r>
              <a:rPr lang="en-US" sz="2500" dirty="0">
                <a:latin typeface="Gill Sans MT"/>
                <a:cs typeface="Gill Sans MT"/>
                <a:sym typeface="Arial" charset="0"/>
              </a:rPr>
              <a:t>Remove pizza</a:t>
            </a:r>
          </a:p>
        </p:txBody>
      </p:sp>
      <p:pic>
        <p:nvPicPr>
          <p:cNvPr id="36887" name="Picture 2" descr="C:\Users\rhk\AppData\Local\Microsoft\Windows\Temporary Internet Files\Content.IE5\MXL9JB0U\MC900434805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55626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</p:spTree>
    <p:extLst>
      <p:ext uri="{BB962C8B-B14F-4D97-AF65-F5344CB8AC3E}">
        <p14:creationId xmlns:p14="http://schemas.microsoft.com/office/powerpoint/2010/main" val="162368936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 smtClean="0"/>
              <a:t>Designing a solution</a:t>
            </a:r>
            <a:endParaRPr lang="en-US" dirty="0">
              <a:latin typeface="Arial" charset="0"/>
            </a:endParaRPr>
          </a:p>
        </p:txBody>
      </p:sp>
      <p:pic>
        <p:nvPicPr>
          <p:cNvPr id="36882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3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4091" y="3643062"/>
            <a:ext cx="2746966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Wait for empty slot</a:t>
            </a:r>
          </a:p>
          <a:p>
            <a:r>
              <a:rPr lang="en-US" sz="2500" dirty="0" smtClean="0">
                <a:latin typeface="Gill Sans MT"/>
                <a:cs typeface="Gill Sans MT"/>
              </a:rPr>
              <a:t>Insert item</a:t>
            </a:r>
          </a:p>
          <a:p>
            <a:r>
              <a:rPr lang="en-US" sz="2500" b="0" dirty="0" smtClean="0">
                <a:latin typeface="Gill Sans MT"/>
                <a:cs typeface="Gill Sans MT"/>
              </a:rPr>
              <a:t>Signal item arrival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6799" y="3643062"/>
            <a:ext cx="3526201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500" b="0" dirty="0" smtClean="0">
                <a:latin typeface="Gill Sans MT"/>
                <a:cs typeface="Gill Sans MT"/>
              </a:rPr>
              <a:t>Wait for item arrival</a:t>
            </a:r>
          </a:p>
          <a:p>
            <a:pPr algn="r"/>
            <a:r>
              <a:rPr lang="en-US" sz="2500" dirty="0" smtClean="0">
                <a:latin typeface="Gill Sans MT"/>
                <a:cs typeface="Gill Sans MT"/>
              </a:rPr>
              <a:t>Remove item</a:t>
            </a:r>
          </a:p>
          <a:p>
            <a:pPr algn="r"/>
            <a:r>
              <a:rPr lang="en-US" sz="2500" b="0" dirty="0" smtClean="0">
                <a:latin typeface="Gill Sans MT"/>
                <a:cs typeface="Gill Sans MT"/>
              </a:rPr>
              <a:t>Signal empty slot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3962" y="5926389"/>
            <a:ext cx="477060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What synchronization do we need?</a:t>
            </a:r>
          </a:p>
        </p:txBody>
      </p:sp>
    </p:spTree>
    <p:extLst>
      <p:ext uri="{BB962C8B-B14F-4D97-AF65-F5344CB8AC3E}">
        <p14:creationId xmlns:p14="http://schemas.microsoft.com/office/powerpoint/2010/main" val="173424916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3475535" y="3899616"/>
            <a:ext cx="1714782" cy="885110"/>
          </a:xfrm>
          <a:prstGeom prst="rect">
            <a:avLst/>
          </a:prstGeom>
          <a:solidFill>
            <a:srgbClr val="EF5B00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Designing a solution</a:t>
            </a:r>
            <a:endParaRPr lang="en-US" dirty="0">
              <a:latin typeface="Arial" charset="0"/>
            </a:endParaRPr>
          </a:p>
        </p:txBody>
      </p:sp>
      <p:pic>
        <p:nvPicPr>
          <p:cNvPr id="36882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3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4091" y="3643062"/>
            <a:ext cx="2746966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Wait for empty slot</a:t>
            </a:r>
          </a:p>
          <a:p>
            <a:r>
              <a:rPr lang="en-US" sz="2500" dirty="0" smtClean="0">
                <a:latin typeface="Gill Sans MT"/>
                <a:cs typeface="Gill Sans MT"/>
              </a:rPr>
              <a:t>Insert item</a:t>
            </a:r>
          </a:p>
          <a:p>
            <a:r>
              <a:rPr lang="en-US" sz="2500" b="0" dirty="0" smtClean="0">
                <a:latin typeface="Gill Sans MT"/>
                <a:cs typeface="Gill Sans MT"/>
              </a:rPr>
              <a:t>Signal item arrival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037" y="3643062"/>
            <a:ext cx="3532963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500" b="0" dirty="0" smtClean="0">
                <a:latin typeface="Gill Sans MT"/>
                <a:cs typeface="Gill Sans MT"/>
              </a:rPr>
              <a:t>Wait for item arrival</a:t>
            </a:r>
          </a:p>
          <a:p>
            <a:pPr algn="r"/>
            <a:r>
              <a:rPr lang="en-US" sz="2500" dirty="0" smtClean="0">
                <a:latin typeface="Gill Sans MT"/>
                <a:cs typeface="Gill Sans MT"/>
              </a:rPr>
              <a:t>Remove item</a:t>
            </a:r>
          </a:p>
          <a:p>
            <a:pPr algn="r"/>
            <a:r>
              <a:rPr lang="en-US" sz="2500" b="0" dirty="0" smtClean="0">
                <a:latin typeface="Gill Sans MT"/>
                <a:cs typeface="Gill Sans MT"/>
              </a:rPr>
              <a:t>Signal empty slot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3962" y="5926389"/>
            <a:ext cx="477060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What synchronization do we need?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5535" y="3899616"/>
            <a:ext cx="171478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0" dirty="0" err="1" smtClean="0">
                <a:solidFill>
                  <a:schemeClr val="bg1"/>
                </a:solidFill>
                <a:latin typeface="Gill Sans MT"/>
                <a:cs typeface="Gill Sans MT"/>
              </a:rPr>
              <a:t>Mutex</a:t>
            </a:r>
            <a:endParaRPr lang="en-US" sz="2500" dirty="0" err="1">
              <a:solidFill>
                <a:schemeClr val="bg1"/>
              </a:solidFill>
              <a:latin typeface="Gill Sans MT"/>
              <a:cs typeface="Gill Sans MT"/>
            </a:endParaRPr>
          </a:p>
          <a:p>
            <a:pPr algn="ctr"/>
            <a:r>
              <a:rPr lang="en-US" sz="2000" b="0" dirty="0" smtClean="0">
                <a:solidFill>
                  <a:schemeClr val="bg1"/>
                </a:solidFill>
                <a:latin typeface="Gill Sans MT"/>
                <a:cs typeface="Gill Sans MT"/>
              </a:rPr>
              <a:t>(shared buffer)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52013" y="4079203"/>
            <a:ext cx="1973462" cy="448968"/>
          </a:xfrm>
          <a:prstGeom prst="ellips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 bwMode="auto">
          <a:xfrm>
            <a:off x="6778700" y="4079203"/>
            <a:ext cx="1973462" cy="448968"/>
          </a:xfrm>
          <a:prstGeom prst="ellips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>
            <a:stCxn id="5" idx="6"/>
            <a:endCxn id="4" idx="1"/>
          </p:cNvCxnSpPr>
          <p:nvPr/>
        </p:nvCxnSpPr>
        <p:spPr bwMode="auto">
          <a:xfrm flipV="1">
            <a:off x="2125475" y="4292031"/>
            <a:ext cx="1350060" cy="11656"/>
          </a:xfrm>
          <a:prstGeom prst="lin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>
            <a:stCxn id="4" idx="3"/>
            <a:endCxn id="13" idx="2"/>
          </p:cNvCxnSpPr>
          <p:nvPr/>
        </p:nvCxnSpPr>
        <p:spPr bwMode="auto">
          <a:xfrm>
            <a:off x="5190317" y="4292031"/>
            <a:ext cx="1588383" cy="11656"/>
          </a:xfrm>
          <a:prstGeom prst="lin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6151693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3475535" y="3899616"/>
            <a:ext cx="1714782" cy="885110"/>
          </a:xfrm>
          <a:prstGeom prst="rect">
            <a:avLst/>
          </a:prstGeom>
          <a:solidFill>
            <a:srgbClr val="EF5B00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Designing a solution</a:t>
            </a:r>
            <a:endParaRPr lang="en-US" dirty="0">
              <a:latin typeface="Arial" charset="0"/>
            </a:endParaRPr>
          </a:p>
        </p:txBody>
      </p:sp>
      <p:pic>
        <p:nvPicPr>
          <p:cNvPr id="36882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3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4091" y="3643062"/>
            <a:ext cx="2746966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Wait for empty slot</a:t>
            </a:r>
          </a:p>
          <a:p>
            <a:r>
              <a:rPr lang="en-US" sz="2500" dirty="0" smtClean="0">
                <a:latin typeface="Gill Sans MT"/>
                <a:cs typeface="Gill Sans MT"/>
              </a:rPr>
              <a:t>Insert item</a:t>
            </a:r>
          </a:p>
          <a:p>
            <a:r>
              <a:rPr lang="en-US" sz="2500" b="0" dirty="0" smtClean="0">
                <a:latin typeface="Gill Sans MT"/>
                <a:cs typeface="Gill Sans MT"/>
              </a:rPr>
              <a:t>Signal item arrival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037" y="3643062"/>
            <a:ext cx="3532963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500" b="0" dirty="0" smtClean="0">
                <a:latin typeface="Gill Sans MT"/>
                <a:cs typeface="Gill Sans MT"/>
              </a:rPr>
              <a:t>Wait for item arrival</a:t>
            </a:r>
          </a:p>
          <a:p>
            <a:pPr algn="r"/>
            <a:r>
              <a:rPr lang="en-US" sz="2500" dirty="0" smtClean="0">
                <a:latin typeface="Gill Sans MT"/>
                <a:cs typeface="Gill Sans MT"/>
              </a:rPr>
              <a:t>Remove item</a:t>
            </a:r>
          </a:p>
          <a:p>
            <a:pPr algn="r"/>
            <a:r>
              <a:rPr lang="en-US" sz="2500" b="0" dirty="0" smtClean="0">
                <a:latin typeface="Gill Sans MT"/>
                <a:cs typeface="Gill Sans MT"/>
              </a:rPr>
              <a:t>Signal empty slot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3962" y="5926389"/>
            <a:ext cx="477060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What synchronization do we need?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47985" y="3899616"/>
            <a:ext cx="176988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0" dirty="0" smtClean="0">
                <a:solidFill>
                  <a:schemeClr val="bg1"/>
                </a:solidFill>
                <a:latin typeface="Gill Sans MT"/>
                <a:cs typeface="Gill Sans MT"/>
              </a:rPr>
              <a:t>Semaphore</a:t>
            </a:r>
            <a:endParaRPr lang="en-US" sz="2500" dirty="0">
              <a:solidFill>
                <a:schemeClr val="bg1"/>
              </a:solidFill>
              <a:latin typeface="Gill Sans MT"/>
              <a:cs typeface="Gill Sans MT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Gill Sans MT"/>
                <a:cs typeface="Gill Sans MT"/>
              </a:rPr>
              <a:t>(</a:t>
            </a:r>
            <a:r>
              <a:rPr lang="en-US" sz="2000" b="0" dirty="0" smtClean="0">
                <a:solidFill>
                  <a:schemeClr val="bg1"/>
                </a:solidFill>
                <a:latin typeface="Gill Sans MT"/>
                <a:cs typeface="Gill Sans MT"/>
              </a:rPr>
              <a:t># empty slots)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552331" y="3720019"/>
            <a:ext cx="1568726" cy="448968"/>
          </a:xfrm>
          <a:prstGeom prst="ellips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 bwMode="auto">
          <a:xfrm>
            <a:off x="6106690" y="4464043"/>
            <a:ext cx="1539503" cy="448968"/>
          </a:xfrm>
          <a:prstGeom prst="ellips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>
            <a:stCxn id="5" idx="6"/>
          </p:cNvCxnSpPr>
          <p:nvPr/>
        </p:nvCxnSpPr>
        <p:spPr bwMode="auto">
          <a:xfrm>
            <a:off x="3121057" y="3944503"/>
            <a:ext cx="445456" cy="347528"/>
          </a:xfrm>
          <a:prstGeom prst="lin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>
            <a:endCxn id="13" idx="2"/>
          </p:cNvCxnSpPr>
          <p:nvPr/>
        </p:nvCxnSpPr>
        <p:spPr bwMode="auto">
          <a:xfrm>
            <a:off x="5093186" y="4292031"/>
            <a:ext cx="1013504" cy="396496"/>
          </a:xfrm>
          <a:prstGeom prst="lin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1918126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3475535" y="3899616"/>
            <a:ext cx="1714782" cy="885110"/>
          </a:xfrm>
          <a:prstGeom prst="rect">
            <a:avLst/>
          </a:prstGeom>
          <a:solidFill>
            <a:srgbClr val="EF5B00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/>
              <a:t>Designing a solution</a:t>
            </a:r>
            <a:endParaRPr lang="en-US" dirty="0">
              <a:latin typeface="Arial" charset="0"/>
            </a:endParaRPr>
          </a:p>
        </p:txBody>
      </p:sp>
      <p:pic>
        <p:nvPicPr>
          <p:cNvPr id="36882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3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282242" y="1236603"/>
            <a:ext cx="1881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Chef (Producer)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8700" y="1236603"/>
            <a:ext cx="2249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Gill Sans MT"/>
                <a:cs typeface="Gill Sans MT"/>
              </a:rPr>
              <a:t>Waiter (Consumer)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4091" y="3643062"/>
            <a:ext cx="2746966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Wait for empty slot</a:t>
            </a:r>
          </a:p>
          <a:p>
            <a:r>
              <a:rPr lang="en-US" sz="2500" dirty="0" smtClean="0">
                <a:latin typeface="Gill Sans MT"/>
                <a:cs typeface="Gill Sans MT"/>
              </a:rPr>
              <a:t>Insert item</a:t>
            </a:r>
          </a:p>
          <a:p>
            <a:r>
              <a:rPr lang="en-US" sz="2500" b="0" dirty="0" smtClean="0">
                <a:latin typeface="Gill Sans MT"/>
                <a:cs typeface="Gill Sans MT"/>
              </a:rPr>
              <a:t>Signal item arrival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8171" y="3643062"/>
            <a:ext cx="352482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500" b="0" dirty="0" smtClean="0">
                <a:latin typeface="Gill Sans MT"/>
                <a:cs typeface="Gill Sans MT"/>
              </a:rPr>
              <a:t>Wait for item arrival</a:t>
            </a:r>
          </a:p>
          <a:p>
            <a:pPr algn="r"/>
            <a:r>
              <a:rPr lang="en-US" sz="2500" dirty="0" smtClean="0">
                <a:latin typeface="Gill Sans MT"/>
                <a:cs typeface="Gill Sans MT"/>
              </a:rPr>
              <a:t>Remove item</a:t>
            </a:r>
          </a:p>
          <a:p>
            <a:pPr algn="r"/>
            <a:r>
              <a:rPr lang="en-US" sz="2500" b="0" dirty="0" smtClean="0">
                <a:latin typeface="Gill Sans MT"/>
                <a:cs typeface="Gill Sans MT"/>
              </a:rPr>
              <a:t>Signal empty slot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3962" y="5926389"/>
            <a:ext cx="477060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What synchronization do we need?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14156" y="3899616"/>
            <a:ext cx="163754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0" dirty="0" smtClean="0">
                <a:solidFill>
                  <a:schemeClr val="bg1"/>
                </a:solidFill>
                <a:latin typeface="Gill Sans MT"/>
                <a:cs typeface="Gill Sans MT"/>
              </a:rPr>
              <a:t>Semaphore</a:t>
            </a:r>
            <a:endParaRPr lang="en-US" sz="2500" dirty="0">
              <a:solidFill>
                <a:schemeClr val="bg1"/>
              </a:solidFill>
              <a:latin typeface="Gill Sans MT"/>
              <a:cs typeface="Gill Sans MT"/>
            </a:endParaRPr>
          </a:p>
          <a:p>
            <a:pPr algn="ctr"/>
            <a:r>
              <a:rPr lang="en-US" sz="2000" b="0" dirty="0" smtClean="0">
                <a:solidFill>
                  <a:schemeClr val="bg1"/>
                </a:solidFill>
                <a:latin typeface="Gill Sans MT"/>
                <a:cs typeface="Gill Sans MT"/>
              </a:rPr>
              <a:t>(# filled slots)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154631" y="4451215"/>
            <a:ext cx="1680617" cy="448968"/>
          </a:xfrm>
          <a:prstGeom prst="ellips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 bwMode="auto">
          <a:xfrm>
            <a:off x="7107352" y="3681535"/>
            <a:ext cx="1693748" cy="448968"/>
          </a:xfrm>
          <a:prstGeom prst="ellips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>
            <a:stCxn id="5" idx="6"/>
          </p:cNvCxnSpPr>
          <p:nvPr/>
        </p:nvCxnSpPr>
        <p:spPr bwMode="auto">
          <a:xfrm flipV="1">
            <a:off x="2835248" y="4292031"/>
            <a:ext cx="808240" cy="383668"/>
          </a:xfrm>
          <a:prstGeom prst="lin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>
            <a:endCxn id="13" idx="2"/>
          </p:cNvCxnSpPr>
          <p:nvPr/>
        </p:nvCxnSpPr>
        <p:spPr bwMode="auto">
          <a:xfrm flipV="1">
            <a:off x="4977723" y="3906019"/>
            <a:ext cx="2129629" cy="386012"/>
          </a:xfrm>
          <a:prstGeom prst="line">
            <a:avLst/>
          </a:prstGeom>
          <a:noFill/>
          <a:ln w="38100" cap="flat" cmpd="sng" algn="ctr">
            <a:solidFill>
              <a:srgbClr val="EF5B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6789052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Producer-Consumer Code</a:t>
            </a:r>
          </a:p>
        </p:txBody>
      </p:sp>
      <p:sp>
        <p:nvSpPr>
          <p:cNvPr id="45059" name="Content Placeholder 5"/>
          <p:cNvSpPr>
            <a:spLocks noGrp="1"/>
          </p:cNvSpPr>
          <p:nvPr>
            <p:ph sz="half" idx="1"/>
          </p:nvPr>
        </p:nvSpPr>
        <p:spPr>
          <a:xfrm>
            <a:off x="949325" y="2743200"/>
            <a:ext cx="3754438" cy="3200400"/>
          </a:xfrm>
        </p:spPr>
        <p:txBody>
          <a:bodyPr/>
          <a:lstStyle/>
          <a:p>
            <a:pPr>
              <a:buFont typeface="Wingdings" charset="0"/>
              <a:buNone/>
            </a:pPr>
            <a:endParaRPr lang="en-US" sz="2000" b="1" dirty="0">
              <a:solidFill>
                <a:srgbClr val="0000CC"/>
              </a:solidFill>
              <a:latin typeface="Courier New" charset="0"/>
              <a:cs typeface="Courier New" charset="0"/>
            </a:endParaRPr>
          </a:p>
          <a:p>
            <a:pPr>
              <a:buFont typeface="Wingdings" charset="0"/>
              <a:buNone/>
            </a:pPr>
            <a:endParaRPr lang="en-US" sz="2000" b="1" dirty="0">
              <a:solidFill>
                <a:srgbClr val="0000CC"/>
              </a:solidFill>
              <a:latin typeface="Courier New" charset="0"/>
              <a:cs typeface="Courier New" charset="0"/>
            </a:endParaRPr>
          </a:p>
          <a:p>
            <a:pPr>
              <a:buFont typeface="Wingdings" charset="0"/>
              <a:buNone/>
            </a:pP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buffer[ </a:t>
            </a: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insertPtr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] = data;</a:t>
            </a:r>
          </a:p>
          <a:p>
            <a:pPr>
              <a:buFont typeface="Wingdings" charset="0"/>
              <a:buNone/>
            </a:pP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insertPtr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= (</a:t>
            </a: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insertPtr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+ 1) % N;</a:t>
            </a:r>
          </a:p>
        </p:txBody>
      </p:sp>
      <p:sp>
        <p:nvSpPr>
          <p:cNvPr id="45060" name="Content Placeholder 6"/>
          <p:cNvSpPr>
            <a:spLocks noGrp="1"/>
          </p:cNvSpPr>
          <p:nvPr>
            <p:ph sz="half" idx="2"/>
          </p:nvPr>
        </p:nvSpPr>
        <p:spPr>
          <a:xfrm>
            <a:off x="4724400" y="2743200"/>
            <a:ext cx="3754438" cy="3200400"/>
          </a:xfrm>
        </p:spPr>
        <p:txBody>
          <a:bodyPr/>
          <a:lstStyle/>
          <a:p>
            <a:pPr>
              <a:buFont typeface="Wingdings" charset="0"/>
              <a:buNone/>
            </a:pPr>
            <a:endParaRPr lang="en-US" sz="2000" b="1" dirty="0">
              <a:solidFill>
                <a:srgbClr val="0000CC"/>
              </a:solidFill>
              <a:latin typeface="Courier New" charset="0"/>
              <a:cs typeface="Courier New" charset="0"/>
            </a:endParaRPr>
          </a:p>
          <a:p>
            <a:pPr>
              <a:buFont typeface="Wingdings" charset="0"/>
              <a:buNone/>
            </a:pPr>
            <a:endParaRPr lang="en-US" sz="2000" b="1" dirty="0">
              <a:solidFill>
                <a:srgbClr val="0000CC"/>
              </a:solidFill>
              <a:latin typeface="Courier New" charset="0"/>
              <a:cs typeface="Courier New" charset="0"/>
            </a:endParaRPr>
          </a:p>
          <a:p>
            <a:pPr>
              <a:buFont typeface="Wingdings" charset="0"/>
              <a:buNone/>
            </a:pP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result = buffer[</a:t>
            </a: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removePtr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];</a:t>
            </a:r>
          </a:p>
          <a:p>
            <a:pPr>
              <a:buFont typeface="Wingdings" charset="0"/>
              <a:buNone/>
            </a:pP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removePtr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= (</a:t>
            </a: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removePtr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+1) % N;</a:t>
            </a:r>
          </a:p>
          <a:p>
            <a:endParaRPr lang="en-US" sz="2000" dirty="0">
              <a:latin typeface="Arial" charset="0"/>
            </a:endParaRPr>
          </a:p>
        </p:txBody>
      </p:sp>
      <p:pic>
        <p:nvPicPr>
          <p:cNvPr id="45063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6002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4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914400" y="2706688"/>
            <a:ext cx="3276600" cy="861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500" dirty="0">
                <a:latin typeface="Gill Sans MT"/>
                <a:cs typeface="Gill Sans MT"/>
              </a:rPr>
              <a:t>Critical Section: move insert pointer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4400" y="2706688"/>
            <a:ext cx="3276600" cy="8617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500" dirty="0">
                <a:latin typeface="Gill Sans MT"/>
                <a:cs typeface="Gill Sans MT"/>
              </a:rPr>
              <a:t>Critical Section: move remove pointer</a:t>
            </a:r>
          </a:p>
        </p:txBody>
      </p:sp>
    </p:spTree>
    <p:extLst>
      <p:ext uri="{BB962C8B-B14F-4D97-AF65-F5344CB8AC3E}">
        <p14:creationId xmlns:p14="http://schemas.microsoft.com/office/powerpoint/2010/main" val="424204993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Producer-Consumer Code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949325" y="2743200"/>
            <a:ext cx="3754438" cy="32004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charset="0"/>
              <a:buNone/>
            </a:pP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sem_wait</a:t>
            </a:r>
            <a:r>
              <a:rPr lang="en-US" sz="20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000" b="1" dirty="0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slots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mutex_lock</a:t>
            </a:r>
            <a:r>
              <a:rPr lang="en-US" sz="20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000" b="1" dirty="0" err="1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mutex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buffer[ </a:t>
            </a: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insertPtr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] = data;</a:t>
            </a:r>
          </a:p>
          <a:p>
            <a:pPr>
              <a:buFont typeface="Wingdings" charset="0"/>
              <a:buNone/>
            </a:pP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insertPtr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= (</a:t>
            </a: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insertPtr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+ 1) % N;</a:t>
            </a:r>
          </a:p>
          <a:p>
            <a:pPr>
              <a:buFont typeface="Wingdings" charset="0"/>
              <a:buNone/>
            </a:pP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mutex_unlock</a:t>
            </a:r>
            <a:r>
              <a:rPr lang="en-US" sz="20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000" b="1" dirty="0" err="1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mutex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000" b="1" dirty="0" err="1" smtClean="0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sem_post</a:t>
            </a:r>
            <a:r>
              <a:rPr lang="en-US" sz="20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000" b="1" dirty="0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items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endParaRPr lang="en-US" sz="2000" dirty="0">
              <a:latin typeface="Arial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724400" y="2743200"/>
            <a:ext cx="3754438" cy="32004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charset="0"/>
              <a:buNone/>
            </a:pP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sem_wait</a:t>
            </a:r>
            <a:r>
              <a:rPr lang="en-US" sz="20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000" b="1" dirty="0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items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mutex_lock</a:t>
            </a:r>
            <a:r>
              <a:rPr lang="en-US" sz="20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000" b="1" dirty="0" err="1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mutex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result = buffer[</a:t>
            </a: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removePtr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];</a:t>
            </a:r>
          </a:p>
          <a:p>
            <a:pPr>
              <a:buFont typeface="Wingdings" charset="0"/>
              <a:buNone/>
            </a:pP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removePtr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= (</a:t>
            </a: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removePtr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+1) % N;</a:t>
            </a:r>
          </a:p>
          <a:p>
            <a:pPr>
              <a:buFont typeface="Wingdings" charset="0"/>
              <a:buNone/>
            </a:pPr>
            <a:r>
              <a:rPr lang="en-US" sz="2000" b="1" dirty="0" err="1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mutex_unlock</a:t>
            </a:r>
            <a:r>
              <a:rPr lang="en-US" sz="20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000" b="1" dirty="0" err="1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mutex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000" b="1" dirty="0" err="1" smtClean="0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sem_post</a:t>
            </a:r>
            <a:r>
              <a:rPr lang="en-US" sz="20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000" b="1" dirty="0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slots</a:t>
            </a:r>
            <a:r>
              <a:rPr lang="en-US" sz="20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endParaRPr lang="en-US" sz="2000" dirty="0">
              <a:latin typeface="Arial" charset="0"/>
            </a:endParaRPr>
          </a:p>
        </p:txBody>
      </p:sp>
      <p:pic>
        <p:nvPicPr>
          <p:cNvPr id="46087" name="Picture 5" descr="C:\Users\rhk\AppData\Local\Microsoft\Windows\Temporary Internet Files\Content.IE5\R0QNV618\MC90043395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6002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8" name="Picture 2" descr="C:\Users\rhk\AppData\Local\Microsoft\Windows\Temporary Internet Files\Content.IE5\R0QNV618\MC900433929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ight Arrow 26"/>
          <p:cNvSpPr>
            <a:spLocks noChangeArrowheads="1"/>
          </p:cNvSpPr>
          <p:nvPr/>
        </p:nvSpPr>
        <p:spPr bwMode="auto">
          <a:xfrm>
            <a:off x="152400" y="2895600"/>
            <a:ext cx="838200" cy="152400"/>
          </a:xfrm>
          <a:prstGeom prst="rightArrow">
            <a:avLst>
              <a:gd name="adj1" fmla="val 50000"/>
              <a:gd name="adj2" fmla="val 50009"/>
            </a:avLst>
          </a:prstGeom>
          <a:solidFill>
            <a:srgbClr val="FF0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200" y="3200400"/>
            <a:ext cx="1066800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</a:rPr>
              <a:t>Block if there are no free slots</a:t>
            </a:r>
          </a:p>
        </p:txBody>
      </p:sp>
      <p:sp>
        <p:nvSpPr>
          <p:cNvPr id="29" name="Right Arrow 28"/>
          <p:cNvSpPr>
            <a:spLocks noChangeArrowheads="1"/>
          </p:cNvSpPr>
          <p:nvPr/>
        </p:nvSpPr>
        <p:spPr bwMode="auto">
          <a:xfrm flipH="1">
            <a:off x="8077200" y="2895600"/>
            <a:ext cx="838200" cy="152400"/>
          </a:xfrm>
          <a:prstGeom prst="rightArrow">
            <a:avLst>
              <a:gd name="adj1" fmla="val 50000"/>
              <a:gd name="adj2" fmla="val 50009"/>
            </a:avLst>
          </a:prstGeom>
          <a:solidFill>
            <a:srgbClr val="FF0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01000" y="3124200"/>
            <a:ext cx="1066800" cy="1754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>
                <a:latin typeface="+mn-lt"/>
                <a:ea typeface="+mn-ea"/>
              </a:rPr>
              <a:t>Block if there are no items </a:t>
            </a:r>
            <a:br>
              <a:rPr lang="en-US" dirty="0">
                <a:latin typeface="+mn-lt"/>
                <a:ea typeface="+mn-ea"/>
              </a:rPr>
            </a:br>
            <a:r>
              <a:rPr lang="en-US" dirty="0">
                <a:latin typeface="+mn-lt"/>
                <a:ea typeface="+mn-ea"/>
              </a:rPr>
              <a:t>to </a:t>
            </a:r>
            <a:br>
              <a:rPr lang="en-US" dirty="0">
                <a:latin typeface="+mn-lt"/>
                <a:ea typeface="+mn-ea"/>
              </a:rPr>
            </a:br>
            <a:r>
              <a:rPr lang="en-US" dirty="0">
                <a:latin typeface="+mn-lt"/>
                <a:ea typeface="+mn-ea"/>
              </a:rPr>
              <a:t>take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828800"/>
            <a:ext cx="3276600" cy="9239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>
                <a:latin typeface="Arial" charset="0"/>
              </a:rPr>
              <a:t>Counting semaphore – check and decrement the  number of free slots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45038" y="1828800"/>
            <a:ext cx="3276600" cy="9239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>
                <a:latin typeface="Arial" charset="0"/>
              </a:rPr>
              <a:t>Counting semaphore – check and decrement the number of available items</a:t>
            </a:r>
          </a:p>
        </p:txBody>
      </p:sp>
      <p:sp>
        <p:nvSpPr>
          <p:cNvPr id="35" name="Right Arrow 34"/>
          <p:cNvSpPr>
            <a:spLocks noChangeArrowheads="1"/>
          </p:cNvSpPr>
          <p:nvPr/>
        </p:nvSpPr>
        <p:spPr bwMode="auto">
          <a:xfrm>
            <a:off x="152400" y="5334000"/>
            <a:ext cx="838200" cy="152400"/>
          </a:xfrm>
          <a:prstGeom prst="rightArrow">
            <a:avLst>
              <a:gd name="adj1" fmla="val 50000"/>
              <a:gd name="adj2" fmla="val 50009"/>
            </a:avLst>
          </a:prstGeom>
          <a:solidFill>
            <a:srgbClr val="FF0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400" y="5910160"/>
            <a:ext cx="3276600" cy="64611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</a:rPr>
              <a:t>Done – increment the number of available items</a:t>
            </a:r>
          </a:p>
        </p:txBody>
      </p:sp>
      <p:sp>
        <p:nvSpPr>
          <p:cNvPr id="37" name="Right Arrow 36"/>
          <p:cNvSpPr>
            <a:spLocks noChangeArrowheads="1"/>
          </p:cNvSpPr>
          <p:nvPr/>
        </p:nvSpPr>
        <p:spPr bwMode="auto">
          <a:xfrm flipH="1">
            <a:off x="8077200" y="5334000"/>
            <a:ext cx="838200" cy="152400"/>
          </a:xfrm>
          <a:prstGeom prst="rightArrow">
            <a:avLst>
              <a:gd name="adj1" fmla="val 50000"/>
              <a:gd name="adj2" fmla="val 50009"/>
            </a:avLst>
          </a:prstGeom>
          <a:solidFill>
            <a:srgbClr val="FF0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24400" y="5910160"/>
            <a:ext cx="3276600" cy="64611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>
                <a:latin typeface="Arial" charset="0"/>
              </a:rPr>
              <a:t>Done – increment the number of free slots</a:t>
            </a:r>
          </a:p>
        </p:txBody>
      </p:sp>
    </p:spTree>
    <p:extLst>
      <p:ext uri="{BB962C8B-B14F-4D97-AF65-F5344CB8AC3E}">
        <p14:creationId xmlns:p14="http://schemas.microsoft.com/office/powerpoint/2010/main" val="142307769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27" grpId="0" animBg="1"/>
      <p:bldP spid="28" grpId="0"/>
      <p:bldP spid="29" grpId="0" animBg="1"/>
      <p:bldP spid="30" grpId="0"/>
      <p:bldP spid="31" grpId="0"/>
      <p:bldP spid="32" grpId="0"/>
      <p:bldP spid="35" grpId="0" animBg="1"/>
      <p:bldP spid="36" grpId="0"/>
      <p:bldP spid="37" grpId="0" animBg="1"/>
      <p:bldP spid="3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</a:t>
            </a:r>
            <a:r>
              <a:rPr lang="en-US" dirty="0" err="1"/>
              <a:t>Pseudocode</a:t>
            </a:r>
            <a:r>
              <a:rPr lang="en-US" dirty="0"/>
              <a:t>: </a:t>
            </a:r>
            <a:r>
              <a:rPr lang="en-US" dirty="0" err="1"/>
              <a:t>getItem</a:t>
            </a:r>
            <a:r>
              <a:rPr lang="en-US" dirty="0"/>
              <a:t>()</a:t>
            </a:r>
          </a:p>
        </p:txBody>
      </p:sp>
      <p:sp>
        <p:nvSpPr>
          <p:cNvPr id="47112" name="Rectangle 8"/>
          <p:cNvSpPr>
            <a:spLocks noGrp="1" noChangeArrowheads="1"/>
          </p:cNvSpPr>
          <p:nvPr>
            <p:ph type="body" sz="quarter" idx="10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800" b="1" dirty="0" err="1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sem_wait</a:t>
            </a:r>
            <a:r>
              <a:rPr lang="en-US" sz="28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800" b="1" dirty="0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items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800" b="1" dirty="0" err="1" smtClean="0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pthread_mutex_lock</a:t>
            </a:r>
            <a:r>
              <a:rPr lang="en-US" sz="28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800" b="1" dirty="0" err="1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mutex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result = buffer[</a:t>
            </a:r>
            <a:r>
              <a:rPr lang="en-US" sz="28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removePtr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];</a:t>
            </a:r>
          </a:p>
          <a:p>
            <a:pPr>
              <a:buFont typeface="Wingdings" charset="0"/>
              <a:buNone/>
            </a:pPr>
            <a:r>
              <a:rPr lang="en-US" sz="28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removePtr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= (</a:t>
            </a:r>
            <a:r>
              <a:rPr lang="en-US" sz="28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removePtr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+1) % N;</a:t>
            </a:r>
          </a:p>
          <a:p>
            <a:pPr>
              <a:buFont typeface="Wingdings" charset="0"/>
              <a:buNone/>
            </a:pPr>
            <a:r>
              <a:rPr lang="en-US" sz="2800" b="1" dirty="0" err="1" smtClean="0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pthread_mutex_unlock</a:t>
            </a:r>
            <a:r>
              <a:rPr lang="en-US" sz="28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800" b="1" dirty="0" err="1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mutex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800" b="1" dirty="0" err="1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sem_signal</a:t>
            </a:r>
            <a:r>
              <a:rPr lang="en-US" sz="28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800" b="1" dirty="0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slots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0800" y="6019800"/>
            <a:ext cx="445452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j-lt"/>
                <a:ea typeface="+mn-ea"/>
                <a:sym typeface="Arial Italic" charset="0"/>
              </a:rPr>
              <a:t>Error checking/EINTR handling not shown</a:t>
            </a:r>
            <a:endParaRPr lang="en-US" dirty="0"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267802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 </a:t>
            </a:r>
            <a:r>
              <a:rPr lang="en-US" dirty="0" err="1"/>
              <a:t>Pseudocode</a:t>
            </a:r>
            <a:r>
              <a:rPr lang="en-US" dirty="0"/>
              <a:t>: </a:t>
            </a:r>
            <a:r>
              <a:rPr lang="en-US" dirty="0" err="1"/>
              <a:t>putItem</a:t>
            </a:r>
            <a:r>
              <a:rPr lang="en-US" dirty="0"/>
              <a:t>(</a:t>
            </a:r>
            <a:r>
              <a:rPr lang="en-US" dirty="0">
                <a:sym typeface="Arial Italic" charset="0"/>
              </a:rPr>
              <a:t>data</a:t>
            </a:r>
            <a:r>
              <a:rPr lang="en-US" dirty="0"/>
              <a:t>)</a:t>
            </a:r>
          </a:p>
        </p:txBody>
      </p:sp>
      <p:sp>
        <p:nvSpPr>
          <p:cNvPr id="48136" name="Rectangle 8"/>
          <p:cNvSpPr>
            <a:spLocks noGrp="1" noChangeArrowheads="1"/>
          </p:cNvSpPr>
          <p:nvPr>
            <p:ph type="body" sz="quarter" idx="10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800" b="1" dirty="0" err="1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sem_wait</a:t>
            </a:r>
            <a:r>
              <a:rPr lang="en-US" sz="28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800" b="1" dirty="0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slots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800" b="1" dirty="0" err="1" smtClean="0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pthread_mutex_lock</a:t>
            </a:r>
            <a:r>
              <a:rPr lang="en-US" sz="28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800" b="1" dirty="0" err="1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mutex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buffer[ </a:t>
            </a:r>
            <a:r>
              <a:rPr lang="en-US" sz="28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insertPtr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] = data;</a:t>
            </a:r>
          </a:p>
          <a:p>
            <a:pPr>
              <a:buFont typeface="Wingdings" charset="0"/>
              <a:buNone/>
            </a:pPr>
            <a:r>
              <a:rPr lang="en-US" sz="28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insertPtr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= (</a:t>
            </a:r>
            <a:r>
              <a:rPr lang="en-US" sz="2800" b="1" dirty="0" err="1">
                <a:solidFill>
                  <a:srgbClr val="0000CC"/>
                </a:solidFill>
                <a:latin typeface="Courier New" charset="0"/>
                <a:cs typeface="Courier New" charset="0"/>
              </a:rPr>
              <a:t>insertPtr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 + 1) % N;</a:t>
            </a:r>
          </a:p>
          <a:p>
            <a:pPr>
              <a:buFont typeface="Wingdings" charset="0"/>
              <a:buNone/>
            </a:pPr>
            <a:r>
              <a:rPr lang="en-US" sz="2800" b="1" dirty="0" err="1" smtClean="0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pthread_mutex_unlock</a:t>
            </a:r>
            <a:r>
              <a:rPr lang="en-US" sz="28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800" b="1" dirty="0" err="1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mutex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  <a:p>
            <a:pPr>
              <a:buFont typeface="Wingdings" charset="0"/>
              <a:buNone/>
            </a:pPr>
            <a:r>
              <a:rPr lang="en-US" sz="2800" b="1" dirty="0" err="1">
                <a:solidFill>
                  <a:srgbClr val="0000CC"/>
                </a:solidFill>
                <a:latin typeface="Courier New" charset="0"/>
                <a:cs typeface="Courier New" charset="0"/>
                <a:sym typeface="Arial Bold" charset="0"/>
              </a:rPr>
              <a:t>sem_signal</a:t>
            </a:r>
            <a:r>
              <a:rPr lang="en-US" sz="2800" b="1" dirty="0" smtClean="0">
                <a:solidFill>
                  <a:srgbClr val="0000CC"/>
                </a:solidFill>
                <a:latin typeface="Courier New" charset="0"/>
                <a:cs typeface="Courier New" charset="0"/>
              </a:rPr>
              <a:t>(&amp;</a:t>
            </a:r>
            <a:r>
              <a:rPr lang="en-US" sz="2800" b="1" dirty="0" smtClean="0">
                <a:solidFill>
                  <a:srgbClr val="FF0000"/>
                </a:solidFill>
                <a:latin typeface="Courier New" charset="0"/>
                <a:cs typeface="Courier New" charset="0"/>
              </a:rPr>
              <a:t>items</a:t>
            </a:r>
            <a:r>
              <a:rPr lang="en-US" sz="2800" b="1" dirty="0">
                <a:solidFill>
                  <a:srgbClr val="0000CC"/>
                </a:solidFill>
                <a:latin typeface="Courier New" charset="0"/>
                <a:cs typeface="Courier New" charset="0"/>
              </a:rPr>
              <a:t>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0800" y="6019800"/>
            <a:ext cx="445452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j-lt"/>
                <a:ea typeface="+mn-ea"/>
                <a:sym typeface="Arial Italic" charset="0"/>
              </a:rPr>
              <a:t>Error checking/EINTR handling not shown</a:t>
            </a:r>
            <a:endParaRPr lang="en-US" dirty="0"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57169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Readers-Writers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007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Readers-Writers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Generalization of the mutual exclusion problem</a:t>
            </a:r>
          </a:p>
          <a:p>
            <a:r>
              <a:rPr lang="en-US" dirty="0" smtClean="0"/>
              <a:t>Problem statement:</a:t>
            </a:r>
          </a:p>
          <a:p>
            <a:pPr lvl="1"/>
            <a:r>
              <a:rPr lang="en-US" i="1" dirty="0" smtClean="0"/>
              <a:t>Reader</a:t>
            </a:r>
            <a:r>
              <a:rPr lang="en-US" dirty="0" smtClean="0"/>
              <a:t> threads only read the object</a:t>
            </a:r>
          </a:p>
          <a:p>
            <a:pPr lvl="1"/>
            <a:r>
              <a:rPr lang="en-US" i="1" dirty="0" smtClean="0"/>
              <a:t>Writer</a:t>
            </a:r>
            <a:r>
              <a:rPr lang="en-US" dirty="0" smtClean="0"/>
              <a:t> threads modify the object</a:t>
            </a:r>
          </a:p>
          <a:p>
            <a:pPr lvl="1"/>
            <a:r>
              <a:rPr lang="en-US" dirty="0" smtClean="0"/>
              <a:t>Writers must have exclusive access to the object</a:t>
            </a:r>
          </a:p>
          <a:p>
            <a:pPr lvl="1"/>
            <a:r>
              <a:rPr lang="en-US" dirty="0" smtClean="0"/>
              <a:t>Unlimited number of readers can access the object</a:t>
            </a:r>
          </a:p>
          <a:p>
            <a:r>
              <a:rPr lang="en-US" dirty="0" smtClean="0"/>
              <a:t>Occurs frequently in real systems, e.g.,</a:t>
            </a:r>
          </a:p>
          <a:p>
            <a:pPr lvl="1"/>
            <a:r>
              <a:rPr lang="en-US" dirty="0" smtClean="0"/>
              <a:t>Online airline reservation system</a:t>
            </a:r>
          </a:p>
          <a:p>
            <a:pPr lvl="1"/>
            <a:r>
              <a:rPr lang="en-US" dirty="0" smtClean="0"/>
              <a:t>Multithreaded caching Web proxy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16290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74787" y="3119000"/>
            <a:ext cx="3016709" cy="172354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r>
              <a:rPr lang="en-US" sz="1600" b="1" dirty="0" err="1" smtClean="0">
                <a:solidFill>
                  <a:srgbClr val="0000A2"/>
                </a:solidFill>
                <a:latin typeface="Monaco"/>
              </a:rPr>
              <a:t>sem_wait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(&amp;w);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/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* Critical section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/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* Writing </a:t>
            </a: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here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err="1" smtClean="0">
                <a:solidFill>
                  <a:srgbClr val="0000A2"/>
                </a:solidFill>
                <a:latin typeface="Monaco"/>
              </a:rPr>
              <a:t>sem_post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(&amp;w);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endParaRPr lang="en-US" sz="1600" dirty="0" smtClean="0">
              <a:latin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4787" y="2517389"/>
            <a:ext cx="126481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Writers: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350024" y="1260310"/>
            <a:ext cx="5313809" cy="98488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endParaRPr lang="en-US" sz="1600" b="1" dirty="0" smtClean="0">
              <a:solidFill>
                <a:srgbClr val="0000FF"/>
              </a:solidFill>
              <a:latin typeface="Monaco"/>
            </a:endParaRPr>
          </a:p>
          <a:p>
            <a:r>
              <a:rPr lang="en-US" sz="1600" b="1" dirty="0" err="1" smtClean="0">
                <a:solidFill>
                  <a:srgbClr val="0000FF"/>
                </a:solidFill>
                <a:latin typeface="Monaco"/>
              </a:rPr>
              <a:t>int</a:t>
            </a:r>
            <a:r>
              <a:rPr lang="en-US" sz="1600" b="1" dirty="0" smtClean="0">
                <a:solidFill>
                  <a:prstClr val="black"/>
                </a:solidFill>
                <a:latin typeface="Monaco"/>
              </a:rPr>
              <a:t> 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readcnt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;   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Initially = 0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sem_t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 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mutex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, w;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Both initially = 1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endParaRPr lang="en-US" sz="1600" dirty="0" smtClean="0">
              <a:latin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4787" y="1236162"/>
            <a:ext cx="11079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Shared: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solution</a:t>
            </a:r>
            <a:endParaRPr lang="en-US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836314" y="3117871"/>
            <a:ext cx="5093246" cy="344709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r>
              <a:rPr lang="en-US" sz="1600" b="1" dirty="0" err="1" smtClean="0">
                <a:solidFill>
                  <a:srgbClr val="0000A2"/>
                </a:solidFill>
                <a:latin typeface="Monaco"/>
              </a:rPr>
              <a:t>sem_wait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mutex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err="1" smtClean="0">
                <a:solidFill>
                  <a:prstClr val="black"/>
                </a:solidFill>
                <a:latin typeface="Monaco"/>
              </a:rPr>
              <a:t>readcnt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++;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smtClean="0">
                <a:solidFill>
                  <a:srgbClr val="0000FF"/>
                </a:solidFill>
                <a:latin typeface="Monaco"/>
              </a:rPr>
              <a:t>if 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readcnt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 == </a:t>
            </a:r>
            <a:r>
              <a:rPr lang="en-US" sz="1600" b="1" dirty="0">
                <a:solidFill>
                  <a:srgbClr val="0000CD"/>
                </a:solidFill>
                <a:latin typeface="Monaco"/>
              </a:rPr>
              <a:t>1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First </a:t>
            </a: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reader in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smtClean="0">
                <a:solidFill>
                  <a:prstClr val="black"/>
                </a:solidFill>
                <a:latin typeface="Monaco"/>
              </a:rPr>
              <a:t>  </a:t>
            </a:r>
            <a:r>
              <a:rPr lang="en-US" sz="1600" b="1" dirty="0" err="1" smtClean="0">
                <a:solidFill>
                  <a:srgbClr val="0000A2"/>
                </a:solidFill>
                <a:latin typeface="Monaco"/>
              </a:rPr>
              <a:t>sem_wait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(&amp;w);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</a:t>
            </a: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Lock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out writers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err="1" smtClean="0">
                <a:solidFill>
                  <a:srgbClr val="0000A2"/>
                </a:solidFill>
                <a:latin typeface="Monaco"/>
              </a:rPr>
              <a:t>sem_post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mutex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/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* Main critical section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/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* Reading would happen here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err="1" smtClean="0">
                <a:solidFill>
                  <a:srgbClr val="0000A2"/>
                </a:solidFill>
                <a:latin typeface="Monaco"/>
              </a:rPr>
              <a:t>sem_wait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mutex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err="1" smtClean="0">
                <a:solidFill>
                  <a:prstClr val="black"/>
                </a:solidFill>
                <a:latin typeface="Monaco"/>
              </a:rPr>
              <a:t>readcnt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--;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smtClean="0">
                <a:solidFill>
                  <a:srgbClr val="0000FF"/>
                </a:solidFill>
                <a:latin typeface="Monaco"/>
              </a:rPr>
              <a:t>if 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readcnt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 == </a:t>
            </a:r>
            <a:r>
              <a:rPr lang="en-US" sz="1600" b="1" dirty="0">
                <a:solidFill>
                  <a:srgbClr val="0000CD"/>
                </a:solidFill>
                <a:latin typeface="Monaco"/>
              </a:rPr>
              <a:t>0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Last out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smtClean="0">
                <a:solidFill>
                  <a:prstClr val="black"/>
                </a:solidFill>
                <a:latin typeface="Monaco"/>
              </a:rPr>
              <a:t>  </a:t>
            </a:r>
            <a:r>
              <a:rPr lang="en-US" sz="1600" b="1" dirty="0" err="1" smtClean="0">
                <a:solidFill>
                  <a:srgbClr val="0000A2"/>
                </a:solidFill>
                <a:latin typeface="Monaco"/>
              </a:rPr>
              <a:t>sem_post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(&amp;w);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</a:t>
            </a: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Let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in writers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err="1" smtClean="0">
                <a:solidFill>
                  <a:srgbClr val="0000A2"/>
                </a:solidFill>
                <a:latin typeface="Monaco"/>
              </a:rPr>
              <a:t>sem_post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mutex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</a:t>
            </a:r>
            <a:r>
              <a:rPr lang="en-US" sz="1600" b="1" dirty="0" smtClean="0">
                <a:solidFill>
                  <a:prstClr val="black"/>
                </a:solidFill>
                <a:latin typeface="Monaco"/>
              </a:rPr>
              <a:t>;</a:t>
            </a:r>
            <a:endParaRPr lang="en-US" sz="1600" dirty="0" smtClean="0">
              <a:latin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36314" y="2528424"/>
            <a:ext cx="127470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smtClean="0">
                <a:latin typeface="Gill Sans MT"/>
                <a:cs typeface="Gill Sans MT"/>
              </a:rPr>
              <a:t>Readers</a:t>
            </a:r>
            <a:r>
              <a:rPr lang="en-US" sz="2500" b="0" dirty="0" smtClean="0">
                <a:latin typeface="Gill Sans MT"/>
                <a:cs typeface="Gill Sans MT"/>
              </a:rP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06" y="6077014"/>
            <a:ext cx="1151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Gill Sans MT"/>
                <a:cs typeface="Gill Sans MT"/>
              </a:rPr>
              <a:t>(full code</a:t>
            </a:r>
          </a:p>
          <a:p>
            <a:r>
              <a:rPr lang="en-US" sz="2000" dirty="0" smtClean="0">
                <a:latin typeface="Gill Sans MT"/>
                <a:cs typeface="Gill Sans MT"/>
              </a:rPr>
              <a:t>online)</a:t>
            </a:r>
            <a:endParaRPr lang="en-US" sz="2000" b="0" dirty="0" smtClean="0">
              <a:latin typeface="Gill Sans MT"/>
              <a:cs typeface="Gill Sans M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74114" y="271408"/>
            <a:ext cx="585544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smtClean="0">
                <a:solidFill>
                  <a:srgbClr val="E85810"/>
                </a:solidFill>
                <a:latin typeface="Gill Sans MT"/>
                <a:cs typeface="Gill Sans MT"/>
              </a:rPr>
              <a:t>Does it work?</a:t>
            </a:r>
          </a:p>
          <a:p>
            <a:r>
              <a:rPr lang="en-US" sz="2500" dirty="0" smtClean="0">
                <a:solidFill>
                  <a:srgbClr val="E85810"/>
                </a:solidFill>
                <a:latin typeface="Gill Sans MT"/>
                <a:cs typeface="Gill Sans MT"/>
              </a:rPr>
              <a:t>https</a:t>
            </a:r>
            <a:r>
              <a:rPr lang="en-US" sz="2500" dirty="0">
                <a:solidFill>
                  <a:srgbClr val="E85810"/>
                </a:solidFill>
                <a:latin typeface="Gill Sans MT"/>
                <a:cs typeface="Gill Sans MT"/>
              </a:rPr>
              <a:t>://</a:t>
            </a:r>
            <a:r>
              <a:rPr lang="en-US" sz="2500" dirty="0" err="1">
                <a:solidFill>
                  <a:srgbClr val="E85810"/>
                </a:solidFill>
                <a:latin typeface="Gill Sans MT"/>
                <a:cs typeface="Gill Sans MT"/>
              </a:rPr>
              <a:t>www.surveymonkey.com</a:t>
            </a:r>
            <a:r>
              <a:rPr lang="en-US" sz="2500" dirty="0">
                <a:solidFill>
                  <a:srgbClr val="E85810"/>
                </a:solidFill>
                <a:latin typeface="Gill Sans MT"/>
                <a:cs typeface="Gill Sans MT"/>
              </a:rPr>
              <a:t>/s/82RYXFT</a:t>
            </a:r>
            <a:endParaRPr lang="en-US" sz="2500" b="0" dirty="0" smtClean="0">
              <a:solidFill>
                <a:srgbClr val="E85810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645475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7" grpId="0" build="p" animBg="1"/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Variants of Readers-Writers	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Favor readers</a:t>
            </a:r>
          </a:p>
          <a:p>
            <a:pPr lvl="1"/>
            <a:r>
              <a:rPr lang="en-US" dirty="0"/>
              <a:t>No reader waits unless a writer is already in critical section</a:t>
            </a:r>
          </a:p>
          <a:p>
            <a:pPr lvl="1"/>
            <a:r>
              <a:rPr lang="en-US" dirty="0"/>
              <a:t>A reader that arrives after a waiting writer gets priority over writer</a:t>
            </a:r>
          </a:p>
          <a:p>
            <a:r>
              <a:rPr lang="en-US" dirty="0"/>
              <a:t>Favor writers</a:t>
            </a:r>
          </a:p>
          <a:p>
            <a:pPr lvl="1"/>
            <a:r>
              <a:rPr lang="en-US" dirty="0"/>
              <a:t>Once a writer is ready to write, it performs its write as soon as possible </a:t>
            </a:r>
          </a:p>
          <a:p>
            <a:pPr lvl="1"/>
            <a:r>
              <a:rPr lang="en-US" dirty="0"/>
              <a:t>A reader that arrives after a writer must wait, even if the writer is also waiting</a:t>
            </a:r>
          </a:p>
          <a:p>
            <a:r>
              <a:rPr lang="en-US" i="1" dirty="0">
                <a:solidFill>
                  <a:srgbClr val="EF5B00"/>
                </a:solidFill>
              </a:rPr>
              <a:t>Starvation</a:t>
            </a:r>
            <a:r>
              <a:rPr lang="en-US" dirty="0">
                <a:solidFill>
                  <a:srgbClr val="EF5B00"/>
                </a:solidFill>
              </a:rPr>
              <a:t> </a:t>
            </a:r>
            <a:r>
              <a:rPr lang="en-US" dirty="0"/>
              <a:t>(thread waits indefinitely) possible in both cases</a:t>
            </a:r>
          </a:p>
          <a:p>
            <a:pPr lvl="1"/>
            <a:r>
              <a:rPr lang="en-US" dirty="0"/>
              <a:t>Q: How could we fix this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9214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Synchronization: more than just locking a critical section</a:t>
            </a:r>
          </a:p>
          <a:p>
            <a:r>
              <a:rPr lang="en-US" dirty="0" smtClean="0"/>
              <a:t>Semaphores useful for counting available resources</a:t>
            </a:r>
          </a:p>
          <a:p>
            <a:pPr lvl="1"/>
            <a:r>
              <a:rPr lang="en-US" dirty="0" err="1" smtClean="0"/>
              <a:t>sem_wait</a:t>
            </a:r>
            <a:r>
              <a:rPr lang="en-US" dirty="0" smtClean="0"/>
              <a:t>(): wait for resource only if none available</a:t>
            </a:r>
          </a:p>
          <a:p>
            <a:pPr lvl="1"/>
            <a:r>
              <a:rPr lang="en-US" dirty="0" err="1" smtClean="0"/>
              <a:t>sem_post</a:t>
            </a:r>
            <a:r>
              <a:rPr lang="en-US" dirty="0" smtClean="0"/>
              <a:t>(): signal availability of another resource</a:t>
            </a:r>
          </a:p>
          <a:p>
            <a:r>
              <a:rPr lang="en-US" dirty="0" smtClean="0"/>
              <a:t>Multiple semaphores / </a:t>
            </a:r>
            <a:r>
              <a:rPr lang="en-US" dirty="0" err="1" smtClean="0"/>
              <a:t>mutexes</a:t>
            </a:r>
            <a:r>
              <a:rPr lang="en-US" dirty="0" smtClean="0"/>
              <a:t> can work together to solve complex 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416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100783" y="1752753"/>
            <a:ext cx="6042545" cy="467820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Monaco"/>
              </a:rPr>
              <a:t>void </a:t>
            </a:r>
            <a:r>
              <a:rPr lang="en-US" sz="1600" b="1" dirty="0">
                <a:solidFill>
                  <a:srgbClr val="0000A2"/>
                </a:solidFill>
                <a:latin typeface="Monaco"/>
              </a:rPr>
              <a:t>reader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Monaco"/>
              </a:rPr>
              <a:t>void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 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{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Monaco"/>
              </a:rPr>
              <a:t>while 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</a:t>
            </a:r>
            <a:r>
              <a:rPr lang="en-US" sz="1600" b="1" dirty="0">
                <a:solidFill>
                  <a:srgbClr val="0000CD"/>
                </a:solidFill>
                <a:latin typeface="Monaco"/>
              </a:rPr>
              <a:t>1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 {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b="1" dirty="0" err="1">
                <a:solidFill>
                  <a:srgbClr val="0000A2"/>
                </a:solidFill>
                <a:latin typeface="Monaco"/>
              </a:rPr>
              <a:t>sem_wait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mutex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readcnt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++;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latin typeface="Monaco"/>
              </a:rPr>
              <a:t>if 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readcnt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 == </a:t>
            </a:r>
            <a:r>
              <a:rPr lang="en-US" sz="1600" b="1" dirty="0">
                <a:solidFill>
                  <a:srgbClr val="0000CD"/>
                </a:solidFill>
                <a:latin typeface="Monaco"/>
              </a:rPr>
              <a:t>1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First </a:t>
            </a: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reader in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    </a:t>
            </a:r>
            <a:r>
              <a:rPr lang="en-US" sz="1600" b="1" dirty="0" err="1">
                <a:solidFill>
                  <a:srgbClr val="0000A2"/>
                </a:solidFill>
                <a:latin typeface="Monaco"/>
              </a:rPr>
              <a:t>sem_wait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(&amp;w);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</a:t>
            </a: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Lock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out writers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b="1" dirty="0" err="1">
                <a:solidFill>
                  <a:srgbClr val="0000A2"/>
                </a:solidFill>
                <a:latin typeface="Monaco"/>
              </a:rPr>
              <a:t>sem_post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mutex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Main critical section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Reading would happen here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b="1" dirty="0" err="1">
                <a:solidFill>
                  <a:srgbClr val="0000A2"/>
                </a:solidFill>
                <a:latin typeface="Monaco"/>
              </a:rPr>
              <a:t>sem_wait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mutex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readcnt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--;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latin typeface="Monaco"/>
              </a:rPr>
              <a:t>if 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readcnt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 == </a:t>
            </a:r>
            <a:r>
              <a:rPr lang="en-US" sz="1600" b="1" dirty="0">
                <a:solidFill>
                  <a:srgbClr val="0000CD"/>
                </a:solidFill>
                <a:latin typeface="Monaco"/>
              </a:rPr>
              <a:t>0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Last out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    </a:t>
            </a:r>
            <a:r>
              <a:rPr lang="en-US" sz="1600" b="1" dirty="0" err="1">
                <a:solidFill>
                  <a:srgbClr val="0000A2"/>
                </a:solidFill>
                <a:latin typeface="Monaco"/>
              </a:rPr>
              <a:t>sem_post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(&amp;w);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/* </a:t>
            </a:r>
            <a:r>
              <a:rPr lang="en-US" sz="1600" b="1" dirty="0" smtClean="0">
                <a:solidFill>
                  <a:srgbClr val="FF0000"/>
                </a:solidFill>
                <a:latin typeface="Monaco"/>
              </a:rPr>
              <a:t>Let </a:t>
            </a:r>
            <a:r>
              <a:rPr lang="en-US" sz="1600" b="1" dirty="0">
                <a:solidFill>
                  <a:srgbClr val="FF0000"/>
                </a:solidFill>
                <a:latin typeface="Monaco"/>
              </a:rPr>
              <a:t>in writers */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/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    </a:t>
            </a:r>
            <a:r>
              <a:rPr lang="en-US" sz="1600" b="1" dirty="0" err="1">
                <a:solidFill>
                  <a:srgbClr val="0000A2"/>
                </a:solidFill>
                <a:latin typeface="Monaco"/>
              </a:rPr>
              <a:t>sem_post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(&amp;</a:t>
            </a:r>
            <a:r>
              <a:rPr lang="en-US" sz="1600" b="1" dirty="0" err="1">
                <a:solidFill>
                  <a:prstClr val="black"/>
                </a:solidFill>
                <a:latin typeface="Monaco"/>
              </a:rPr>
              <a:t>mutex</a:t>
            </a:r>
            <a:r>
              <a:rPr lang="en-US" sz="1600" b="1" dirty="0">
                <a:solidFill>
                  <a:prstClr val="black"/>
                </a:solidFill>
                <a:latin typeface="Monaco"/>
              </a:rPr>
              <a:t>);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>
                <a:solidFill>
                  <a:prstClr val="black"/>
                </a:solidFill>
                <a:latin typeface="Monaco"/>
              </a:rPr>
              <a:t>    }</a:t>
            </a:r>
            <a:br>
              <a:rPr lang="en-US" sz="1600" b="1" dirty="0">
                <a:solidFill>
                  <a:prstClr val="black"/>
                </a:solidFill>
                <a:latin typeface="Monaco"/>
              </a:rPr>
            </a:br>
            <a:r>
              <a:rPr lang="en-US" sz="1600" b="1" dirty="0" smtClean="0">
                <a:solidFill>
                  <a:prstClr val="black"/>
                </a:solidFill>
                <a:latin typeface="Monaco"/>
              </a:rPr>
              <a:t>}</a:t>
            </a:r>
            <a:endParaRPr lang="en-US" sz="1600" dirty="0" smtClean="0">
              <a:latin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4787" y="1236162"/>
            <a:ext cx="127470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smtClean="0">
                <a:latin typeface="Gill Sans MT"/>
                <a:cs typeface="Gill Sans MT"/>
              </a:rPr>
              <a:t>Readers</a:t>
            </a:r>
            <a:r>
              <a:rPr lang="en-US" sz="2500" b="0" dirty="0" smtClean="0">
                <a:latin typeface="Gill Sans MT"/>
                <a:cs typeface="Gill Sans MT"/>
              </a:rPr>
              <a:t>: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favoring readers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6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range lectur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2500" b="0" dirty="0" err="1" smtClean="0">
            <a:latin typeface="Gill Sans MT"/>
            <a:cs typeface="Gill Sans MT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lecture.thmx</Template>
  <TotalTime>1557</TotalTime>
  <Words>1514</Words>
  <Application>Microsoft Macintosh PowerPoint</Application>
  <PresentationFormat>On-screen Show (4:3)</PresentationFormat>
  <Paragraphs>317</Paragraphs>
  <Slides>43</Slides>
  <Notes>7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Orange lecture</vt:lpstr>
      <vt:lpstr>Using Semaphores</vt:lpstr>
      <vt:lpstr>Announcements</vt:lpstr>
      <vt:lpstr>Using Semaphores</vt:lpstr>
      <vt:lpstr>Review: Semaphores</vt:lpstr>
      <vt:lpstr>Semaphores for mutual exclusion</vt:lpstr>
      <vt:lpstr>Before: Basic use of semaphores</vt:lpstr>
      <vt:lpstr>Today: Advanced use of semaphores</vt:lpstr>
      <vt:lpstr>Using semaphores: The Producer-Consumer Problem</vt:lpstr>
      <vt:lpstr>Producer-consumer problem</vt:lpstr>
      <vt:lpstr>Producer-consumer problem</vt:lpstr>
      <vt:lpstr>Producer-consumer problem</vt:lpstr>
      <vt:lpstr>Producer-consumer problem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Shared buffer</vt:lpstr>
      <vt:lpstr>Designing a solution</vt:lpstr>
      <vt:lpstr>Designing a solution</vt:lpstr>
      <vt:lpstr>Designing a solution</vt:lpstr>
      <vt:lpstr>Designing a solution</vt:lpstr>
      <vt:lpstr>Producer-Consumer Code</vt:lpstr>
      <vt:lpstr>Producer-Consumer Code</vt:lpstr>
      <vt:lpstr>Consumer Pseudocode: getItem()</vt:lpstr>
      <vt:lpstr>Producer Pseudocode: putItem(data)</vt:lpstr>
      <vt:lpstr>Readers-Writers Problem</vt:lpstr>
      <vt:lpstr>Readers-Writers Problem</vt:lpstr>
      <vt:lpstr>A solution</vt:lpstr>
      <vt:lpstr>Variants of Readers-Writers </vt:lpstr>
      <vt:lpstr>Summary</vt:lpstr>
      <vt:lpstr>Solution favoring readers</vt:lpstr>
    </vt:vector>
  </TitlesOfParts>
  <Company>University of Illinois at Urbana-Champaign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Achieving Synchronization</dc:title>
  <dc:creator>Philip Godfrey</dc:creator>
  <cp:lastModifiedBy>Philip Godfrey</cp:lastModifiedBy>
  <cp:revision>154</cp:revision>
  <cp:lastPrinted>2012-03-12T10:21:34Z</cp:lastPrinted>
  <dcterms:created xsi:type="dcterms:W3CDTF">2012-03-12T04:23:55Z</dcterms:created>
  <dcterms:modified xsi:type="dcterms:W3CDTF">2014-03-12T09:41:34Z</dcterms:modified>
</cp:coreProperties>
</file>