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6"/>
  </p:notesMasterIdLst>
  <p:sldIdLst>
    <p:sldId id="256" r:id="rId2"/>
    <p:sldId id="261" r:id="rId3"/>
    <p:sldId id="265" r:id="rId4"/>
    <p:sldId id="268" r:id="rId5"/>
    <p:sldId id="259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67" r:id="rId14"/>
    <p:sldId id="281" r:id="rId15"/>
  </p:sldIdLst>
  <p:sldSz cx="9144000" cy="6858000" type="screen4x3"/>
  <p:notesSz cx="7302500" cy="95869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EF5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734" autoAdjust="0"/>
  </p:normalViewPr>
  <p:slideViewPr>
    <p:cSldViewPr snapToGrid="0" snapToObjects="1">
      <p:cViewPr varScale="1">
        <p:scale>
          <a:sx n="78" d="100"/>
          <a:sy n="78" d="100"/>
        </p:scale>
        <p:origin x="-1288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interSettings" Target="printerSettings/printerSettings1.bin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388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37025" y="0"/>
            <a:ext cx="316388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2B0CA8-3C0D-3647-8B01-068B9237E56C}" type="datetimeFigureOut">
              <a:rPr lang="en-US" smtClean="0"/>
              <a:t>5/7/14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4125" y="719138"/>
            <a:ext cx="4794250" cy="3595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0250" y="4554538"/>
            <a:ext cx="5842000" cy="43132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05900"/>
            <a:ext cx="316388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37025" y="9105900"/>
            <a:ext cx="316388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7213E-304F-2041-96D7-968B114B5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918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You might have heard not very much about cheating</a:t>
            </a:r>
            <a:r>
              <a:rPr lang="en-US" baseline="0" dirty="0" smtClean="0"/>
              <a:t> detection this semester.</a:t>
            </a:r>
          </a:p>
          <a:p>
            <a:r>
              <a:rPr lang="en-US" dirty="0" smtClean="0"/>
              <a:t>Don’t worry, we </a:t>
            </a:r>
            <a:r>
              <a:rPr lang="en-US" i="1" dirty="0" smtClean="0"/>
              <a:t>are</a:t>
            </a:r>
            <a:r>
              <a:rPr lang="en-US" i="0" dirty="0" smtClean="0"/>
              <a:t> defending the fairness of the MP grading with cheating</a:t>
            </a:r>
            <a:r>
              <a:rPr lang="en-US" i="0" baseline="0" dirty="0" smtClean="0"/>
              <a:t>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17213E-304F-2041-96D7-968B114B5AA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971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Let’s take a moment to stop and appreciate just how far we’ve come this semester</a:t>
            </a:r>
            <a:r>
              <a:rPr lang="en-US" dirty="0" smtClean="0"/>
              <a:t>.  We’ve come a long way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17213E-304F-2041-96D7-968B114B5AA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949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So what was the point of this all, anyway?  We got hands-on experience with several</a:t>
            </a:r>
            <a:r>
              <a:rPr lang="en-US" baseline="0" dirty="0" smtClean="0"/>
              <a:t> important concepts in building real systems.</a:t>
            </a:r>
            <a:endParaRPr lang="en-US" dirty="0" smtClean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First, we learned how we build layers and modules to deal with many complex interacting parts in a big system, from virtualization of the hardware, to the kernel’s API (POSIX), to networking constructs to communicate around the world.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Second, if you built good systems you used those abstractions to practice defensive programming.</a:t>
            </a:r>
            <a:r>
              <a:rPr lang="en-US" dirty="0" smtClean="0"/>
              <a:t> Over the course of the semester,</a:t>
            </a:r>
            <a:r>
              <a:rPr lang="en-US" baseline="0" dirty="0" smtClean="0"/>
              <a:t> every one of you had to deal with some unusual events in your code.  In a big system, you have to handle errors.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Third, you learned how systems today are fundamentally concurrent and the difficulty and necessity of understanding and using concurrency, to match the logical flow of events, and to improve performance.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Finally, throughout, you learned that the world is all just bits.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Maybe you liked C, maybe you didn’t.  But I hope you can appreciate a kind of simplicity and elegance that it has because you’re so close to how things work.  It should always be clear what C is doing, at a small scale.  You should always be able to answer, what is that really?  I give you an object, this parsed web page let’s say, and what is it?  Well, it’s really a pointer to a structure that has these various fields laid out in memory. You’ve got to be able to answer that. Someday you’re going to have a kid and they’re going to ask you and what are you going to say? But what is that pointer, really?  Well it’s an integer representing a memory location.  But what is a memory location really?  Well it’s virtual memory that gets mapped to a page of physical memory.  But that integer memory location, what is an integer really?  Well, it’s just bits interpreted in this way.</a:t>
            </a:r>
            <a:endParaRPr lang="en-US" dirty="0" smtClean="0"/>
          </a:p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17213E-304F-2041-96D7-968B114B5AA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67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Museo 500"/>
                <a:cs typeface="Museo 50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>
                <a:latin typeface="Gill Sans MT"/>
                <a:cs typeface="Gill Sans MT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819400"/>
            <a:ext cx="8382000" cy="1362075"/>
          </a:xfrm>
        </p:spPr>
        <p:txBody>
          <a:bodyPr anchor="t"/>
          <a:lstStyle>
            <a:lvl1pPr algn="ctr">
              <a:defRPr sz="4000" b="1" cap="none">
                <a:solidFill>
                  <a:srgbClr val="EE6E12"/>
                </a:solidFill>
                <a:latin typeface="Museo 500"/>
                <a:cs typeface="Museo 50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1" y="371182"/>
            <a:ext cx="8388909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374091" y="1524000"/>
            <a:ext cx="8388909" cy="4953000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1" y="371182"/>
            <a:ext cx="8388909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838891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8" name="Rectangle 7"/>
          <p:cNvSpPr/>
          <p:nvPr/>
        </p:nvSpPr>
        <p:spPr>
          <a:xfrm>
            <a:off x="8830843" y="6611779"/>
            <a:ext cx="34246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ＭＳ Ｐゴシック" pitchFamily="-96" charset="-128"/>
                <a:cs typeface="Gill Sans MT"/>
              </a:rPr>
              <a:pPr/>
              <a:t>‹#›</a:t>
            </a:fld>
            <a:endParaRPr lang="en-US" dirty="0">
              <a:latin typeface="Gill Sans MT"/>
              <a:cs typeface="Gill Sans MT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74090" y="1524000"/>
            <a:ext cx="8388910" cy="495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Text</a:t>
            </a:r>
          </a:p>
          <a:p>
            <a:pPr lvl="1"/>
            <a:r>
              <a:rPr lang="en-US" dirty="0" smtClean="0"/>
              <a:t>More text</a:t>
            </a:r>
          </a:p>
          <a:p>
            <a:pPr lvl="2"/>
            <a:r>
              <a:rPr lang="en-US" dirty="0" smtClean="0"/>
              <a:t>Still more text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9" r:id="rId2"/>
    <p:sldLayoutId id="2147483660" r:id="rId3"/>
    <p:sldLayoutId id="2147483656" r:id="rId4"/>
    <p:sldLayoutId id="2147483655" r:id="rId5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marL="0" indent="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EE6E12"/>
          </a:solidFill>
          <a:latin typeface="Museo 500"/>
          <a:ea typeface="+mj-ea"/>
          <a:cs typeface="Museo 500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0" indent="0" algn="l" rtl="0" eaLnBrk="1" fontAlgn="base" hangingPunct="1">
        <a:spcBef>
          <a:spcPts val="1800"/>
        </a:spcBef>
        <a:spcAft>
          <a:spcPct val="0"/>
        </a:spcAft>
        <a:buClr>
          <a:schemeClr val="bg1"/>
        </a:buClr>
        <a:buSzPct val="25000"/>
        <a:buFont typeface="Arial"/>
        <a:buNone/>
        <a:defRPr sz="2500" b="0">
          <a:solidFill>
            <a:schemeClr val="tx1"/>
          </a:solidFill>
          <a:latin typeface="Gill Sans MT"/>
          <a:ea typeface="+mn-ea"/>
          <a:cs typeface="Gill Sans MT"/>
        </a:defRPr>
      </a:lvl1pPr>
      <a:lvl2pPr marL="715963" indent="-273050" algn="l" rtl="0" eaLnBrk="1" fontAlgn="base" hangingPunct="1">
        <a:spcBef>
          <a:spcPts val="480"/>
        </a:spcBef>
        <a:spcAft>
          <a:spcPct val="0"/>
        </a:spcAft>
        <a:buClrTx/>
        <a:buSzPct val="110000"/>
        <a:buFont typeface="Arial"/>
        <a:buChar char="•"/>
        <a:defRPr sz="2000" baseline="0">
          <a:solidFill>
            <a:schemeClr val="tx1"/>
          </a:solidFill>
          <a:latin typeface="Gill Sans MT"/>
          <a:cs typeface="Gill Sans M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 baseline="0">
          <a:solidFill>
            <a:schemeClr val="tx1"/>
          </a:solidFill>
          <a:latin typeface="Gill Sans MT"/>
          <a:cs typeface="Gill Sans M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Gill Sans"/>
          <a:cs typeface="Gill San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Gill Sans"/>
          <a:cs typeface="Gill San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CS 241: Wrap-up and beyond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CS </a:t>
            </a:r>
            <a:r>
              <a:rPr lang="en-US" dirty="0" smtClean="0"/>
              <a:t>241</a:t>
            </a:r>
          </a:p>
          <a:p>
            <a:r>
              <a:rPr lang="en-US" dirty="0" smtClean="0"/>
              <a:t>May </a:t>
            </a:r>
            <a:r>
              <a:rPr lang="en-US" dirty="0" smtClean="0"/>
              <a:t>7, 2017</a:t>
            </a:r>
            <a:endParaRPr lang="en-US" dirty="0"/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University of </a:t>
            </a:r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Illinois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66341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Announcements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Review </a:t>
            </a:r>
            <a:r>
              <a:rPr lang="en-US" dirty="0" smtClean="0"/>
              <a:t>material posted </a:t>
            </a:r>
            <a:r>
              <a:rPr lang="en-US" dirty="0" smtClean="0"/>
              <a:t>by Friday</a:t>
            </a:r>
          </a:p>
          <a:p>
            <a:pPr lvl="1"/>
            <a:r>
              <a:rPr lang="en-US" dirty="0" smtClean="0"/>
              <a:t>Study guide</a:t>
            </a:r>
            <a:endParaRPr lang="en-US" dirty="0" smtClean="0"/>
          </a:p>
          <a:p>
            <a:pPr lvl="1"/>
            <a:r>
              <a:rPr lang="en-US" dirty="0" smtClean="0"/>
              <a:t>Practice exam</a:t>
            </a:r>
          </a:p>
          <a:p>
            <a:r>
              <a:rPr lang="en-US" dirty="0" smtClean="0"/>
              <a:t>Review sessions</a:t>
            </a:r>
          </a:p>
          <a:p>
            <a:pPr lvl="1"/>
            <a:r>
              <a:rPr lang="en-US" dirty="0" smtClean="0"/>
              <a:t>Vote on Piazza 3pm – 10pm today</a:t>
            </a:r>
          </a:p>
          <a:p>
            <a:r>
              <a:rPr lang="en-US" dirty="0" smtClean="0"/>
              <a:t>MP Grading Round 2</a:t>
            </a:r>
          </a:p>
          <a:p>
            <a:pPr lvl="1"/>
            <a:r>
              <a:rPr lang="en-US" dirty="0" smtClean="0"/>
              <a:t>Same formula (50% “very late” multiplier)</a:t>
            </a:r>
          </a:p>
          <a:p>
            <a:pPr lvl="1"/>
            <a:r>
              <a:rPr lang="en-US" dirty="0" smtClean="0"/>
              <a:t>We </a:t>
            </a:r>
            <a:r>
              <a:rPr lang="en-US" dirty="0" smtClean="0">
                <a:solidFill>
                  <a:srgbClr val="EF5B00"/>
                </a:solidFill>
              </a:rPr>
              <a:t>will</a:t>
            </a:r>
            <a:r>
              <a:rPr lang="en-US" dirty="0" smtClean="0"/>
              <a:t> include MP2 (minus contest)</a:t>
            </a:r>
          </a:p>
          <a:p>
            <a:r>
              <a:rPr lang="en-US" dirty="0" smtClean="0"/>
              <a:t>Academic honesty detection</a:t>
            </a:r>
          </a:p>
          <a:p>
            <a:pPr lvl="1"/>
            <a:r>
              <a:rPr lang="en-US" dirty="0" smtClean="0"/>
              <a:t>One batch at the end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849257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did you learn?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Write</a:t>
            </a:r>
            <a:r>
              <a:rPr lang="en-US" dirty="0"/>
              <a:t>, compile, debug, and execute C programs</a:t>
            </a:r>
          </a:p>
          <a:p>
            <a:r>
              <a:rPr lang="en-US" dirty="0"/>
              <a:t>Interact with the operating system via POSIX system calls</a:t>
            </a:r>
          </a:p>
          <a:p>
            <a:r>
              <a:rPr lang="en-US" dirty="0"/>
              <a:t>Understand memory allocation and </a:t>
            </a:r>
            <a:r>
              <a:rPr lang="en-US" dirty="0" smtClean="0"/>
              <a:t>virtualization</a:t>
            </a:r>
            <a:endParaRPr lang="en-US" dirty="0"/>
          </a:p>
          <a:p>
            <a:r>
              <a:rPr lang="en-US" dirty="0"/>
              <a:t>Create and manage many processes and </a:t>
            </a:r>
            <a:r>
              <a:rPr lang="en-US" dirty="0" smtClean="0"/>
              <a:t>threads</a:t>
            </a:r>
            <a:endParaRPr lang="en-US" dirty="0"/>
          </a:p>
          <a:p>
            <a:r>
              <a:rPr lang="en-US" dirty="0"/>
              <a:t>Control scheduling of </a:t>
            </a:r>
            <a:r>
              <a:rPr lang="en-US" dirty="0" smtClean="0"/>
              <a:t>processes and threads</a:t>
            </a:r>
            <a:endParaRPr lang="en-US" dirty="0"/>
          </a:p>
          <a:p>
            <a:r>
              <a:rPr lang="en-US" dirty="0"/>
              <a:t>Communicate </a:t>
            </a:r>
            <a:r>
              <a:rPr lang="en-US" dirty="0" smtClean="0"/>
              <a:t>and </a:t>
            </a:r>
            <a:r>
              <a:rPr lang="en-US" dirty="0"/>
              <a:t>share resources between </a:t>
            </a:r>
            <a:r>
              <a:rPr lang="en-US" dirty="0" smtClean="0"/>
              <a:t>threads</a:t>
            </a:r>
            <a:endParaRPr lang="en-US" dirty="0"/>
          </a:p>
          <a:p>
            <a:r>
              <a:rPr lang="en-US" dirty="0"/>
              <a:t>Use communication protocols (TCP/IP) and interfaces </a:t>
            </a:r>
            <a:r>
              <a:rPr lang="en-US" dirty="0" smtClean="0"/>
              <a:t>(sockets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/>
              <a:t>Write distributed multi-threaded apps that talk across a </a:t>
            </a:r>
            <a:r>
              <a:rPr lang="en-US" dirty="0" smtClean="0"/>
              <a:t>network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1217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did you do?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400" dirty="0"/>
              <a:t>Wrote a </a:t>
            </a:r>
            <a:r>
              <a:rPr lang="en-US" sz="2400" b="1" dirty="0">
                <a:solidFill>
                  <a:srgbClr val="E85810"/>
                </a:solidFill>
              </a:rPr>
              <a:t>real</a:t>
            </a:r>
            <a:r>
              <a:rPr lang="en-US" sz="2400" dirty="0">
                <a:solidFill>
                  <a:srgbClr val="E85810"/>
                </a:solidFill>
              </a:rPr>
              <a:t> </a:t>
            </a:r>
            <a:r>
              <a:rPr lang="en-US" sz="2400" dirty="0"/>
              <a:t>memory </a:t>
            </a:r>
            <a:r>
              <a:rPr lang="en-US" sz="2400" dirty="0" smtClean="0"/>
              <a:t>allocator</a:t>
            </a:r>
            <a:endParaRPr lang="en-US" sz="2400" dirty="0"/>
          </a:p>
          <a:p>
            <a:r>
              <a:rPr lang="en-US" sz="2400" dirty="0"/>
              <a:t>A </a:t>
            </a:r>
            <a:r>
              <a:rPr lang="en-US" sz="2400" b="1" dirty="0">
                <a:solidFill>
                  <a:srgbClr val="E85810"/>
                </a:solidFill>
              </a:rPr>
              <a:t>real</a:t>
            </a:r>
            <a:r>
              <a:rPr lang="en-US" sz="2400" dirty="0">
                <a:solidFill>
                  <a:srgbClr val="E85810"/>
                </a:solidFill>
              </a:rPr>
              <a:t> </a:t>
            </a:r>
            <a:r>
              <a:rPr lang="en-US" sz="2400" dirty="0"/>
              <a:t>shell</a:t>
            </a:r>
          </a:p>
          <a:p>
            <a:r>
              <a:rPr lang="en-US" sz="2400" dirty="0" smtClean="0"/>
              <a:t>Multiple </a:t>
            </a:r>
            <a:r>
              <a:rPr lang="en-US" sz="2400" b="1" dirty="0" smtClean="0">
                <a:solidFill>
                  <a:srgbClr val="E85810"/>
                </a:solidFill>
              </a:rPr>
              <a:t>real</a:t>
            </a:r>
            <a:r>
              <a:rPr lang="en-US" sz="2400" dirty="0" smtClean="0">
                <a:solidFill>
                  <a:srgbClr val="E85810"/>
                </a:solidFill>
              </a:rPr>
              <a:t> </a:t>
            </a:r>
            <a:r>
              <a:rPr lang="en-US" sz="2400" dirty="0"/>
              <a:t>non-trivial parallel applications (merge sort, make)</a:t>
            </a:r>
          </a:p>
          <a:p>
            <a:r>
              <a:rPr lang="en-US" sz="2400" dirty="0"/>
              <a:t>A </a:t>
            </a:r>
            <a:r>
              <a:rPr lang="en-US" sz="2400" b="1" dirty="0">
                <a:solidFill>
                  <a:srgbClr val="EF5B00"/>
                </a:solidFill>
              </a:rPr>
              <a:t>real</a:t>
            </a:r>
            <a:r>
              <a:rPr lang="en-US" sz="2400" dirty="0">
                <a:solidFill>
                  <a:srgbClr val="EF5B00"/>
                </a:solidFill>
              </a:rPr>
              <a:t> </a:t>
            </a:r>
            <a:r>
              <a:rPr lang="en-US" sz="2400" dirty="0" smtClean="0"/>
              <a:t>framework </a:t>
            </a:r>
            <a:r>
              <a:rPr lang="en-US" sz="2400" dirty="0"/>
              <a:t>for processing</a:t>
            </a:r>
            <a:r>
              <a:rPr lang="en-US" sz="2400" b="1" dirty="0"/>
              <a:t> </a:t>
            </a:r>
            <a:r>
              <a:rPr lang="en-US" sz="2400" dirty="0"/>
              <a:t>big data</a:t>
            </a:r>
          </a:p>
          <a:p>
            <a:r>
              <a:rPr lang="en-US" sz="2400" dirty="0"/>
              <a:t>A </a:t>
            </a:r>
            <a:r>
              <a:rPr lang="en-US" sz="2400" b="1" dirty="0">
                <a:solidFill>
                  <a:srgbClr val="EF5B00"/>
                </a:solidFill>
              </a:rPr>
              <a:t>real</a:t>
            </a:r>
            <a:r>
              <a:rPr lang="en-US" sz="2400" dirty="0">
                <a:solidFill>
                  <a:srgbClr val="EF5B00"/>
                </a:solidFill>
              </a:rPr>
              <a:t> </a:t>
            </a:r>
            <a:r>
              <a:rPr lang="en-US" sz="2400" dirty="0"/>
              <a:t>web </a:t>
            </a:r>
            <a:r>
              <a:rPr lang="en-US" sz="2400" dirty="0" smtClean="0"/>
              <a:t>server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110858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Great Ideas in Computer Systems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power of layered abstractions</a:t>
            </a:r>
          </a:p>
          <a:p>
            <a:pPr lvl="1"/>
            <a:r>
              <a:rPr lang="en-US" dirty="0"/>
              <a:t>Modularity to help deal with many complex interacting parts</a:t>
            </a:r>
          </a:p>
          <a:p>
            <a:pPr lvl="1"/>
            <a:r>
              <a:rPr lang="en-US" dirty="0"/>
              <a:t>Virtualization of physical resources for </a:t>
            </a:r>
            <a:r>
              <a:rPr lang="en-US" dirty="0" smtClean="0"/>
              <a:t>flexibility</a:t>
            </a:r>
            <a:endParaRPr lang="en-US" dirty="0" smtClean="0"/>
          </a:p>
          <a:p>
            <a:r>
              <a:rPr lang="en-US" dirty="0"/>
              <a:t>Defensive programming</a:t>
            </a:r>
          </a:p>
          <a:p>
            <a:pPr lvl="1"/>
            <a:r>
              <a:rPr lang="en-US" dirty="0"/>
              <a:t>Making your code robust to unexpected errors or strange inputs</a:t>
            </a:r>
          </a:p>
          <a:p>
            <a:r>
              <a:rPr lang="en-US" dirty="0" smtClean="0"/>
              <a:t>Concurrency</a:t>
            </a:r>
            <a:endParaRPr lang="en-US" dirty="0"/>
          </a:p>
          <a:p>
            <a:pPr lvl="1"/>
            <a:r>
              <a:rPr lang="en-US" dirty="0" smtClean="0"/>
              <a:t>to match the logical flow of events</a:t>
            </a:r>
          </a:p>
          <a:p>
            <a:pPr lvl="1"/>
            <a:r>
              <a:rPr lang="en-US" dirty="0" smtClean="0"/>
              <a:t>to deal with big data and big computation</a:t>
            </a:r>
          </a:p>
          <a:p>
            <a:r>
              <a:rPr lang="en-US" dirty="0" smtClean="0"/>
              <a:t>It’s </a:t>
            </a:r>
            <a:r>
              <a:rPr lang="en-US" dirty="0"/>
              <a:t>all just bits</a:t>
            </a:r>
          </a:p>
          <a:p>
            <a:pPr lvl="1"/>
            <a:r>
              <a:rPr lang="en-US" dirty="0"/>
              <a:t>What is that thing, really?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6694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will you do next?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Q: What did you enjoy about this class?</a:t>
            </a:r>
          </a:p>
          <a:p>
            <a:pPr lvl="1"/>
            <a:r>
              <a:rPr lang="en-US" dirty="0" smtClean="0"/>
              <a:t>A1: Processes/threads, memory, managing system resources?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A2: Concurrency, synchronization, optimization?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A3: Networking, client-server programming?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A4: The tiny bit of security we did?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A5: Programming / MP design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A6: Nothing at </a:t>
            </a:r>
            <a:r>
              <a:rPr lang="en-US" dirty="0" smtClean="0"/>
              <a:t>all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393258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will you do next?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 smtClean="0"/>
              <a:t>Q: What did you enjoy about this class?</a:t>
            </a:r>
          </a:p>
          <a:p>
            <a:pPr lvl="1"/>
            <a:r>
              <a:rPr lang="en-US" dirty="0" smtClean="0"/>
              <a:t>A1: Processes/threads, memory, managing system resources?</a:t>
            </a:r>
          </a:p>
          <a:p>
            <a:pPr lvl="2"/>
            <a:r>
              <a:rPr lang="en-US" sz="2800" dirty="0" smtClean="0">
                <a:solidFill>
                  <a:srgbClr val="EF5B00"/>
                </a:solidFill>
              </a:rPr>
              <a:t>CS 423: Operating Systems</a:t>
            </a:r>
          </a:p>
          <a:p>
            <a:pPr lvl="2"/>
            <a:r>
              <a:rPr lang="en-US" sz="2800" dirty="0" smtClean="0">
                <a:solidFill>
                  <a:srgbClr val="EF5B00"/>
                </a:solidFill>
              </a:rPr>
              <a:t>CS 424: Real-time Systems</a:t>
            </a:r>
          </a:p>
          <a:p>
            <a:pPr lvl="2"/>
            <a:r>
              <a:rPr lang="en-US" sz="2800" dirty="0" smtClean="0">
                <a:solidFill>
                  <a:srgbClr val="EF5B00"/>
                </a:solidFill>
              </a:rPr>
              <a:t>CS 431: Embedded </a:t>
            </a:r>
            <a:r>
              <a:rPr lang="en-US" sz="2800" dirty="0" smtClean="0">
                <a:solidFill>
                  <a:srgbClr val="EF5B00"/>
                </a:solidFill>
              </a:rPr>
              <a:t>Systems</a:t>
            </a:r>
          </a:p>
          <a:p>
            <a:pPr lvl="2"/>
            <a:r>
              <a:rPr lang="en-US" sz="2800" dirty="0" smtClean="0">
                <a:solidFill>
                  <a:srgbClr val="EF5B00"/>
                </a:solidFill>
              </a:rPr>
              <a:t>CS 433: Computer Systems Organization</a:t>
            </a:r>
            <a:endParaRPr lang="en-US" sz="2800" dirty="0" smtClean="0">
              <a:solidFill>
                <a:srgbClr val="EF5B00"/>
              </a:solidFill>
            </a:endParaRPr>
          </a:p>
          <a:p>
            <a:pPr lvl="2"/>
            <a:endParaRPr lang="en-US" dirty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4960061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will you do next?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 smtClean="0"/>
              <a:t>Q: What did you enjoy about this class?</a:t>
            </a:r>
          </a:p>
          <a:p>
            <a:pPr lvl="1"/>
            <a:r>
              <a:rPr lang="en-US" dirty="0" smtClean="0"/>
              <a:t>A2: Concurrency, synchronization, optimization?</a:t>
            </a:r>
          </a:p>
          <a:p>
            <a:pPr lvl="2"/>
            <a:r>
              <a:rPr lang="en-US" sz="2800" dirty="0" smtClean="0">
                <a:solidFill>
                  <a:srgbClr val="EF5B00"/>
                </a:solidFill>
              </a:rPr>
              <a:t>CS 411: Database Systems</a:t>
            </a:r>
          </a:p>
          <a:p>
            <a:pPr lvl="2"/>
            <a:r>
              <a:rPr lang="en-US" sz="2800" dirty="0" smtClean="0">
                <a:solidFill>
                  <a:srgbClr val="EF5B00"/>
                </a:solidFill>
              </a:rPr>
              <a:t>CS 420: Parallel Programming</a:t>
            </a:r>
          </a:p>
          <a:p>
            <a:pPr marL="914400" lvl="2" indent="0">
              <a:buNone/>
            </a:pP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022769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will you do next?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 smtClean="0"/>
              <a:t>Q: What did you enjoy about this class?</a:t>
            </a:r>
          </a:p>
          <a:p>
            <a:pPr lvl="1"/>
            <a:r>
              <a:rPr lang="en-US" dirty="0" smtClean="0"/>
              <a:t>A3: Networking, client-server programming?</a:t>
            </a:r>
          </a:p>
          <a:p>
            <a:pPr lvl="2"/>
            <a:r>
              <a:rPr lang="en-US" sz="2800" dirty="0" smtClean="0">
                <a:solidFill>
                  <a:srgbClr val="EF5B00"/>
                </a:solidFill>
              </a:rPr>
              <a:t>CS 414: Multimedia Systems</a:t>
            </a:r>
          </a:p>
          <a:p>
            <a:pPr lvl="2"/>
            <a:r>
              <a:rPr lang="en-US" sz="2800" dirty="0" smtClean="0">
                <a:solidFill>
                  <a:srgbClr val="EF5B00"/>
                </a:solidFill>
              </a:rPr>
              <a:t>CS 425: Distributed Systems</a:t>
            </a:r>
          </a:p>
          <a:p>
            <a:pPr lvl="2"/>
            <a:r>
              <a:rPr lang="en-US" sz="2800" dirty="0" smtClean="0">
                <a:solidFill>
                  <a:srgbClr val="EF5B00"/>
                </a:solidFill>
              </a:rPr>
              <a:t>CS 438: Computer Networking</a:t>
            </a:r>
          </a:p>
        </p:txBody>
      </p:sp>
    </p:spTree>
    <p:extLst>
      <p:ext uri="{BB962C8B-B14F-4D97-AF65-F5344CB8AC3E}">
        <p14:creationId xmlns:p14="http://schemas.microsoft.com/office/powerpoint/2010/main" val="16778109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will you do next?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 smtClean="0"/>
              <a:t>Q: What did you enjoy about this class?</a:t>
            </a:r>
          </a:p>
          <a:p>
            <a:pPr lvl="1"/>
            <a:r>
              <a:rPr lang="en-US" dirty="0" smtClean="0"/>
              <a:t>A4: The tiny bit of security we did?</a:t>
            </a:r>
          </a:p>
          <a:p>
            <a:pPr lvl="2"/>
            <a:r>
              <a:rPr lang="en-US" sz="2800" dirty="0" smtClean="0">
                <a:solidFill>
                  <a:srgbClr val="EF5B00"/>
                </a:solidFill>
              </a:rPr>
              <a:t>CS 461: Computer Security I</a:t>
            </a:r>
          </a:p>
          <a:p>
            <a:pPr lvl="2"/>
            <a:r>
              <a:rPr lang="en-US" sz="2800" dirty="0" smtClean="0">
                <a:solidFill>
                  <a:srgbClr val="EF5B00"/>
                </a:solidFill>
              </a:rPr>
              <a:t>CS 462: Computer Security II</a:t>
            </a:r>
            <a:endParaRPr lang="en-US" sz="2800" dirty="0">
              <a:solidFill>
                <a:srgbClr val="EF5B00"/>
              </a:solidFill>
            </a:endParaRPr>
          </a:p>
          <a:p>
            <a:pPr lvl="2"/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713942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will you do next?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 smtClean="0"/>
              <a:t>Q: What did you enjoy about this class?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</a:rPr>
              <a:t>A5: Programming / MP design</a:t>
            </a:r>
          </a:p>
          <a:p>
            <a:pPr lvl="2"/>
            <a:r>
              <a:rPr lang="en-US" sz="2800" dirty="0" smtClean="0">
                <a:solidFill>
                  <a:srgbClr val="EF5B00"/>
                </a:solidFill>
              </a:rPr>
              <a:t>CS 421: Programming Languages and Design</a:t>
            </a:r>
          </a:p>
          <a:p>
            <a:pPr lvl="2"/>
            <a:r>
              <a:rPr lang="en-US" sz="2800" dirty="0" smtClean="0">
                <a:solidFill>
                  <a:srgbClr val="EF5B00"/>
                </a:solidFill>
              </a:rPr>
              <a:t>CS 426: Compiler Construction</a:t>
            </a:r>
          </a:p>
          <a:p>
            <a:pPr lvl="2"/>
            <a:r>
              <a:rPr lang="en-US" sz="2800" dirty="0" smtClean="0">
                <a:solidFill>
                  <a:srgbClr val="EF5B00"/>
                </a:solidFill>
              </a:rPr>
              <a:t>CS 427: Software Engineering I</a:t>
            </a:r>
          </a:p>
        </p:txBody>
      </p:sp>
    </p:spTree>
    <p:extLst>
      <p:ext uri="{BB962C8B-B14F-4D97-AF65-F5344CB8AC3E}">
        <p14:creationId xmlns:p14="http://schemas.microsoft.com/office/powerpoint/2010/main" val="37318993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will you do next?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 smtClean="0"/>
              <a:t>Q: What did you enjoy about this class?</a:t>
            </a:r>
          </a:p>
          <a:p>
            <a:pPr lvl="1"/>
            <a:r>
              <a:rPr lang="en-US" dirty="0" smtClean="0"/>
              <a:t>A6: Nothing at all?</a:t>
            </a:r>
          </a:p>
          <a:p>
            <a:pPr lvl="2"/>
            <a:r>
              <a:rPr lang="en-US" sz="2800" dirty="0" smtClean="0"/>
              <a:t>“Higher Level”</a:t>
            </a:r>
            <a:endParaRPr lang="en-US" sz="2800" dirty="0" smtClean="0">
              <a:solidFill>
                <a:srgbClr val="FF0000"/>
              </a:solidFill>
            </a:endParaRPr>
          </a:p>
          <a:p>
            <a:pPr lvl="3"/>
            <a:r>
              <a:rPr lang="en-US" sz="2400" dirty="0" smtClean="0">
                <a:solidFill>
                  <a:srgbClr val="EF5B00"/>
                </a:solidFill>
              </a:rPr>
              <a:t>CS 465: User Interface Design</a:t>
            </a:r>
          </a:p>
          <a:p>
            <a:pPr lvl="3"/>
            <a:r>
              <a:rPr lang="en-US" sz="2400" dirty="0" smtClean="0">
                <a:solidFill>
                  <a:srgbClr val="EF5B00"/>
                </a:solidFill>
              </a:rPr>
              <a:t>CS 398.VL (Spring 2014</a:t>
            </a:r>
            <a:r>
              <a:rPr lang="en-US" sz="2400" dirty="0">
                <a:solidFill>
                  <a:srgbClr val="EF5B00"/>
                </a:solidFill>
              </a:rPr>
              <a:t>): Visualizing Literature</a:t>
            </a:r>
          </a:p>
          <a:p>
            <a:pPr lvl="2"/>
            <a:r>
              <a:rPr lang="en-US" sz="2800" dirty="0" smtClean="0"/>
              <a:t>“</a:t>
            </a:r>
            <a:r>
              <a:rPr lang="en-US" sz="2800" dirty="0" smtClean="0"/>
              <a:t>More Applied”</a:t>
            </a:r>
          </a:p>
          <a:p>
            <a:pPr lvl="3"/>
            <a:r>
              <a:rPr lang="en-US" dirty="0" smtClean="0">
                <a:solidFill>
                  <a:srgbClr val="EF5B00"/>
                </a:solidFill>
              </a:rPr>
              <a:t>CS 418/419: Computer Graphics</a:t>
            </a:r>
          </a:p>
          <a:p>
            <a:pPr lvl="3"/>
            <a:r>
              <a:rPr lang="en-US" dirty="0" smtClean="0">
                <a:solidFill>
                  <a:srgbClr val="EF5B00"/>
                </a:solidFill>
              </a:rPr>
              <a:t>CS 446: Machine Learning</a:t>
            </a:r>
          </a:p>
          <a:p>
            <a:pPr lvl="3"/>
            <a:r>
              <a:rPr lang="en-US" dirty="0" smtClean="0">
                <a:solidFill>
                  <a:srgbClr val="EF5B00"/>
                </a:solidFill>
              </a:rPr>
              <a:t>CS 440: Artificial Intelligence</a:t>
            </a:r>
            <a:endParaRPr lang="en-US" sz="2800" dirty="0" smtClean="0">
              <a:solidFill>
                <a:srgbClr val="EF5B00"/>
              </a:solidFill>
            </a:endParaRPr>
          </a:p>
          <a:p>
            <a:pPr lvl="2"/>
            <a:r>
              <a:rPr lang="en-US" sz="2800" dirty="0" smtClean="0"/>
              <a:t>“More Math</a:t>
            </a:r>
            <a:r>
              <a:rPr lang="en-US" sz="2800" dirty="0" smtClean="0"/>
              <a:t>”</a:t>
            </a:r>
          </a:p>
          <a:p>
            <a:pPr lvl="3"/>
            <a:r>
              <a:rPr lang="en-US" dirty="0" smtClean="0">
                <a:solidFill>
                  <a:srgbClr val="EF5B00"/>
                </a:solidFill>
              </a:rPr>
              <a:t>CS 450: Numerical Analysis</a:t>
            </a:r>
            <a:endParaRPr lang="en-US" dirty="0" smtClean="0">
              <a:solidFill>
                <a:srgbClr val="EF5B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70779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Work in Systems?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8501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ICES forms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6223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range lecture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sz="2500" b="0" dirty="0" err="1" smtClean="0">
            <a:latin typeface="Gill Sans MT"/>
            <a:cs typeface="Gill Sans MT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lecture.thmx</Template>
  <TotalTime>1285</TotalTime>
  <Words>999</Words>
  <Application>Microsoft Macintosh PowerPoint</Application>
  <PresentationFormat>On-screen Show (4:3)</PresentationFormat>
  <Paragraphs>113</Paragraphs>
  <Slides>14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Orange lecture</vt:lpstr>
      <vt:lpstr>CS 241: Wrap-up and beyond</vt:lpstr>
      <vt:lpstr>Announcements</vt:lpstr>
      <vt:lpstr>What did you learn?</vt:lpstr>
      <vt:lpstr>What did you do?</vt:lpstr>
      <vt:lpstr>Great Ideas in Computer Systems</vt:lpstr>
      <vt:lpstr>What will you do next?</vt:lpstr>
      <vt:lpstr>What will you do next?</vt:lpstr>
      <vt:lpstr>What will you do next?</vt:lpstr>
      <vt:lpstr>What will you do next?</vt:lpstr>
      <vt:lpstr>What will you do next?</vt:lpstr>
      <vt:lpstr>What will you do next?</vt:lpstr>
      <vt:lpstr>What will you do next?</vt:lpstr>
      <vt:lpstr>Why Work in Systems?</vt:lpstr>
      <vt:lpstr>ICES forms</vt:lpstr>
    </vt:vector>
  </TitlesOfParts>
  <Company>University of Illinois at Urbana-Champaign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241: Wrap-up and beyond</dc:title>
  <dc:creator>Philip Godfrey</dc:creator>
  <cp:lastModifiedBy>Philip Godfrey</cp:lastModifiedBy>
  <cp:revision>56</cp:revision>
  <cp:lastPrinted>2014-05-07T09:34:17Z</cp:lastPrinted>
  <dcterms:created xsi:type="dcterms:W3CDTF">2012-05-02T05:53:52Z</dcterms:created>
  <dcterms:modified xsi:type="dcterms:W3CDTF">2014-05-07T16:00:28Z</dcterms:modified>
</cp:coreProperties>
</file>