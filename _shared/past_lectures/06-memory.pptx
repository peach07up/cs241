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Default Extension="wmf" ContentType="image/x-w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43"/>
  </p:notesMasterIdLst>
  <p:handoutMasterIdLst>
    <p:handoutMasterId r:id="rId44"/>
  </p:handoutMasterIdLst>
  <p:sldIdLst>
    <p:sldId id="588" r:id="rId2"/>
    <p:sldId id="1250" r:id="rId3"/>
    <p:sldId id="1145" r:id="rId4"/>
    <p:sldId id="1146" r:id="rId5"/>
    <p:sldId id="1147" r:id="rId6"/>
    <p:sldId id="1194" r:id="rId7"/>
    <p:sldId id="1248" r:id="rId8"/>
    <p:sldId id="1169" r:id="rId9"/>
    <p:sldId id="1148" r:id="rId10"/>
    <p:sldId id="1241" r:id="rId11"/>
    <p:sldId id="1219" r:id="rId12"/>
    <p:sldId id="1220" r:id="rId13"/>
    <p:sldId id="1221" r:id="rId14"/>
    <p:sldId id="1222" r:id="rId15"/>
    <p:sldId id="1223" r:id="rId16"/>
    <p:sldId id="1224" r:id="rId17"/>
    <p:sldId id="1225" r:id="rId18"/>
    <p:sldId id="1226" r:id="rId19"/>
    <p:sldId id="1197" r:id="rId20"/>
    <p:sldId id="1198" r:id="rId21"/>
    <p:sldId id="1199" r:id="rId22"/>
    <p:sldId id="1200" r:id="rId23"/>
    <p:sldId id="1201" r:id="rId24"/>
    <p:sldId id="1203" r:id="rId25"/>
    <p:sldId id="1204" r:id="rId26"/>
    <p:sldId id="1227" r:id="rId27"/>
    <p:sldId id="1228" r:id="rId28"/>
    <p:sldId id="1188" r:id="rId29"/>
    <p:sldId id="1149" r:id="rId30"/>
    <p:sldId id="1189" r:id="rId31"/>
    <p:sldId id="1151" r:id="rId32"/>
    <p:sldId id="1249" r:id="rId33"/>
    <p:sldId id="1152" r:id="rId34"/>
    <p:sldId id="1190" r:id="rId35"/>
    <p:sldId id="1191" r:id="rId36"/>
    <p:sldId id="1192" r:id="rId37"/>
    <p:sldId id="1153" r:id="rId38"/>
    <p:sldId id="1193" r:id="rId39"/>
    <p:sldId id="1154" r:id="rId40"/>
    <p:sldId id="1196" r:id="rId41"/>
    <p:sldId id="1167" r:id="rId42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charset="0"/>
        <a:ea typeface="ＭＳ Ｐゴシック" charset="0"/>
        <a:cs typeface="ＭＳ Ｐゴシック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charset="0"/>
        <a:ea typeface="ＭＳ Ｐゴシック" charset="0"/>
        <a:cs typeface="ＭＳ Ｐゴシック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charset="0"/>
        <a:ea typeface="ＭＳ Ｐゴシック" charset="0"/>
        <a:cs typeface="ＭＳ Ｐゴシック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Tahoma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Tahoma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Tahoma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Tahoma" charset="0"/>
        <a:ea typeface="ＭＳ Ｐゴシック" charset="0"/>
        <a:cs typeface="ＭＳ Ｐゴシック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FBD7A3"/>
    <a:srgbClr val="C1F3FF"/>
    <a:srgbClr val="FFFFCC"/>
    <a:srgbClr val="CCFFCC"/>
    <a:srgbClr val="0000CC"/>
    <a:srgbClr val="FF0000"/>
    <a:srgbClr val="FFCCCC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73" autoAdjust="0"/>
    <p:restoredTop sz="83422" autoAdjust="0"/>
  </p:normalViewPr>
  <p:slideViewPr>
    <p:cSldViewPr>
      <p:cViewPr varScale="1">
        <p:scale>
          <a:sx n="81" d="100"/>
          <a:sy n="81" d="100"/>
        </p:scale>
        <p:origin x="-1152" y="-112"/>
      </p:cViewPr>
      <p:guideLst>
        <p:guide orient="horz"/>
        <p:guide pos="575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83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handoutMaster" Target="handoutMasters/handoutMaster1.xml"/><Relationship Id="rId45" Type="http://schemas.openxmlformats.org/officeDocument/2006/relationships/printerSettings" Target="printerSettings/printerSettings1.bin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2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512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512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512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fld id="{8DC8B3F7-3E46-CC41-9632-4F468A12FA8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2427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62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>
                <a:latin typeface="Arial" charset="0"/>
              </a:defRPr>
            </a:lvl1pPr>
          </a:lstStyle>
          <a:p>
            <a:fld id="{45FA754B-D5F6-7B41-A7A4-613B3216D1B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38685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55E2ECDF-CDF0-4748-962D-23CB44978466}" type="slidenum">
              <a:rPr lang="en-US">
                <a:latin typeface="Arial" charset="0"/>
              </a:rPr>
              <a:pPr/>
              <a:t>1</a:t>
            </a:fld>
            <a:endParaRPr lang="en-US">
              <a:latin typeface="Arial" charset="0"/>
            </a:endParaRPr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3B894D2F-F8A8-1E43-8D4A-2EA54564AD94}" type="slidenum">
              <a:rPr lang="en-US">
                <a:latin typeface="Arial" charset="0"/>
              </a:rPr>
              <a:pPr/>
              <a:t>3</a:t>
            </a:fld>
            <a:endParaRPr lang="en-US">
              <a:latin typeface="Arial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>
                <a:ea typeface="ＭＳ Ｐゴシック" charset="0"/>
                <a:cs typeface="ＭＳ Ｐゴシック" charset="0"/>
              </a:rPr>
              <a:t>Class is mostly about programming.  However, it is useful to understand what is happening behind the scenes in case you have to create a program that is fast.  One that uses memory poorly is going to have very slow performance, so we want to spend a little time to help you understand what is going on underneath the hood.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93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ea typeface="ＭＳ Ｐゴシック" charset="0"/>
                <a:cs typeface="ＭＳ Ｐゴシック" charset="0"/>
              </a:rPr>
              <a:t>Remember, OS provides abstraction we ask ourselves about the interface provided by the OS and the physical reality</a:t>
            </a:r>
          </a:p>
        </p:txBody>
      </p:sp>
      <p:sp>
        <p:nvSpPr>
          <p:cNvPr id="993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2C348D6F-EBAF-1F4C-8A8F-9CF085ACCB4A}" type="slidenum">
              <a:rPr lang="en-US">
                <a:latin typeface="Arial" charset="0"/>
              </a:rPr>
              <a:pPr/>
              <a:t>4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03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ea typeface="ＭＳ Ｐゴシック" charset="0"/>
                <a:cs typeface="ＭＳ Ｐゴシック" charset="0"/>
              </a:rPr>
              <a:t>Independence – same address can be used in different address spaces (i.e. different processes) yet remain logically distinct</a:t>
            </a:r>
          </a:p>
          <a:p>
            <a:r>
              <a:rPr lang="en-US">
                <a:ea typeface="ＭＳ Ｐゴシック" charset="0"/>
                <a:cs typeface="ＭＳ Ｐゴシック" charset="0"/>
              </a:rPr>
              <a:t>Protection -- One address space cannot access data in another address space (actually controlled sharing)</a:t>
            </a:r>
          </a:p>
          <a:p>
            <a:r>
              <a:rPr lang="en-US">
                <a:ea typeface="ＭＳ Ｐゴシック" charset="0"/>
                <a:cs typeface="ＭＳ Ｐゴシック" charset="0"/>
              </a:rPr>
              <a:t>Virtual memory – address space can be larger than the amount of physical memory on the machine</a:t>
            </a:r>
          </a:p>
        </p:txBody>
      </p:sp>
      <p:sp>
        <p:nvSpPr>
          <p:cNvPr id="1003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EFCB092C-BE6B-4B41-B07A-00BC7A697F9E}" type="slidenum">
              <a:rPr lang="en-US">
                <a:latin typeface="Arial" charset="0"/>
              </a:rPr>
              <a:pPr/>
              <a:t>5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137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ea typeface="ＭＳ Ｐゴシック" charset="0"/>
                <a:cs typeface="ＭＳ Ｐゴシック" charset="0"/>
              </a:rPr>
              <a:t>Independence – same address can be used in different address spaces (i.e. different processes) yet remain logically distinct</a:t>
            </a:r>
          </a:p>
          <a:p>
            <a:r>
              <a:rPr lang="en-US">
                <a:ea typeface="ＭＳ Ｐゴシック" charset="0"/>
                <a:cs typeface="ＭＳ Ｐゴシック" charset="0"/>
              </a:rPr>
              <a:t>Protection -- One address space cannot access data in another address space (actually controlled sharing)</a:t>
            </a:r>
          </a:p>
          <a:p>
            <a:r>
              <a:rPr lang="en-US">
                <a:ea typeface="ＭＳ Ｐゴシック" charset="0"/>
                <a:cs typeface="ＭＳ Ｐゴシック" charset="0"/>
              </a:rPr>
              <a:t>Virtual memory – address space can be larger than the amount of physical memory on the machine</a:t>
            </a:r>
          </a:p>
        </p:txBody>
      </p:sp>
      <p:sp>
        <p:nvSpPr>
          <p:cNvPr id="1013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553139CC-9E42-1241-936A-EC50A8BD364C}" type="slidenum">
              <a:rPr lang="en-US">
                <a:latin typeface="Arial" charset="0"/>
              </a:rPr>
              <a:pPr/>
              <a:t>6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240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ea typeface="ＭＳ Ｐゴシック" charset="0"/>
                <a:cs typeface="ＭＳ Ｐゴシック" charset="0"/>
              </a:rPr>
              <a:t>The OS will write the current state of the process to disk, read in the next process from disk</a:t>
            </a:r>
          </a:p>
          <a:p>
            <a:r>
              <a:rPr lang="en-US">
                <a:ea typeface="ＭＳ Ｐゴシック" charset="0"/>
                <a:cs typeface="ＭＳ Ｐゴシック" charset="0"/>
              </a:rPr>
              <a:t>Independence and protection, but not virtual memory (but the sum can be larger)</a:t>
            </a:r>
          </a:p>
          <a:p>
            <a:r>
              <a:rPr lang="en-US">
                <a:ea typeface="ＭＳ Ｐゴシック" charset="0"/>
                <a:cs typeface="ＭＳ Ｐゴシック" charset="0"/>
              </a:rPr>
              <a:t>Slow, bad for round robin since your time slice will have to be huge</a:t>
            </a:r>
          </a:p>
        </p:txBody>
      </p:sp>
      <p:sp>
        <p:nvSpPr>
          <p:cNvPr id="1024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333E2FF9-A070-004F-A1EE-A0C283529A4D}" type="slidenum">
              <a:rPr lang="en-US">
                <a:latin typeface="Arial" charset="0"/>
              </a:rPr>
              <a:pPr/>
              <a:t>9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342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ea typeface="ＭＳ Ｐゴシック" charset="0"/>
                <a:cs typeface="ＭＳ Ｐゴシック" charset="0"/>
              </a:rPr>
              <a:t>The OS will write the current state of the process to disk, read in the next process from disk</a:t>
            </a:r>
          </a:p>
          <a:p>
            <a:r>
              <a:rPr lang="en-US">
                <a:ea typeface="ＭＳ Ｐゴシック" charset="0"/>
                <a:cs typeface="ＭＳ Ｐゴシック" charset="0"/>
              </a:rPr>
              <a:t>Independence and protection, but not virtual memory (but the sum can be larger)</a:t>
            </a:r>
          </a:p>
          <a:p>
            <a:r>
              <a:rPr lang="en-US">
                <a:ea typeface="ＭＳ Ｐゴシック" charset="0"/>
                <a:cs typeface="ＭＳ Ｐゴシック" charset="0"/>
              </a:rPr>
              <a:t>Slow, bad for round robin since your time slice will have to be huge</a:t>
            </a:r>
          </a:p>
        </p:txBody>
      </p:sp>
      <p:sp>
        <p:nvSpPr>
          <p:cNvPr id="1034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7FC90788-484D-1146-ADA8-D91B44940DD1}" type="slidenum">
              <a:rPr lang="en-US">
                <a:latin typeface="Arial" charset="0"/>
              </a:rPr>
              <a:pPr/>
              <a:t>10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C01D9CE7-2F49-F540-9AA8-11DA5A09ADA7}" type="slidenum">
              <a:rPr lang="en-US">
                <a:latin typeface="Arial" charset="0"/>
              </a:rPr>
              <a:pPr/>
              <a:t>12</a:t>
            </a:fld>
            <a:endParaRPr lang="en-US">
              <a:latin typeface="Arial" charset="0"/>
            </a:endParaRPr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3FA48B70-3F4D-DE49-AF18-23BBB7BF2E20}" type="slidenum">
              <a:rPr lang="en-US">
                <a:latin typeface="Arial" charset="0"/>
              </a:rPr>
              <a:pPr/>
              <a:t>13</a:t>
            </a:fld>
            <a:endParaRPr lang="en-US">
              <a:latin typeface="Arial" charset="0"/>
            </a:endParaRPr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94D2FE87-368B-A846-9022-ADDB01F62753}" type="slidenum">
              <a:rPr lang="en-US">
                <a:latin typeface="Arial" charset="0"/>
              </a:rPr>
              <a:pPr/>
              <a:t>14</a:t>
            </a:fld>
            <a:endParaRPr lang="en-US">
              <a:latin typeface="Arial" charset="0"/>
            </a:endParaRPr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F3209DF3-1732-D04E-90D9-D990BBEBD78F}" type="slidenum">
              <a:rPr lang="en-US">
                <a:latin typeface="Arial" charset="0"/>
              </a:rPr>
              <a:pPr/>
              <a:t>15</a:t>
            </a:fld>
            <a:endParaRPr lang="en-US">
              <a:latin typeface="Arial" charset="0"/>
            </a:endParaRPr>
          </a:p>
        </p:txBody>
      </p:sp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83E2EF6B-AA51-804C-A139-40AF203A2637}" type="slidenum">
              <a:rPr lang="en-US">
                <a:latin typeface="Arial" charset="0"/>
              </a:rPr>
              <a:pPr/>
              <a:t>16</a:t>
            </a:fld>
            <a:endParaRPr lang="en-US">
              <a:latin typeface="Arial" charset="0"/>
            </a:endParaRPr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874AEEF3-E5B9-454D-835D-153D21F3496A}" type="slidenum">
              <a:rPr lang="en-US">
                <a:latin typeface="Arial" charset="0"/>
              </a:rPr>
              <a:pPr/>
              <a:t>17</a:t>
            </a:fld>
            <a:endParaRPr lang="en-US">
              <a:latin typeface="Arial" charset="0"/>
            </a:endParaRPr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8265837E-8197-AC40-9FC9-FA8AD5372BC0}" type="slidenum">
              <a:rPr lang="en-US">
                <a:latin typeface="Arial" charset="0"/>
              </a:rPr>
              <a:pPr/>
              <a:t>18</a:t>
            </a:fld>
            <a:endParaRPr lang="en-US">
              <a:latin typeface="Arial" charset="0"/>
            </a:endParaRPr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161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  <p:sp>
        <p:nvSpPr>
          <p:cNvPr id="1116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7FF1C9ED-AD79-744D-9237-FD888CF6CA0E}" type="slidenum">
              <a:rPr lang="en-US">
                <a:latin typeface="Arial" charset="0"/>
              </a:rPr>
              <a:pPr/>
              <a:t>29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26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>
                <a:ea typeface="ＭＳ Ｐゴシック" charset="0"/>
                <a:cs typeface="ＭＳ Ｐゴシック" charset="0"/>
              </a:rPr>
              <a:t>Do you need hardware support?</a:t>
            </a:r>
          </a:p>
          <a:p>
            <a:r>
              <a:rPr lang="en-US" dirty="0">
                <a:ea typeface="ＭＳ Ｐゴシック" charset="0"/>
                <a:cs typeface="ＭＳ Ｐゴシック" charset="0"/>
              </a:rPr>
              <a:t>No, could use some form of software level translation (think Java</a:t>
            </a:r>
            <a:r>
              <a:rPr lang="en-US" dirty="0" smtClean="0">
                <a:ea typeface="ＭＳ Ｐゴシック" charset="0"/>
                <a:cs typeface="ＭＳ Ｐゴシック" charset="0"/>
              </a:rPr>
              <a:t>)</a:t>
            </a:r>
          </a:p>
          <a:p>
            <a:r>
              <a:rPr lang="en-US" dirty="0" smtClean="0">
                <a:ea typeface="ＭＳ Ｐゴシック" charset="0"/>
                <a:cs typeface="ＭＳ Ｐゴシック" charset="0"/>
              </a:rPr>
              <a:t>But all modern processors</a:t>
            </a:r>
            <a:r>
              <a:rPr lang="en-US" baseline="0" dirty="0" smtClean="0">
                <a:ea typeface="ＭＳ Ｐゴシック" charset="0"/>
                <a:cs typeface="ＭＳ Ｐゴシック" charset="0"/>
              </a:rPr>
              <a:t> have hardware support for this because it’s faster.</a:t>
            </a:r>
            <a:endParaRPr lang="en-US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1126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16D44B34-9574-204B-B1CD-CAD707FBF261}" type="slidenum">
              <a:rPr lang="en-US">
                <a:latin typeface="Arial" charset="0"/>
              </a:rPr>
              <a:pPr/>
              <a:t>31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Wheeler: “He spent the next two years at the University of Illinois, helping design the programming system for the ORDVAC and ILLIAC.”  This was early 1950s, I think 1951-1953.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FA754B-D5F6-7B41-A7A4-613B3216D1B2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0326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366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ea typeface="ＭＳ Ｐゴシック" charset="0"/>
                <a:cs typeface="ＭＳ Ｐゴシック" charset="0"/>
              </a:rPr>
              <a:t>Lots of ways to implement, remember the big picture</a:t>
            </a:r>
          </a:p>
          <a:p>
            <a:r>
              <a:rPr lang="en-US">
                <a:ea typeface="ＭＳ Ｐゴシック" charset="0"/>
                <a:cs typeface="ＭＳ Ｐゴシック" charset="0"/>
              </a:rPr>
              <a:t>Translator is just a data structure</a:t>
            </a:r>
          </a:p>
        </p:txBody>
      </p:sp>
      <p:sp>
        <p:nvSpPr>
          <p:cNvPr id="1136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D3098777-358A-F748-87E6-EE943F064F90}" type="slidenum">
              <a:rPr lang="en-US">
                <a:latin typeface="Arial" charset="0"/>
              </a:rPr>
              <a:pPr/>
              <a:t>33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469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ea typeface="ＭＳ Ｐゴシック" charset="0"/>
                <a:cs typeface="ＭＳ Ｐゴシック" charset="0"/>
              </a:rPr>
              <a:t>Load each process into contiguous regions of physical memory</a:t>
            </a:r>
          </a:p>
          <a:p>
            <a:endParaRPr lang="en-US">
              <a:ea typeface="ＭＳ Ｐゴシック" charset="0"/>
              <a:cs typeface="ＭＳ Ｐゴシック" charset="0"/>
            </a:endParaRPr>
          </a:p>
          <a:p>
            <a:r>
              <a:rPr lang="en-US">
                <a:ea typeface="ＭＳ Ｐゴシック" charset="0"/>
                <a:cs typeface="ＭＳ Ｐゴシック" charset="0"/>
              </a:rPr>
              <a:t>Process has the illusion of running on its own dedicated machine with memory [0,bound).  Provides protection from other processes also currently in memory</a:t>
            </a:r>
          </a:p>
        </p:txBody>
      </p:sp>
      <p:sp>
        <p:nvSpPr>
          <p:cNvPr id="1146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5626CDC5-5AD9-CF40-8A59-21CAE80B1E4C}" type="slidenum">
              <a:rPr lang="en-US">
                <a:latin typeface="Arial" charset="0"/>
              </a:rPr>
              <a:pPr/>
              <a:t>37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571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ea typeface="ＭＳ Ｐゴシック" charset="0"/>
                <a:cs typeface="ＭＳ Ｐゴシック" charset="0"/>
              </a:rPr>
              <a:t>The base and the bounds registers</a:t>
            </a:r>
          </a:p>
          <a:p>
            <a:r>
              <a:rPr lang="en-US">
                <a:ea typeface="ＭＳ Ｐゴシック" charset="0"/>
                <a:cs typeface="ＭＳ Ｐゴシック" charset="0"/>
              </a:rPr>
              <a:t>No, only the OS can change these registers, but the program can do it implicitly (e.g., stack growing)</a:t>
            </a:r>
          </a:p>
          <a:p>
            <a:r>
              <a:rPr lang="en-US">
                <a:ea typeface="ＭＳ Ｐゴシック" charset="0"/>
                <a:cs typeface="ＭＳ Ｐゴシック" charset="0"/>
              </a:rPr>
              <a:t>It would be hard.  The program assumes that address 0 has meaning, the only possibility would be at the top.  You could have position independent code, but it becomes tough to do dynamically since you have to move around a live program.  The sharing would have to be static.</a:t>
            </a:r>
          </a:p>
          <a:p>
            <a:r>
              <a:rPr lang="en-US">
                <a:ea typeface="ＭＳ Ｐゴシック" charset="0"/>
                <a:cs typeface="ＭＳ Ｐゴシック" charset="0"/>
              </a:rPr>
              <a:t>Remember the stack will grow and we need to handle it.</a:t>
            </a:r>
          </a:p>
          <a:p>
            <a:pPr>
              <a:buFontTx/>
              <a:buAutoNum type="arabicParenR"/>
            </a:pPr>
            <a:r>
              <a:rPr lang="en-US">
                <a:ea typeface="ＭＳ Ｐゴシック" charset="0"/>
                <a:cs typeface="ＭＳ Ｐゴシック" charset="0"/>
              </a:rPr>
              <a:t>If the phys mem above is free, then just allocate it to the process and let it grow</a:t>
            </a:r>
          </a:p>
          <a:p>
            <a:pPr>
              <a:buFontTx/>
              <a:buAutoNum type="arabicParenR"/>
            </a:pPr>
            <a:r>
              <a:rPr lang="en-US">
                <a:ea typeface="ＭＳ Ｐゴシック" charset="0"/>
                <a:cs typeface="ＭＳ Ｐゴシック" charset="0"/>
              </a:rPr>
              <a:t>If not, then you have to move it.  This will require copying entire sections of the address space</a:t>
            </a:r>
          </a:p>
          <a:p>
            <a:pPr>
              <a:buFontTx/>
              <a:buAutoNum type="arabicParenR"/>
            </a:pPr>
            <a:r>
              <a:rPr lang="en-US">
                <a:ea typeface="ＭＳ Ｐゴシック" charset="0"/>
                <a:cs typeface="ＭＳ Ｐゴシック" charset="0"/>
              </a:rPr>
              <a:t>What if you can</a:t>
            </a:r>
            <a:r>
              <a:rPr lang="ja-JP" altLang="en-US">
                <a:ea typeface="ＭＳ Ｐゴシック" charset="0"/>
                <a:cs typeface="ＭＳ Ｐゴシック" charset="0"/>
              </a:rPr>
              <a:t>’</a:t>
            </a:r>
            <a:r>
              <a:rPr lang="en-US">
                <a:ea typeface="ＭＳ Ｐゴシック" charset="0"/>
                <a:cs typeface="ＭＳ Ｐゴシック" charset="0"/>
              </a:rPr>
              <a:t>t find a contiguous chunk that is large enough, you have to swap out other processes</a:t>
            </a:r>
          </a:p>
        </p:txBody>
      </p:sp>
      <p:sp>
        <p:nvSpPr>
          <p:cNvPr id="1157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3ABCF6A0-7AE5-1847-B03E-3BCF62E030C0}" type="slidenum">
              <a:rPr lang="en-US">
                <a:latin typeface="Arial" charset="0"/>
              </a:rPr>
              <a:pPr/>
              <a:t>39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67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>
                <a:ea typeface="ＭＳ Ｐゴシック" charset="0"/>
                <a:cs typeface="ＭＳ Ｐゴシック" charset="0"/>
              </a:rPr>
              <a:t>The base and the bounds registers</a:t>
            </a:r>
          </a:p>
          <a:p>
            <a:r>
              <a:rPr lang="en-US" dirty="0">
                <a:ea typeface="ＭＳ Ｐゴシック" charset="0"/>
                <a:cs typeface="ＭＳ Ｐゴシック" charset="0"/>
              </a:rPr>
              <a:t>No, only the OS can change these registers, but the program can do it implicitly (e.g., stack growing)</a:t>
            </a:r>
          </a:p>
          <a:p>
            <a:endParaRPr lang="en-US" sz="2800" dirty="0" smtClean="0">
              <a:latin typeface="Arial" charset="0"/>
              <a:ea typeface="ＭＳ Ｐゴシック" charset="0"/>
              <a:cs typeface="ＭＳ Ｐゴシック" charset="0"/>
            </a:endParaRPr>
          </a:p>
          <a:p>
            <a:r>
              <a:rPr lang="en-US" sz="2800" dirty="0" smtClean="0">
                <a:latin typeface="Arial" charset="0"/>
                <a:ea typeface="ＭＳ Ｐゴシック" charset="0"/>
                <a:cs typeface="ＭＳ Ｐゴシック" charset="0"/>
              </a:rPr>
              <a:t>REMOVED FROM SLIDE because we haven’t talked much about sharing</a:t>
            </a:r>
            <a:r>
              <a:rPr lang="en-US" sz="2800" baseline="0" dirty="0" smtClean="0">
                <a:latin typeface="Arial" charset="0"/>
                <a:ea typeface="ＭＳ Ｐゴシック" charset="0"/>
                <a:cs typeface="ＭＳ Ｐゴシック" charset="0"/>
              </a:rPr>
              <a:t> between processes yet:</a:t>
            </a:r>
            <a:endParaRPr lang="en-US" sz="2800" dirty="0" smtClean="0">
              <a:latin typeface="Arial" charset="0"/>
              <a:ea typeface="ＭＳ Ｐゴシック" charset="0"/>
              <a:cs typeface="ＭＳ Ｐゴシック" charset="0"/>
            </a:endParaRPr>
          </a:p>
          <a:p>
            <a:r>
              <a:rPr lang="en-US" sz="2800" dirty="0" smtClean="0">
                <a:latin typeface="Arial" charset="0"/>
                <a:ea typeface="ＭＳ Ｐゴシック" charset="0"/>
                <a:cs typeface="ＭＳ Ｐゴシック" charset="0"/>
              </a:rPr>
              <a:t>Can you share memory with another process? </a:t>
            </a:r>
            <a:r>
              <a:rPr lang="en-US" sz="2400" dirty="0" smtClean="0">
                <a:latin typeface="Arial" charset="0"/>
                <a:ea typeface="ＭＳ Ｐゴシック" charset="0"/>
              </a:rPr>
              <a:t>Hard with dynamic translation</a:t>
            </a:r>
          </a:p>
          <a:p>
            <a:r>
              <a:rPr lang="en-US" dirty="0" smtClean="0">
                <a:ea typeface="ＭＳ Ｐゴシック" charset="0"/>
                <a:cs typeface="ＭＳ Ｐゴシック" charset="0"/>
              </a:rPr>
              <a:t>It </a:t>
            </a:r>
            <a:r>
              <a:rPr lang="en-US" dirty="0">
                <a:ea typeface="ＭＳ Ｐゴシック" charset="0"/>
                <a:cs typeface="ＭＳ Ｐゴシック" charset="0"/>
              </a:rPr>
              <a:t>would be hard.  The program assumes that address 0 has meaning, the only possibility would be at the top.  You could have position independent code, but it becomes tough to do dynamically since you have to move around a live program.  The sharing would have to be static.</a:t>
            </a:r>
          </a:p>
          <a:p>
            <a:endParaRPr lang="en-US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1167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98C9A6F3-1CCC-884F-A5E5-DEC97F3004B1}" type="slidenum">
              <a:rPr lang="en-US">
                <a:latin typeface="Arial" charset="0"/>
              </a:rPr>
              <a:pPr/>
              <a:t>40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77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ea typeface="ＭＳ Ｐゴシック" charset="0"/>
                <a:cs typeface="ＭＳ Ｐゴシック" charset="0"/>
              </a:rPr>
              <a:t>BREAK INTO GROUPS FOR OS DESIGNER. </a:t>
            </a:r>
          </a:p>
          <a:p>
            <a:r>
              <a:rPr lang="en-US">
                <a:ea typeface="ＭＳ Ｐゴシック" charset="0"/>
                <a:cs typeface="ＭＳ Ｐゴシック" charset="0"/>
              </a:rPr>
              <a:t>Remember the stack will grow and we need to handle it.</a:t>
            </a:r>
          </a:p>
          <a:p>
            <a:pPr>
              <a:buFontTx/>
              <a:buAutoNum type="arabicParenR"/>
            </a:pPr>
            <a:r>
              <a:rPr lang="en-US">
                <a:ea typeface="ＭＳ Ｐゴシック" charset="0"/>
                <a:cs typeface="ＭＳ Ｐゴシック" charset="0"/>
              </a:rPr>
              <a:t>If the phys mem above is free, then just allocate it to the process and let it grow</a:t>
            </a:r>
          </a:p>
          <a:p>
            <a:pPr>
              <a:buFontTx/>
              <a:buAutoNum type="arabicParenR"/>
            </a:pPr>
            <a:r>
              <a:rPr lang="en-US">
                <a:ea typeface="ＭＳ Ｐゴシック" charset="0"/>
                <a:cs typeface="ＭＳ Ｐゴシック" charset="0"/>
              </a:rPr>
              <a:t>If not, then you have to move it.  This will require copying entire sections of the address space</a:t>
            </a:r>
          </a:p>
          <a:p>
            <a:pPr>
              <a:buFontTx/>
              <a:buAutoNum type="arabicParenR"/>
            </a:pPr>
            <a:r>
              <a:rPr lang="en-US">
                <a:ea typeface="ＭＳ Ｐゴシック" charset="0"/>
                <a:cs typeface="ＭＳ Ｐゴシック" charset="0"/>
              </a:rPr>
              <a:t>What if you can</a:t>
            </a:r>
            <a:r>
              <a:rPr lang="ja-JP" altLang="en-US">
                <a:ea typeface="ＭＳ Ｐゴシック" charset="0"/>
                <a:cs typeface="ＭＳ Ｐゴシック" charset="0"/>
              </a:rPr>
              <a:t>’</a:t>
            </a:r>
            <a:r>
              <a:rPr lang="en-US">
                <a:ea typeface="ＭＳ Ｐゴシック" charset="0"/>
                <a:cs typeface="ＭＳ Ｐゴシック" charset="0"/>
              </a:rPr>
              <a:t>t find a contiguous chunk that is large enough, you have to swap out other processes</a:t>
            </a:r>
          </a:p>
        </p:txBody>
      </p:sp>
      <p:sp>
        <p:nvSpPr>
          <p:cNvPr id="1177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D9FEE244-4F80-B149-BD63-04A021B7E9CD}" type="slidenum">
              <a:rPr lang="en-US">
                <a:latin typeface="Arial" charset="0"/>
              </a:rPr>
              <a:pPr/>
              <a:t>41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6"/>
          <p:cNvGrpSpPr>
            <a:grpSpLocks/>
          </p:cNvGrpSpPr>
          <p:nvPr/>
        </p:nvGrpSpPr>
        <p:grpSpPr bwMode="auto">
          <a:xfrm>
            <a:off x="0" y="914400"/>
            <a:ext cx="8686800" cy="2514600"/>
            <a:chOff x="0" y="576"/>
            <a:chExt cx="5472" cy="1584"/>
          </a:xfrm>
        </p:grpSpPr>
        <p:sp>
          <p:nvSpPr>
            <p:cNvPr id="5" name="Oval 7"/>
            <p:cNvSpPr>
              <a:spLocks noChangeArrowheads="1"/>
            </p:cNvSpPr>
            <p:nvPr/>
          </p:nvSpPr>
          <p:spPr bwMode="auto">
            <a:xfrm>
              <a:off x="144" y="576"/>
              <a:ext cx="1584" cy="1584"/>
            </a:xfrm>
            <a:prstGeom prst="ellipse">
              <a:avLst/>
            </a:prstGeom>
            <a:noFill/>
            <a:ln w="127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en-US">
                <a:latin typeface="Tahoma" pitchFamily="80" charset="0"/>
                <a:ea typeface="+mn-ea"/>
                <a:cs typeface="+mn-cs"/>
              </a:endParaRPr>
            </a:p>
          </p:txBody>
        </p:sp>
        <p:sp>
          <p:nvSpPr>
            <p:cNvPr id="6" name="Rectangle 8"/>
            <p:cNvSpPr>
              <a:spLocks noChangeArrowheads="1"/>
            </p:cNvSpPr>
            <p:nvPr/>
          </p:nvSpPr>
          <p:spPr bwMode="hidden">
            <a:xfrm>
              <a:off x="0" y="1056"/>
              <a:ext cx="2976" cy="72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en-US" sz="2400">
                <a:latin typeface="Times New Roman" pitchFamily="18" charset="0"/>
                <a:ea typeface="+mn-ea"/>
                <a:cs typeface="+mn-cs"/>
              </a:endParaRPr>
            </a:p>
          </p:txBody>
        </p:sp>
        <p:sp>
          <p:nvSpPr>
            <p:cNvPr id="7" name="Rectangle 9"/>
            <p:cNvSpPr>
              <a:spLocks noChangeArrowheads="1"/>
            </p:cNvSpPr>
            <p:nvPr/>
          </p:nvSpPr>
          <p:spPr bwMode="hidden">
            <a:xfrm>
              <a:off x="2496" y="1056"/>
              <a:ext cx="2976" cy="720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en-US" sz="2400">
                <a:latin typeface="Times New Roman" pitchFamily="18" charset="0"/>
                <a:ea typeface="+mn-ea"/>
                <a:cs typeface="+mn-cs"/>
              </a:endParaRPr>
            </a:p>
          </p:txBody>
        </p:sp>
        <p:sp>
          <p:nvSpPr>
            <p:cNvPr id="8" name="Freeform 10"/>
            <p:cNvSpPr>
              <a:spLocks noChangeArrowheads="1"/>
            </p:cNvSpPr>
            <p:nvPr/>
          </p:nvSpPr>
          <p:spPr bwMode="auto">
            <a:xfrm>
              <a:off x="384" y="960"/>
              <a:ext cx="144" cy="913"/>
            </a:xfrm>
            <a:custGeom>
              <a:avLst/>
              <a:gdLst/>
              <a:ahLst/>
              <a:cxnLst>
                <a:cxn ang="0">
                  <a:pos x="1000" y="1000"/>
                </a:cxn>
                <a:cxn ang="0">
                  <a:pos x="0" y="1000"/>
                </a:cxn>
                <a:cxn ang="0">
                  <a:pos x="0" y="0"/>
                </a:cxn>
                <a:cxn ang="0">
                  <a:pos x="1000" y="0"/>
                </a:cxn>
              </a:cxnLst>
              <a:rect l="0" t="0" r="r" b="b"/>
              <a:pathLst>
                <a:path w="1000" h="1000">
                  <a:moveTo>
                    <a:pt x="1000" y="1000"/>
                  </a:moveTo>
                  <a:lnTo>
                    <a:pt x="0" y="1000"/>
                  </a:lnTo>
                  <a:lnTo>
                    <a:pt x="0" y="0"/>
                  </a:lnTo>
                  <a:lnTo>
                    <a:pt x="1000" y="0"/>
                  </a:lnTo>
                </a:path>
              </a:pathLst>
            </a:custGeom>
            <a:noFill/>
            <a:ln w="76200" cmpd="sng">
              <a:solidFill>
                <a:schemeClr val="tx2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latin typeface="Tahoma" pitchFamily="80" charset="0"/>
                <a:ea typeface="+mn-ea"/>
                <a:cs typeface="+mn-cs"/>
              </a:endParaRPr>
            </a:p>
          </p:txBody>
        </p:sp>
        <p:sp>
          <p:nvSpPr>
            <p:cNvPr id="9" name="Freeform 11"/>
            <p:cNvSpPr>
              <a:spLocks noChangeArrowheads="1"/>
            </p:cNvSpPr>
            <p:nvPr/>
          </p:nvSpPr>
          <p:spPr bwMode="auto">
            <a:xfrm>
              <a:off x="4944" y="762"/>
              <a:ext cx="165" cy="86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00" y="0"/>
                </a:cxn>
                <a:cxn ang="0">
                  <a:pos x="1000" y="1000"/>
                </a:cxn>
                <a:cxn ang="0">
                  <a:pos x="0" y="1000"/>
                </a:cxn>
              </a:cxnLst>
              <a:rect l="0" t="0" r="r" b="b"/>
              <a:pathLst>
                <a:path w="1000" h="1000">
                  <a:moveTo>
                    <a:pt x="0" y="0"/>
                  </a:moveTo>
                  <a:lnTo>
                    <a:pt x="1000" y="0"/>
                  </a:lnTo>
                  <a:lnTo>
                    <a:pt x="1000" y="1000"/>
                  </a:lnTo>
                  <a:lnTo>
                    <a:pt x="0" y="1000"/>
                  </a:lnTo>
                </a:path>
              </a:pathLst>
            </a:custGeom>
            <a:noFill/>
            <a:ln w="76200" cap="flat" cmpd="sng">
              <a:solidFill>
                <a:schemeClr val="accent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latin typeface="Tahoma" pitchFamily="80" charset="0"/>
                <a:ea typeface="+mn-ea"/>
                <a:cs typeface="+mn-cs"/>
              </a:endParaRPr>
            </a:p>
          </p:txBody>
        </p:sp>
      </p:grpSp>
      <p:sp>
        <p:nvSpPr>
          <p:cNvPr id="159746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2286000" y="3581400"/>
            <a:ext cx="5638800" cy="19050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59756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838200" y="1443038"/>
            <a:ext cx="7086600" cy="160020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" name="Rectangle 3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477000"/>
            <a:ext cx="1905000" cy="2286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Rectangle 4"/>
          <p:cNvSpPr>
            <a:spLocks noGrp="1" noChangeArrowheads="1"/>
          </p:cNvSpPr>
          <p:nvPr>
            <p:ph type="ftr" sz="quarter" idx="11"/>
          </p:nvPr>
        </p:nvSpPr>
        <p:spPr>
          <a:xfrm>
            <a:off x="2590800" y="6477000"/>
            <a:ext cx="3962400" cy="228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12" name="Rectangle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477000"/>
            <a:ext cx="1905000" cy="228600"/>
          </a:xfrm>
        </p:spPr>
        <p:txBody>
          <a:bodyPr/>
          <a:lstStyle>
            <a:lvl1pPr>
              <a:defRPr/>
            </a:lvl1pPr>
          </a:lstStyle>
          <a:p>
            <a:fld id="{AE3D534F-3DEF-1946-93D4-34F6D039FF2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7599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E69E86-3C2B-5543-A89A-501EE096303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07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AE61B40-6357-0748-83AF-C1136FAC58D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364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9325" y="1981200"/>
            <a:ext cx="3754438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56163" y="1981200"/>
            <a:ext cx="3754437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54316D-FDEA-4F49-94BC-1A109F06A14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408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61DEC8D-1305-0A41-9865-08C7BB1B399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088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E67705-C8EB-4A45-8244-9A765ECB8CA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385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DC1D488-C73D-B640-879E-046A2D6DBC2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610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4BF8296-FEDA-F64A-980F-11D2A5B0FC4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086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5193262-FB8C-4844-81B8-08B6E8FFBDD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755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479A9BB-2E51-0949-A4B7-DD9F437DD0A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289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91313" y="96838"/>
            <a:ext cx="1919287" cy="59991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31863" y="96838"/>
            <a:ext cx="5607050" cy="59991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6199B0F-42A0-3246-A96D-BF51951E1E3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821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ChangeArrowheads="1"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lang="en-US" sz="2400"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58723" name="Rectangle 3"/>
          <p:cNvSpPr>
            <a:spLocks noChangeArrowheads="1"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lang="en-US" sz="2400"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931863" y="96838"/>
            <a:ext cx="7158037" cy="141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9325" y="1981200"/>
            <a:ext cx="7661275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8726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46150" y="6477000"/>
            <a:ext cx="1905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latin typeface="Tahoma" pitchFamily="80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8727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819400" y="6477000"/>
            <a:ext cx="38862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/>
            </a:lvl1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158728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477000"/>
            <a:ext cx="1905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DCA39336-F86C-8542-A4DD-30A54FC89733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58729" name="Freeform 9"/>
          <p:cNvSpPr>
            <a:spLocks noChangeArrowheads="1"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/>
            <a:ahLst/>
            <a:cxnLst>
              <a:cxn ang="0">
                <a:pos x="1000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1000" y="1000"/>
                </a:moveTo>
                <a:lnTo>
                  <a:pt x="0" y="1000"/>
                </a:ln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76200" cmpd="sng">
            <a:solidFill>
              <a:schemeClr val="tx2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latin typeface="Tahoma" pitchFamily="80" charset="0"/>
              <a:ea typeface="+mn-ea"/>
              <a:cs typeface="+mn-cs"/>
            </a:endParaRPr>
          </a:p>
        </p:txBody>
      </p:sp>
      <p:sp>
        <p:nvSpPr>
          <p:cNvPr id="158730" name="Freeform 10"/>
          <p:cNvSpPr>
            <a:spLocks noChangeArrowheads="1"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000" y="0"/>
              </a:cxn>
              <a:cxn ang="0">
                <a:pos x="1000" y="1000"/>
              </a:cxn>
              <a:cxn ang="0">
                <a:pos x="0" y="1000"/>
              </a:cxn>
            </a:cxnLst>
            <a:rect l="0" t="0" r="r" b="b"/>
            <a:pathLst>
              <a:path w="1000" h="1000">
                <a:moveTo>
                  <a:pt x="0" y="0"/>
                </a:moveTo>
                <a:lnTo>
                  <a:pt x="1000" y="0"/>
                </a:lnTo>
                <a:lnTo>
                  <a:pt x="1000" y="1000"/>
                </a:lnTo>
                <a:lnTo>
                  <a:pt x="0" y="1000"/>
                </a:lnTo>
              </a:path>
            </a:pathLst>
          </a:custGeom>
          <a:noFill/>
          <a:ln w="7620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latin typeface="Tahoma" pitchFamily="80" charset="0"/>
              <a:ea typeface="+mn-ea"/>
              <a:cs typeface="+mn-cs"/>
            </a:endParaRPr>
          </a:p>
        </p:txBody>
      </p:sp>
      <p:pic>
        <p:nvPicPr>
          <p:cNvPr id="1035" name="Picture 11" descr="uiuc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4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timing>
    <p:tnLst>
      <p:par>
        <p:cTn xmlns:p14="http://schemas.microsoft.com/office/powerpoint/2010/main" id="1" dur="indefinite" restart="never" nodeType="tmRoot"/>
      </p:par>
    </p:tnLst>
  </p:timing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  <a:ea typeface="ＭＳ Ｐゴシック" charset="-128"/>
          <a:cs typeface="ＭＳ Ｐゴシック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</a:defRPr>
      </a:lvl9pPr>
    </p:titleStyle>
    <p:bodyStyle>
      <a:lvl1pPr marL="447675" indent="-44767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charset="0"/>
        <a:buChar char="n"/>
        <a:defRPr sz="3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889000" indent="-439738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charset="0"/>
        <a:buChar char="¡"/>
        <a:defRPr sz="2800">
          <a:solidFill>
            <a:schemeClr val="tx1"/>
          </a:solidFill>
          <a:latin typeface="+mn-lt"/>
          <a:ea typeface="ＭＳ Ｐゴシック" charset="-128"/>
        </a:defRPr>
      </a:lvl2pPr>
      <a:lvl3pPr marL="1293813" indent="-4032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charset="0"/>
        <a:buChar char="n"/>
        <a:defRPr sz="2400">
          <a:solidFill>
            <a:schemeClr val="tx1"/>
          </a:solidFill>
          <a:latin typeface="+mn-lt"/>
          <a:ea typeface="ＭＳ Ｐゴシック" charset="-128"/>
        </a:defRPr>
      </a:lvl3pPr>
      <a:lvl4pPr marL="1681163" indent="-385763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charset="0"/>
        <a:buChar char="¡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70100" indent="-3873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charset="0"/>
        <a:buChar char="n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27300" indent="-3873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84500" indent="-3873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41700" indent="-3873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98900" indent="-3873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wmf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buFont typeface="Wingdings" charset="0"/>
              <a:buNone/>
            </a:pPr>
            <a:r>
              <a:rPr lang="en-GB" dirty="0" smtClean="0">
                <a:latin typeface="Arial" charset="0"/>
                <a:ea typeface="ＭＳ Ｐゴシック" charset="0"/>
                <a:cs typeface="ＭＳ Ｐゴシック" charset="0"/>
              </a:rPr>
              <a:t>CS 241</a:t>
            </a:r>
          </a:p>
          <a:p>
            <a:pPr eaLnBrk="1" hangingPunct="1">
              <a:buFont typeface="Wingdings" charset="0"/>
              <a:buNone/>
            </a:pPr>
            <a:r>
              <a:rPr lang="en-GB" dirty="0" smtClean="0">
                <a:latin typeface="Arial" charset="0"/>
                <a:ea typeface="ＭＳ Ｐゴシック" charset="0"/>
                <a:cs typeface="ＭＳ Ｐゴシック" charset="0"/>
              </a:rPr>
              <a:t>January 30, 2012</a:t>
            </a:r>
            <a:endParaRPr lang="en-GB" dirty="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3075" name="Rectangle 15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3076" name="Rectangle 16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B79C9F45-68B6-284C-9AE6-844FD722D8B0}" type="slidenum">
              <a:rPr lang="en-US"/>
              <a:pPr/>
              <a:t>1</a:t>
            </a:fld>
            <a:endParaRPr lang="en-US"/>
          </a:p>
        </p:txBody>
      </p:sp>
      <p:sp>
        <p:nvSpPr>
          <p:cNvPr id="3077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GB">
                <a:latin typeface="Arial" charset="0"/>
                <a:ea typeface="ＭＳ Ｐゴシック" charset="0"/>
                <a:cs typeface="ＭＳ Ｐゴシック" charset="0"/>
              </a:rPr>
              <a:t>Memory  </a:t>
            </a:r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Announcements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MP1 due Tuesday 11:59 pm via </a:t>
            </a:r>
            <a:r>
              <a:rPr lang="en-US" sz="2400" dirty="0" err="1" smtClean="0"/>
              <a:t>svn</a:t>
            </a:r>
            <a:endParaRPr lang="en-US" sz="2400" dirty="0" smtClean="0"/>
          </a:p>
          <a:p>
            <a:r>
              <a:rPr lang="en-US" sz="2400" dirty="0" smtClean="0"/>
              <a:t>MP2 out </a:t>
            </a:r>
            <a:r>
              <a:rPr lang="en-US" sz="2400" dirty="0" smtClean="0"/>
              <a:t>Wednesday</a:t>
            </a:r>
          </a:p>
          <a:p>
            <a:r>
              <a:rPr lang="en-US" sz="2400" dirty="0" smtClean="0"/>
              <a:t>Honors section info posted on web page</a:t>
            </a:r>
            <a:endParaRPr lang="en-US" sz="2400" dirty="0" smtClean="0"/>
          </a:p>
          <a:p>
            <a:r>
              <a:rPr lang="en-US" sz="2400" dirty="0" smtClean="0"/>
              <a:t>Research opportunity</a:t>
            </a:r>
          </a:p>
          <a:p>
            <a:pPr lvl="1"/>
            <a:r>
              <a:rPr lang="en-US" sz="2400" dirty="0" smtClean="0"/>
              <a:t>With </a:t>
            </a:r>
            <a:r>
              <a:rPr lang="en-US" sz="2400" dirty="0" err="1" smtClean="0"/>
              <a:t>Nitin</a:t>
            </a:r>
            <a:r>
              <a:rPr lang="en-US" sz="2400" dirty="0" smtClean="0"/>
              <a:t> </a:t>
            </a:r>
            <a:r>
              <a:rPr lang="en-US" sz="2400" dirty="0" err="1" smtClean="0"/>
              <a:t>Vaidya</a:t>
            </a:r>
            <a:endParaRPr lang="en-US" sz="2400" dirty="0" smtClean="0"/>
          </a:p>
          <a:p>
            <a:pPr lvl="1"/>
            <a:r>
              <a:rPr lang="en-US" sz="2400" dirty="0" smtClean="0"/>
              <a:t>Related to networks / distributed systems</a:t>
            </a:r>
          </a:p>
          <a:p>
            <a:pPr lvl="1"/>
            <a:r>
              <a:rPr lang="en-US" sz="2400" dirty="0" smtClean="0"/>
              <a:t>See Piazza for details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©: University of Illinois CS 241 Staff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69E86-3C2B-5543-A89A-501EE0963032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02972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Address Spaces and Memory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800">
                <a:latin typeface="Arial" charset="0"/>
                <a:ea typeface="ＭＳ Ｐゴシック" charset="0"/>
                <a:cs typeface="ＭＳ Ｐゴシック" charset="0"/>
              </a:rPr>
              <a:t>Process</a:t>
            </a:r>
          </a:p>
          <a:p>
            <a:pPr lvl="1"/>
            <a:r>
              <a:rPr lang="en-US" sz="2400">
                <a:latin typeface="Arial" charset="0"/>
                <a:ea typeface="ＭＳ Ｐゴシック" charset="0"/>
              </a:rPr>
              <a:t>One or more thread</a:t>
            </a:r>
          </a:p>
          <a:p>
            <a:pPr lvl="1"/>
            <a:r>
              <a:rPr lang="en-US" sz="2400">
                <a:latin typeface="Arial" charset="0"/>
                <a:ea typeface="ＭＳ Ｐゴシック" charset="0"/>
              </a:rPr>
              <a:t>One address space</a:t>
            </a:r>
          </a:p>
          <a:p>
            <a:r>
              <a:rPr lang="en-US" sz="2800">
                <a:latin typeface="Arial" charset="0"/>
                <a:ea typeface="ＭＳ Ｐゴシック" charset="0"/>
                <a:cs typeface="ＭＳ Ｐゴシック" charset="0"/>
              </a:rPr>
              <a:t>Thread</a:t>
            </a:r>
          </a:p>
          <a:p>
            <a:pPr lvl="1"/>
            <a:r>
              <a:rPr lang="en-US" sz="2400">
                <a:latin typeface="Arial" charset="0"/>
                <a:ea typeface="ＭＳ Ｐゴシック" charset="0"/>
              </a:rPr>
              <a:t>Stream of execution</a:t>
            </a:r>
          </a:p>
          <a:p>
            <a:pPr lvl="1"/>
            <a:r>
              <a:rPr lang="en-US" sz="2400">
                <a:latin typeface="Arial" charset="0"/>
                <a:ea typeface="ＭＳ Ｐゴシック" charset="0"/>
              </a:rPr>
              <a:t>Unit of concurrency</a:t>
            </a:r>
          </a:p>
          <a:p>
            <a:r>
              <a:rPr lang="en-US" sz="2800">
                <a:latin typeface="Arial" charset="0"/>
                <a:ea typeface="ＭＳ Ｐゴシック" charset="0"/>
                <a:cs typeface="ＭＳ Ｐゴシック" charset="0"/>
              </a:rPr>
              <a:t>Address space</a:t>
            </a:r>
          </a:p>
          <a:p>
            <a:pPr lvl="1"/>
            <a:r>
              <a:rPr lang="en-US" sz="2400">
                <a:latin typeface="Arial" charset="0"/>
                <a:ea typeface="ＭＳ Ｐゴシック" charset="0"/>
              </a:rPr>
              <a:t>Memory space that threads use</a:t>
            </a:r>
          </a:p>
          <a:p>
            <a:pPr lvl="1"/>
            <a:r>
              <a:rPr lang="en-US" sz="2400">
                <a:latin typeface="Arial" charset="0"/>
                <a:ea typeface="ＭＳ Ｐゴシック" charset="0"/>
              </a:rPr>
              <a:t>Unit of data</a:t>
            </a:r>
          </a:p>
          <a:p>
            <a:endParaRPr lang="en-US" sz="280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10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410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52098180-969D-324A-937C-FEB1EEE9554A}" type="slidenum">
              <a:rPr lang="en-US"/>
              <a:pPr/>
              <a:t>3</a:t>
            </a:fld>
            <a:endParaRPr lang="en-US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Address Space Abstraction</a:t>
            </a: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>
                <a:latin typeface="Arial" charset="0"/>
                <a:ea typeface="ＭＳ Ｐゴシック" charset="0"/>
                <a:cs typeface="ＭＳ Ｐゴシック" charset="0"/>
              </a:rPr>
              <a:t>Address space</a:t>
            </a:r>
          </a:p>
          <a:p>
            <a:pPr lvl="1"/>
            <a:r>
              <a:rPr lang="en-US" sz="2400">
                <a:latin typeface="Arial" charset="0"/>
                <a:ea typeface="ＭＳ Ｐゴシック" charset="0"/>
              </a:rPr>
              <a:t>All memory data</a:t>
            </a:r>
          </a:p>
          <a:p>
            <a:pPr lvl="1"/>
            <a:r>
              <a:rPr lang="en-US" sz="2400">
                <a:latin typeface="Arial" charset="0"/>
                <a:ea typeface="ＭＳ Ｐゴシック" charset="0"/>
              </a:rPr>
              <a:t>i.e., program code, stack, data segment</a:t>
            </a:r>
          </a:p>
          <a:p>
            <a:endParaRPr lang="en-US" sz="2800">
              <a:latin typeface="Arial" charset="0"/>
              <a:ea typeface="ＭＳ Ｐゴシック" charset="0"/>
              <a:cs typeface="ＭＳ Ｐゴシック" charset="0"/>
            </a:endParaRPr>
          </a:p>
          <a:p>
            <a:r>
              <a:rPr lang="en-US" sz="2800">
                <a:latin typeface="Arial" charset="0"/>
                <a:ea typeface="ＭＳ Ｐゴシック" charset="0"/>
                <a:cs typeface="ＭＳ Ｐゴシック" charset="0"/>
              </a:rPr>
              <a:t>Hardware interface (physical reality)</a:t>
            </a:r>
          </a:p>
          <a:p>
            <a:pPr lvl="1"/>
            <a:r>
              <a:rPr lang="en-US" sz="2400">
                <a:latin typeface="Arial" charset="0"/>
                <a:ea typeface="ＭＳ Ｐゴシック" charset="0"/>
              </a:rPr>
              <a:t>Computer has one </a:t>
            </a:r>
            <a:r>
              <a:rPr lang="en-US" sz="2400">
                <a:solidFill>
                  <a:srgbClr val="FF0000"/>
                </a:solidFill>
                <a:latin typeface="Arial" charset="0"/>
                <a:ea typeface="ＭＳ Ｐゴシック" charset="0"/>
              </a:rPr>
              <a:t>small</a:t>
            </a:r>
            <a:r>
              <a:rPr lang="en-US" sz="2400">
                <a:latin typeface="Arial" charset="0"/>
                <a:ea typeface="ＭＳ Ｐゴシック" charset="0"/>
              </a:rPr>
              <a:t>, </a:t>
            </a:r>
            <a:r>
              <a:rPr lang="en-US" sz="2400">
                <a:solidFill>
                  <a:srgbClr val="FF0000"/>
                </a:solidFill>
                <a:latin typeface="Arial" charset="0"/>
                <a:ea typeface="ＭＳ Ｐゴシック" charset="0"/>
              </a:rPr>
              <a:t>shared</a:t>
            </a:r>
            <a:r>
              <a:rPr lang="en-US" sz="2400">
                <a:latin typeface="Arial" charset="0"/>
                <a:ea typeface="ＭＳ Ｐゴシック" charset="0"/>
              </a:rPr>
              <a:t> memory</a:t>
            </a:r>
          </a:p>
          <a:p>
            <a:r>
              <a:rPr lang="en-US" sz="2800">
                <a:latin typeface="Arial" charset="0"/>
                <a:ea typeface="ＭＳ Ｐゴシック" charset="0"/>
                <a:cs typeface="ＭＳ Ｐゴシック" charset="0"/>
              </a:rPr>
              <a:t>Application interface (illusion)</a:t>
            </a:r>
          </a:p>
          <a:p>
            <a:pPr lvl="1"/>
            <a:r>
              <a:rPr lang="en-US" sz="2400">
                <a:latin typeface="Arial" charset="0"/>
                <a:ea typeface="ＭＳ Ｐゴシック" charset="0"/>
              </a:rPr>
              <a:t>Each process wants </a:t>
            </a:r>
            <a:r>
              <a:rPr lang="en-US" sz="2400">
                <a:solidFill>
                  <a:srgbClr val="FF0000"/>
                </a:solidFill>
                <a:latin typeface="Arial" charset="0"/>
                <a:ea typeface="ＭＳ Ｐゴシック" charset="0"/>
              </a:rPr>
              <a:t>private</a:t>
            </a:r>
            <a:r>
              <a:rPr lang="en-US" sz="2400">
                <a:latin typeface="Arial" charset="0"/>
                <a:ea typeface="ＭＳ Ｐゴシック" charset="0"/>
              </a:rPr>
              <a:t>, </a:t>
            </a:r>
            <a:r>
              <a:rPr lang="en-US" sz="2400">
                <a:solidFill>
                  <a:srgbClr val="FF0000"/>
                </a:solidFill>
                <a:latin typeface="Arial" charset="0"/>
                <a:ea typeface="ＭＳ Ｐゴシック" charset="0"/>
              </a:rPr>
              <a:t>large</a:t>
            </a:r>
            <a:r>
              <a:rPr lang="en-US" sz="2400">
                <a:latin typeface="Arial" charset="0"/>
                <a:ea typeface="ＭＳ Ｐゴシック" charset="0"/>
              </a:rPr>
              <a:t> memory</a:t>
            </a:r>
          </a:p>
        </p:txBody>
      </p:sp>
      <p:sp>
        <p:nvSpPr>
          <p:cNvPr id="512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512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DF886F4E-709A-384E-BAF2-52D865201B95}" type="slidenum">
              <a:rPr lang="en-US"/>
              <a:pPr/>
              <a:t>4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848600" y="4714875"/>
            <a:ext cx="1143000" cy="923925"/>
          </a:xfrm>
          <a:prstGeom prst="rect">
            <a:avLst/>
          </a:prstGeom>
          <a:solidFill>
            <a:srgbClr val="FFFFCC"/>
          </a:solidFill>
        </p:spPr>
        <p:txBody>
          <a:bodyPr>
            <a:spAutoFit/>
          </a:bodyPr>
          <a:lstStyle/>
          <a:p>
            <a:pPr algn="ctr">
              <a:defRPr/>
            </a:pPr>
            <a:r>
              <a:rPr lang="en-US" dirty="0">
                <a:latin typeface="+mn-lt"/>
                <a:ea typeface="ＭＳ Ｐゴシック" pitchFamily="34" charset="-128"/>
                <a:cs typeface="+mn-cs"/>
              </a:rPr>
              <a:t>How can we close this gap?</a:t>
            </a:r>
          </a:p>
        </p:txBody>
      </p:sp>
      <p:cxnSp>
        <p:nvCxnSpPr>
          <p:cNvPr id="8" name="Straight Arrow Connector 7"/>
          <p:cNvCxnSpPr>
            <a:cxnSpLocks noChangeShapeType="1"/>
            <a:stCxn id="6" idx="1"/>
          </p:cNvCxnSpPr>
          <p:nvPr/>
        </p:nvCxnSpPr>
        <p:spPr bwMode="auto">
          <a:xfrm flipH="1" flipV="1">
            <a:off x="6324600" y="4724400"/>
            <a:ext cx="1524000" cy="452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9" name="Straight Arrow Connector 8"/>
          <p:cNvCxnSpPr>
            <a:cxnSpLocks noChangeShapeType="1"/>
            <a:stCxn id="6" idx="1"/>
          </p:cNvCxnSpPr>
          <p:nvPr/>
        </p:nvCxnSpPr>
        <p:spPr bwMode="auto">
          <a:xfrm flipH="1">
            <a:off x="6324600" y="5176838"/>
            <a:ext cx="1524000" cy="3095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arrow" w="med" len="med"/>
          </a:ln>
        </p:spPr>
      </p:cxn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Address Space Illusions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latin typeface="Arial" charset="0"/>
                <a:ea typeface="ＭＳ Ｐゴシック" charset="0"/>
                <a:cs typeface="ＭＳ Ｐゴシック" charset="0"/>
              </a:rPr>
              <a:t>Address independence</a:t>
            </a:r>
          </a:p>
          <a:p>
            <a:pPr marL="449262" lvl="1" indent="0">
              <a:buNone/>
            </a:pPr>
            <a:r>
              <a:rPr lang="en-US" sz="2400" dirty="0">
                <a:latin typeface="Arial" charset="0"/>
                <a:ea typeface="ＭＳ Ｐゴシック" charset="0"/>
              </a:rPr>
              <a:t/>
            </a:r>
            <a:br>
              <a:rPr lang="en-US" sz="2400" dirty="0">
                <a:latin typeface="Arial" charset="0"/>
                <a:ea typeface="ＭＳ Ｐゴシック" charset="0"/>
              </a:rPr>
            </a:br>
            <a:endParaRPr lang="en-US" sz="2400" dirty="0">
              <a:latin typeface="Arial" charset="0"/>
              <a:ea typeface="ＭＳ Ｐゴシック" charset="0"/>
            </a:endParaRPr>
          </a:p>
          <a:p>
            <a:r>
              <a:rPr lang="en-US" sz="2800" dirty="0">
                <a:latin typeface="Arial" charset="0"/>
                <a:ea typeface="ＭＳ Ｐゴシック" charset="0"/>
                <a:cs typeface="ＭＳ Ｐゴシック" charset="0"/>
              </a:rPr>
              <a:t>Protection</a:t>
            </a:r>
          </a:p>
          <a:p>
            <a:pPr marL="449262" lvl="1" indent="0">
              <a:buNone/>
            </a:pPr>
            <a:endParaRPr lang="en-US" sz="2400" dirty="0">
              <a:latin typeface="Arial" charset="0"/>
              <a:ea typeface="ＭＳ Ｐゴシック" charset="0"/>
            </a:endParaRPr>
          </a:p>
          <a:p>
            <a:pPr marL="449262" lvl="1" indent="0">
              <a:buNone/>
            </a:pPr>
            <a:endParaRPr lang="en-US" sz="2400" dirty="0">
              <a:latin typeface="Arial" charset="0"/>
              <a:ea typeface="ＭＳ Ｐゴシック" charset="0"/>
            </a:endParaRPr>
          </a:p>
          <a:p>
            <a:r>
              <a:rPr lang="en-US" sz="2800" dirty="0">
                <a:latin typeface="Arial" charset="0"/>
                <a:ea typeface="ＭＳ Ｐゴシック" charset="0"/>
                <a:cs typeface="ＭＳ Ｐゴシック" charset="0"/>
              </a:rPr>
              <a:t>Virtual memory</a:t>
            </a:r>
          </a:p>
        </p:txBody>
      </p:sp>
      <p:sp>
        <p:nvSpPr>
          <p:cNvPr id="614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614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9A3EA998-0B9A-F241-93E8-7C424155AA39}" type="slidenum">
              <a:rPr lang="en-US"/>
              <a:pPr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Address Space Illusions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>
                <a:latin typeface="Arial" charset="0"/>
                <a:ea typeface="ＭＳ Ｐゴシック" charset="0"/>
                <a:cs typeface="ＭＳ Ｐゴシック" charset="0"/>
              </a:rPr>
              <a:t>Address independence</a:t>
            </a:r>
          </a:p>
          <a:p>
            <a:pPr lvl="1"/>
            <a:r>
              <a:rPr lang="en-US" sz="2400">
                <a:latin typeface="Arial" charset="0"/>
                <a:ea typeface="ＭＳ Ｐゴシック" charset="0"/>
              </a:rPr>
              <a:t>Same address can be used in different address spaces yet remain logically distinct</a:t>
            </a:r>
          </a:p>
          <a:p>
            <a:r>
              <a:rPr lang="en-US" sz="2800">
                <a:latin typeface="Arial" charset="0"/>
                <a:ea typeface="ＭＳ Ｐゴシック" charset="0"/>
                <a:cs typeface="ＭＳ Ｐゴシック" charset="0"/>
              </a:rPr>
              <a:t>Protection</a:t>
            </a:r>
          </a:p>
          <a:p>
            <a:pPr lvl="1"/>
            <a:r>
              <a:rPr lang="en-US" sz="2400">
                <a:latin typeface="Arial" charset="0"/>
                <a:ea typeface="ＭＳ Ｐゴシック" charset="0"/>
              </a:rPr>
              <a:t>One address space cannot access data in another address space</a:t>
            </a:r>
          </a:p>
          <a:p>
            <a:r>
              <a:rPr lang="en-US" sz="2800">
                <a:latin typeface="Arial" charset="0"/>
                <a:ea typeface="ＭＳ Ｐゴシック" charset="0"/>
                <a:cs typeface="ＭＳ Ｐゴシック" charset="0"/>
              </a:rPr>
              <a:t>Virtual memory</a:t>
            </a:r>
          </a:p>
          <a:p>
            <a:pPr lvl="1"/>
            <a:r>
              <a:rPr lang="en-US" sz="2400">
                <a:latin typeface="Arial" charset="0"/>
                <a:ea typeface="ＭＳ Ｐゴシック" charset="0"/>
              </a:rPr>
              <a:t>Address space can be larger than the amount of physical memory on the machine</a:t>
            </a:r>
          </a:p>
        </p:txBody>
      </p:sp>
      <p:sp>
        <p:nvSpPr>
          <p:cNvPr id="717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717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B84F7B17-B37F-7649-B108-4C16FCE36209}" type="slidenum">
              <a:rPr lang="en-US"/>
              <a:pPr/>
              <a:t>6</a:t>
            </a:fld>
            <a:endParaRPr lang="en-US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Address Space </a:t>
            </a:r>
            <a:r>
              <a:rPr lang="en-US" dirty="0"/>
              <a:t>I</a:t>
            </a:r>
            <a:r>
              <a:rPr lang="en-US" dirty="0" smtClean="0"/>
              <a:t>llusions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©: University of Illinois CS 241 Staff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69E86-3C2B-5543-A89A-501EE0963032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04800" y="2133600"/>
            <a:ext cx="386516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6600"/>
                </a:solidFill>
                <a:latin typeface="+mn-lt"/>
              </a:rPr>
              <a:t>Illusion</a:t>
            </a:r>
          </a:p>
          <a:p>
            <a:pPr algn="ctr"/>
            <a:endParaRPr lang="en-US" sz="2400" dirty="0">
              <a:latin typeface="+mn-lt"/>
            </a:endParaRPr>
          </a:p>
          <a:p>
            <a:pPr algn="ctr"/>
            <a:r>
              <a:rPr lang="en-US" sz="2400" dirty="0" smtClean="0">
                <a:latin typeface="+mn-lt"/>
              </a:rPr>
              <a:t>Giant address space</a:t>
            </a:r>
          </a:p>
          <a:p>
            <a:pPr algn="ctr"/>
            <a:r>
              <a:rPr lang="en-US" sz="2400" dirty="0" smtClean="0">
                <a:latin typeface="+mn-lt"/>
              </a:rPr>
              <a:t>Protected from others</a:t>
            </a:r>
          </a:p>
          <a:p>
            <a:pPr algn="ctr"/>
            <a:r>
              <a:rPr lang="en-US" sz="2400" dirty="0" smtClean="0">
                <a:latin typeface="+mn-lt"/>
              </a:rPr>
              <a:t>(Unless you want to share)</a:t>
            </a:r>
          </a:p>
          <a:p>
            <a:pPr algn="ctr"/>
            <a:r>
              <a:rPr lang="en-US" sz="2400" dirty="0" smtClean="0">
                <a:latin typeface="+mn-lt"/>
              </a:rPr>
              <a:t>More whenever you want it</a:t>
            </a:r>
            <a:endParaRPr lang="en-US" sz="2400" dirty="0">
              <a:latin typeface="+mn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953000" y="2133600"/>
            <a:ext cx="35204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6600"/>
                </a:solidFill>
                <a:latin typeface="+mn-lt"/>
              </a:rPr>
              <a:t>Reality</a:t>
            </a:r>
          </a:p>
          <a:p>
            <a:pPr algn="ctr"/>
            <a:endParaRPr lang="en-US" sz="2400" dirty="0">
              <a:latin typeface="+mn-lt"/>
            </a:endParaRPr>
          </a:p>
          <a:p>
            <a:pPr algn="ctr"/>
            <a:r>
              <a:rPr lang="en-US" sz="2400" dirty="0" smtClean="0">
                <a:latin typeface="+mn-lt"/>
              </a:rPr>
              <a:t>Many processes sharing</a:t>
            </a:r>
          </a:p>
          <a:p>
            <a:pPr algn="ctr"/>
            <a:r>
              <a:rPr lang="en-US" sz="2400" dirty="0" smtClean="0">
                <a:latin typeface="+mn-lt"/>
              </a:rPr>
              <a:t>One address space</a:t>
            </a:r>
          </a:p>
          <a:p>
            <a:pPr algn="ctr"/>
            <a:r>
              <a:rPr lang="en-US" sz="2400" dirty="0" smtClean="0">
                <a:latin typeface="+mn-lt"/>
              </a:rPr>
              <a:t>Limited memory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8000" y="5029200"/>
            <a:ext cx="344274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 smtClean="0">
                <a:latin typeface="+mn-lt"/>
              </a:rPr>
              <a:t>Today:</a:t>
            </a:r>
          </a:p>
          <a:p>
            <a:pPr algn="ctr"/>
            <a:r>
              <a:rPr lang="en-US" sz="2400" dirty="0" smtClean="0">
                <a:latin typeface="+mn-lt"/>
              </a:rPr>
              <a:t>The story of the Illusion</a:t>
            </a:r>
            <a:endParaRPr lang="en-US" sz="2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6511786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Address Space</a:t>
            </a:r>
          </a:p>
        </p:txBody>
      </p:sp>
      <p:sp>
        <p:nvSpPr>
          <p:cNvPr id="8195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819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D3B53BFA-2215-EC46-9018-493386F1E1FB}" type="slidenum">
              <a:rPr lang="en-US"/>
              <a:pPr/>
              <a:t>8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514600" y="2057400"/>
            <a:ext cx="2895600" cy="4191000"/>
          </a:xfrm>
          <a:prstGeom prst="rect">
            <a:avLst/>
          </a:prstGeom>
          <a:ln w="28575">
            <a:solidFill>
              <a:schemeClr val="tx1"/>
            </a:solidFill>
          </a:ln>
        </p:spPr>
        <p:txBody>
          <a:bodyPr anchor="ctr"/>
          <a:lstStyle/>
          <a:p>
            <a:pPr algn="ctr">
              <a:defRPr/>
            </a:pPr>
            <a:endParaRPr lang="en-US" dirty="0">
              <a:latin typeface="+mn-lt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514600" y="5562600"/>
            <a:ext cx="2895600" cy="685800"/>
          </a:xfrm>
          <a:prstGeom prst="rect">
            <a:avLst/>
          </a:prstGeom>
          <a:solidFill>
            <a:srgbClr val="FBD7A3"/>
          </a:solidFill>
          <a:ln w="28575">
            <a:solidFill>
              <a:schemeClr val="tx1"/>
            </a:solidFill>
          </a:ln>
        </p:spPr>
        <p:txBody>
          <a:bodyPr anchor="ctr"/>
          <a:lstStyle/>
          <a:p>
            <a:pPr algn="ctr">
              <a:defRPr/>
            </a:pPr>
            <a:r>
              <a:rPr lang="en-US" dirty="0">
                <a:latin typeface="+mn-lt"/>
                <a:ea typeface="+mn-ea"/>
                <a:cs typeface="+mn-cs"/>
              </a:rPr>
              <a:t>Code segment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514600" y="4876800"/>
            <a:ext cx="2895600" cy="685800"/>
          </a:xfrm>
          <a:prstGeom prst="rect">
            <a:avLst/>
          </a:prstGeom>
          <a:solidFill>
            <a:srgbClr val="FFFFCC"/>
          </a:solidFill>
          <a:ln w="28575">
            <a:solidFill>
              <a:schemeClr val="tx1"/>
            </a:solidFill>
          </a:ln>
        </p:spPr>
        <p:txBody>
          <a:bodyPr anchor="ctr"/>
          <a:lstStyle/>
          <a:p>
            <a:pPr algn="ctr">
              <a:defRPr/>
            </a:pPr>
            <a:r>
              <a:rPr lang="en-US" dirty="0">
                <a:latin typeface="+mn-lt"/>
                <a:ea typeface="+mn-ea"/>
                <a:cs typeface="+mn-cs"/>
              </a:rPr>
              <a:t>Data segment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14600" y="4191000"/>
            <a:ext cx="2895600" cy="685800"/>
          </a:xfrm>
          <a:prstGeom prst="rect">
            <a:avLst/>
          </a:prstGeom>
          <a:solidFill>
            <a:srgbClr val="CCFFCC"/>
          </a:solidFill>
          <a:ln w="28575">
            <a:solidFill>
              <a:schemeClr val="tx1"/>
            </a:solidFill>
          </a:ln>
        </p:spPr>
        <p:txBody>
          <a:bodyPr anchor="ctr"/>
          <a:lstStyle/>
          <a:p>
            <a:pPr algn="ctr">
              <a:defRPr/>
            </a:pPr>
            <a:r>
              <a:rPr lang="en-US" dirty="0">
                <a:latin typeface="+mn-lt"/>
                <a:ea typeface="+mn-ea"/>
                <a:cs typeface="+mn-cs"/>
              </a:rPr>
              <a:t>Heap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14600" y="2057400"/>
            <a:ext cx="2895600" cy="685800"/>
          </a:xfrm>
          <a:prstGeom prst="rect">
            <a:avLst/>
          </a:prstGeom>
          <a:solidFill>
            <a:srgbClr val="C1F3FF"/>
          </a:solidFill>
          <a:ln w="28575">
            <a:solidFill>
              <a:schemeClr val="tx1"/>
            </a:solidFill>
          </a:ln>
        </p:spPr>
        <p:txBody>
          <a:bodyPr anchor="ctr"/>
          <a:lstStyle/>
          <a:p>
            <a:pPr algn="ctr">
              <a:defRPr/>
            </a:pPr>
            <a:r>
              <a:rPr lang="en-US" dirty="0">
                <a:latin typeface="+mn-lt"/>
                <a:ea typeface="+mn-ea"/>
                <a:cs typeface="+mn-cs"/>
              </a:rPr>
              <a:t>Stack</a:t>
            </a:r>
          </a:p>
        </p:txBody>
      </p:sp>
      <p:cxnSp>
        <p:nvCxnSpPr>
          <p:cNvPr id="8202" name="Straight Arrow Connector 12"/>
          <p:cNvCxnSpPr>
            <a:cxnSpLocks noChangeShapeType="1"/>
            <a:stCxn id="11" idx="2"/>
          </p:cNvCxnSpPr>
          <p:nvPr/>
        </p:nvCxnSpPr>
        <p:spPr bwMode="auto">
          <a:xfrm rot="5400000">
            <a:off x="3695701" y="3009900"/>
            <a:ext cx="533400" cy="31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03" name="Straight Arrow Connector 13"/>
          <p:cNvCxnSpPr>
            <a:cxnSpLocks noChangeShapeType="1"/>
            <a:stCxn id="10" idx="0"/>
          </p:cNvCxnSpPr>
          <p:nvPr/>
        </p:nvCxnSpPr>
        <p:spPr bwMode="auto">
          <a:xfrm rot="5400000" flipH="1" flipV="1">
            <a:off x="3657601" y="3886200"/>
            <a:ext cx="609600" cy="31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" name="TextBox 16"/>
          <p:cNvSpPr txBox="1"/>
          <p:nvPr/>
        </p:nvSpPr>
        <p:spPr>
          <a:xfrm>
            <a:off x="5638800" y="1905000"/>
            <a:ext cx="2665413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latin typeface="Courier New" pitchFamily="49" charset="0"/>
                <a:ea typeface="+mn-ea"/>
                <a:cs typeface="Courier New" pitchFamily="49" charset="0"/>
              </a:rPr>
              <a:t>0xffffffffffffffff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38800" y="5943600"/>
            <a:ext cx="598488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latin typeface="Courier New" pitchFamily="49" charset="0"/>
                <a:ea typeface="+mn-ea"/>
                <a:cs typeface="Courier New" pitchFamily="49" charset="0"/>
              </a:rPr>
              <a:t>0x0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6988" y="5791200"/>
            <a:ext cx="1146175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dirty="0">
                <a:latin typeface="+mn-lt"/>
                <a:ea typeface="+mn-ea"/>
                <a:cs typeface="+mn-cs"/>
              </a:rPr>
              <a:t>fixed size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6988" y="5029200"/>
            <a:ext cx="1146175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dirty="0">
                <a:latin typeface="+mn-lt"/>
                <a:ea typeface="+mn-ea"/>
                <a:cs typeface="+mn-cs"/>
              </a:rPr>
              <a:t>fixed size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8388" y="4191000"/>
            <a:ext cx="1374775" cy="6461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dirty="0">
                <a:latin typeface="+mn-lt"/>
                <a:ea typeface="+mn-ea"/>
                <a:cs typeface="+mn-cs"/>
              </a:rPr>
              <a:t>grows </a:t>
            </a:r>
          </a:p>
          <a:p>
            <a:pPr algn="r">
              <a:defRPr/>
            </a:pPr>
            <a:r>
              <a:rPr lang="en-US" dirty="0">
                <a:latin typeface="Tahoma" pitchFamily="34" charset="0"/>
                <a:ea typeface="ＭＳ Ｐゴシック" charset="-128"/>
                <a:cs typeface="+mn-cs"/>
              </a:rPr>
              <a:t>dynamically</a:t>
            </a:r>
            <a:endParaRPr lang="en-US" dirty="0">
              <a:latin typeface="+mn-lt"/>
              <a:ea typeface="+mn-ea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52513" y="2133600"/>
            <a:ext cx="1390650" cy="6461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dirty="0">
                <a:latin typeface="+mn-lt"/>
                <a:ea typeface="+mn-ea"/>
                <a:cs typeface="+mn-cs"/>
              </a:rPr>
              <a:t>grows </a:t>
            </a:r>
          </a:p>
          <a:p>
            <a:pPr algn="r">
              <a:defRPr/>
            </a:pPr>
            <a:r>
              <a:rPr lang="en-US" dirty="0">
                <a:latin typeface="+mn-lt"/>
                <a:ea typeface="+mn-ea"/>
                <a:cs typeface="+mn-cs"/>
              </a:rPr>
              <a:t>dynamically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/>
      <p:bldP spid="2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Uni-programming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sz="half" idx="1"/>
          </p:nvPr>
        </p:nvSpPr>
        <p:spPr>
          <a:xfrm>
            <a:off x="949325" y="1981200"/>
            <a:ext cx="4156075" cy="4114800"/>
          </a:xfrm>
        </p:spPr>
        <p:txBody>
          <a:bodyPr/>
          <a:lstStyle/>
          <a:p>
            <a:r>
              <a:rPr lang="en-US" sz="2400">
                <a:latin typeface="Arial" charset="0"/>
                <a:ea typeface="ＭＳ Ｐゴシック" charset="0"/>
                <a:cs typeface="ＭＳ Ｐゴシック" charset="0"/>
              </a:rPr>
              <a:t>1 process runs at a time</a:t>
            </a:r>
          </a:p>
          <a:p>
            <a:r>
              <a:rPr lang="en-US" sz="2400">
                <a:latin typeface="Arial" charset="0"/>
                <a:ea typeface="ＭＳ Ｐゴシック" charset="0"/>
                <a:cs typeface="ＭＳ Ｐゴシック" charset="0"/>
              </a:rPr>
              <a:t>Always load process into the same spot</a:t>
            </a:r>
          </a:p>
          <a:p>
            <a:r>
              <a:rPr lang="en-US" sz="2400">
                <a:latin typeface="Arial" charset="0"/>
                <a:ea typeface="ＭＳ Ｐゴシック" charset="0"/>
                <a:cs typeface="ＭＳ Ｐゴシック" charset="0"/>
              </a:rPr>
              <a:t>How do you switch processes?</a:t>
            </a:r>
          </a:p>
          <a:p>
            <a:r>
              <a:rPr lang="en-US" sz="2400">
                <a:latin typeface="Arial" charset="0"/>
                <a:ea typeface="ＭＳ Ｐゴシック" charset="0"/>
                <a:cs typeface="ＭＳ Ｐゴシック" charset="0"/>
              </a:rPr>
              <a:t>What illusions does this provide?</a:t>
            </a:r>
          </a:p>
          <a:p>
            <a:pPr lvl="1"/>
            <a:r>
              <a:rPr lang="en-US" sz="2000">
                <a:latin typeface="Arial" charset="0"/>
                <a:ea typeface="ＭＳ Ｐゴシック" charset="0"/>
              </a:rPr>
              <a:t>Independence, protection, virtual memory?</a:t>
            </a:r>
          </a:p>
          <a:p>
            <a:r>
              <a:rPr lang="en-US" sz="2400">
                <a:latin typeface="Arial" charset="0"/>
                <a:ea typeface="ＭＳ Ｐゴシック" charset="0"/>
                <a:cs typeface="ＭＳ Ｐゴシック" charset="0"/>
              </a:rPr>
              <a:t>Problems?</a:t>
            </a:r>
          </a:p>
        </p:txBody>
      </p:sp>
      <p:sp>
        <p:nvSpPr>
          <p:cNvPr id="922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922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17B45B7E-9C18-0F4C-9342-B8DA7BBDF67E}" type="slidenum">
              <a:rPr lang="en-US"/>
              <a:pPr/>
              <a:t>9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486400" y="3276600"/>
            <a:ext cx="2514600" cy="2743200"/>
          </a:xfrm>
          <a:prstGeom prst="rect">
            <a:avLst/>
          </a:prstGeom>
          <a:solidFill>
            <a:srgbClr val="CCFFCC"/>
          </a:solidFill>
          <a:ln w="28575">
            <a:solidFill>
              <a:schemeClr val="tx1"/>
            </a:solidFill>
          </a:ln>
        </p:spPr>
        <p:txBody>
          <a:bodyPr anchor="ctr"/>
          <a:lstStyle/>
          <a:p>
            <a:pPr algn="ctr">
              <a:defRPr/>
            </a:pPr>
            <a:r>
              <a:rPr lang="en-US" sz="2800" dirty="0">
                <a:latin typeface="+mn-lt"/>
                <a:ea typeface="+mn-ea"/>
                <a:cs typeface="+mn-cs"/>
              </a:rPr>
              <a:t>User </a:t>
            </a:r>
            <a:br>
              <a:rPr lang="en-US" sz="2800" dirty="0">
                <a:latin typeface="+mn-lt"/>
                <a:ea typeface="+mn-ea"/>
                <a:cs typeface="+mn-cs"/>
              </a:rPr>
            </a:br>
            <a:r>
              <a:rPr lang="en-US" sz="2800" dirty="0">
                <a:latin typeface="+mn-lt"/>
                <a:ea typeface="+mn-ea"/>
                <a:cs typeface="+mn-cs"/>
              </a:rPr>
              <a:t>Program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0" y="1828800"/>
            <a:ext cx="2514600" cy="1447800"/>
          </a:xfrm>
          <a:prstGeom prst="rect">
            <a:avLst/>
          </a:prstGeom>
          <a:solidFill>
            <a:srgbClr val="FFFFCC"/>
          </a:solidFill>
          <a:ln w="28575">
            <a:solidFill>
              <a:schemeClr val="tx1"/>
            </a:solidFill>
          </a:ln>
        </p:spPr>
        <p:txBody>
          <a:bodyPr anchor="ctr"/>
          <a:lstStyle/>
          <a:p>
            <a:pPr algn="ctr">
              <a:defRPr/>
            </a:pPr>
            <a:r>
              <a:rPr lang="en-US" sz="2800" dirty="0">
                <a:latin typeface="+mn-lt"/>
                <a:ea typeface="+mn-ea"/>
                <a:cs typeface="+mn-cs"/>
              </a:rPr>
              <a:t>Operating Systems in ROM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5791200"/>
            <a:ext cx="355600" cy="4619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  <a:ea typeface="ＭＳ Ｐゴシック" charset="-128"/>
                <a:cs typeface="+mn-cs"/>
              </a:rPr>
              <a:t>0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Uni-programming</a:t>
            </a:r>
          </a:p>
        </p:txBody>
      </p:sp>
      <p:sp>
        <p:nvSpPr>
          <p:cNvPr id="24579" name="Content Placeholder 2"/>
          <p:cNvSpPr>
            <a:spLocks noGrp="1"/>
          </p:cNvSpPr>
          <p:nvPr>
            <p:ph sz="half" idx="1"/>
          </p:nvPr>
        </p:nvSpPr>
        <p:spPr>
          <a:xfrm>
            <a:off x="949325" y="1981200"/>
            <a:ext cx="4156075" cy="4114800"/>
          </a:xfrm>
        </p:spPr>
        <p:txBody>
          <a:bodyPr/>
          <a:lstStyle/>
          <a:p>
            <a:pPr>
              <a:buFont typeface="Wingdings" pitchFamily="2" charset="2"/>
              <a:buChar char="n"/>
              <a:defRPr/>
            </a:pPr>
            <a:r>
              <a:rPr lang="en-US" sz="2400" dirty="0" smtClean="0"/>
              <a:t>1 process runs at a time</a:t>
            </a:r>
          </a:p>
          <a:p>
            <a:pPr>
              <a:buFont typeface="Wingdings" pitchFamily="2" charset="2"/>
              <a:buChar char="n"/>
              <a:defRPr/>
            </a:pPr>
            <a:r>
              <a:rPr lang="en-US" sz="2400" dirty="0" smtClean="0"/>
              <a:t>Always load process into the same spot</a:t>
            </a:r>
          </a:p>
          <a:p>
            <a:pPr>
              <a:buFont typeface="Wingdings" pitchFamily="2" charset="2"/>
              <a:buChar char="n"/>
              <a:defRPr/>
            </a:pPr>
            <a:r>
              <a:rPr lang="en-US" sz="2400" dirty="0" smtClean="0"/>
              <a:t>How do you switch processes?</a:t>
            </a:r>
          </a:p>
          <a:p>
            <a:pPr>
              <a:buFont typeface="Wingdings" pitchFamily="2" charset="2"/>
              <a:buChar char="n"/>
              <a:defRPr/>
            </a:pPr>
            <a:r>
              <a:rPr lang="en-US" sz="2400" dirty="0" smtClean="0"/>
              <a:t>What illusions does this provide?</a:t>
            </a:r>
          </a:p>
          <a:p>
            <a:pPr lvl="1">
              <a:buFont typeface="Wingdings" pitchFamily="2" charset="2"/>
              <a:buChar char="¡"/>
              <a:defRPr/>
            </a:pPr>
            <a:r>
              <a:rPr lang="en-US" sz="2000" dirty="0" smtClean="0">
                <a:solidFill>
                  <a:srgbClr val="FF0000"/>
                </a:solidFill>
              </a:rPr>
              <a:t>Independence</a:t>
            </a:r>
            <a:r>
              <a:rPr lang="en-US" sz="2000" dirty="0" smtClean="0"/>
              <a:t>, </a:t>
            </a:r>
            <a:r>
              <a:rPr lang="en-US" sz="2000" dirty="0" smtClean="0">
                <a:solidFill>
                  <a:srgbClr val="FF0000"/>
                </a:solidFill>
              </a:rPr>
              <a:t>protection</a:t>
            </a:r>
            <a:r>
              <a:rPr lang="en-US" sz="2000" dirty="0" smtClean="0"/>
              <a:t>, </a:t>
            </a:r>
            <a:r>
              <a:rPr lang="en-US" sz="2000" dirty="0" smtClean="0">
                <a:solidFill>
                  <a:schemeClr val="bg1">
                    <a:lumMod val="75000"/>
                  </a:schemeClr>
                </a:solidFill>
              </a:rPr>
              <a:t>virtual memory</a:t>
            </a:r>
            <a:endParaRPr lang="en-US" sz="2000" dirty="0" smtClean="0"/>
          </a:p>
          <a:p>
            <a:pPr>
              <a:buFont typeface="Wingdings" pitchFamily="2" charset="2"/>
              <a:buChar char="n"/>
              <a:defRPr/>
            </a:pPr>
            <a:r>
              <a:rPr lang="en-US" sz="2400" dirty="0" smtClean="0"/>
              <a:t>Problems?</a:t>
            </a:r>
          </a:p>
          <a:p>
            <a:pPr lvl="1">
              <a:buFont typeface="Wingdings" pitchFamily="2" charset="2"/>
              <a:buChar char="¡"/>
              <a:defRPr/>
            </a:pPr>
            <a:r>
              <a:rPr lang="en-US" sz="2000" dirty="0" smtClean="0"/>
              <a:t>Slow, large time slices</a:t>
            </a:r>
          </a:p>
        </p:txBody>
      </p:sp>
      <p:sp>
        <p:nvSpPr>
          <p:cNvPr id="1024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1024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EE7E6B72-ED54-AF4C-850D-338199A55E2B}" type="slidenum">
              <a:rPr lang="en-US"/>
              <a:pPr/>
              <a:t>10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486400" y="3276600"/>
            <a:ext cx="2514600" cy="2743200"/>
          </a:xfrm>
          <a:prstGeom prst="rect">
            <a:avLst/>
          </a:prstGeom>
          <a:solidFill>
            <a:srgbClr val="CCFFCC"/>
          </a:solidFill>
          <a:ln w="28575">
            <a:solidFill>
              <a:schemeClr val="tx1"/>
            </a:solidFill>
          </a:ln>
        </p:spPr>
        <p:txBody>
          <a:bodyPr anchor="ctr"/>
          <a:lstStyle/>
          <a:p>
            <a:pPr algn="ctr">
              <a:defRPr/>
            </a:pPr>
            <a:r>
              <a:rPr lang="en-US" sz="2800" dirty="0">
                <a:latin typeface="+mn-lt"/>
                <a:ea typeface="+mn-ea"/>
                <a:cs typeface="+mn-cs"/>
              </a:rPr>
              <a:t>User </a:t>
            </a:r>
            <a:br>
              <a:rPr lang="en-US" sz="2800" dirty="0">
                <a:latin typeface="+mn-lt"/>
                <a:ea typeface="+mn-ea"/>
                <a:cs typeface="+mn-cs"/>
              </a:rPr>
            </a:br>
            <a:r>
              <a:rPr lang="en-US" sz="2800" dirty="0">
                <a:latin typeface="+mn-lt"/>
                <a:ea typeface="+mn-ea"/>
                <a:cs typeface="+mn-cs"/>
              </a:rPr>
              <a:t>Program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0" y="1828800"/>
            <a:ext cx="2514600" cy="1447800"/>
          </a:xfrm>
          <a:prstGeom prst="rect">
            <a:avLst/>
          </a:prstGeom>
          <a:solidFill>
            <a:srgbClr val="FFFFCC"/>
          </a:solidFill>
          <a:ln w="28575">
            <a:solidFill>
              <a:schemeClr val="tx1"/>
            </a:solidFill>
          </a:ln>
        </p:spPr>
        <p:txBody>
          <a:bodyPr anchor="ctr"/>
          <a:lstStyle/>
          <a:p>
            <a:pPr algn="ctr">
              <a:defRPr/>
            </a:pPr>
            <a:r>
              <a:rPr lang="en-US" sz="2800" dirty="0">
                <a:latin typeface="+mn-lt"/>
                <a:ea typeface="+mn-ea"/>
                <a:cs typeface="+mn-cs"/>
              </a:rPr>
              <a:t>Operating Systems in ROM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5791200"/>
            <a:ext cx="355600" cy="4619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  <a:ea typeface="ＭＳ Ｐゴシック" charset="-128"/>
                <a:cs typeface="+mn-cs"/>
              </a:rPr>
              <a:t>0</a:t>
            </a:r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Multi-Programming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>
                <a:latin typeface="Arial" charset="0"/>
                <a:ea typeface="ＭＳ Ｐゴシック" charset="0"/>
                <a:cs typeface="ＭＳ Ｐゴシック" charset="0"/>
              </a:rPr>
              <a:t>Multiple processes in memory at the same time</a:t>
            </a:r>
          </a:p>
          <a:p>
            <a:pPr eaLnBrk="1" hangingPunct="1"/>
            <a:r>
              <a:rPr lang="en-US" sz="2800">
                <a:latin typeface="Arial" charset="0"/>
                <a:ea typeface="ＭＳ Ｐゴシック" charset="0"/>
                <a:cs typeface="ＭＳ Ｐゴシック" charset="0"/>
              </a:rPr>
              <a:t>What if there are more processes than what could fit into the memory?</a:t>
            </a:r>
          </a:p>
          <a:p>
            <a:pPr lvl="1" eaLnBrk="1" hangingPunct="1"/>
            <a:r>
              <a:rPr lang="en-US" sz="2400">
                <a:latin typeface="Arial" charset="0"/>
                <a:ea typeface="ＭＳ Ｐゴシック" charset="0"/>
              </a:rPr>
              <a:t>Swapping</a:t>
            </a:r>
          </a:p>
          <a:p>
            <a:pPr eaLnBrk="1" hangingPunct="1"/>
            <a:r>
              <a:rPr lang="en-US" sz="2800">
                <a:latin typeface="Arial" charset="0"/>
                <a:ea typeface="ＭＳ Ｐゴシック" charset="0"/>
                <a:cs typeface="ＭＳ Ｐゴシック" charset="0"/>
              </a:rPr>
              <a:t>Impact: Memory allocation changes as </a:t>
            </a:r>
          </a:p>
          <a:p>
            <a:pPr lvl="1" eaLnBrk="1" hangingPunct="1"/>
            <a:r>
              <a:rPr lang="en-US" sz="2400">
                <a:latin typeface="Arial" charset="0"/>
                <a:ea typeface="ＭＳ Ｐゴシック" charset="0"/>
              </a:rPr>
              <a:t>Processes come into memory</a:t>
            </a:r>
          </a:p>
          <a:p>
            <a:pPr lvl="1" eaLnBrk="1" hangingPunct="1"/>
            <a:r>
              <a:rPr lang="en-US" sz="2400">
                <a:latin typeface="Arial" charset="0"/>
                <a:ea typeface="ＭＳ Ｐゴシック" charset="0"/>
              </a:rPr>
              <a:t>Processes leave memory</a:t>
            </a:r>
          </a:p>
          <a:p>
            <a:pPr lvl="2" eaLnBrk="1" hangingPunct="1"/>
            <a:r>
              <a:rPr lang="en-US" sz="2000">
                <a:latin typeface="Arial" charset="0"/>
                <a:ea typeface="ＭＳ Ｐゴシック" charset="0"/>
              </a:rPr>
              <a:t>Swapped to disk</a:t>
            </a:r>
          </a:p>
          <a:p>
            <a:pPr lvl="2" eaLnBrk="1" hangingPunct="1"/>
            <a:r>
              <a:rPr lang="en-US" sz="2000">
                <a:latin typeface="Arial" charset="0"/>
                <a:ea typeface="ＭＳ Ｐゴシック" charset="0"/>
              </a:rPr>
              <a:t>Complete execution</a:t>
            </a:r>
          </a:p>
        </p:txBody>
      </p:sp>
      <p:sp>
        <p:nvSpPr>
          <p:cNvPr id="1126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1126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DB06BD25-E4CB-564E-9CAE-D02CCFE4F652}" type="slidenum">
              <a:rPr lang="en-US"/>
              <a:pPr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Swapping</a:t>
            </a:r>
          </a:p>
        </p:txBody>
      </p:sp>
      <p:sp>
        <p:nvSpPr>
          <p:cNvPr id="12291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1229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609FB814-6DA2-454F-A817-F4D834BC3363}" type="slidenum">
              <a:rPr lang="en-US"/>
              <a:pPr/>
              <a:t>12</a:t>
            </a:fld>
            <a:endParaRPr lang="en-US"/>
          </a:p>
        </p:txBody>
      </p:sp>
      <p:sp>
        <p:nvSpPr>
          <p:cNvPr id="12293" name="Rectangle 3"/>
          <p:cNvSpPr>
            <a:spLocks noChangeArrowheads="1"/>
          </p:cNvSpPr>
          <p:nvPr/>
        </p:nvSpPr>
        <p:spPr bwMode="auto">
          <a:xfrm>
            <a:off x="1295400" y="1905000"/>
            <a:ext cx="2438400" cy="40386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94724" name="Rectangle 4"/>
          <p:cNvSpPr>
            <a:spLocks noChangeArrowheads="1"/>
          </p:cNvSpPr>
          <p:nvPr/>
        </p:nvSpPr>
        <p:spPr bwMode="auto">
          <a:xfrm>
            <a:off x="1295400" y="1905000"/>
            <a:ext cx="2438400" cy="12954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400" dirty="0">
                <a:latin typeface="+mn-lt"/>
                <a:ea typeface="+mn-ea"/>
                <a:cs typeface="Times New Roman" pitchFamily="18" charset="0"/>
              </a:rPr>
              <a:t>Monitor</a:t>
            </a:r>
          </a:p>
        </p:txBody>
      </p:sp>
      <p:sp>
        <p:nvSpPr>
          <p:cNvPr id="1694725" name="AutoShape 5"/>
          <p:cNvSpPr>
            <a:spLocks noChangeArrowheads="1"/>
          </p:cNvSpPr>
          <p:nvPr/>
        </p:nvSpPr>
        <p:spPr bwMode="auto">
          <a:xfrm>
            <a:off x="5562600" y="1447800"/>
            <a:ext cx="2971800" cy="4724400"/>
          </a:xfrm>
          <a:prstGeom prst="can">
            <a:avLst>
              <a:gd name="adj" fmla="val 39744"/>
            </a:avLst>
          </a:prstGeom>
          <a:solidFill>
            <a:schemeClr val="accent3">
              <a:lumMod val="85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sz="2400">
              <a:latin typeface="Times New Roman" pitchFamily="80" charset="0"/>
              <a:ea typeface="+mn-ea"/>
              <a:cs typeface="+mn-cs"/>
            </a:endParaRPr>
          </a:p>
        </p:txBody>
      </p:sp>
      <p:sp>
        <p:nvSpPr>
          <p:cNvPr id="1694726" name="Text Box 6"/>
          <p:cNvSpPr txBox="1">
            <a:spLocks noChangeArrowheads="1"/>
          </p:cNvSpPr>
          <p:nvPr/>
        </p:nvSpPr>
        <p:spPr bwMode="auto">
          <a:xfrm>
            <a:off x="6629400" y="1828800"/>
            <a:ext cx="7842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>
                <a:latin typeface="+mn-lt"/>
                <a:ea typeface="+mn-ea"/>
                <a:cs typeface="Times New Roman" pitchFamily="18" charset="0"/>
              </a:rPr>
              <a:t>Disk</a:t>
            </a:r>
          </a:p>
        </p:txBody>
      </p:sp>
      <p:sp>
        <p:nvSpPr>
          <p:cNvPr id="1694727" name="Text Box 7"/>
          <p:cNvSpPr txBox="1">
            <a:spLocks noChangeArrowheads="1"/>
          </p:cNvSpPr>
          <p:nvPr/>
        </p:nvSpPr>
        <p:spPr bwMode="auto">
          <a:xfrm>
            <a:off x="3733800" y="3089275"/>
            <a:ext cx="131445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>
                <a:latin typeface="+mn-lt"/>
                <a:ea typeface="+mn-ea"/>
                <a:cs typeface="Times New Roman" pitchFamily="18" charset="0"/>
              </a:rPr>
              <a:t>User</a:t>
            </a:r>
          </a:p>
          <a:p>
            <a:pPr>
              <a:defRPr/>
            </a:pPr>
            <a:r>
              <a:rPr lang="en-US" sz="2400">
                <a:latin typeface="+mn-lt"/>
                <a:ea typeface="+mn-ea"/>
                <a:cs typeface="Times New Roman" pitchFamily="18" charset="0"/>
              </a:rPr>
              <a:t>Partition</a:t>
            </a:r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Swapping</a:t>
            </a:r>
          </a:p>
        </p:txBody>
      </p:sp>
      <p:sp>
        <p:nvSpPr>
          <p:cNvPr id="13315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1331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1384FB2F-70AA-384D-81FA-68B39C4AF13B}" type="slidenum">
              <a:rPr lang="en-US"/>
              <a:pPr/>
              <a:t>13</a:t>
            </a:fld>
            <a:endParaRPr lang="en-US"/>
          </a:p>
        </p:txBody>
      </p:sp>
      <p:sp>
        <p:nvSpPr>
          <p:cNvPr id="13317" name="Rectangle 3"/>
          <p:cNvSpPr>
            <a:spLocks noChangeArrowheads="1"/>
          </p:cNvSpPr>
          <p:nvPr/>
        </p:nvSpPr>
        <p:spPr bwMode="auto">
          <a:xfrm>
            <a:off x="1295400" y="1905000"/>
            <a:ext cx="2438400" cy="40386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96772" name="Rectangle 4"/>
          <p:cNvSpPr>
            <a:spLocks noChangeArrowheads="1"/>
          </p:cNvSpPr>
          <p:nvPr/>
        </p:nvSpPr>
        <p:spPr bwMode="auto">
          <a:xfrm>
            <a:off x="1295400" y="1905000"/>
            <a:ext cx="2438400" cy="12954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400" dirty="0">
                <a:latin typeface="+mn-lt"/>
                <a:ea typeface="+mn-ea"/>
                <a:cs typeface="+mn-cs"/>
              </a:rPr>
              <a:t>Monitor</a:t>
            </a:r>
          </a:p>
        </p:txBody>
      </p:sp>
      <p:sp>
        <p:nvSpPr>
          <p:cNvPr id="1696773" name="AutoShape 5"/>
          <p:cNvSpPr>
            <a:spLocks noChangeArrowheads="1"/>
          </p:cNvSpPr>
          <p:nvPr/>
        </p:nvSpPr>
        <p:spPr bwMode="auto">
          <a:xfrm>
            <a:off x="5562600" y="1447800"/>
            <a:ext cx="2971800" cy="4724400"/>
          </a:xfrm>
          <a:prstGeom prst="can">
            <a:avLst>
              <a:gd name="adj" fmla="val 39744"/>
            </a:avLst>
          </a:prstGeom>
          <a:solidFill>
            <a:schemeClr val="accent3">
              <a:lumMod val="85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sz="2400">
              <a:latin typeface="+mn-lt"/>
              <a:ea typeface="+mn-ea"/>
              <a:cs typeface="+mn-cs"/>
            </a:endParaRPr>
          </a:p>
        </p:txBody>
      </p:sp>
      <p:sp>
        <p:nvSpPr>
          <p:cNvPr id="1696774" name="Text Box 6"/>
          <p:cNvSpPr txBox="1">
            <a:spLocks noChangeArrowheads="1"/>
          </p:cNvSpPr>
          <p:nvPr/>
        </p:nvSpPr>
        <p:spPr bwMode="auto">
          <a:xfrm>
            <a:off x="6629400" y="1828800"/>
            <a:ext cx="7842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  <a:ea typeface="+mn-ea"/>
                <a:cs typeface="+mn-cs"/>
              </a:rPr>
              <a:t>Disk</a:t>
            </a:r>
          </a:p>
        </p:txBody>
      </p:sp>
      <p:sp>
        <p:nvSpPr>
          <p:cNvPr id="1696775" name="AutoShape 7"/>
          <p:cNvSpPr>
            <a:spLocks noChangeArrowheads="1"/>
          </p:cNvSpPr>
          <p:nvPr/>
        </p:nvSpPr>
        <p:spPr bwMode="auto">
          <a:xfrm>
            <a:off x="5562600" y="2667000"/>
            <a:ext cx="2971800" cy="1981200"/>
          </a:xfrm>
          <a:prstGeom prst="can">
            <a:avLst>
              <a:gd name="adj" fmla="val 50000"/>
            </a:avLst>
          </a:prstGeom>
          <a:solidFill>
            <a:srgbClr val="92D05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400">
                <a:latin typeface="+mn-lt"/>
                <a:ea typeface="+mn-ea"/>
                <a:cs typeface="+mn-cs"/>
              </a:rPr>
              <a:t>User 1</a:t>
            </a:r>
          </a:p>
        </p:txBody>
      </p:sp>
      <p:sp>
        <p:nvSpPr>
          <p:cNvPr id="1696776" name="Text Box 8"/>
          <p:cNvSpPr txBox="1">
            <a:spLocks noChangeArrowheads="1"/>
          </p:cNvSpPr>
          <p:nvPr/>
        </p:nvSpPr>
        <p:spPr bwMode="auto">
          <a:xfrm>
            <a:off x="3733800" y="3089275"/>
            <a:ext cx="131445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>
                <a:latin typeface="+mn-lt"/>
                <a:ea typeface="+mn-ea"/>
                <a:cs typeface="+mn-cs"/>
              </a:rPr>
              <a:t>User</a:t>
            </a:r>
          </a:p>
          <a:p>
            <a:pPr>
              <a:defRPr/>
            </a:pPr>
            <a:r>
              <a:rPr lang="en-US" sz="2400">
                <a:latin typeface="+mn-lt"/>
                <a:ea typeface="+mn-ea"/>
                <a:cs typeface="+mn-cs"/>
              </a:rPr>
              <a:t>Partition</a:t>
            </a:r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Swapping</a:t>
            </a:r>
          </a:p>
        </p:txBody>
      </p:sp>
      <p:sp>
        <p:nvSpPr>
          <p:cNvPr id="14339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1434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421D6690-5010-7C49-819D-FB4496D58D49}" type="slidenum">
              <a:rPr lang="en-US"/>
              <a:pPr/>
              <a:t>14</a:t>
            </a:fld>
            <a:endParaRPr lang="en-US"/>
          </a:p>
        </p:txBody>
      </p:sp>
      <p:sp>
        <p:nvSpPr>
          <p:cNvPr id="14341" name="Rectangle 3"/>
          <p:cNvSpPr>
            <a:spLocks noChangeArrowheads="1"/>
          </p:cNvSpPr>
          <p:nvPr/>
        </p:nvSpPr>
        <p:spPr bwMode="auto">
          <a:xfrm>
            <a:off x="1295400" y="1905000"/>
            <a:ext cx="2438400" cy="40386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98820" name="Rectangle 4"/>
          <p:cNvSpPr>
            <a:spLocks noChangeArrowheads="1"/>
          </p:cNvSpPr>
          <p:nvPr/>
        </p:nvSpPr>
        <p:spPr bwMode="auto">
          <a:xfrm>
            <a:off x="1295400" y="1905000"/>
            <a:ext cx="2438400" cy="12954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400" dirty="0">
                <a:latin typeface="+mj-lt"/>
                <a:ea typeface="+mn-ea"/>
                <a:cs typeface="+mn-cs"/>
              </a:rPr>
              <a:t>Monitor</a:t>
            </a:r>
          </a:p>
        </p:txBody>
      </p:sp>
      <p:sp>
        <p:nvSpPr>
          <p:cNvPr id="1698821" name="AutoShape 5"/>
          <p:cNvSpPr>
            <a:spLocks noChangeArrowheads="1"/>
          </p:cNvSpPr>
          <p:nvPr/>
        </p:nvSpPr>
        <p:spPr bwMode="auto">
          <a:xfrm>
            <a:off x="5562600" y="1447800"/>
            <a:ext cx="2971800" cy="4724400"/>
          </a:xfrm>
          <a:prstGeom prst="can">
            <a:avLst>
              <a:gd name="adj" fmla="val 39744"/>
            </a:avLst>
          </a:prstGeom>
          <a:solidFill>
            <a:schemeClr val="accent3">
              <a:lumMod val="85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sz="2400">
              <a:latin typeface="+mj-lt"/>
              <a:ea typeface="+mn-ea"/>
              <a:cs typeface="+mn-cs"/>
            </a:endParaRPr>
          </a:p>
        </p:txBody>
      </p:sp>
      <p:sp>
        <p:nvSpPr>
          <p:cNvPr id="1698822" name="AutoShape 6"/>
          <p:cNvSpPr>
            <a:spLocks noChangeArrowheads="1"/>
          </p:cNvSpPr>
          <p:nvPr/>
        </p:nvSpPr>
        <p:spPr bwMode="auto">
          <a:xfrm>
            <a:off x="5562600" y="2667000"/>
            <a:ext cx="2971800" cy="1981200"/>
          </a:xfrm>
          <a:prstGeom prst="can">
            <a:avLst>
              <a:gd name="adj" fmla="val 50000"/>
            </a:avLst>
          </a:prstGeom>
          <a:solidFill>
            <a:srgbClr val="92D05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400">
                <a:latin typeface="+mj-lt"/>
                <a:ea typeface="+mn-ea"/>
                <a:cs typeface="+mn-cs"/>
              </a:rPr>
              <a:t>User 1</a:t>
            </a:r>
          </a:p>
        </p:txBody>
      </p:sp>
      <p:sp>
        <p:nvSpPr>
          <p:cNvPr id="1698823" name="Text Box 7"/>
          <p:cNvSpPr txBox="1">
            <a:spLocks noChangeArrowheads="1"/>
          </p:cNvSpPr>
          <p:nvPr/>
        </p:nvSpPr>
        <p:spPr bwMode="auto">
          <a:xfrm>
            <a:off x="6629400" y="1828800"/>
            <a:ext cx="7842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  <a:ea typeface="+mn-ea"/>
                <a:cs typeface="+mn-cs"/>
              </a:rPr>
              <a:t>Disk</a:t>
            </a:r>
          </a:p>
        </p:txBody>
      </p:sp>
      <p:sp>
        <p:nvSpPr>
          <p:cNvPr id="14346" name="Line 8"/>
          <p:cNvSpPr>
            <a:spLocks noChangeShapeType="1"/>
          </p:cNvSpPr>
          <p:nvPr/>
        </p:nvSpPr>
        <p:spPr bwMode="auto">
          <a:xfrm flipH="1">
            <a:off x="3810000" y="3886200"/>
            <a:ext cx="2362200" cy="381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98825" name="Rectangle 9"/>
          <p:cNvSpPr>
            <a:spLocks noChangeArrowheads="1"/>
          </p:cNvSpPr>
          <p:nvPr/>
        </p:nvSpPr>
        <p:spPr bwMode="auto">
          <a:xfrm>
            <a:off x="1295400" y="3200400"/>
            <a:ext cx="2438400" cy="198120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400">
                <a:latin typeface="+mj-lt"/>
                <a:ea typeface="+mn-ea"/>
                <a:cs typeface="+mn-cs"/>
              </a:rPr>
              <a:t>User 1</a:t>
            </a:r>
          </a:p>
        </p:txBody>
      </p:sp>
      <p:sp>
        <p:nvSpPr>
          <p:cNvPr id="1698826" name="Text Box 10"/>
          <p:cNvSpPr txBox="1">
            <a:spLocks noChangeArrowheads="1"/>
          </p:cNvSpPr>
          <p:nvPr/>
        </p:nvSpPr>
        <p:spPr bwMode="auto">
          <a:xfrm>
            <a:off x="3733800" y="3089275"/>
            <a:ext cx="131445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  <a:ea typeface="+mn-ea"/>
                <a:cs typeface="+mn-cs"/>
              </a:rPr>
              <a:t>User</a:t>
            </a:r>
          </a:p>
          <a:p>
            <a:pPr>
              <a:defRPr/>
            </a:pPr>
            <a:r>
              <a:rPr lang="en-US" sz="2400" dirty="0">
                <a:latin typeface="+mn-lt"/>
                <a:ea typeface="+mn-ea"/>
                <a:cs typeface="+mn-cs"/>
              </a:rPr>
              <a:t>Partition</a:t>
            </a:r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Swapping</a:t>
            </a:r>
          </a:p>
        </p:txBody>
      </p:sp>
      <p:sp>
        <p:nvSpPr>
          <p:cNvPr id="15363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1536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3F61D782-A7B6-C64B-AE04-91385A821696}" type="slidenum">
              <a:rPr lang="en-US"/>
              <a:pPr/>
              <a:t>15</a:t>
            </a:fld>
            <a:endParaRPr lang="en-US"/>
          </a:p>
        </p:txBody>
      </p:sp>
      <p:sp>
        <p:nvSpPr>
          <p:cNvPr id="15365" name="Rectangle 3"/>
          <p:cNvSpPr>
            <a:spLocks noChangeArrowheads="1"/>
          </p:cNvSpPr>
          <p:nvPr/>
        </p:nvSpPr>
        <p:spPr bwMode="auto">
          <a:xfrm>
            <a:off x="1295400" y="1905000"/>
            <a:ext cx="2438400" cy="40386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00868" name="Rectangle 4"/>
          <p:cNvSpPr>
            <a:spLocks noChangeArrowheads="1"/>
          </p:cNvSpPr>
          <p:nvPr/>
        </p:nvSpPr>
        <p:spPr bwMode="auto">
          <a:xfrm>
            <a:off x="1295400" y="1905000"/>
            <a:ext cx="2438400" cy="12954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400" dirty="0">
                <a:latin typeface="+mn-lt"/>
                <a:ea typeface="+mn-ea"/>
                <a:cs typeface="+mn-cs"/>
              </a:rPr>
              <a:t>Monitor</a:t>
            </a:r>
          </a:p>
        </p:txBody>
      </p:sp>
      <p:sp>
        <p:nvSpPr>
          <p:cNvPr id="1700869" name="AutoShape 5"/>
          <p:cNvSpPr>
            <a:spLocks noChangeArrowheads="1"/>
          </p:cNvSpPr>
          <p:nvPr/>
        </p:nvSpPr>
        <p:spPr bwMode="auto">
          <a:xfrm>
            <a:off x="5562600" y="1447800"/>
            <a:ext cx="2971800" cy="4724400"/>
          </a:xfrm>
          <a:prstGeom prst="can">
            <a:avLst>
              <a:gd name="adj" fmla="val 39744"/>
            </a:avLst>
          </a:prstGeom>
          <a:solidFill>
            <a:schemeClr val="accent3">
              <a:lumMod val="85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sz="2400">
              <a:latin typeface="+mn-lt"/>
              <a:ea typeface="+mn-ea"/>
              <a:cs typeface="+mn-cs"/>
            </a:endParaRPr>
          </a:p>
        </p:txBody>
      </p:sp>
      <p:sp>
        <p:nvSpPr>
          <p:cNvPr id="1700870" name="AutoShape 6"/>
          <p:cNvSpPr>
            <a:spLocks noChangeArrowheads="1"/>
          </p:cNvSpPr>
          <p:nvPr/>
        </p:nvSpPr>
        <p:spPr bwMode="auto">
          <a:xfrm>
            <a:off x="5562600" y="4038600"/>
            <a:ext cx="2971800" cy="1981200"/>
          </a:xfrm>
          <a:prstGeom prst="can">
            <a:avLst>
              <a:gd name="adj" fmla="val 50000"/>
            </a:avLst>
          </a:prstGeom>
          <a:solidFill>
            <a:srgbClr val="66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400">
                <a:latin typeface="+mn-lt"/>
                <a:ea typeface="+mn-ea"/>
                <a:cs typeface="+mn-cs"/>
              </a:rPr>
              <a:t>User 2</a:t>
            </a:r>
          </a:p>
        </p:txBody>
      </p:sp>
      <p:sp>
        <p:nvSpPr>
          <p:cNvPr id="1700871" name="AutoShape 7"/>
          <p:cNvSpPr>
            <a:spLocks noChangeArrowheads="1"/>
          </p:cNvSpPr>
          <p:nvPr/>
        </p:nvSpPr>
        <p:spPr bwMode="auto">
          <a:xfrm>
            <a:off x="5562600" y="2667000"/>
            <a:ext cx="2971800" cy="1981200"/>
          </a:xfrm>
          <a:prstGeom prst="can">
            <a:avLst>
              <a:gd name="adj" fmla="val 50000"/>
            </a:avLst>
          </a:prstGeom>
          <a:solidFill>
            <a:srgbClr val="92D05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400" dirty="0">
                <a:latin typeface="+mn-lt"/>
                <a:ea typeface="+mn-ea"/>
                <a:cs typeface="+mn-cs"/>
              </a:rPr>
              <a:t>User 1</a:t>
            </a:r>
          </a:p>
        </p:txBody>
      </p:sp>
      <p:sp>
        <p:nvSpPr>
          <p:cNvPr id="1700872" name="Text Box 8"/>
          <p:cNvSpPr txBox="1">
            <a:spLocks noChangeArrowheads="1"/>
          </p:cNvSpPr>
          <p:nvPr/>
        </p:nvSpPr>
        <p:spPr bwMode="auto">
          <a:xfrm>
            <a:off x="6629400" y="1828800"/>
            <a:ext cx="7842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  <a:ea typeface="+mn-ea"/>
                <a:cs typeface="+mn-cs"/>
              </a:rPr>
              <a:t>Disk</a:t>
            </a:r>
          </a:p>
        </p:txBody>
      </p:sp>
      <p:sp>
        <p:nvSpPr>
          <p:cNvPr id="1700873" name="Rectangle 9"/>
          <p:cNvSpPr>
            <a:spLocks noChangeArrowheads="1"/>
          </p:cNvSpPr>
          <p:nvPr/>
        </p:nvSpPr>
        <p:spPr bwMode="auto">
          <a:xfrm>
            <a:off x="1295400" y="3200400"/>
            <a:ext cx="2438400" cy="198120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400">
                <a:latin typeface="+mn-lt"/>
                <a:ea typeface="+mn-ea"/>
                <a:cs typeface="+mn-cs"/>
              </a:rPr>
              <a:t>User 1</a:t>
            </a:r>
          </a:p>
        </p:txBody>
      </p:sp>
      <p:sp>
        <p:nvSpPr>
          <p:cNvPr id="1700874" name="Text Box 10"/>
          <p:cNvSpPr txBox="1">
            <a:spLocks noChangeArrowheads="1"/>
          </p:cNvSpPr>
          <p:nvPr/>
        </p:nvSpPr>
        <p:spPr bwMode="auto">
          <a:xfrm>
            <a:off x="3733800" y="3089275"/>
            <a:ext cx="131445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>
                <a:latin typeface="+mn-lt"/>
                <a:ea typeface="+mn-ea"/>
                <a:cs typeface="+mn-cs"/>
              </a:rPr>
              <a:t>User</a:t>
            </a:r>
          </a:p>
          <a:p>
            <a:pPr>
              <a:defRPr/>
            </a:pPr>
            <a:r>
              <a:rPr lang="en-US" sz="2400">
                <a:latin typeface="+mn-lt"/>
                <a:ea typeface="+mn-ea"/>
                <a:cs typeface="+mn-cs"/>
              </a:rPr>
              <a:t>Partition</a:t>
            </a:r>
          </a:p>
        </p:txBody>
      </p:sp>
      <p:sp>
        <p:nvSpPr>
          <p:cNvPr id="15373" name="Line 8"/>
          <p:cNvSpPr>
            <a:spLocks noChangeShapeType="1"/>
          </p:cNvSpPr>
          <p:nvPr/>
        </p:nvSpPr>
        <p:spPr bwMode="auto">
          <a:xfrm flipH="1">
            <a:off x="3810000" y="3886200"/>
            <a:ext cx="2362200" cy="381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0087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Swapping</a:t>
            </a:r>
          </a:p>
        </p:txBody>
      </p:sp>
      <p:sp>
        <p:nvSpPr>
          <p:cNvPr id="16387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1638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9C88FDE1-9DCE-6341-B43E-97D54E88260B}" type="slidenum">
              <a:rPr lang="en-US"/>
              <a:pPr/>
              <a:t>16</a:t>
            </a:fld>
            <a:endParaRPr lang="en-US"/>
          </a:p>
        </p:txBody>
      </p:sp>
      <p:sp>
        <p:nvSpPr>
          <p:cNvPr id="16389" name="Rectangle 3"/>
          <p:cNvSpPr>
            <a:spLocks noChangeArrowheads="1"/>
          </p:cNvSpPr>
          <p:nvPr/>
        </p:nvSpPr>
        <p:spPr bwMode="auto">
          <a:xfrm>
            <a:off x="1295400" y="1905000"/>
            <a:ext cx="2438400" cy="40386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02916" name="Rectangle 4"/>
          <p:cNvSpPr>
            <a:spLocks noChangeArrowheads="1"/>
          </p:cNvSpPr>
          <p:nvPr/>
        </p:nvSpPr>
        <p:spPr bwMode="auto">
          <a:xfrm>
            <a:off x="1295400" y="1905000"/>
            <a:ext cx="2438400" cy="12954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400">
                <a:latin typeface="+mn-lt"/>
                <a:ea typeface="+mn-ea"/>
                <a:cs typeface="+mn-cs"/>
              </a:rPr>
              <a:t>Monitor</a:t>
            </a:r>
          </a:p>
        </p:txBody>
      </p:sp>
      <p:sp>
        <p:nvSpPr>
          <p:cNvPr id="1702917" name="AutoShape 5"/>
          <p:cNvSpPr>
            <a:spLocks noChangeArrowheads="1"/>
          </p:cNvSpPr>
          <p:nvPr/>
        </p:nvSpPr>
        <p:spPr bwMode="auto">
          <a:xfrm>
            <a:off x="5562600" y="1447800"/>
            <a:ext cx="2971800" cy="4724400"/>
          </a:xfrm>
          <a:prstGeom prst="can">
            <a:avLst>
              <a:gd name="adj" fmla="val 39744"/>
            </a:avLst>
          </a:prstGeom>
          <a:solidFill>
            <a:schemeClr val="accent3">
              <a:lumMod val="85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sz="2400">
              <a:latin typeface="Times New Roman" pitchFamily="80" charset="0"/>
              <a:ea typeface="+mn-ea"/>
              <a:cs typeface="+mn-cs"/>
            </a:endParaRPr>
          </a:p>
        </p:txBody>
      </p:sp>
      <p:sp>
        <p:nvSpPr>
          <p:cNvPr id="1702918" name="Text Box 6"/>
          <p:cNvSpPr txBox="1">
            <a:spLocks noChangeArrowheads="1"/>
          </p:cNvSpPr>
          <p:nvPr/>
        </p:nvSpPr>
        <p:spPr bwMode="auto">
          <a:xfrm>
            <a:off x="6629400" y="1828800"/>
            <a:ext cx="7842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>
                <a:latin typeface="+mn-lt"/>
                <a:ea typeface="+mn-ea"/>
                <a:cs typeface="+mn-cs"/>
              </a:rPr>
              <a:t>Disk</a:t>
            </a:r>
          </a:p>
        </p:txBody>
      </p:sp>
      <p:sp>
        <p:nvSpPr>
          <p:cNvPr id="1702919" name="AutoShape 7"/>
          <p:cNvSpPr>
            <a:spLocks noChangeArrowheads="1"/>
          </p:cNvSpPr>
          <p:nvPr/>
        </p:nvSpPr>
        <p:spPr bwMode="auto">
          <a:xfrm>
            <a:off x="5562600" y="4038600"/>
            <a:ext cx="2971800" cy="1981200"/>
          </a:xfrm>
          <a:prstGeom prst="can">
            <a:avLst>
              <a:gd name="adj" fmla="val 50000"/>
            </a:avLst>
          </a:prstGeom>
          <a:solidFill>
            <a:srgbClr val="66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400">
                <a:latin typeface="+mn-lt"/>
                <a:ea typeface="+mn-ea"/>
                <a:cs typeface="+mn-cs"/>
              </a:rPr>
              <a:t>User 2</a:t>
            </a:r>
          </a:p>
        </p:txBody>
      </p:sp>
      <p:sp>
        <p:nvSpPr>
          <p:cNvPr id="1702920" name="Rectangle 8"/>
          <p:cNvSpPr>
            <a:spLocks noChangeArrowheads="1"/>
          </p:cNvSpPr>
          <p:nvPr/>
        </p:nvSpPr>
        <p:spPr bwMode="auto">
          <a:xfrm>
            <a:off x="1295400" y="3200400"/>
            <a:ext cx="2438400" cy="2362200"/>
          </a:xfrm>
          <a:prstGeom prst="rect">
            <a:avLst/>
          </a:prstGeom>
          <a:solidFill>
            <a:srgbClr val="66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400" dirty="0">
                <a:latin typeface="+mn-lt"/>
                <a:ea typeface="+mn-ea"/>
                <a:cs typeface="+mn-cs"/>
              </a:rPr>
              <a:t>User 2</a:t>
            </a:r>
          </a:p>
        </p:txBody>
      </p:sp>
      <p:sp>
        <p:nvSpPr>
          <p:cNvPr id="16395" name="Line 9"/>
          <p:cNvSpPr>
            <a:spLocks noChangeShapeType="1"/>
          </p:cNvSpPr>
          <p:nvPr/>
        </p:nvSpPr>
        <p:spPr bwMode="auto">
          <a:xfrm flipH="1" flipV="1">
            <a:off x="3733800" y="4419600"/>
            <a:ext cx="1752600" cy="6858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02922" name="Text Box 10"/>
          <p:cNvSpPr txBox="1">
            <a:spLocks noChangeArrowheads="1"/>
          </p:cNvSpPr>
          <p:nvPr/>
        </p:nvSpPr>
        <p:spPr bwMode="auto">
          <a:xfrm>
            <a:off x="3733800" y="3089275"/>
            <a:ext cx="131445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  <a:ea typeface="+mn-ea"/>
                <a:cs typeface="+mn-cs"/>
              </a:rPr>
              <a:t>User</a:t>
            </a:r>
          </a:p>
          <a:p>
            <a:pPr>
              <a:defRPr/>
            </a:pPr>
            <a:r>
              <a:rPr lang="en-US" sz="2400" dirty="0">
                <a:latin typeface="+mn-lt"/>
                <a:ea typeface="+mn-ea"/>
                <a:cs typeface="+mn-cs"/>
              </a:rPr>
              <a:t>Partition</a:t>
            </a:r>
          </a:p>
        </p:txBody>
      </p:sp>
      <p:sp>
        <p:nvSpPr>
          <p:cNvPr id="1702923" name="AutoShape 11"/>
          <p:cNvSpPr>
            <a:spLocks noChangeArrowheads="1"/>
          </p:cNvSpPr>
          <p:nvPr/>
        </p:nvSpPr>
        <p:spPr bwMode="auto">
          <a:xfrm>
            <a:off x="5562600" y="2667000"/>
            <a:ext cx="2971800" cy="1981200"/>
          </a:xfrm>
          <a:prstGeom prst="can">
            <a:avLst>
              <a:gd name="adj" fmla="val 50000"/>
            </a:avLst>
          </a:prstGeom>
          <a:solidFill>
            <a:srgbClr val="92D05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400" dirty="0">
                <a:latin typeface="+mn-lt"/>
                <a:ea typeface="+mn-ea"/>
                <a:cs typeface="+mn-cs"/>
              </a:rPr>
              <a:t>User 1</a:t>
            </a:r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Swapping</a:t>
            </a:r>
          </a:p>
        </p:txBody>
      </p:sp>
      <p:sp>
        <p:nvSpPr>
          <p:cNvPr id="17411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1741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3CCA987F-B754-6143-8AFC-34F45F6F922F}" type="slidenum">
              <a:rPr lang="en-US"/>
              <a:pPr/>
              <a:t>17</a:t>
            </a:fld>
            <a:endParaRPr lang="en-US"/>
          </a:p>
        </p:txBody>
      </p:sp>
      <p:sp>
        <p:nvSpPr>
          <p:cNvPr id="17413" name="Rectangle 3"/>
          <p:cNvSpPr>
            <a:spLocks noChangeArrowheads="1"/>
          </p:cNvSpPr>
          <p:nvPr/>
        </p:nvSpPr>
        <p:spPr bwMode="auto">
          <a:xfrm>
            <a:off x="1295400" y="1905000"/>
            <a:ext cx="2438400" cy="40386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04964" name="Rectangle 4"/>
          <p:cNvSpPr>
            <a:spLocks noChangeArrowheads="1"/>
          </p:cNvSpPr>
          <p:nvPr/>
        </p:nvSpPr>
        <p:spPr bwMode="auto">
          <a:xfrm>
            <a:off x="1295400" y="1905000"/>
            <a:ext cx="2438400" cy="12954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400" dirty="0">
                <a:latin typeface="+mn-lt"/>
                <a:ea typeface="+mn-ea"/>
                <a:cs typeface="+mn-cs"/>
              </a:rPr>
              <a:t>Monitor</a:t>
            </a:r>
          </a:p>
        </p:txBody>
      </p:sp>
      <p:sp>
        <p:nvSpPr>
          <p:cNvPr id="1704965" name="AutoShape 5"/>
          <p:cNvSpPr>
            <a:spLocks noChangeArrowheads="1"/>
          </p:cNvSpPr>
          <p:nvPr/>
        </p:nvSpPr>
        <p:spPr bwMode="auto">
          <a:xfrm>
            <a:off x="5562600" y="1447800"/>
            <a:ext cx="2971800" cy="4724400"/>
          </a:xfrm>
          <a:prstGeom prst="can">
            <a:avLst>
              <a:gd name="adj" fmla="val 39744"/>
            </a:avLst>
          </a:prstGeom>
          <a:solidFill>
            <a:schemeClr val="accent3">
              <a:lumMod val="85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sz="2400">
              <a:latin typeface="Times New Roman" pitchFamily="80" charset="0"/>
              <a:ea typeface="+mn-ea"/>
              <a:cs typeface="+mn-cs"/>
            </a:endParaRPr>
          </a:p>
        </p:txBody>
      </p:sp>
      <p:sp>
        <p:nvSpPr>
          <p:cNvPr id="1704966" name="Text Box 6"/>
          <p:cNvSpPr txBox="1">
            <a:spLocks noChangeArrowheads="1"/>
          </p:cNvSpPr>
          <p:nvPr/>
        </p:nvSpPr>
        <p:spPr bwMode="auto">
          <a:xfrm>
            <a:off x="6629400" y="1828800"/>
            <a:ext cx="7842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>
                <a:latin typeface="+mn-lt"/>
                <a:ea typeface="+mn-ea"/>
                <a:cs typeface="+mn-cs"/>
              </a:rPr>
              <a:t>Disk</a:t>
            </a:r>
          </a:p>
        </p:txBody>
      </p:sp>
      <p:sp>
        <p:nvSpPr>
          <p:cNvPr id="17417" name="Line 7"/>
          <p:cNvSpPr>
            <a:spLocks noChangeShapeType="1"/>
          </p:cNvSpPr>
          <p:nvPr/>
        </p:nvSpPr>
        <p:spPr bwMode="auto">
          <a:xfrm flipH="1" flipV="1">
            <a:off x="3733800" y="4419600"/>
            <a:ext cx="1752600" cy="6858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04968" name="AutoShape 8"/>
          <p:cNvSpPr>
            <a:spLocks noChangeArrowheads="1"/>
          </p:cNvSpPr>
          <p:nvPr/>
        </p:nvSpPr>
        <p:spPr bwMode="auto">
          <a:xfrm>
            <a:off x="5562600" y="4038600"/>
            <a:ext cx="2971800" cy="1981200"/>
          </a:xfrm>
          <a:prstGeom prst="can">
            <a:avLst>
              <a:gd name="adj" fmla="val 50000"/>
            </a:avLst>
          </a:prstGeom>
          <a:solidFill>
            <a:srgbClr val="66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400">
                <a:latin typeface="+mn-lt"/>
                <a:ea typeface="+mn-ea"/>
                <a:cs typeface="+mn-cs"/>
              </a:rPr>
              <a:t>User 2</a:t>
            </a:r>
          </a:p>
        </p:txBody>
      </p:sp>
      <p:sp>
        <p:nvSpPr>
          <p:cNvPr id="1704969" name="Rectangle 9"/>
          <p:cNvSpPr>
            <a:spLocks noChangeArrowheads="1"/>
          </p:cNvSpPr>
          <p:nvPr/>
        </p:nvSpPr>
        <p:spPr bwMode="auto">
          <a:xfrm>
            <a:off x="1295400" y="3200400"/>
            <a:ext cx="2438400" cy="2362200"/>
          </a:xfrm>
          <a:prstGeom prst="rect">
            <a:avLst/>
          </a:prstGeom>
          <a:solidFill>
            <a:srgbClr val="66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400">
                <a:latin typeface="+mn-lt"/>
                <a:ea typeface="+mn-ea"/>
                <a:cs typeface="+mn-cs"/>
              </a:rPr>
              <a:t>User 2</a:t>
            </a:r>
          </a:p>
        </p:txBody>
      </p:sp>
      <p:sp>
        <p:nvSpPr>
          <p:cNvPr id="1704970" name="Text Box 10"/>
          <p:cNvSpPr txBox="1">
            <a:spLocks noChangeArrowheads="1"/>
          </p:cNvSpPr>
          <p:nvPr/>
        </p:nvSpPr>
        <p:spPr bwMode="auto">
          <a:xfrm>
            <a:off x="3733800" y="3089275"/>
            <a:ext cx="131445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>
                <a:latin typeface="+mn-lt"/>
                <a:ea typeface="+mn-ea"/>
                <a:cs typeface="+mn-cs"/>
              </a:rPr>
              <a:t>User</a:t>
            </a:r>
          </a:p>
          <a:p>
            <a:pPr>
              <a:defRPr/>
            </a:pPr>
            <a:r>
              <a:rPr lang="en-US" sz="2400">
                <a:latin typeface="+mn-lt"/>
                <a:ea typeface="+mn-ea"/>
                <a:cs typeface="+mn-cs"/>
              </a:rPr>
              <a:t>Partition</a:t>
            </a:r>
          </a:p>
        </p:txBody>
      </p:sp>
      <p:sp>
        <p:nvSpPr>
          <p:cNvPr id="1704971" name="AutoShape 11"/>
          <p:cNvSpPr>
            <a:spLocks noChangeArrowheads="1"/>
          </p:cNvSpPr>
          <p:nvPr/>
        </p:nvSpPr>
        <p:spPr bwMode="auto">
          <a:xfrm>
            <a:off x="5562600" y="2667000"/>
            <a:ext cx="2971800" cy="1981200"/>
          </a:xfrm>
          <a:prstGeom prst="can">
            <a:avLst>
              <a:gd name="adj" fmla="val 50000"/>
            </a:avLst>
          </a:prstGeom>
          <a:solidFill>
            <a:srgbClr val="92D05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400">
                <a:latin typeface="+mn-lt"/>
                <a:ea typeface="+mn-ea"/>
                <a:cs typeface="+mn-cs"/>
              </a:rPr>
              <a:t>User 1</a:t>
            </a:r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4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0496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Swapping</a:t>
            </a:r>
          </a:p>
        </p:txBody>
      </p:sp>
      <p:sp>
        <p:nvSpPr>
          <p:cNvPr id="18435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1843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36E0FB5E-34B1-8A4D-9E8F-B2E701F8EC13}" type="slidenum">
              <a:rPr lang="en-US"/>
              <a:pPr/>
              <a:t>18</a:t>
            </a:fld>
            <a:endParaRPr lang="en-US"/>
          </a:p>
        </p:txBody>
      </p:sp>
      <p:sp>
        <p:nvSpPr>
          <p:cNvPr id="18437" name="Rectangle 3"/>
          <p:cNvSpPr>
            <a:spLocks noChangeArrowheads="1"/>
          </p:cNvSpPr>
          <p:nvPr/>
        </p:nvSpPr>
        <p:spPr bwMode="auto">
          <a:xfrm>
            <a:off x="1295400" y="1905000"/>
            <a:ext cx="2438400" cy="40386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07012" name="Rectangle 4"/>
          <p:cNvSpPr>
            <a:spLocks noChangeArrowheads="1"/>
          </p:cNvSpPr>
          <p:nvPr/>
        </p:nvSpPr>
        <p:spPr bwMode="auto">
          <a:xfrm>
            <a:off x="1295400" y="1905000"/>
            <a:ext cx="2438400" cy="12954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400" dirty="0">
                <a:latin typeface="+mn-lt"/>
                <a:ea typeface="+mn-ea"/>
                <a:cs typeface="+mn-cs"/>
              </a:rPr>
              <a:t>Monitor</a:t>
            </a:r>
          </a:p>
        </p:txBody>
      </p:sp>
      <p:sp>
        <p:nvSpPr>
          <p:cNvPr id="1707013" name="AutoShape 5"/>
          <p:cNvSpPr>
            <a:spLocks noChangeArrowheads="1"/>
          </p:cNvSpPr>
          <p:nvPr/>
        </p:nvSpPr>
        <p:spPr bwMode="auto">
          <a:xfrm>
            <a:off x="5562600" y="1447800"/>
            <a:ext cx="2971800" cy="4724400"/>
          </a:xfrm>
          <a:prstGeom prst="can">
            <a:avLst>
              <a:gd name="adj" fmla="val 39744"/>
            </a:avLst>
          </a:prstGeom>
          <a:solidFill>
            <a:schemeClr val="accent3">
              <a:lumMod val="85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sz="2400">
              <a:latin typeface="Times New Roman" pitchFamily="80" charset="0"/>
              <a:ea typeface="+mn-ea"/>
              <a:cs typeface="+mn-cs"/>
            </a:endParaRPr>
          </a:p>
        </p:txBody>
      </p:sp>
      <p:sp>
        <p:nvSpPr>
          <p:cNvPr id="1707014" name="Text Box 6"/>
          <p:cNvSpPr txBox="1">
            <a:spLocks noChangeArrowheads="1"/>
          </p:cNvSpPr>
          <p:nvPr/>
        </p:nvSpPr>
        <p:spPr bwMode="auto">
          <a:xfrm>
            <a:off x="6629400" y="1828800"/>
            <a:ext cx="7842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>
                <a:latin typeface="+mn-lt"/>
                <a:ea typeface="+mn-ea"/>
                <a:cs typeface="+mn-cs"/>
              </a:rPr>
              <a:t>Disk</a:t>
            </a:r>
          </a:p>
        </p:txBody>
      </p:sp>
      <p:sp>
        <p:nvSpPr>
          <p:cNvPr id="1707016" name="Rectangle 8"/>
          <p:cNvSpPr>
            <a:spLocks noChangeArrowheads="1"/>
          </p:cNvSpPr>
          <p:nvPr/>
        </p:nvSpPr>
        <p:spPr bwMode="auto">
          <a:xfrm>
            <a:off x="1295400" y="3200400"/>
            <a:ext cx="2438400" cy="198120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400">
                <a:latin typeface="+mn-lt"/>
                <a:ea typeface="+mn-ea"/>
                <a:cs typeface="+mn-cs"/>
              </a:rPr>
              <a:t>User 1</a:t>
            </a:r>
          </a:p>
        </p:txBody>
      </p:sp>
      <p:sp>
        <p:nvSpPr>
          <p:cNvPr id="1707017" name="AutoShape 9"/>
          <p:cNvSpPr>
            <a:spLocks noChangeArrowheads="1"/>
          </p:cNvSpPr>
          <p:nvPr/>
        </p:nvSpPr>
        <p:spPr bwMode="auto">
          <a:xfrm>
            <a:off x="5562600" y="4038600"/>
            <a:ext cx="2971800" cy="1981200"/>
          </a:xfrm>
          <a:prstGeom prst="can">
            <a:avLst>
              <a:gd name="adj" fmla="val 50000"/>
            </a:avLst>
          </a:prstGeom>
          <a:solidFill>
            <a:srgbClr val="66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400">
                <a:latin typeface="+mn-lt"/>
                <a:ea typeface="+mn-ea"/>
                <a:cs typeface="+mn-cs"/>
              </a:rPr>
              <a:t>User 2</a:t>
            </a:r>
          </a:p>
        </p:txBody>
      </p:sp>
      <p:sp>
        <p:nvSpPr>
          <p:cNvPr id="1707018" name="Text Box 10"/>
          <p:cNvSpPr txBox="1">
            <a:spLocks noChangeArrowheads="1"/>
          </p:cNvSpPr>
          <p:nvPr/>
        </p:nvSpPr>
        <p:spPr bwMode="auto">
          <a:xfrm>
            <a:off x="3733800" y="3089275"/>
            <a:ext cx="131445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>
                <a:latin typeface="+mn-lt"/>
                <a:ea typeface="+mn-ea"/>
                <a:cs typeface="+mn-cs"/>
              </a:rPr>
              <a:t>User</a:t>
            </a:r>
          </a:p>
          <a:p>
            <a:pPr>
              <a:defRPr/>
            </a:pPr>
            <a:r>
              <a:rPr lang="en-US" sz="2400">
                <a:latin typeface="+mn-lt"/>
                <a:ea typeface="+mn-ea"/>
                <a:cs typeface="+mn-cs"/>
              </a:rPr>
              <a:t>Partition</a:t>
            </a:r>
          </a:p>
        </p:txBody>
      </p:sp>
      <p:sp>
        <p:nvSpPr>
          <p:cNvPr id="1707019" name="AutoShape 11"/>
          <p:cNvSpPr>
            <a:spLocks noChangeArrowheads="1"/>
          </p:cNvSpPr>
          <p:nvPr/>
        </p:nvSpPr>
        <p:spPr bwMode="auto">
          <a:xfrm>
            <a:off x="5562600" y="2667000"/>
            <a:ext cx="2971800" cy="1981200"/>
          </a:xfrm>
          <a:prstGeom prst="can">
            <a:avLst>
              <a:gd name="adj" fmla="val 50000"/>
            </a:avLst>
          </a:prstGeom>
          <a:solidFill>
            <a:srgbClr val="92D05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400">
                <a:latin typeface="+mn-lt"/>
                <a:ea typeface="+mn-ea"/>
                <a:cs typeface="+mn-cs"/>
              </a:rPr>
              <a:t>User 1</a:t>
            </a:r>
          </a:p>
        </p:txBody>
      </p:sp>
      <p:sp>
        <p:nvSpPr>
          <p:cNvPr id="18445" name="Line 8"/>
          <p:cNvSpPr>
            <a:spLocks noChangeShapeType="1"/>
          </p:cNvSpPr>
          <p:nvPr/>
        </p:nvSpPr>
        <p:spPr bwMode="auto">
          <a:xfrm flipH="1">
            <a:off x="3810000" y="3886200"/>
            <a:ext cx="2362200" cy="381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Storage Placement Strategies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400">
                <a:latin typeface="Arial" charset="0"/>
                <a:ea typeface="ＭＳ Ｐゴシック" charset="0"/>
                <a:cs typeface="ＭＳ Ｐゴシック" charset="0"/>
              </a:rPr>
              <a:t>First fit</a:t>
            </a:r>
          </a:p>
          <a:p>
            <a:pPr lvl="1" eaLnBrk="1" hangingPunct="1"/>
            <a:r>
              <a:rPr lang="en-US" sz="2000">
                <a:latin typeface="Arial" charset="0"/>
                <a:ea typeface="ＭＳ Ｐゴシック" charset="0"/>
              </a:rPr>
              <a:t>Use the first available hole whose size is sufficient to meet the need</a:t>
            </a:r>
          </a:p>
          <a:p>
            <a:pPr lvl="1" eaLnBrk="1" hangingPunct="1"/>
            <a:r>
              <a:rPr lang="en-US" sz="2000">
                <a:latin typeface="Arial" charset="0"/>
                <a:ea typeface="ＭＳ Ｐゴシック" charset="0"/>
              </a:rPr>
              <a:t>Rationale?</a:t>
            </a:r>
          </a:p>
          <a:p>
            <a:pPr eaLnBrk="1" hangingPunct="1"/>
            <a:r>
              <a:rPr lang="en-US" sz="2400">
                <a:latin typeface="Arial" charset="0"/>
                <a:ea typeface="ＭＳ Ｐゴシック" charset="0"/>
                <a:cs typeface="ＭＳ Ｐゴシック" charset="0"/>
              </a:rPr>
              <a:t>Best fit</a:t>
            </a:r>
          </a:p>
          <a:p>
            <a:pPr lvl="1" eaLnBrk="1" hangingPunct="1"/>
            <a:r>
              <a:rPr lang="en-US" sz="2000">
                <a:latin typeface="Arial" charset="0"/>
                <a:ea typeface="ＭＳ Ｐゴシック" charset="0"/>
              </a:rPr>
              <a:t>Use the hole whose size is equal to the need, or if none is equal, the hole that is larger but closest in size</a:t>
            </a:r>
          </a:p>
          <a:p>
            <a:pPr lvl="1" eaLnBrk="1" hangingPunct="1"/>
            <a:r>
              <a:rPr lang="en-US" sz="2000">
                <a:latin typeface="Arial" charset="0"/>
                <a:ea typeface="ＭＳ Ｐゴシック" charset="0"/>
              </a:rPr>
              <a:t>Rationale?</a:t>
            </a:r>
          </a:p>
          <a:p>
            <a:pPr eaLnBrk="1" hangingPunct="1"/>
            <a:r>
              <a:rPr lang="en-US" sz="2400">
                <a:latin typeface="Arial" charset="0"/>
                <a:ea typeface="ＭＳ Ｐゴシック" charset="0"/>
                <a:cs typeface="ＭＳ Ｐゴシック" charset="0"/>
              </a:rPr>
              <a:t>Worst fit</a:t>
            </a:r>
          </a:p>
          <a:p>
            <a:pPr lvl="1" eaLnBrk="1" hangingPunct="1"/>
            <a:r>
              <a:rPr lang="en-US" sz="2000">
                <a:latin typeface="Arial" charset="0"/>
                <a:ea typeface="ＭＳ Ｐゴシック" charset="0"/>
              </a:rPr>
              <a:t>Use the largest available hole</a:t>
            </a:r>
          </a:p>
          <a:p>
            <a:pPr lvl="1" eaLnBrk="1" hangingPunct="1"/>
            <a:r>
              <a:rPr lang="en-US" sz="2000">
                <a:latin typeface="Arial" charset="0"/>
                <a:ea typeface="ＭＳ Ｐゴシック" charset="0"/>
              </a:rPr>
              <a:t>Rationale?</a:t>
            </a:r>
          </a:p>
        </p:txBody>
      </p:sp>
      <p:sp>
        <p:nvSpPr>
          <p:cNvPr id="1946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1946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F2962360-752F-D943-98F9-752DE9C5EA76}" type="slidenum">
              <a:rPr lang="en-US"/>
              <a:pPr/>
              <a:t>19</a:t>
            </a:fld>
            <a:endParaRPr lang="en-US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Example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>
                <a:latin typeface="Arial" charset="0"/>
                <a:ea typeface="ＭＳ Ｐゴシック" charset="0"/>
                <a:cs typeface="ＭＳ Ｐゴシック" charset="0"/>
              </a:rPr>
              <a:t>Consider a system in which memory consists of the following hole sizes in memory order: </a:t>
            </a:r>
          </a:p>
          <a:p>
            <a:pPr lvl="1"/>
            <a:r>
              <a:rPr lang="en-US" sz="2400">
                <a:latin typeface="Arial" charset="0"/>
                <a:ea typeface="ＭＳ Ｐゴシック" charset="0"/>
              </a:rPr>
              <a:t>10K, 4K, 20K, 18K, 7K, 9K, 12K, and 15K. </a:t>
            </a:r>
          </a:p>
          <a:p>
            <a:pPr lvl="1"/>
            <a:r>
              <a:rPr lang="en-US" sz="2400">
                <a:latin typeface="Arial" charset="0"/>
                <a:ea typeface="ＭＳ Ｐゴシック" charset="0"/>
              </a:rPr>
              <a:t>Which hole is taken for successive requests of:  </a:t>
            </a:r>
          </a:p>
          <a:p>
            <a:pPr lvl="2"/>
            <a:r>
              <a:rPr lang="en-US" sz="2000">
                <a:latin typeface="Arial" charset="0"/>
                <a:ea typeface="ＭＳ Ｐゴシック" charset="0"/>
              </a:rPr>
              <a:t>12K  </a:t>
            </a:r>
          </a:p>
          <a:p>
            <a:pPr lvl="2"/>
            <a:r>
              <a:rPr lang="en-US" sz="2000">
                <a:latin typeface="Arial" charset="0"/>
                <a:ea typeface="ＭＳ Ｐゴシック" charset="0"/>
              </a:rPr>
              <a:t>10K  </a:t>
            </a:r>
          </a:p>
          <a:p>
            <a:pPr lvl="2"/>
            <a:r>
              <a:rPr lang="en-US" sz="2000">
                <a:latin typeface="Arial" charset="0"/>
                <a:ea typeface="ＭＳ Ｐゴシック" charset="0"/>
              </a:rPr>
              <a:t>9K </a:t>
            </a:r>
          </a:p>
        </p:txBody>
      </p:sp>
      <p:sp>
        <p:nvSpPr>
          <p:cNvPr id="2048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2048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0BB818EC-8E5B-DB40-ADB3-74428C1B2108}" type="slidenum">
              <a:rPr lang="en-US"/>
              <a:pPr/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Example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>
                <a:latin typeface="Arial" charset="0"/>
                <a:ea typeface="ＭＳ Ｐゴシック" charset="0"/>
                <a:cs typeface="ＭＳ Ｐゴシック" charset="0"/>
              </a:rPr>
              <a:t>Consider a system in which memory consists of the following hole sizes in memory order: </a:t>
            </a:r>
          </a:p>
          <a:p>
            <a:pPr lvl="1"/>
            <a:r>
              <a:rPr lang="en-US" sz="2400">
                <a:latin typeface="Arial" charset="0"/>
                <a:ea typeface="ＭＳ Ｐゴシック" charset="0"/>
              </a:rPr>
              <a:t>10K, 4K, 20K, 18K, 7K, 9K, 12K, and 15K. </a:t>
            </a:r>
          </a:p>
          <a:p>
            <a:pPr lvl="1"/>
            <a:r>
              <a:rPr lang="en-US" sz="2400">
                <a:latin typeface="Arial" charset="0"/>
                <a:ea typeface="ＭＳ Ｐゴシック" charset="0"/>
              </a:rPr>
              <a:t>Which hole is taken for successive requests of:  </a:t>
            </a:r>
          </a:p>
          <a:p>
            <a:pPr lvl="2"/>
            <a:r>
              <a:rPr lang="en-US" sz="2000">
                <a:latin typeface="Arial" charset="0"/>
                <a:ea typeface="ＭＳ Ｐゴシック" charset="0"/>
              </a:rPr>
              <a:t>12K  </a:t>
            </a:r>
          </a:p>
          <a:p>
            <a:pPr lvl="2"/>
            <a:r>
              <a:rPr lang="en-US" sz="2000">
                <a:latin typeface="Arial" charset="0"/>
                <a:ea typeface="ＭＳ Ｐゴシック" charset="0"/>
              </a:rPr>
              <a:t>10K  </a:t>
            </a:r>
          </a:p>
          <a:p>
            <a:pPr lvl="2"/>
            <a:r>
              <a:rPr lang="en-US" sz="2000">
                <a:latin typeface="Arial" charset="0"/>
                <a:ea typeface="ＭＳ Ｐゴシック" charset="0"/>
              </a:rPr>
              <a:t>9K </a:t>
            </a:r>
          </a:p>
        </p:txBody>
      </p:sp>
      <p:sp>
        <p:nvSpPr>
          <p:cNvPr id="2150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2150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5C5A92CD-D58B-AC4D-A6A5-E54F2829CFB5}" type="slidenum">
              <a:rPr lang="en-US"/>
              <a:pPr/>
              <a:t>21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581400" y="4876800"/>
          <a:ext cx="3829050" cy="990600"/>
        </p:xfrm>
        <a:graphic>
          <a:graphicData uri="http://schemas.openxmlformats.org/drawingml/2006/table">
            <a:tbl>
              <a:tblPr/>
              <a:tblGrid>
                <a:gridCol w="1276350"/>
                <a:gridCol w="1276350"/>
                <a:gridCol w="1276350"/>
              </a:tblGrid>
              <a:tr h="990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First fit: 20K, 10K, 18K.   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Best fit: 12K, 10K, 9K.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Worst fit: 20K, 18K, and 15K. 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Storage Placement Strategies</a:t>
            </a:r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>
                <a:latin typeface="Arial" charset="0"/>
                <a:ea typeface="ＭＳ Ｐゴシック" charset="0"/>
                <a:cs typeface="ＭＳ Ｐゴシック" charset="0"/>
              </a:rPr>
              <a:t>Best fit</a:t>
            </a:r>
          </a:p>
          <a:p>
            <a:pPr lvl="1"/>
            <a:r>
              <a:rPr lang="en-US" sz="2000">
                <a:latin typeface="Arial" charset="0"/>
                <a:ea typeface="ＭＳ Ｐゴシック" charset="0"/>
              </a:rPr>
              <a:t>Produces the smallest leftover hole</a:t>
            </a:r>
          </a:p>
          <a:p>
            <a:pPr lvl="1"/>
            <a:r>
              <a:rPr lang="en-US" sz="2000">
                <a:latin typeface="Arial" charset="0"/>
                <a:ea typeface="ＭＳ Ｐゴシック" charset="0"/>
              </a:rPr>
              <a:t>Creates small holes that cannot be used </a:t>
            </a:r>
          </a:p>
          <a:p>
            <a:r>
              <a:rPr lang="en-US" sz="2400">
                <a:latin typeface="Arial" charset="0"/>
                <a:ea typeface="ＭＳ Ｐゴシック" charset="0"/>
                <a:cs typeface="ＭＳ Ｐゴシック" charset="0"/>
              </a:rPr>
              <a:t>Worst Fit</a:t>
            </a:r>
          </a:p>
          <a:p>
            <a:pPr lvl="1"/>
            <a:r>
              <a:rPr lang="en-US" sz="2000">
                <a:latin typeface="Arial" charset="0"/>
                <a:ea typeface="ＭＳ Ｐゴシック" charset="0"/>
              </a:rPr>
              <a:t>Produces the largest leftover hole</a:t>
            </a:r>
          </a:p>
          <a:p>
            <a:pPr lvl="1"/>
            <a:r>
              <a:rPr lang="en-US" sz="2000">
                <a:latin typeface="Arial" charset="0"/>
                <a:ea typeface="ＭＳ Ｐゴシック" charset="0"/>
              </a:rPr>
              <a:t>Difficult to run large programs </a:t>
            </a:r>
          </a:p>
          <a:p>
            <a:r>
              <a:rPr lang="en-US" sz="2400">
                <a:latin typeface="Arial" charset="0"/>
                <a:ea typeface="ＭＳ Ｐゴシック" charset="0"/>
                <a:cs typeface="ＭＳ Ｐゴシック" charset="0"/>
              </a:rPr>
              <a:t>First Fit</a:t>
            </a:r>
          </a:p>
          <a:p>
            <a:pPr lvl="1"/>
            <a:r>
              <a:rPr lang="en-US" sz="2000">
                <a:latin typeface="Arial" charset="0"/>
                <a:ea typeface="ＭＳ Ｐゴシック" charset="0"/>
              </a:rPr>
              <a:t>Creates average size holes </a:t>
            </a:r>
          </a:p>
          <a:p>
            <a:pPr lvl="1"/>
            <a:endParaRPr lang="en-US" sz="2000">
              <a:latin typeface="Arial" charset="0"/>
              <a:ea typeface="ＭＳ Ｐゴシック" charset="0"/>
            </a:endParaRPr>
          </a:p>
          <a:p>
            <a:r>
              <a:rPr lang="en-US" sz="2400">
                <a:latin typeface="Arial" charset="0"/>
                <a:ea typeface="ＭＳ Ｐゴシック" charset="0"/>
                <a:cs typeface="ＭＳ Ｐゴシック" charset="0"/>
              </a:rPr>
              <a:t>First-fit and best-fit better than worst-fit in terms of speed and storage utilization</a:t>
            </a:r>
          </a:p>
        </p:txBody>
      </p:sp>
      <p:sp>
        <p:nvSpPr>
          <p:cNvPr id="2253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2253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96374AB9-D1C6-0E45-A151-E60BAB0C57C6}" type="slidenum">
              <a:rPr lang="en-US"/>
              <a:pPr/>
              <a:t>22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Fragmentation</a:t>
            </a:r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External Fragmentation </a:t>
            </a:r>
          </a:p>
          <a:p>
            <a:pPr lvl="1"/>
            <a:r>
              <a:rPr lang="en-US">
                <a:latin typeface="Arial" charset="0"/>
                <a:ea typeface="ＭＳ Ｐゴシック" charset="0"/>
              </a:rPr>
              <a:t>Memory space exists to satisfy a request, but it is not contiguous</a:t>
            </a:r>
          </a:p>
          <a:p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Internal Fragmentation </a:t>
            </a:r>
          </a:p>
          <a:p>
            <a:pPr lvl="1"/>
            <a:r>
              <a:rPr lang="en-US">
                <a:latin typeface="Arial" charset="0"/>
                <a:ea typeface="ＭＳ Ｐゴシック" charset="0"/>
              </a:rPr>
              <a:t>Allocated memory may be slightly larger than requested memory</a:t>
            </a:r>
          </a:p>
          <a:p>
            <a:pPr lvl="1"/>
            <a:r>
              <a:rPr lang="en-US">
                <a:latin typeface="Arial" charset="0"/>
                <a:ea typeface="ＭＳ Ｐゴシック" charset="0"/>
              </a:rPr>
              <a:t>The size difference is memory internal to a partition, but not being used</a:t>
            </a:r>
          </a:p>
        </p:txBody>
      </p:sp>
      <p:sp>
        <p:nvSpPr>
          <p:cNvPr id="2355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2355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3C4D89D6-E286-6C48-9271-F13F95EC982A}" type="slidenum">
              <a:rPr lang="en-US"/>
              <a:pPr/>
              <a:t>23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Compaction</a:t>
            </a:r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Reduce external fragmentation by compaction</a:t>
            </a:r>
          </a:p>
          <a:p>
            <a:pPr lvl="1"/>
            <a:r>
              <a:rPr lang="en-US">
                <a:latin typeface="Arial" charset="0"/>
                <a:ea typeface="ＭＳ Ｐゴシック" charset="0"/>
              </a:rPr>
              <a:t>Shuffle memory contents to place all free memory together in one large block</a:t>
            </a:r>
          </a:p>
          <a:p>
            <a:pPr lvl="1"/>
            <a:r>
              <a:rPr lang="en-US">
                <a:latin typeface="Arial" charset="0"/>
                <a:ea typeface="ＭＳ Ｐゴシック" charset="0"/>
              </a:rPr>
              <a:t>Compaction is possible only if relocation is dynamic, and is done at execution time</a:t>
            </a:r>
          </a:p>
        </p:txBody>
      </p:sp>
      <p:sp>
        <p:nvSpPr>
          <p:cNvPr id="2458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2458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557FC84F-CF67-9940-B1E8-506E9336EA9A}" type="slidenum">
              <a:rPr lang="en-US"/>
              <a:pPr/>
              <a:t>24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Solve Fragmentation w. Compaction</a:t>
            </a:r>
          </a:p>
        </p:txBody>
      </p:sp>
      <p:sp>
        <p:nvSpPr>
          <p:cNvPr id="25603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2560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392277A3-2D53-D34C-9237-8A9819B7C2A8}" type="slidenum">
              <a:rPr lang="en-US"/>
              <a:pPr/>
              <a:t>25</a:t>
            </a:fld>
            <a:endParaRPr lang="en-US"/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1066800" y="2057400"/>
            <a:ext cx="7620000" cy="381000"/>
          </a:xfrm>
          <a:prstGeom prst="rect">
            <a:avLst/>
          </a:prstGeom>
          <a:solidFill>
            <a:schemeClr val="accent3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2000">
              <a:latin typeface="+mn-lt"/>
              <a:ea typeface="ＭＳ Ｐゴシック" charset="-128"/>
              <a:cs typeface="+mn-cs"/>
            </a:endParaRP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1066800" y="2057400"/>
            <a:ext cx="1143000" cy="381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000">
                <a:latin typeface="+mn-lt"/>
                <a:ea typeface="ＭＳ Ｐゴシック" charset="-128"/>
                <a:cs typeface="+mn-cs"/>
              </a:rPr>
              <a:t>Monitor</a:t>
            </a:r>
          </a:p>
        </p:txBody>
      </p:sp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4495800" y="2057400"/>
            <a:ext cx="990600" cy="381000"/>
          </a:xfrm>
          <a:prstGeom prst="rect">
            <a:avLst/>
          </a:prstGeom>
          <a:solidFill>
            <a:srgbClr val="C1F3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000" dirty="0">
                <a:latin typeface="+mn-lt"/>
                <a:ea typeface="ＭＳ Ｐゴシック" charset="-128"/>
                <a:cs typeface="+mn-cs"/>
              </a:rPr>
              <a:t>Job 3</a:t>
            </a:r>
          </a:p>
        </p:txBody>
      </p:sp>
      <p:sp>
        <p:nvSpPr>
          <p:cNvPr id="13" name="Text Box 6"/>
          <p:cNvSpPr txBox="1">
            <a:spLocks noChangeArrowheads="1"/>
          </p:cNvSpPr>
          <p:nvPr/>
        </p:nvSpPr>
        <p:spPr bwMode="auto">
          <a:xfrm>
            <a:off x="7696200" y="1981200"/>
            <a:ext cx="712788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000">
                <a:latin typeface="+mn-lt"/>
                <a:ea typeface="ＭＳ Ｐゴシック" charset="-128"/>
                <a:cs typeface="+mn-cs"/>
              </a:rPr>
              <a:t>Free</a:t>
            </a:r>
          </a:p>
        </p:txBody>
      </p:sp>
      <p:sp>
        <p:nvSpPr>
          <p:cNvPr id="14" name="Rectangle 7"/>
          <p:cNvSpPr>
            <a:spLocks noChangeArrowheads="1"/>
          </p:cNvSpPr>
          <p:nvPr/>
        </p:nvSpPr>
        <p:spPr bwMode="auto">
          <a:xfrm>
            <a:off x="3124200" y="2057400"/>
            <a:ext cx="914400" cy="3810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000" dirty="0">
                <a:latin typeface="+mn-lt"/>
                <a:ea typeface="ＭＳ Ｐゴシック" charset="-128"/>
                <a:cs typeface="+mn-cs"/>
              </a:rPr>
              <a:t>Job 5</a:t>
            </a:r>
          </a:p>
        </p:txBody>
      </p:sp>
      <p:sp>
        <p:nvSpPr>
          <p:cNvPr id="15" name="Rectangle 8"/>
          <p:cNvSpPr>
            <a:spLocks noChangeArrowheads="1"/>
          </p:cNvSpPr>
          <p:nvPr/>
        </p:nvSpPr>
        <p:spPr bwMode="auto">
          <a:xfrm>
            <a:off x="7543800" y="2057400"/>
            <a:ext cx="990600" cy="381000"/>
          </a:xfrm>
          <a:prstGeom prst="rect">
            <a:avLst/>
          </a:prstGeom>
          <a:solidFill>
            <a:srgbClr val="FBD7A3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000" dirty="0">
                <a:latin typeface="+mn-lt"/>
                <a:ea typeface="ＭＳ Ｐゴシック" charset="-128"/>
                <a:cs typeface="+mn-cs"/>
              </a:rPr>
              <a:t>Job 6</a:t>
            </a:r>
          </a:p>
        </p:txBody>
      </p:sp>
      <p:sp>
        <p:nvSpPr>
          <p:cNvPr id="16" name="Rectangle 9"/>
          <p:cNvSpPr>
            <a:spLocks noChangeArrowheads="1"/>
          </p:cNvSpPr>
          <p:nvPr/>
        </p:nvSpPr>
        <p:spPr bwMode="auto">
          <a:xfrm>
            <a:off x="2209800" y="2057400"/>
            <a:ext cx="685800" cy="3810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000" dirty="0">
                <a:latin typeface="+mn-lt"/>
                <a:ea typeface="ＭＳ Ｐゴシック" charset="-128"/>
                <a:cs typeface="+mn-cs"/>
              </a:rPr>
              <a:t>Job 7</a:t>
            </a:r>
          </a:p>
        </p:txBody>
      </p:sp>
      <p:sp>
        <p:nvSpPr>
          <p:cNvPr id="17" name="Rectangle 10"/>
          <p:cNvSpPr>
            <a:spLocks noChangeArrowheads="1"/>
          </p:cNvSpPr>
          <p:nvPr/>
        </p:nvSpPr>
        <p:spPr bwMode="auto">
          <a:xfrm>
            <a:off x="5486400" y="2057400"/>
            <a:ext cx="1295400" cy="381000"/>
          </a:xfrm>
          <a:prstGeom prst="rect">
            <a:avLst/>
          </a:prstGeom>
          <a:solidFill>
            <a:srgbClr val="FFCC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000" dirty="0">
                <a:latin typeface="+mn-lt"/>
                <a:ea typeface="ＭＳ Ｐゴシック" charset="-128"/>
                <a:cs typeface="+mn-cs"/>
              </a:rPr>
              <a:t>Job 8</a:t>
            </a:r>
          </a:p>
        </p:txBody>
      </p:sp>
      <p:sp>
        <p:nvSpPr>
          <p:cNvPr id="18" name="Text Box 11"/>
          <p:cNvSpPr txBox="1">
            <a:spLocks noChangeArrowheads="1"/>
          </p:cNvSpPr>
          <p:nvPr/>
        </p:nvSpPr>
        <p:spPr bwMode="auto">
          <a:xfrm>
            <a:off x="606425" y="2057400"/>
            <a:ext cx="3270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000">
                <a:latin typeface="+mn-lt"/>
                <a:ea typeface="ＭＳ Ｐゴシック" charset="-128"/>
                <a:cs typeface="+mn-cs"/>
              </a:rPr>
              <a:t>5</a:t>
            </a:r>
          </a:p>
        </p:txBody>
      </p:sp>
      <p:sp>
        <p:nvSpPr>
          <p:cNvPr id="19" name="Rectangle 12"/>
          <p:cNvSpPr>
            <a:spLocks noChangeArrowheads="1"/>
          </p:cNvSpPr>
          <p:nvPr/>
        </p:nvSpPr>
        <p:spPr bwMode="auto">
          <a:xfrm>
            <a:off x="1066800" y="2876550"/>
            <a:ext cx="7620000" cy="381000"/>
          </a:xfrm>
          <a:prstGeom prst="rect">
            <a:avLst/>
          </a:prstGeom>
          <a:solidFill>
            <a:schemeClr val="accent3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2000">
              <a:latin typeface="+mn-lt"/>
              <a:ea typeface="ＭＳ Ｐゴシック" charset="-128"/>
              <a:cs typeface="+mn-cs"/>
            </a:endParaRPr>
          </a:p>
        </p:txBody>
      </p:sp>
      <p:sp>
        <p:nvSpPr>
          <p:cNvPr id="20" name="Rectangle 13"/>
          <p:cNvSpPr>
            <a:spLocks noChangeArrowheads="1"/>
          </p:cNvSpPr>
          <p:nvPr/>
        </p:nvSpPr>
        <p:spPr bwMode="auto">
          <a:xfrm>
            <a:off x="1066800" y="2876550"/>
            <a:ext cx="1143000" cy="381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000">
                <a:latin typeface="+mn-lt"/>
                <a:ea typeface="ＭＳ Ｐゴシック" charset="-128"/>
                <a:cs typeface="+mn-cs"/>
              </a:rPr>
              <a:t>Monitor</a:t>
            </a:r>
          </a:p>
        </p:txBody>
      </p:sp>
      <p:sp>
        <p:nvSpPr>
          <p:cNvPr id="21" name="Rectangle 14"/>
          <p:cNvSpPr>
            <a:spLocks noChangeArrowheads="1"/>
          </p:cNvSpPr>
          <p:nvPr/>
        </p:nvSpPr>
        <p:spPr bwMode="auto">
          <a:xfrm>
            <a:off x="4495800" y="2876550"/>
            <a:ext cx="990600" cy="381000"/>
          </a:xfrm>
          <a:prstGeom prst="rect">
            <a:avLst/>
          </a:prstGeom>
          <a:solidFill>
            <a:srgbClr val="C1F3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000">
                <a:latin typeface="+mn-lt"/>
                <a:ea typeface="ＭＳ Ｐゴシック" charset="-128"/>
                <a:cs typeface="+mn-cs"/>
              </a:rPr>
              <a:t>Job 3</a:t>
            </a:r>
          </a:p>
        </p:txBody>
      </p:sp>
      <p:sp>
        <p:nvSpPr>
          <p:cNvPr id="22" name="Rectangle 16"/>
          <p:cNvSpPr>
            <a:spLocks noChangeArrowheads="1"/>
          </p:cNvSpPr>
          <p:nvPr/>
        </p:nvSpPr>
        <p:spPr bwMode="auto">
          <a:xfrm>
            <a:off x="2895600" y="2876550"/>
            <a:ext cx="914400" cy="3810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000">
                <a:latin typeface="+mn-lt"/>
                <a:ea typeface="ＭＳ Ｐゴシック" charset="-128"/>
                <a:cs typeface="+mn-cs"/>
              </a:rPr>
              <a:t>Job 5</a:t>
            </a:r>
          </a:p>
        </p:txBody>
      </p:sp>
      <p:sp>
        <p:nvSpPr>
          <p:cNvPr id="23" name="Rectangle 17"/>
          <p:cNvSpPr>
            <a:spLocks noChangeArrowheads="1"/>
          </p:cNvSpPr>
          <p:nvPr/>
        </p:nvSpPr>
        <p:spPr bwMode="auto">
          <a:xfrm>
            <a:off x="7543800" y="2876550"/>
            <a:ext cx="990600" cy="381000"/>
          </a:xfrm>
          <a:prstGeom prst="rect">
            <a:avLst/>
          </a:prstGeom>
          <a:solidFill>
            <a:srgbClr val="FBD7A3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000">
                <a:latin typeface="+mn-lt"/>
                <a:ea typeface="ＭＳ Ｐゴシック" charset="-128"/>
                <a:cs typeface="+mn-cs"/>
              </a:rPr>
              <a:t>Job 6</a:t>
            </a:r>
          </a:p>
        </p:txBody>
      </p:sp>
      <p:sp>
        <p:nvSpPr>
          <p:cNvPr id="24" name="Rectangle 18"/>
          <p:cNvSpPr>
            <a:spLocks noChangeArrowheads="1"/>
          </p:cNvSpPr>
          <p:nvPr/>
        </p:nvSpPr>
        <p:spPr bwMode="auto">
          <a:xfrm>
            <a:off x="2209800" y="2876550"/>
            <a:ext cx="685800" cy="3810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000">
                <a:latin typeface="+mn-lt"/>
                <a:ea typeface="ＭＳ Ｐゴシック" charset="-128"/>
                <a:cs typeface="+mn-cs"/>
              </a:rPr>
              <a:t>Job 7</a:t>
            </a:r>
          </a:p>
        </p:txBody>
      </p:sp>
      <p:sp>
        <p:nvSpPr>
          <p:cNvPr id="25" name="Rectangle 19"/>
          <p:cNvSpPr>
            <a:spLocks noChangeArrowheads="1"/>
          </p:cNvSpPr>
          <p:nvPr/>
        </p:nvSpPr>
        <p:spPr bwMode="auto">
          <a:xfrm>
            <a:off x="5486400" y="2876550"/>
            <a:ext cx="1295400" cy="381000"/>
          </a:xfrm>
          <a:prstGeom prst="rect">
            <a:avLst/>
          </a:prstGeom>
          <a:solidFill>
            <a:srgbClr val="FFCC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000" dirty="0">
                <a:latin typeface="+mn-lt"/>
                <a:ea typeface="ＭＳ Ｐゴシック" charset="-128"/>
                <a:cs typeface="+mn-cs"/>
              </a:rPr>
              <a:t>Job 8</a:t>
            </a:r>
          </a:p>
        </p:txBody>
      </p:sp>
      <p:sp>
        <p:nvSpPr>
          <p:cNvPr id="26" name="Text Box 20"/>
          <p:cNvSpPr txBox="1">
            <a:spLocks noChangeArrowheads="1"/>
          </p:cNvSpPr>
          <p:nvPr/>
        </p:nvSpPr>
        <p:spPr bwMode="auto">
          <a:xfrm>
            <a:off x="606425" y="2876550"/>
            <a:ext cx="3270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000">
                <a:latin typeface="+mn-lt"/>
                <a:ea typeface="ＭＳ Ｐゴシック" charset="-128"/>
                <a:cs typeface="+mn-cs"/>
              </a:rPr>
              <a:t>6</a:t>
            </a:r>
          </a:p>
        </p:txBody>
      </p:sp>
      <p:sp>
        <p:nvSpPr>
          <p:cNvPr id="27" name="Rectangle 21"/>
          <p:cNvSpPr>
            <a:spLocks noChangeArrowheads="1"/>
          </p:cNvSpPr>
          <p:nvPr/>
        </p:nvSpPr>
        <p:spPr bwMode="auto">
          <a:xfrm>
            <a:off x="1066800" y="3714750"/>
            <a:ext cx="7620000" cy="381000"/>
          </a:xfrm>
          <a:prstGeom prst="rect">
            <a:avLst/>
          </a:prstGeom>
          <a:solidFill>
            <a:schemeClr val="accent3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2000">
              <a:latin typeface="+mn-lt"/>
              <a:ea typeface="ＭＳ Ｐゴシック" charset="-128"/>
              <a:cs typeface="+mn-cs"/>
            </a:endParaRPr>
          </a:p>
        </p:txBody>
      </p:sp>
      <p:sp>
        <p:nvSpPr>
          <p:cNvPr id="28" name="Rectangle 22"/>
          <p:cNvSpPr>
            <a:spLocks noChangeArrowheads="1"/>
          </p:cNvSpPr>
          <p:nvPr/>
        </p:nvSpPr>
        <p:spPr bwMode="auto">
          <a:xfrm>
            <a:off x="1066800" y="3714750"/>
            <a:ext cx="1143000" cy="381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000">
                <a:latin typeface="+mn-lt"/>
                <a:ea typeface="ＭＳ Ｐゴシック" charset="-128"/>
                <a:cs typeface="+mn-cs"/>
              </a:rPr>
              <a:t>Monitor</a:t>
            </a:r>
          </a:p>
        </p:txBody>
      </p:sp>
      <p:sp>
        <p:nvSpPr>
          <p:cNvPr id="29" name="Rectangle 23"/>
          <p:cNvSpPr>
            <a:spLocks noChangeArrowheads="1"/>
          </p:cNvSpPr>
          <p:nvPr/>
        </p:nvSpPr>
        <p:spPr bwMode="auto">
          <a:xfrm>
            <a:off x="3810000" y="3714750"/>
            <a:ext cx="990600" cy="381000"/>
          </a:xfrm>
          <a:prstGeom prst="rect">
            <a:avLst/>
          </a:prstGeom>
          <a:solidFill>
            <a:srgbClr val="C1F3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000">
                <a:latin typeface="+mn-lt"/>
                <a:ea typeface="ＭＳ Ｐゴシック" charset="-128"/>
                <a:cs typeface="+mn-cs"/>
              </a:rPr>
              <a:t>Job 3</a:t>
            </a:r>
          </a:p>
        </p:txBody>
      </p:sp>
      <p:sp>
        <p:nvSpPr>
          <p:cNvPr id="30" name="Rectangle 25"/>
          <p:cNvSpPr>
            <a:spLocks noChangeArrowheads="1"/>
          </p:cNvSpPr>
          <p:nvPr/>
        </p:nvSpPr>
        <p:spPr bwMode="auto">
          <a:xfrm>
            <a:off x="2895600" y="3714750"/>
            <a:ext cx="914400" cy="3810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000">
                <a:latin typeface="+mn-lt"/>
                <a:ea typeface="ＭＳ Ｐゴシック" charset="-128"/>
                <a:cs typeface="+mn-cs"/>
              </a:rPr>
              <a:t>Job 5</a:t>
            </a:r>
          </a:p>
        </p:txBody>
      </p:sp>
      <p:sp>
        <p:nvSpPr>
          <p:cNvPr id="31" name="Rectangle 26"/>
          <p:cNvSpPr>
            <a:spLocks noChangeArrowheads="1"/>
          </p:cNvSpPr>
          <p:nvPr/>
        </p:nvSpPr>
        <p:spPr bwMode="auto">
          <a:xfrm>
            <a:off x="7543800" y="3714750"/>
            <a:ext cx="990600" cy="381000"/>
          </a:xfrm>
          <a:prstGeom prst="rect">
            <a:avLst/>
          </a:prstGeom>
          <a:solidFill>
            <a:srgbClr val="FBD7A3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000">
                <a:latin typeface="+mn-lt"/>
                <a:ea typeface="ＭＳ Ｐゴシック" charset="-128"/>
                <a:cs typeface="+mn-cs"/>
              </a:rPr>
              <a:t>Job 6</a:t>
            </a:r>
          </a:p>
        </p:txBody>
      </p:sp>
      <p:sp>
        <p:nvSpPr>
          <p:cNvPr id="32" name="Rectangle 27"/>
          <p:cNvSpPr>
            <a:spLocks noChangeArrowheads="1"/>
          </p:cNvSpPr>
          <p:nvPr/>
        </p:nvSpPr>
        <p:spPr bwMode="auto">
          <a:xfrm>
            <a:off x="2209800" y="3714750"/>
            <a:ext cx="685800" cy="3810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000">
                <a:latin typeface="+mn-lt"/>
                <a:ea typeface="ＭＳ Ｐゴシック" charset="-128"/>
                <a:cs typeface="+mn-cs"/>
              </a:rPr>
              <a:t>Job 7</a:t>
            </a:r>
          </a:p>
        </p:txBody>
      </p:sp>
      <p:sp>
        <p:nvSpPr>
          <p:cNvPr id="33" name="Rectangle 28"/>
          <p:cNvSpPr>
            <a:spLocks noChangeArrowheads="1"/>
          </p:cNvSpPr>
          <p:nvPr/>
        </p:nvSpPr>
        <p:spPr bwMode="auto">
          <a:xfrm>
            <a:off x="5486400" y="3714750"/>
            <a:ext cx="1295400" cy="381000"/>
          </a:xfrm>
          <a:prstGeom prst="rect">
            <a:avLst/>
          </a:prstGeom>
          <a:solidFill>
            <a:srgbClr val="FFCC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000">
                <a:latin typeface="+mn-lt"/>
                <a:ea typeface="ＭＳ Ｐゴシック" charset="-128"/>
                <a:cs typeface="+mn-cs"/>
              </a:rPr>
              <a:t>Job 8</a:t>
            </a:r>
          </a:p>
        </p:txBody>
      </p:sp>
      <p:sp>
        <p:nvSpPr>
          <p:cNvPr id="34" name="Text Box 29"/>
          <p:cNvSpPr txBox="1">
            <a:spLocks noChangeArrowheads="1"/>
          </p:cNvSpPr>
          <p:nvPr/>
        </p:nvSpPr>
        <p:spPr bwMode="auto">
          <a:xfrm>
            <a:off x="606425" y="3714750"/>
            <a:ext cx="3270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000">
                <a:latin typeface="+mn-lt"/>
                <a:ea typeface="ＭＳ Ｐゴシック" charset="-128"/>
                <a:cs typeface="+mn-cs"/>
              </a:rPr>
              <a:t>7</a:t>
            </a:r>
          </a:p>
        </p:txBody>
      </p:sp>
      <p:sp>
        <p:nvSpPr>
          <p:cNvPr id="35" name="Rectangle 30"/>
          <p:cNvSpPr>
            <a:spLocks noChangeArrowheads="1"/>
          </p:cNvSpPr>
          <p:nvPr/>
        </p:nvSpPr>
        <p:spPr bwMode="auto">
          <a:xfrm>
            <a:off x="1066800" y="4552950"/>
            <a:ext cx="7620000" cy="381000"/>
          </a:xfrm>
          <a:prstGeom prst="rect">
            <a:avLst/>
          </a:prstGeom>
          <a:solidFill>
            <a:schemeClr val="accent3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2000">
              <a:latin typeface="+mn-lt"/>
              <a:ea typeface="ＭＳ Ｐゴシック" charset="-128"/>
              <a:cs typeface="+mn-cs"/>
            </a:endParaRPr>
          </a:p>
        </p:txBody>
      </p:sp>
      <p:sp>
        <p:nvSpPr>
          <p:cNvPr id="36" name="Rectangle 31"/>
          <p:cNvSpPr>
            <a:spLocks noChangeArrowheads="1"/>
          </p:cNvSpPr>
          <p:nvPr/>
        </p:nvSpPr>
        <p:spPr bwMode="auto">
          <a:xfrm>
            <a:off x="1066800" y="4552950"/>
            <a:ext cx="1143000" cy="381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000">
                <a:latin typeface="+mn-lt"/>
                <a:ea typeface="ＭＳ Ｐゴシック" charset="-128"/>
                <a:cs typeface="+mn-cs"/>
              </a:rPr>
              <a:t>Monitor</a:t>
            </a:r>
          </a:p>
        </p:txBody>
      </p:sp>
      <p:sp>
        <p:nvSpPr>
          <p:cNvPr id="37" name="Rectangle 32"/>
          <p:cNvSpPr>
            <a:spLocks noChangeArrowheads="1"/>
          </p:cNvSpPr>
          <p:nvPr/>
        </p:nvSpPr>
        <p:spPr bwMode="auto">
          <a:xfrm>
            <a:off x="3810000" y="4552950"/>
            <a:ext cx="990600" cy="381000"/>
          </a:xfrm>
          <a:prstGeom prst="rect">
            <a:avLst/>
          </a:prstGeom>
          <a:solidFill>
            <a:srgbClr val="C1F3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000">
                <a:latin typeface="+mn-lt"/>
                <a:ea typeface="ＭＳ Ｐゴシック" charset="-128"/>
                <a:cs typeface="+mn-cs"/>
              </a:rPr>
              <a:t>Job 3</a:t>
            </a:r>
          </a:p>
        </p:txBody>
      </p:sp>
      <p:sp>
        <p:nvSpPr>
          <p:cNvPr id="38" name="Rectangle 34"/>
          <p:cNvSpPr>
            <a:spLocks noChangeArrowheads="1"/>
          </p:cNvSpPr>
          <p:nvPr/>
        </p:nvSpPr>
        <p:spPr bwMode="auto">
          <a:xfrm>
            <a:off x="2895600" y="4552950"/>
            <a:ext cx="914400" cy="3810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000">
                <a:latin typeface="+mn-lt"/>
                <a:ea typeface="ＭＳ Ｐゴシック" charset="-128"/>
                <a:cs typeface="+mn-cs"/>
              </a:rPr>
              <a:t>Job 5</a:t>
            </a:r>
          </a:p>
        </p:txBody>
      </p:sp>
      <p:sp>
        <p:nvSpPr>
          <p:cNvPr id="39" name="Rectangle 35"/>
          <p:cNvSpPr>
            <a:spLocks noChangeArrowheads="1"/>
          </p:cNvSpPr>
          <p:nvPr/>
        </p:nvSpPr>
        <p:spPr bwMode="auto">
          <a:xfrm>
            <a:off x="7543800" y="4552950"/>
            <a:ext cx="990600" cy="381000"/>
          </a:xfrm>
          <a:prstGeom prst="rect">
            <a:avLst/>
          </a:prstGeom>
          <a:solidFill>
            <a:srgbClr val="FBD7A3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000">
                <a:latin typeface="+mn-lt"/>
                <a:ea typeface="ＭＳ Ｐゴシック" charset="-128"/>
                <a:cs typeface="+mn-cs"/>
              </a:rPr>
              <a:t>Job 6</a:t>
            </a:r>
          </a:p>
        </p:txBody>
      </p:sp>
      <p:sp>
        <p:nvSpPr>
          <p:cNvPr id="40" name="Rectangle 36"/>
          <p:cNvSpPr>
            <a:spLocks noChangeArrowheads="1"/>
          </p:cNvSpPr>
          <p:nvPr/>
        </p:nvSpPr>
        <p:spPr bwMode="auto">
          <a:xfrm>
            <a:off x="2209800" y="4552950"/>
            <a:ext cx="685800" cy="3810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000">
                <a:latin typeface="+mn-lt"/>
                <a:ea typeface="ＭＳ Ｐゴシック" charset="-128"/>
                <a:cs typeface="+mn-cs"/>
              </a:rPr>
              <a:t>Job 7</a:t>
            </a:r>
          </a:p>
        </p:txBody>
      </p:sp>
      <p:sp>
        <p:nvSpPr>
          <p:cNvPr id="41" name="Rectangle 37"/>
          <p:cNvSpPr>
            <a:spLocks noChangeArrowheads="1"/>
          </p:cNvSpPr>
          <p:nvPr/>
        </p:nvSpPr>
        <p:spPr bwMode="auto">
          <a:xfrm>
            <a:off x="4800600" y="4552950"/>
            <a:ext cx="1295400" cy="381000"/>
          </a:xfrm>
          <a:prstGeom prst="rect">
            <a:avLst/>
          </a:prstGeom>
          <a:solidFill>
            <a:srgbClr val="FFCC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000">
                <a:latin typeface="+mn-lt"/>
                <a:ea typeface="ＭＳ Ｐゴシック" charset="-128"/>
                <a:cs typeface="+mn-cs"/>
              </a:rPr>
              <a:t>Job 8</a:t>
            </a:r>
          </a:p>
        </p:txBody>
      </p:sp>
      <p:sp>
        <p:nvSpPr>
          <p:cNvPr id="42" name="Text Box 38"/>
          <p:cNvSpPr txBox="1">
            <a:spLocks noChangeArrowheads="1"/>
          </p:cNvSpPr>
          <p:nvPr/>
        </p:nvSpPr>
        <p:spPr bwMode="auto">
          <a:xfrm>
            <a:off x="606425" y="4552950"/>
            <a:ext cx="3270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000">
                <a:latin typeface="+mn-lt"/>
                <a:ea typeface="ＭＳ Ｐゴシック" charset="-128"/>
                <a:cs typeface="+mn-cs"/>
              </a:rPr>
              <a:t>8</a:t>
            </a:r>
          </a:p>
        </p:txBody>
      </p:sp>
      <p:sp>
        <p:nvSpPr>
          <p:cNvPr id="43" name="Rectangle 39"/>
          <p:cNvSpPr>
            <a:spLocks noChangeArrowheads="1"/>
          </p:cNvSpPr>
          <p:nvPr/>
        </p:nvSpPr>
        <p:spPr bwMode="auto">
          <a:xfrm>
            <a:off x="1066800" y="5391150"/>
            <a:ext cx="7620000" cy="381000"/>
          </a:xfrm>
          <a:prstGeom prst="rect">
            <a:avLst/>
          </a:prstGeom>
          <a:solidFill>
            <a:schemeClr val="accent3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2000">
              <a:latin typeface="+mn-lt"/>
              <a:ea typeface="ＭＳ Ｐゴシック" charset="-128"/>
              <a:cs typeface="+mn-cs"/>
            </a:endParaRPr>
          </a:p>
        </p:txBody>
      </p:sp>
      <p:sp>
        <p:nvSpPr>
          <p:cNvPr id="44" name="Rectangle 40"/>
          <p:cNvSpPr>
            <a:spLocks noChangeArrowheads="1"/>
          </p:cNvSpPr>
          <p:nvPr/>
        </p:nvSpPr>
        <p:spPr bwMode="auto">
          <a:xfrm>
            <a:off x="1066800" y="5391150"/>
            <a:ext cx="1143000" cy="381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000">
                <a:latin typeface="+mn-lt"/>
                <a:ea typeface="ＭＳ Ｐゴシック" charset="-128"/>
                <a:cs typeface="+mn-cs"/>
              </a:rPr>
              <a:t>Monitor</a:t>
            </a:r>
          </a:p>
        </p:txBody>
      </p:sp>
      <p:sp>
        <p:nvSpPr>
          <p:cNvPr id="45" name="Rectangle 41"/>
          <p:cNvSpPr>
            <a:spLocks noChangeArrowheads="1"/>
          </p:cNvSpPr>
          <p:nvPr/>
        </p:nvSpPr>
        <p:spPr bwMode="auto">
          <a:xfrm>
            <a:off x="3810000" y="5391150"/>
            <a:ext cx="990600" cy="381000"/>
          </a:xfrm>
          <a:prstGeom prst="rect">
            <a:avLst/>
          </a:prstGeom>
          <a:solidFill>
            <a:srgbClr val="C1F3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000">
                <a:latin typeface="+mn-lt"/>
                <a:ea typeface="ＭＳ Ｐゴシック" charset="-128"/>
                <a:cs typeface="+mn-cs"/>
              </a:rPr>
              <a:t>Job 3</a:t>
            </a:r>
          </a:p>
        </p:txBody>
      </p:sp>
      <p:sp>
        <p:nvSpPr>
          <p:cNvPr id="46" name="Text Box 42"/>
          <p:cNvSpPr txBox="1">
            <a:spLocks noChangeArrowheads="1"/>
          </p:cNvSpPr>
          <p:nvPr/>
        </p:nvSpPr>
        <p:spPr bwMode="auto">
          <a:xfrm>
            <a:off x="7696200" y="5391150"/>
            <a:ext cx="712788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2000" dirty="0">
                <a:latin typeface="+mn-lt"/>
                <a:ea typeface="ＭＳ Ｐゴシック" charset="-128"/>
                <a:cs typeface="+mn-cs"/>
              </a:rPr>
              <a:t>Free</a:t>
            </a:r>
          </a:p>
        </p:txBody>
      </p:sp>
      <p:sp>
        <p:nvSpPr>
          <p:cNvPr id="47" name="Rectangle 43"/>
          <p:cNvSpPr>
            <a:spLocks noChangeArrowheads="1"/>
          </p:cNvSpPr>
          <p:nvPr/>
        </p:nvSpPr>
        <p:spPr bwMode="auto">
          <a:xfrm>
            <a:off x="2895600" y="5391150"/>
            <a:ext cx="914400" cy="3810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000">
                <a:latin typeface="+mn-lt"/>
                <a:ea typeface="ＭＳ Ｐゴシック" charset="-128"/>
                <a:cs typeface="+mn-cs"/>
              </a:rPr>
              <a:t>Job 5</a:t>
            </a:r>
          </a:p>
        </p:txBody>
      </p:sp>
      <p:sp>
        <p:nvSpPr>
          <p:cNvPr id="48" name="Rectangle 44"/>
          <p:cNvSpPr>
            <a:spLocks noChangeArrowheads="1"/>
          </p:cNvSpPr>
          <p:nvPr/>
        </p:nvSpPr>
        <p:spPr bwMode="auto">
          <a:xfrm>
            <a:off x="6096000" y="5391150"/>
            <a:ext cx="990600" cy="381000"/>
          </a:xfrm>
          <a:prstGeom prst="rect">
            <a:avLst/>
          </a:prstGeom>
          <a:solidFill>
            <a:srgbClr val="FBD7A3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000">
                <a:latin typeface="+mn-lt"/>
                <a:ea typeface="ＭＳ Ｐゴシック" charset="-128"/>
                <a:cs typeface="+mn-cs"/>
              </a:rPr>
              <a:t>Job 6</a:t>
            </a:r>
          </a:p>
        </p:txBody>
      </p:sp>
      <p:sp>
        <p:nvSpPr>
          <p:cNvPr id="49" name="Rectangle 45"/>
          <p:cNvSpPr>
            <a:spLocks noChangeArrowheads="1"/>
          </p:cNvSpPr>
          <p:nvPr/>
        </p:nvSpPr>
        <p:spPr bwMode="auto">
          <a:xfrm>
            <a:off x="2209800" y="5391150"/>
            <a:ext cx="685800" cy="3810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000">
                <a:latin typeface="+mn-lt"/>
                <a:ea typeface="ＭＳ Ｐゴシック" charset="-128"/>
                <a:cs typeface="+mn-cs"/>
              </a:rPr>
              <a:t>Job 7</a:t>
            </a:r>
          </a:p>
        </p:txBody>
      </p:sp>
      <p:sp>
        <p:nvSpPr>
          <p:cNvPr id="50" name="Rectangle 46"/>
          <p:cNvSpPr>
            <a:spLocks noChangeArrowheads="1"/>
          </p:cNvSpPr>
          <p:nvPr/>
        </p:nvSpPr>
        <p:spPr bwMode="auto">
          <a:xfrm>
            <a:off x="4800600" y="5391150"/>
            <a:ext cx="1295400" cy="381000"/>
          </a:xfrm>
          <a:prstGeom prst="rect">
            <a:avLst/>
          </a:prstGeom>
          <a:solidFill>
            <a:srgbClr val="FFCC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000">
                <a:latin typeface="+mn-lt"/>
                <a:ea typeface="ＭＳ Ｐゴシック" charset="-128"/>
                <a:cs typeface="+mn-cs"/>
              </a:rPr>
              <a:t>Job 8</a:t>
            </a:r>
          </a:p>
        </p:txBody>
      </p:sp>
      <p:sp>
        <p:nvSpPr>
          <p:cNvPr id="51" name="Text Box 47"/>
          <p:cNvSpPr txBox="1">
            <a:spLocks noChangeArrowheads="1"/>
          </p:cNvSpPr>
          <p:nvPr/>
        </p:nvSpPr>
        <p:spPr bwMode="auto">
          <a:xfrm>
            <a:off x="606425" y="5391150"/>
            <a:ext cx="3270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000">
                <a:latin typeface="+mn-lt"/>
                <a:ea typeface="ＭＳ Ｐゴシック" charset="-128"/>
                <a:cs typeface="+mn-cs"/>
              </a:rPr>
              <a:t>9</a:t>
            </a:r>
          </a:p>
        </p:txBody>
      </p:sp>
      <p:cxnSp>
        <p:nvCxnSpPr>
          <p:cNvPr id="52" name="Straight Arrow Connector 51"/>
          <p:cNvCxnSpPr>
            <a:cxnSpLocks noChangeShapeType="1"/>
          </p:cNvCxnSpPr>
          <p:nvPr/>
        </p:nvCxnSpPr>
        <p:spPr bwMode="auto">
          <a:xfrm rot="5400000">
            <a:off x="2781300" y="2552700"/>
            <a:ext cx="457200" cy="228600"/>
          </a:xfrm>
          <a:prstGeom prst="straightConnector1">
            <a:avLst/>
          </a:prstGeom>
          <a:noFill/>
          <a:ln w="28575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3" name="Straight Arrow Connector 52"/>
          <p:cNvCxnSpPr>
            <a:cxnSpLocks noChangeShapeType="1"/>
          </p:cNvCxnSpPr>
          <p:nvPr/>
        </p:nvCxnSpPr>
        <p:spPr bwMode="auto">
          <a:xfrm rot="5400000">
            <a:off x="3695700" y="2552700"/>
            <a:ext cx="457200" cy="228600"/>
          </a:xfrm>
          <a:prstGeom prst="straightConnector1">
            <a:avLst/>
          </a:prstGeom>
          <a:noFill/>
          <a:ln w="28575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4" name="Straight Arrow Connector 53"/>
          <p:cNvCxnSpPr>
            <a:cxnSpLocks noChangeShapeType="1"/>
          </p:cNvCxnSpPr>
          <p:nvPr/>
        </p:nvCxnSpPr>
        <p:spPr bwMode="auto">
          <a:xfrm rot="10800000" flipV="1">
            <a:off x="3810000" y="3276600"/>
            <a:ext cx="685800" cy="457200"/>
          </a:xfrm>
          <a:prstGeom prst="straightConnector1">
            <a:avLst/>
          </a:prstGeom>
          <a:noFill/>
          <a:ln w="28575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5" name="Straight Arrow Connector 54"/>
          <p:cNvCxnSpPr>
            <a:cxnSpLocks noChangeShapeType="1"/>
          </p:cNvCxnSpPr>
          <p:nvPr/>
        </p:nvCxnSpPr>
        <p:spPr bwMode="auto">
          <a:xfrm rot="10800000" flipV="1">
            <a:off x="4800600" y="3276600"/>
            <a:ext cx="685800" cy="457200"/>
          </a:xfrm>
          <a:prstGeom prst="straightConnector1">
            <a:avLst/>
          </a:prstGeom>
          <a:noFill/>
          <a:ln w="28575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" name="Straight Arrow Connector 55"/>
          <p:cNvCxnSpPr>
            <a:cxnSpLocks noChangeShapeType="1"/>
          </p:cNvCxnSpPr>
          <p:nvPr/>
        </p:nvCxnSpPr>
        <p:spPr bwMode="auto">
          <a:xfrm rot="10800000" flipV="1">
            <a:off x="4800600" y="4114800"/>
            <a:ext cx="685800" cy="457200"/>
          </a:xfrm>
          <a:prstGeom prst="straightConnector1">
            <a:avLst/>
          </a:prstGeom>
          <a:noFill/>
          <a:ln w="28575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7" name="Straight Arrow Connector 56"/>
          <p:cNvCxnSpPr>
            <a:cxnSpLocks noChangeShapeType="1"/>
          </p:cNvCxnSpPr>
          <p:nvPr/>
        </p:nvCxnSpPr>
        <p:spPr bwMode="auto">
          <a:xfrm rot="10800000" flipV="1">
            <a:off x="6096000" y="4114800"/>
            <a:ext cx="685800" cy="457200"/>
          </a:xfrm>
          <a:prstGeom prst="straightConnector1">
            <a:avLst/>
          </a:prstGeom>
          <a:noFill/>
          <a:ln w="28575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8" name="Straight Arrow Connector 57"/>
          <p:cNvCxnSpPr>
            <a:cxnSpLocks noChangeShapeType="1"/>
          </p:cNvCxnSpPr>
          <p:nvPr/>
        </p:nvCxnSpPr>
        <p:spPr bwMode="auto">
          <a:xfrm rot="10800000" flipV="1">
            <a:off x="6096000" y="4953000"/>
            <a:ext cx="1447800" cy="457200"/>
          </a:xfrm>
          <a:prstGeom prst="straightConnector1">
            <a:avLst/>
          </a:prstGeom>
          <a:noFill/>
          <a:ln w="28575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9" name="Straight Arrow Connector 58"/>
          <p:cNvCxnSpPr>
            <a:cxnSpLocks noChangeShapeType="1"/>
          </p:cNvCxnSpPr>
          <p:nvPr/>
        </p:nvCxnSpPr>
        <p:spPr bwMode="auto">
          <a:xfrm rot="10800000" flipV="1">
            <a:off x="7086600" y="4953000"/>
            <a:ext cx="1447800" cy="457200"/>
          </a:xfrm>
          <a:prstGeom prst="straightConnector1">
            <a:avLst/>
          </a:prstGeom>
          <a:noFill/>
          <a:ln w="28575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/>
      <p:bldP spid="43" grpId="0" animBg="1"/>
      <p:bldP spid="44" grpId="0" animBg="1"/>
      <p:bldP spid="45" grpId="0" animBg="1"/>
      <p:bldP spid="46" grpId="0"/>
      <p:bldP spid="47" grpId="0" animBg="1"/>
      <p:bldP spid="48" grpId="0" animBg="1"/>
      <p:bldP spid="49" grpId="0" animBg="1"/>
      <p:bldP spid="50" grpId="0" animBg="1"/>
      <p:bldP spid="5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Limitations of Swapping</a:t>
            </a:r>
          </a:p>
        </p:txBody>
      </p:sp>
      <p:sp>
        <p:nvSpPr>
          <p:cNvPr id="36867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latin typeface="Arial" charset="0"/>
                <a:ea typeface="ＭＳ Ｐゴシック" charset="0"/>
                <a:cs typeface="ＭＳ Ｐゴシック" charset="0"/>
              </a:rPr>
              <a:t>Problems with swapping</a:t>
            </a:r>
          </a:p>
          <a:p>
            <a:pPr lvl="1"/>
            <a:r>
              <a:rPr lang="en-US" sz="2400" dirty="0">
                <a:latin typeface="Arial" charset="0"/>
                <a:ea typeface="ＭＳ Ｐゴシック" charset="0"/>
              </a:rPr>
              <a:t>Process must fit into physical memory (impossible to run larger processes)</a:t>
            </a:r>
          </a:p>
          <a:p>
            <a:pPr lvl="1"/>
            <a:r>
              <a:rPr lang="en-US" sz="2400" dirty="0">
                <a:latin typeface="Arial" charset="0"/>
                <a:ea typeface="ＭＳ Ｐゴシック" charset="0"/>
              </a:rPr>
              <a:t>Memory becomes fragmented</a:t>
            </a:r>
          </a:p>
          <a:p>
            <a:pPr lvl="1"/>
            <a:r>
              <a:rPr lang="en-US" sz="2400" dirty="0">
                <a:latin typeface="Arial" charset="0"/>
                <a:ea typeface="ＭＳ Ｐゴシック" charset="0"/>
              </a:rPr>
              <a:t>Processes are either in memory or on disk</a:t>
            </a:r>
          </a:p>
          <a:p>
            <a:pPr lvl="2"/>
            <a:r>
              <a:rPr lang="en-US" sz="2000" dirty="0">
                <a:latin typeface="Arial" charset="0"/>
                <a:ea typeface="ＭＳ Ｐゴシック" charset="0"/>
              </a:rPr>
              <a:t>Half and half </a:t>
            </a:r>
            <a:r>
              <a:rPr lang="en-US" sz="2000" dirty="0" smtClean="0">
                <a:latin typeface="Arial" charset="0"/>
                <a:ea typeface="ＭＳ Ｐゴシック" charset="0"/>
              </a:rPr>
              <a:t>doesn’t </a:t>
            </a:r>
            <a:r>
              <a:rPr lang="en-US" sz="2000" dirty="0">
                <a:latin typeface="Arial" charset="0"/>
                <a:ea typeface="ＭＳ Ｐゴシック" charset="0"/>
              </a:rPr>
              <a:t>do any good</a:t>
            </a:r>
          </a:p>
        </p:txBody>
      </p:sp>
      <p:sp>
        <p:nvSpPr>
          <p:cNvPr id="26628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26629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E6D7C189-1131-844A-8134-D1CCD411E90B}" type="slidenum">
              <a:rPr lang="en-US"/>
              <a:pPr/>
              <a:t>26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Virtual memory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>
                <a:latin typeface="Arial" charset="0"/>
                <a:ea typeface="ＭＳ Ｐゴシック" charset="0"/>
                <a:cs typeface="ＭＳ Ｐゴシック" charset="0"/>
              </a:rPr>
              <a:t>Basic idea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Arial" charset="0"/>
                <a:ea typeface="ＭＳ Ｐゴシック" charset="0"/>
              </a:rPr>
              <a:t>Allow the OS to hand out more memory than exists on the system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Arial" charset="0"/>
                <a:ea typeface="ＭＳ Ｐゴシック" charset="0"/>
              </a:rPr>
              <a:t>Keep recently used stuff in physical memory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Arial" charset="0"/>
                <a:ea typeface="ＭＳ Ｐゴシック" charset="0"/>
              </a:rPr>
              <a:t>Move less recently used stuff to disk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Arial" charset="0"/>
                <a:ea typeface="ＭＳ Ｐゴシック" charset="0"/>
              </a:rPr>
              <a:t>Keep all of this hidden from processes</a:t>
            </a:r>
          </a:p>
          <a:p>
            <a:pPr>
              <a:lnSpc>
                <a:spcPct val="90000"/>
              </a:lnSpc>
            </a:pPr>
            <a:r>
              <a:rPr lang="en-US" sz="2800" dirty="0">
                <a:latin typeface="Arial" charset="0"/>
                <a:ea typeface="ＭＳ Ｐゴシック" charset="0"/>
                <a:cs typeface="ＭＳ Ｐゴシック" charset="0"/>
              </a:rPr>
              <a:t>Process view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Arial" charset="0"/>
                <a:ea typeface="ＭＳ Ｐゴシック" charset="0"/>
              </a:rPr>
              <a:t>Processes still see an address space from 0 – max address</a:t>
            </a:r>
          </a:p>
          <a:p>
            <a:pPr lvl="1">
              <a:lnSpc>
                <a:spcPct val="90000"/>
              </a:lnSpc>
            </a:pPr>
            <a:r>
              <a:rPr lang="en-US" sz="2400" dirty="0" smtClean="0">
                <a:latin typeface="Arial" charset="0"/>
                <a:ea typeface="ＭＳ Ｐゴシック" charset="0"/>
              </a:rPr>
              <a:t>Actual physical location (and movement) of memory handled </a:t>
            </a:r>
            <a:r>
              <a:rPr lang="en-US" sz="2400" dirty="0">
                <a:latin typeface="Arial" charset="0"/>
                <a:ea typeface="ＭＳ Ｐゴシック" charset="0"/>
              </a:rPr>
              <a:t>by the OS without process help</a:t>
            </a:r>
          </a:p>
        </p:txBody>
      </p:sp>
      <p:sp>
        <p:nvSpPr>
          <p:cNvPr id="2765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2765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F8693A1A-63FA-C046-AED2-5B081E76B948}" type="slidenum">
              <a:rPr lang="en-US"/>
              <a:pPr/>
              <a:t>27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Virtual Addresses</a:t>
            </a:r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latin typeface="Arial" charset="0"/>
                <a:ea typeface="ＭＳ Ｐゴシック" charset="0"/>
                <a:cs typeface="ＭＳ Ｐゴシック" charset="0"/>
              </a:rPr>
              <a:t>Virtual address</a:t>
            </a:r>
          </a:p>
          <a:p>
            <a:pPr lvl="1"/>
            <a:r>
              <a:rPr lang="en-US" sz="2400" dirty="0">
                <a:latin typeface="Arial" charset="0"/>
                <a:ea typeface="ＭＳ Ｐゴシック" charset="0"/>
              </a:rPr>
              <a:t>An address meaningful to the </a:t>
            </a:r>
            <a:r>
              <a:rPr lang="en-US" sz="2400" dirty="0">
                <a:solidFill>
                  <a:srgbClr val="FF0000"/>
                </a:solidFill>
                <a:latin typeface="Arial" charset="0"/>
                <a:ea typeface="ＭＳ Ｐゴシック" charset="0"/>
              </a:rPr>
              <a:t>user process</a:t>
            </a:r>
          </a:p>
          <a:p>
            <a:r>
              <a:rPr lang="en-US" sz="2800" dirty="0">
                <a:latin typeface="Arial" charset="0"/>
                <a:ea typeface="ＭＳ Ｐゴシック" charset="0"/>
                <a:cs typeface="ＭＳ Ｐゴシック" charset="0"/>
              </a:rPr>
              <a:t>Physical address</a:t>
            </a:r>
          </a:p>
          <a:p>
            <a:pPr lvl="1"/>
            <a:r>
              <a:rPr lang="en-US" sz="2400" dirty="0">
                <a:latin typeface="Arial" charset="0"/>
                <a:ea typeface="ＭＳ Ｐゴシック" charset="0"/>
              </a:rPr>
              <a:t>An address meaningful to the </a:t>
            </a:r>
            <a:r>
              <a:rPr lang="en-US" sz="2400" dirty="0">
                <a:solidFill>
                  <a:srgbClr val="FF0000"/>
                </a:solidFill>
                <a:latin typeface="Arial" charset="0"/>
                <a:ea typeface="ＭＳ Ｐゴシック" charset="0"/>
              </a:rPr>
              <a:t>physical memory</a:t>
            </a:r>
          </a:p>
          <a:p>
            <a:r>
              <a:rPr lang="en-US" sz="2800" dirty="0">
                <a:latin typeface="Arial" charset="0"/>
                <a:ea typeface="ＭＳ Ｐゴシック" charset="0"/>
                <a:cs typeface="ＭＳ Ｐゴシック" charset="0"/>
              </a:rPr>
              <a:t>Different jobs run at different </a:t>
            </a:r>
            <a:r>
              <a:rPr lang="en-US" sz="2800" dirty="0" err="1" smtClean="0">
                <a:latin typeface="Arial" charset="0"/>
                <a:ea typeface="ＭＳ Ｐゴシック" charset="0"/>
                <a:cs typeface="ＭＳ Ｐゴシック" charset="0"/>
              </a:rPr>
              <a:t>phy</a:t>
            </a:r>
            <a:r>
              <a:rPr lang="en-US" sz="2800" dirty="0" smtClean="0">
                <a:latin typeface="Arial" charset="0"/>
                <a:ea typeface="ＭＳ Ｐゴシック" charset="0"/>
                <a:cs typeface="ＭＳ Ｐゴシック" charset="0"/>
              </a:rPr>
              <a:t>. addresses</a:t>
            </a:r>
            <a:endParaRPr lang="en-US" sz="2800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lvl="1"/>
            <a:r>
              <a:rPr lang="en-US" sz="2400" dirty="0" smtClean="0">
                <a:latin typeface="Arial" charset="0"/>
                <a:ea typeface="ＭＳ Ｐゴシック" charset="0"/>
              </a:rPr>
              <a:t>But virtual address can be the same</a:t>
            </a:r>
            <a:endParaRPr lang="en-US" sz="2000" dirty="0" smtClean="0">
              <a:latin typeface="Arial" charset="0"/>
              <a:ea typeface="ＭＳ Ｐゴシック" charset="0"/>
            </a:endParaRPr>
          </a:p>
          <a:p>
            <a:pPr lvl="1"/>
            <a:r>
              <a:rPr lang="en-US" sz="2400" dirty="0" smtClean="0">
                <a:latin typeface="Arial" charset="0"/>
                <a:ea typeface="ＭＳ Ｐゴシック" charset="0"/>
              </a:rPr>
              <a:t>Program </a:t>
            </a:r>
            <a:r>
              <a:rPr lang="en-US" sz="2400" dirty="0">
                <a:latin typeface="Arial" charset="0"/>
                <a:ea typeface="ＭＳ Ｐゴシック" charset="0"/>
              </a:rPr>
              <a:t>never sees physical address</a:t>
            </a:r>
          </a:p>
          <a:p>
            <a:pPr lvl="1"/>
            <a:r>
              <a:rPr lang="en-US" sz="2400" dirty="0" smtClean="0">
                <a:latin typeface="Arial" charset="0"/>
                <a:ea typeface="ＭＳ Ｐゴシック" charset="0"/>
              </a:rPr>
              <a:t>Linker must know program’s starting memory address</a:t>
            </a:r>
            <a:endParaRPr lang="en-US" sz="2400" dirty="0">
              <a:latin typeface="Arial" charset="0"/>
              <a:ea typeface="ＭＳ Ｐゴシック" charset="0"/>
            </a:endParaRPr>
          </a:p>
        </p:txBody>
      </p:sp>
      <p:sp>
        <p:nvSpPr>
          <p:cNvPr id="2867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2867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3717B6E1-058B-0344-B66D-6B50016A0DDE}" type="slidenum">
              <a:rPr lang="en-US"/>
              <a:pPr/>
              <a:t>28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Multi-programming</a:t>
            </a:r>
          </a:p>
        </p:txBody>
      </p:sp>
      <p:sp>
        <p:nvSpPr>
          <p:cNvPr id="26627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latin typeface="Arial" charset="0"/>
                <a:ea typeface="ＭＳ Ｐゴシック" charset="0"/>
                <a:cs typeface="ＭＳ Ｐゴシック" charset="0"/>
              </a:rPr>
              <a:t>Multiple processes in memory at the same time</a:t>
            </a:r>
          </a:p>
          <a:p>
            <a:r>
              <a:rPr lang="en-US" sz="2400" dirty="0">
                <a:latin typeface="Arial" charset="0"/>
                <a:ea typeface="ＭＳ Ｐゴシック" charset="0"/>
              </a:rPr>
              <a:t>What do we really need?</a:t>
            </a:r>
          </a:p>
          <a:p>
            <a:pPr lvl="1"/>
            <a:r>
              <a:rPr lang="en-US" sz="2400" b="1" dirty="0">
                <a:latin typeface="Arial" charset="0"/>
                <a:ea typeface="ＭＳ Ｐゴシック" charset="0"/>
              </a:rPr>
              <a:t>Address translation</a:t>
            </a:r>
          </a:p>
          <a:p>
            <a:pPr lvl="2"/>
            <a:r>
              <a:rPr lang="en-US" dirty="0">
                <a:latin typeface="Arial" charset="0"/>
                <a:ea typeface="ＭＳ Ｐゴシック" charset="0"/>
              </a:rPr>
              <a:t>Translate every memory reference from </a:t>
            </a:r>
            <a:r>
              <a:rPr lang="en-US" dirty="0">
                <a:solidFill>
                  <a:srgbClr val="0000CC"/>
                </a:solidFill>
                <a:latin typeface="Arial" charset="0"/>
                <a:ea typeface="ＭＳ Ｐゴシック" charset="0"/>
              </a:rPr>
              <a:t>virtual</a:t>
            </a:r>
            <a:r>
              <a:rPr lang="en-US" dirty="0">
                <a:latin typeface="Arial" charset="0"/>
                <a:ea typeface="ＭＳ Ｐゴシック" charset="0"/>
              </a:rPr>
              <a:t> address to </a:t>
            </a:r>
            <a:r>
              <a:rPr lang="en-US" dirty="0">
                <a:solidFill>
                  <a:srgbClr val="0000CC"/>
                </a:solidFill>
                <a:latin typeface="Arial" charset="0"/>
                <a:ea typeface="ＭＳ Ｐゴシック" charset="0"/>
              </a:rPr>
              <a:t>physical</a:t>
            </a:r>
            <a:r>
              <a:rPr lang="en-US" dirty="0">
                <a:latin typeface="Arial" charset="0"/>
                <a:ea typeface="ＭＳ Ｐゴシック" charset="0"/>
              </a:rPr>
              <a:t> </a:t>
            </a:r>
            <a:r>
              <a:rPr lang="en-US" dirty="0" smtClean="0">
                <a:latin typeface="Arial" charset="0"/>
                <a:ea typeface="ＭＳ Ｐゴシック" charset="0"/>
              </a:rPr>
              <a:t>address</a:t>
            </a:r>
          </a:p>
          <a:p>
            <a:pPr lvl="2"/>
            <a:r>
              <a:rPr lang="en-US" dirty="0" smtClean="0">
                <a:latin typeface="Arial" charset="0"/>
                <a:ea typeface="ＭＳ Ｐゴシック" charset="0"/>
              </a:rPr>
              <a:t>Static before execution, or dynamic during execution?</a:t>
            </a:r>
            <a:endParaRPr lang="en-US" dirty="0">
              <a:latin typeface="Arial" charset="0"/>
              <a:ea typeface="ＭＳ Ｐゴシック" charset="0"/>
            </a:endParaRPr>
          </a:p>
          <a:p>
            <a:pPr lvl="1"/>
            <a:r>
              <a:rPr lang="en-US" sz="2400" b="1" dirty="0">
                <a:latin typeface="Arial" charset="0"/>
                <a:ea typeface="ＭＳ Ｐゴシック" charset="0"/>
              </a:rPr>
              <a:t>Protection</a:t>
            </a:r>
          </a:p>
          <a:p>
            <a:pPr lvl="2"/>
            <a:r>
              <a:rPr lang="en-US" dirty="0">
                <a:latin typeface="Arial" charset="0"/>
                <a:ea typeface="ＭＳ Ｐゴシック" charset="0"/>
              </a:rPr>
              <a:t>Support independent addresses spaces</a:t>
            </a:r>
          </a:p>
        </p:txBody>
      </p:sp>
      <p:sp>
        <p:nvSpPr>
          <p:cNvPr id="2970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2970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C7F0DE2F-937C-714D-8F43-076D86B96468}" type="slidenum">
              <a:rPr lang="en-US"/>
              <a:pPr/>
              <a:t>29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Dynamic Address Translation</a:t>
            </a:r>
          </a:p>
        </p:txBody>
      </p:sp>
      <p:sp>
        <p:nvSpPr>
          <p:cNvPr id="31747" name="Content Placeholder 2"/>
          <p:cNvSpPr>
            <a:spLocks noGrp="1"/>
          </p:cNvSpPr>
          <p:nvPr>
            <p:ph sz="half" idx="1"/>
          </p:nvPr>
        </p:nvSpPr>
        <p:spPr>
          <a:xfrm>
            <a:off x="949325" y="1981200"/>
            <a:ext cx="7737475" cy="4114800"/>
          </a:xfrm>
        </p:spPr>
        <p:txBody>
          <a:bodyPr/>
          <a:lstStyle/>
          <a:p>
            <a:r>
              <a:rPr lang="en-US" sz="2400">
                <a:latin typeface="Arial" charset="0"/>
                <a:ea typeface="ＭＳ Ｐゴシック" charset="0"/>
                <a:cs typeface="ＭＳ Ｐゴシック" charset="0"/>
              </a:rPr>
              <a:t>Load each process into contiguous regions of physical memory</a:t>
            </a:r>
          </a:p>
          <a:p>
            <a:endParaRPr lang="en-US" sz="2400">
              <a:latin typeface="Arial" charset="0"/>
              <a:ea typeface="ＭＳ Ｐゴシック" charset="0"/>
              <a:cs typeface="ＭＳ Ｐゴシック" charset="0"/>
            </a:endParaRPr>
          </a:p>
          <a:p>
            <a:r>
              <a:rPr lang="en-US" sz="2400">
                <a:latin typeface="Arial" charset="0"/>
                <a:ea typeface="ＭＳ Ｐゴシック" charset="0"/>
                <a:cs typeface="ＭＳ Ｐゴシック" charset="0"/>
              </a:rPr>
              <a:t>Logical or "Virtual" </a:t>
            </a:r>
            <a:br>
              <a:rPr lang="en-US" sz="2400">
                <a:latin typeface="Arial" charset="0"/>
                <a:ea typeface="ＭＳ Ｐゴシック" charset="0"/>
                <a:cs typeface="ＭＳ Ｐゴシック" charset="0"/>
              </a:rPr>
            </a:br>
            <a:r>
              <a:rPr lang="en-US" sz="2400">
                <a:latin typeface="Arial" charset="0"/>
                <a:ea typeface="ＭＳ Ｐゴシック" charset="0"/>
                <a:cs typeface="ＭＳ Ｐゴシック" charset="0"/>
              </a:rPr>
              <a:t>addresses</a:t>
            </a:r>
          </a:p>
          <a:p>
            <a:pPr lvl="1"/>
            <a:r>
              <a:rPr lang="en-US" sz="2000">
                <a:latin typeface="Arial" charset="0"/>
                <a:ea typeface="ＭＳ Ｐゴシック" charset="0"/>
              </a:rPr>
              <a:t>Logical address </a:t>
            </a:r>
            <a:br>
              <a:rPr lang="en-US" sz="2000">
                <a:latin typeface="Arial" charset="0"/>
                <a:ea typeface="ＭＳ Ｐゴシック" charset="0"/>
              </a:rPr>
            </a:br>
            <a:r>
              <a:rPr lang="en-US" sz="2000">
                <a:latin typeface="Arial" charset="0"/>
                <a:ea typeface="ＭＳ Ｐゴシック" charset="0"/>
              </a:rPr>
              <a:t>space</a:t>
            </a:r>
          </a:p>
          <a:p>
            <a:pPr lvl="1"/>
            <a:r>
              <a:rPr lang="en-US" sz="2000">
                <a:latin typeface="Arial" charset="0"/>
                <a:ea typeface="ＭＳ Ｐゴシック" charset="0"/>
              </a:rPr>
              <a:t>Range: 0 to max</a:t>
            </a:r>
          </a:p>
        </p:txBody>
      </p:sp>
      <p:sp>
        <p:nvSpPr>
          <p:cNvPr id="31748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Font typeface="Wingdings" charset="0"/>
              <a:buNone/>
            </a:pPr>
            <a:r>
              <a:rPr lang="en-US" sz="2400">
                <a:latin typeface="Arial" charset="0"/>
                <a:ea typeface="ＭＳ Ｐゴシック" charset="0"/>
                <a:cs typeface="ＭＳ Ｐゴシック" charset="0"/>
              </a:rPr>
              <a:t/>
            </a:r>
            <a:br>
              <a:rPr lang="en-US" sz="2400">
                <a:latin typeface="Arial" charset="0"/>
                <a:ea typeface="ＭＳ Ｐゴシック" charset="0"/>
                <a:cs typeface="ＭＳ Ｐゴシック" charset="0"/>
              </a:rPr>
            </a:br>
            <a:r>
              <a:rPr lang="en-US" sz="2400">
                <a:latin typeface="Arial" charset="0"/>
                <a:ea typeface="ＭＳ Ｐゴシック" charset="0"/>
                <a:cs typeface="ＭＳ Ｐゴシック" charset="0"/>
              </a:rPr>
              <a:t/>
            </a:r>
            <a:br>
              <a:rPr lang="en-US" sz="2400">
                <a:latin typeface="Arial" charset="0"/>
                <a:ea typeface="ＭＳ Ｐゴシック" charset="0"/>
                <a:cs typeface="ＭＳ Ｐゴシック" charset="0"/>
              </a:rPr>
            </a:br>
            <a:endParaRPr lang="en-US" sz="2400">
              <a:latin typeface="Arial" charset="0"/>
              <a:ea typeface="ＭＳ Ｐゴシック" charset="0"/>
              <a:cs typeface="ＭＳ Ｐゴシック" charset="0"/>
            </a:endParaRPr>
          </a:p>
          <a:p>
            <a:r>
              <a:rPr lang="en-US" sz="2400">
                <a:latin typeface="Arial" charset="0"/>
                <a:ea typeface="ＭＳ Ｐゴシック" charset="0"/>
                <a:cs typeface="ＭＳ Ｐゴシック" charset="0"/>
              </a:rPr>
              <a:t>Physical addresses</a:t>
            </a:r>
          </a:p>
          <a:p>
            <a:pPr lvl="1"/>
            <a:r>
              <a:rPr lang="en-US" sz="2000">
                <a:latin typeface="Arial" charset="0"/>
                <a:ea typeface="ＭＳ Ｐゴシック" charset="0"/>
              </a:rPr>
              <a:t>Physical address space</a:t>
            </a:r>
          </a:p>
          <a:p>
            <a:pPr lvl="1"/>
            <a:r>
              <a:rPr lang="en-US" sz="2000">
                <a:latin typeface="Arial" charset="0"/>
                <a:ea typeface="ＭＳ Ｐゴシック" charset="0"/>
              </a:rPr>
              <a:t>Range: R+0 to R+max for base value R</a:t>
            </a:r>
          </a:p>
        </p:txBody>
      </p:sp>
      <p:sp>
        <p:nvSpPr>
          <p:cNvPr id="31749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3175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AA635864-AA37-9C4C-BB66-0D71C6D1B075}" type="slidenum">
              <a:rPr lang="en-US"/>
              <a:pPr/>
              <a:t>30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Dynamic Address Translation</a:t>
            </a:r>
          </a:p>
        </p:txBody>
      </p:sp>
      <p:sp>
        <p:nvSpPr>
          <p:cNvPr id="32771" name="Content Placeholder 2"/>
          <p:cNvSpPr>
            <a:spLocks noGrp="1"/>
          </p:cNvSpPr>
          <p:nvPr>
            <p:ph idx="1"/>
          </p:nvPr>
        </p:nvSpPr>
        <p:spPr>
          <a:xfrm>
            <a:off x="685800" y="3200400"/>
            <a:ext cx="7772400" cy="2895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200" dirty="0">
                <a:latin typeface="Arial" charset="0"/>
                <a:ea typeface="ＭＳ Ｐゴシック" charset="0"/>
                <a:cs typeface="ＭＳ Ｐゴシック" charset="0"/>
              </a:rPr>
              <a:t>Translation enforces protection</a:t>
            </a:r>
          </a:p>
          <a:p>
            <a:pPr lvl="1">
              <a:lnSpc>
                <a:spcPct val="90000"/>
              </a:lnSpc>
            </a:pPr>
            <a:r>
              <a:rPr lang="en-US" sz="1900" dirty="0">
                <a:latin typeface="Arial" charset="0"/>
                <a:ea typeface="ＭＳ Ｐゴシック" charset="0"/>
              </a:rPr>
              <a:t>One process </a:t>
            </a:r>
            <a:r>
              <a:rPr lang="en-US" sz="1900" dirty="0" smtClean="0">
                <a:latin typeface="Arial" charset="0"/>
                <a:ea typeface="ＭＳ Ｐゴシック" charset="0"/>
              </a:rPr>
              <a:t>can’t </a:t>
            </a:r>
            <a:r>
              <a:rPr lang="en-US" sz="1900" dirty="0">
                <a:latin typeface="Arial" charset="0"/>
                <a:ea typeface="ＭＳ Ｐゴシック" charset="0"/>
              </a:rPr>
              <a:t>even refer to another </a:t>
            </a:r>
            <a:r>
              <a:rPr lang="en-US" sz="1900" dirty="0" smtClean="0">
                <a:latin typeface="Arial" charset="0"/>
                <a:ea typeface="ＭＳ Ｐゴシック" charset="0"/>
              </a:rPr>
              <a:t>process’s </a:t>
            </a:r>
            <a:r>
              <a:rPr lang="en-US" sz="1900" dirty="0">
                <a:latin typeface="Arial" charset="0"/>
                <a:ea typeface="ＭＳ Ｐゴシック" charset="0"/>
              </a:rPr>
              <a:t>address space</a:t>
            </a:r>
          </a:p>
          <a:p>
            <a:pPr>
              <a:lnSpc>
                <a:spcPct val="90000"/>
              </a:lnSpc>
            </a:pPr>
            <a:r>
              <a:rPr lang="en-US" sz="2200" dirty="0">
                <a:latin typeface="Arial" charset="0"/>
                <a:ea typeface="ＭＳ Ｐゴシック" charset="0"/>
                <a:cs typeface="ＭＳ Ｐゴシック" charset="0"/>
              </a:rPr>
              <a:t>Translation enables virtual memory</a:t>
            </a:r>
          </a:p>
          <a:p>
            <a:pPr lvl="1">
              <a:lnSpc>
                <a:spcPct val="90000"/>
              </a:lnSpc>
            </a:pPr>
            <a:r>
              <a:rPr lang="en-US" sz="1900" dirty="0">
                <a:latin typeface="Arial" charset="0"/>
                <a:ea typeface="ＭＳ Ｐゴシック" charset="0"/>
              </a:rPr>
              <a:t>A virtual address only needs to be in physical memory when it is being accessed</a:t>
            </a:r>
          </a:p>
          <a:p>
            <a:pPr lvl="1">
              <a:lnSpc>
                <a:spcPct val="90000"/>
              </a:lnSpc>
            </a:pPr>
            <a:r>
              <a:rPr lang="en-US" sz="1900" dirty="0">
                <a:latin typeface="Arial" charset="0"/>
                <a:ea typeface="ＭＳ Ｐゴシック" charset="0"/>
              </a:rPr>
              <a:t>Change translations on the fly as different virtual addresses occupy physical memory</a:t>
            </a:r>
          </a:p>
        </p:txBody>
      </p:sp>
      <p:sp>
        <p:nvSpPr>
          <p:cNvPr id="29700" name="Rectangle 3"/>
          <p:cNvSpPr>
            <a:spLocks noChangeArrowheads="1"/>
          </p:cNvSpPr>
          <p:nvPr/>
        </p:nvSpPr>
        <p:spPr bwMode="auto">
          <a:xfrm>
            <a:off x="1066800" y="1828800"/>
            <a:ext cx="1600200" cy="8382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algn="ctr">
              <a:defRPr/>
            </a:pPr>
            <a:r>
              <a:rPr lang="en-US" sz="2000" dirty="0">
                <a:latin typeface="+mn-lt"/>
                <a:ea typeface="ＭＳ Ｐゴシック" charset="-128"/>
                <a:cs typeface="+mn-cs"/>
              </a:rPr>
              <a:t>User</a:t>
            </a:r>
          </a:p>
          <a:p>
            <a:pPr algn="ctr">
              <a:defRPr/>
            </a:pPr>
            <a:r>
              <a:rPr lang="en-US" sz="2000" dirty="0">
                <a:latin typeface="+mn-lt"/>
                <a:ea typeface="ＭＳ Ｐゴシック" charset="-128"/>
                <a:cs typeface="+mn-cs"/>
              </a:rPr>
              <a:t>process</a:t>
            </a:r>
          </a:p>
        </p:txBody>
      </p:sp>
      <p:sp>
        <p:nvSpPr>
          <p:cNvPr id="29701" name="Rectangle 4"/>
          <p:cNvSpPr>
            <a:spLocks noChangeArrowheads="1"/>
          </p:cNvSpPr>
          <p:nvPr/>
        </p:nvSpPr>
        <p:spPr bwMode="auto">
          <a:xfrm>
            <a:off x="3429000" y="1828800"/>
            <a:ext cx="2057400" cy="8382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algn="ctr">
              <a:defRPr/>
            </a:pPr>
            <a:r>
              <a:rPr lang="en-US" sz="2000">
                <a:latin typeface="+mn-lt"/>
                <a:ea typeface="ＭＳ Ｐゴシック" charset="-128"/>
                <a:cs typeface="+mn-cs"/>
              </a:rPr>
              <a:t>Translator</a:t>
            </a:r>
          </a:p>
          <a:p>
            <a:pPr algn="ctr">
              <a:defRPr/>
            </a:pPr>
            <a:r>
              <a:rPr lang="en-US" sz="2000">
                <a:latin typeface="+mn-lt"/>
                <a:ea typeface="ＭＳ Ｐゴシック" charset="-128"/>
                <a:cs typeface="+mn-cs"/>
              </a:rPr>
              <a:t>(MMU)</a:t>
            </a:r>
          </a:p>
        </p:txBody>
      </p:sp>
      <p:sp>
        <p:nvSpPr>
          <p:cNvPr id="29702" name="Rectangle 5"/>
          <p:cNvSpPr>
            <a:spLocks noChangeArrowheads="1"/>
          </p:cNvSpPr>
          <p:nvPr/>
        </p:nvSpPr>
        <p:spPr bwMode="auto">
          <a:xfrm>
            <a:off x="6477000" y="1828800"/>
            <a:ext cx="1981200" cy="8382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algn="ctr">
              <a:defRPr/>
            </a:pPr>
            <a:r>
              <a:rPr lang="en-US" sz="2000">
                <a:latin typeface="+mn-lt"/>
                <a:ea typeface="ＭＳ Ｐゴシック" charset="-128"/>
                <a:cs typeface="+mn-cs"/>
              </a:rPr>
              <a:t>Physical</a:t>
            </a:r>
          </a:p>
          <a:p>
            <a:pPr algn="ctr">
              <a:defRPr/>
            </a:pPr>
            <a:r>
              <a:rPr lang="en-US" sz="2000">
                <a:latin typeface="+mn-lt"/>
                <a:ea typeface="ＭＳ Ｐゴシック" charset="-128"/>
                <a:cs typeface="+mn-cs"/>
              </a:rPr>
              <a:t>memory</a:t>
            </a:r>
          </a:p>
        </p:txBody>
      </p:sp>
      <p:cxnSp>
        <p:nvCxnSpPr>
          <p:cNvPr id="32775" name="Straight Arrow Connector 7"/>
          <p:cNvCxnSpPr>
            <a:cxnSpLocks noChangeShapeType="1"/>
            <a:stCxn id="29700" idx="3"/>
            <a:endCxn id="29701" idx="1"/>
          </p:cNvCxnSpPr>
          <p:nvPr/>
        </p:nvCxnSpPr>
        <p:spPr bwMode="auto">
          <a:xfrm>
            <a:off x="2667000" y="2247900"/>
            <a:ext cx="762000" cy="1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76" name="Straight Arrow Connector 9"/>
          <p:cNvCxnSpPr>
            <a:cxnSpLocks noChangeShapeType="1"/>
            <a:stCxn id="29701" idx="3"/>
            <a:endCxn id="29702" idx="1"/>
          </p:cNvCxnSpPr>
          <p:nvPr/>
        </p:nvCxnSpPr>
        <p:spPr bwMode="auto">
          <a:xfrm>
            <a:off x="5486400" y="2247900"/>
            <a:ext cx="990600" cy="1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2777" name="TextBox 10"/>
          <p:cNvSpPr txBox="1">
            <a:spLocks noChangeArrowheads="1"/>
          </p:cNvSpPr>
          <p:nvPr/>
        </p:nvSpPr>
        <p:spPr bwMode="auto">
          <a:xfrm>
            <a:off x="2667000" y="2324100"/>
            <a:ext cx="6461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/>
            <a:r>
              <a:rPr lang="en-US"/>
              <a:t>Virt </a:t>
            </a:r>
          </a:p>
          <a:p>
            <a:pPr algn="ctr"/>
            <a:r>
              <a:rPr lang="en-US"/>
              <a:t>addr</a:t>
            </a:r>
          </a:p>
        </p:txBody>
      </p:sp>
      <p:sp>
        <p:nvSpPr>
          <p:cNvPr id="32778" name="TextBox 11"/>
          <p:cNvSpPr txBox="1">
            <a:spLocks noChangeArrowheads="1"/>
          </p:cNvSpPr>
          <p:nvPr/>
        </p:nvSpPr>
        <p:spPr bwMode="auto">
          <a:xfrm>
            <a:off x="5597525" y="2324100"/>
            <a:ext cx="7270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/>
            <a:r>
              <a:rPr lang="en-US"/>
              <a:t>Phys </a:t>
            </a:r>
          </a:p>
          <a:p>
            <a:pPr algn="ctr"/>
            <a:r>
              <a:rPr lang="en-US"/>
              <a:t>addr</a:t>
            </a:r>
          </a:p>
        </p:txBody>
      </p:sp>
      <p:sp>
        <p:nvSpPr>
          <p:cNvPr id="32779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3278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AAB4154F-F0BE-0244-8C7A-EB4119CF7BA3}" type="slidenum">
              <a:rPr lang="en-US"/>
              <a:pPr/>
              <a:t>31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1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Wheeler On Indirection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©: University of Illinois CS 241 Staff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69E86-3C2B-5543-A89A-501EE0963032}" type="slidenum">
              <a:rPr lang="en-US" smtClean="0"/>
              <a:pPr/>
              <a:t>32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1981200"/>
            <a:ext cx="1778000" cy="2222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1981200"/>
            <a:ext cx="51054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+mn-lt"/>
              </a:rPr>
              <a:t>“Any problem in computer science can be solved with another level of indirection…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5600" y="4267200"/>
            <a:ext cx="1698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+mn-lt"/>
              </a:rPr>
              <a:t>David Wheeler</a:t>
            </a:r>
            <a:endParaRPr lang="en-US" dirty="0">
              <a:latin typeface="+mn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4419600"/>
            <a:ext cx="51054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+mn-lt"/>
              </a:rPr>
              <a:t>…except for the problem of</a:t>
            </a:r>
            <a:r>
              <a:rPr lang="en-US" sz="3000" dirty="0">
                <a:latin typeface="+mn-lt"/>
              </a:rPr>
              <a:t> </a:t>
            </a:r>
            <a:r>
              <a:rPr lang="en-US" sz="3000" dirty="0" smtClean="0">
                <a:latin typeface="+mn-lt"/>
              </a:rPr>
              <a:t>too many layers of indirection.”</a:t>
            </a:r>
          </a:p>
        </p:txBody>
      </p:sp>
    </p:spTree>
    <p:extLst>
      <p:ext uri="{BB962C8B-B14F-4D97-AF65-F5344CB8AC3E}">
        <p14:creationId xmlns:p14="http://schemas.microsoft.com/office/powerpoint/2010/main" val="66481472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Dynamic Address Translation</a:t>
            </a:r>
          </a:p>
        </p:txBody>
      </p:sp>
      <p:sp>
        <p:nvSpPr>
          <p:cNvPr id="33795" name="Content Placeholder 2"/>
          <p:cNvSpPr>
            <a:spLocks noGrp="1"/>
          </p:cNvSpPr>
          <p:nvPr>
            <p:ph idx="1"/>
          </p:nvPr>
        </p:nvSpPr>
        <p:spPr>
          <a:xfrm>
            <a:off x="685800" y="3505200"/>
            <a:ext cx="7772400" cy="2590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>
                <a:latin typeface="Arial" charset="0"/>
                <a:ea typeface="ＭＳ Ｐゴシック" charset="0"/>
                <a:cs typeface="ＭＳ Ｐゴシック" charset="0"/>
              </a:rPr>
              <a:t>Implementation tradeoffs</a:t>
            </a:r>
          </a:p>
          <a:p>
            <a:pPr lvl="1">
              <a:lnSpc>
                <a:spcPct val="90000"/>
              </a:lnSpc>
            </a:pPr>
            <a:r>
              <a:rPr lang="en-US" sz="2400">
                <a:latin typeface="Arial" charset="0"/>
                <a:ea typeface="ＭＳ Ｐゴシック" charset="0"/>
              </a:rPr>
              <a:t>Flexibility (e.g., sharing, growth, virtual memory)</a:t>
            </a:r>
          </a:p>
          <a:p>
            <a:pPr lvl="1">
              <a:lnSpc>
                <a:spcPct val="90000"/>
              </a:lnSpc>
            </a:pPr>
            <a:r>
              <a:rPr lang="en-US" sz="2400">
                <a:latin typeface="Arial" charset="0"/>
                <a:ea typeface="ＭＳ Ｐゴシック" charset="0"/>
              </a:rPr>
              <a:t>Size of translation data</a:t>
            </a:r>
          </a:p>
          <a:p>
            <a:pPr lvl="1">
              <a:lnSpc>
                <a:spcPct val="90000"/>
              </a:lnSpc>
            </a:pPr>
            <a:r>
              <a:rPr lang="en-US" sz="2400">
                <a:latin typeface="Arial" charset="0"/>
                <a:ea typeface="ＭＳ Ｐゴシック" charset="0"/>
              </a:rPr>
              <a:t>Speed of translation</a:t>
            </a:r>
          </a:p>
        </p:txBody>
      </p:sp>
      <p:sp>
        <p:nvSpPr>
          <p:cNvPr id="31748" name="Rectangle 7"/>
          <p:cNvSpPr>
            <a:spLocks noChangeArrowheads="1"/>
          </p:cNvSpPr>
          <p:nvPr/>
        </p:nvSpPr>
        <p:spPr bwMode="auto">
          <a:xfrm>
            <a:off x="1066800" y="1828800"/>
            <a:ext cx="1600200" cy="8382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algn="ctr">
              <a:defRPr/>
            </a:pPr>
            <a:r>
              <a:rPr lang="en-US" sz="2000" dirty="0">
                <a:latin typeface="+mn-lt"/>
                <a:ea typeface="ＭＳ Ｐゴシック" charset="-128"/>
                <a:cs typeface="+mn-cs"/>
              </a:rPr>
              <a:t>User</a:t>
            </a:r>
          </a:p>
          <a:p>
            <a:pPr algn="ctr">
              <a:defRPr/>
            </a:pPr>
            <a:r>
              <a:rPr lang="en-US" sz="2000" dirty="0">
                <a:latin typeface="+mn-lt"/>
                <a:ea typeface="ＭＳ Ｐゴシック" charset="-128"/>
                <a:cs typeface="+mn-cs"/>
              </a:rPr>
              <a:t>process</a:t>
            </a:r>
          </a:p>
        </p:txBody>
      </p:sp>
      <p:sp>
        <p:nvSpPr>
          <p:cNvPr id="31749" name="Rectangle 8"/>
          <p:cNvSpPr>
            <a:spLocks noChangeArrowheads="1"/>
          </p:cNvSpPr>
          <p:nvPr/>
        </p:nvSpPr>
        <p:spPr bwMode="auto">
          <a:xfrm>
            <a:off x="3429000" y="1828800"/>
            <a:ext cx="2057400" cy="8382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algn="ctr">
              <a:defRPr/>
            </a:pPr>
            <a:r>
              <a:rPr lang="en-US" sz="2000">
                <a:latin typeface="+mn-lt"/>
                <a:ea typeface="ＭＳ Ｐゴシック" charset="-128"/>
                <a:cs typeface="+mn-cs"/>
              </a:rPr>
              <a:t>Translator</a:t>
            </a:r>
          </a:p>
          <a:p>
            <a:pPr algn="ctr">
              <a:defRPr/>
            </a:pPr>
            <a:r>
              <a:rPr lang="en-US" sz="2000">
                <a:latin typeface="+mn-lt"/>
                <a:ea typeface="ＭＳ Ｐゴシック" charset="-128"/>
                <a:cs typeface="+mn-cs"/>
              </a:rPr>
              <a:t>(MMU)</a:t>
            </a:r>
          </a:p>
        </p:txBody>
      </p:sp>
      <p:sp>
        <p:nvSpPr>
          <p:cNvPr id="31750" name="Rectangle 9"/>
          <p:cNvSpPr>
            <a:spLocks noChangeArrowheads="1"/>
          </p:cNvSpPr>
          <p:nvPr/>
        </p:nvSpPr>
        <p:spPr bwMode="auto">
          <a:xfrm>
            <a:off x="6477000" y="1828800"/>
            <a:ext cx="1981200" cy="8382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algn="ctr">
              <a:defRPr/>
            </a:pPr>
            <a:r>
              <a:rPr lang="en-US" sz="2000">
                <a:latin typeface="+mn-lt"/>
                <a:ea typeface="ＭＳ Ｐゴシック" charset="-128"/>
                <a:cs typeface="+mn-cs"/>
              </a:rPr>
              <a:t>Physical</a:t>
            </a:r>
          </a:p>
          <a:p>
            <a:pPr algn="ctr">
              <a:defRPr/>
            </a:pPr>
            <a:r>
              <a:rPr lang="en-US" sz="2000">
                <a:latin typeface="+mn-lt"/>
                <a:ea typeface="ＭＳ Ｐゴシック" charset="-128"/>
                <a:cs typeface="+mn-cs"/>
              </a:rPr>
              <a:t>memory</a:t>
            </a:r>
          </a:p>
        </p:txBody>
      </p:sp>
      <p:cxnSp>
        <p:nvCxnSpPr>
          <p:cNvPr id="33799" name="Straight Arrow Connector 10"/>
          <p:cNvCxnSpPr>
            <a:cxnSpLocks noChangeShapeType="1"/>
            <a:stCxn id="31748" idx="3"/>
            <a:endCxn id="31749" idx="1"/>
          </p:cNvCxnSpPr>
          <p:nvPr/>
        </p:nvCxnSpPr>
        <p:spPr bwMode="auto">
          <a:xfrm>
            <a:off x="2667000" y="2247900"/>
            <a:ext cx="762000" cy="1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00" name="Straight Arrow Connector 11"/>
          <p:cNvCxnSpPr>
            <a:cxnSpLocks noChangeShapeType="1"/>
            <a:stCxn id="31749" idx="3"/>
            <a:endCxn id="31750" idx="1"/>
          </p:cNvCxnSpPr>
          <p:nvPr/>
        </p:nvCxnSpPr>
        <p:spPr bwMode="auto">
          <a:xfrm>
            <a:off x="5486400" y="2247900"/>
            <a:ext cx="990600" cy="1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380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338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0A4BAEFA-2E8F-0148-ACD3-3C5B3C53C65D}" type="slidenum">
              <a:rPr lang="en-US"/>
              <a:pPr/>
              <a:t>33</a:t>
            </a:fld>
            <a:endParaRPr lang="en-US"/>
          </a:p>
        </p:txBody>
      </p:sp>
      <p:sp>
        <p:nvSpPr>
          <p:cNvPr id="33803" name="TextBox 10"/>
          <p:cNvSpPr txBox="1">
            <a:spLocks noChangeArrowheads="1"/>
          </p:cNvSpPr>
          <p:nvPr/>
        </p:nvSpPr>
        <p:spPr bwMode="auto">
          <a:xfrm>
            <a:off x="2667000" y="2324100"/>
            <a:ext cx="6461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/>
            <a:r>
              <a:rPr lang="en-US"/>
              <a:t>Virt </a:t>
            </a:r>
          </a:p>
          <a:p>
            <a:pPr algn="ctr"/>
            <a:r>
              <a:rPr lang="en-US"/>
              <a:t>addr</a:t>
            </a:r>
          </a:p>
        </p:txBody>
      </p:sp>
      <p:sp>
        <p:nvSpPr>
          <p:cNvPr id="33804" name="TextBox 11"/>
          <p:cNvSpPr txBox="1">
            <a:spLocks noChangeArrowheads="1"/>
          </p:cNvSpPr>
          <p:nvPr/>
        </p:nvSpPr>
        <p:spPr bwMode="auto">
          <a:xfrm>
            <a:off x="5597525" y="2324100"/>
            <a:ext cx="7270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/>
            <a:r>
              <a:rPr lang="en-US"/>
              <a:t>Phys </a:t>
            </a:r>
          </a:p>
          <a:p>
            <a:pPr algn="ctr"/>
            <a:r>
              <a:rPr lang="en-US"/>
              <a:t>addr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Base Register</a:t>
            </a:r>
          </a:p>
        </p:txBody>
      </p:sp>
      <p:sp>
        <p:nvSpPr>
          <p:cNvPr id="34819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3482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7D944A3D-22F8-DA42-9B01-5713920C0D86}" type="slidenum">
              <a:rPr lang="en-US"/>
              <a:pPr/>
              <a:t>34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048000" y="1828800"/>
            <a:ext cx="2438400" cy="34290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anchor="b" anchorCtr="1"/>
          <a:lstStyle/>
          <a:p>
            <a:pPr algn="ctr">
              <a:defRPr/>
            </a:pPr>
            <a:r>
              <a:rPr lang="en-US" sz="2800" dirty="0">
                <a:latin typeface="+mn-lt"/>
                <a:ea typeface="ＭＳ Ｐゴシック" charset="-128"/>
                <a:cs typeface="+mn-cs"/>
              </a:rPr>
              <a:t>MMU</a:t>
            </a: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6781800" y="2057400"/>
            <a:ext cx="1752600" cy="4114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400" dirty="0">
                <a:latin typeface="+mn-lt"/>
                <a:ea typeface="ＭＳ Ｐゴシック" charset="-128"/>
                <a:cs typeface="+mn-cs"/>
              </a:rPr>
              <a:t>Memory</a:t>
            </a: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3352800" y="2057400"/>
            <a:ext cx="1981200" cy="533400"/>
          </a:xfrm>
          <a:prstGeom prst="rect">
            <a:avLst/>
          </a:prstGeom>
          <a:solidFill>
            <a:srgbClr val="C1F3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400" dirty="0">
                <a:latin typeface="+mn-lt"/>
                <a:ea typeface="ＭＳ Ｐゴシック" charset="-128"/>
                <a:cs typeface="+mn-cs"/>
              </a:rPr>
              <a:t>Base Register</a:t>
            </a:r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381000" y="3276600"/>
            <a:ext cx="1524000" cy="190500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400" dirty="0">
                <a:latin typeface="+mn-lt"/>
                <a:ea typeface="ＭＳ Ｐゴシック" charset="-128"/>
                <a:cs typeface="+mn-cs"/>
              </a:rPr>
              <a:t>CPU </a:t>
            </a:r>
          </a:p>
          <a:p>
            <a:pPr algn="ctr">
              <a:defRPr/>
            </a:pPr>
            <a:r>
              <a:rPr lang="en-US" sz="2400" dirty="0">
                <a:latin typeface="+mn-lt"/>
                <a:ea typeface="ＭＳ Ｐゴシック" charset="-128"/>
                <a:cs typeface="+mn-cs"/>
              </a:rPr>
              <a:t>Instruction</a:t>
            </a:r>
          </a:p>
          <a:p>
            <a:pPr algn="ctr">
              <a:defRPr/>
            </a:pPr>
            <a:r>
              <a:rPr lang="en-US" sz="2400" dirty="0">
                <a:latin typeface="+mn-lt"/>
                <a:ea typeface="ＭＳ Ｐゴシック" charset="-128"/>
                <a:cs typeface="+mn-cs"/>
              </a:rPr>
              <a:t>Address</a:t>
            </a:r>
          </a:p>
        </p:txBody>
      </p:sp>
      <p:sp>
        <p:nvSpPr>
          <p:cNvPr id="11" name="Oval 6"/>
          <p:cNvSpPr>
            <a:spLocks noChangeArrowheads="1"/>
          </p:cNvSpPr>
          <p:nvPr/>
        </p:nvSpPr>
        <p:spPr bwMode="auto">
          <a:xfrm>
            <a:off x="3886200" y="3810000"/>
            <a:ext cx="685800" cy="685800"/>
          </a:xfrm>
          <a:prstGeom prst="ellipse">
            <a:avLst/>
          </a:prstGeom>
          <a:solidFill>
            <a:srgbClr val="80808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400">
                <a:latin typeface="+mn-lt"/>
                <a:ea typeface="ＭＳ Ｐゴシック" charset="-128"/>
                <a:cs typeface="+mn-cs"/>
              </a:rPr>
              <a:t>+</a:t>
            </a:r>
          </a:p>
        </p:txBody>
      </p:sp>
      <p:sp>
        <p:nvSpPr>
          <p:cNvPr id="12" name="Line 7"/>
          <p:cNvSpPr>
            <a:spLocks noChangeShapeType="1"/>
          </p:cNvSpPr>
          <p:nvPr/>
        </p:nvSpPr>
        <p:spPr bwMode="auto">
          <a:xfrm>
            <a:off x="1905000" y="4191000"/>
            <a:ext cx="19812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ＭＳ Ｐゴシック" charset="-128"/>
              <a:cs typeface="+mn-cs"/>
            </a:endParaRPr>
          </a:p>
        </p:txBody>
      </p:sp>
      <p:sp>
        <p:nvSpPr>
          <p:cNvPr id="13" name="Line 8"/>
          <p:cNvSpPr>
            <a:spLocks noChangeShapeType="1"/>
          </p:cNvSpPr>
          <p:nvPr/>
        </p:nvSpPr>
        <p:spPr bwMode="auto">
          <a:xfrm>
            <a:off x="4572000" y="4191000"/>
            <a:ext cx="22098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ＭＳ Ｐゴシック" charset="-128"/>
              <a:cs typeface="+mn-cs"/>
            </a:endParaRPr>
          </a:p>
        </p:txBody>
      </p:sp>
      <p:sp>
        <p:nvSpPr>
          <p:cNvPr id="14" name="Line 9"/>
          <p:cNvSpPr>
            <a:spLocks noChangeShapeType="1"/>
          </p:cNvSpPr>
          <p:nvPr/>
        </p:nvSpPr>
        <p:spPr bwMode="auto">
          <a:xfrm>
            <a:off x="4191000" y="2590800"/>
            <a:ext cx="0" cy="12192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ＭＳ Ｐゴシック" charset="-128"/>
              <a:cs typeface="+mn-cs"/>
            </a:endParaRPr>
          </a:p>
        </p:txBody>
      </p:sp>
      <p:sp>
        <p:nvSpPr>
          <p:cNvPr id="15" name="Text Box 10"/>
          <p:cNvSpPr txBox="1">
            <a:spLocks noChangeArrowheads="1"/>
          </p:cNvSpPr>
          <p:nvPr/>
        </p:nvSpPr>
        <p:spPr bwMode="auto">
          <a:xfrm>
            <a:off x="4327525" y="2555875"/>
            <a:ext cx="608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  <a:ea typeface="ＭＳ Ｐゴシック" charset="-128"/>
                <a:cs typeface="+mn-cs"/>
              </a:rPr>
              <a:t>BA</a:t>
            </a: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1889125" y="4156075"/>
            <a:ext cx="64611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  <a:ea typeface="ＭＳ Ｐゴシック" charset="-128"/>
                <a:cs typeface="+mn-cs"/>
              </a:rPr>
              <a:t>MA</a:t>
            </a:r>
          </a:p>
        </p:txBody>
      </p:sp>
      <p:sp>
        <p:nvSpPr>
          <p:cNvPr id="17" name="Text Box 12"/>
          <p:cNvSpPr txBox="1">
            <a:spLocks noChangeArrowheads="1"/>
          </p:cNvSpPr>
          <p:nvPr/>
        </p:nvSpPr>
        <p:spPr bwMode="auto">
          <a:xfrm>
            <a:off x="5511800" y="4267200"/>
            <a:ext cx="127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sz="2400" dirty="0">
                <a:latin typeface="+mn-lt"/>
                <a:ea typeface="ＭＳ Ｐゴシック" charset="-128"/>
                <a:cs typeface="+mn-cs"/>
              </a:rPr>
              <a:t>MA+BA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5449888" y="3352800"/>
            <a:ext cx="1331912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sz="2400" dirty="0">
                <a:solidFill>
                  <a:srgbClr val="002060"/>
                </a:solidFill>
                <a:latin typeface="+mn-lt"/>
                <a:ea typeface="ＭＳ Ｐゴシック" charset="-128"/>
                <a:cs typeface="+mn-cs"/>
              </a:rPr>
              <a:t>Physical</a:t>
            </a:r>
          </a:p>
          <a:p>
            <a:pPr algn="r">
              <a:defRPr/>
            </a:pPr>
            <a:r>
              <a:rPr lang="en-US" sz="2400" dirty="0">
                <a:solidFill>
                  <a:srgbClr val="002060"/>
                </a:solidFill>
                <a:latin typeface="+mn-lt"/>
                <a:ea typeface="ＭＳ Ｐゴシック" charset="-128"/>
                <a:cs typeface="+mn-cs"/>
              </a:rPr>
              <a:t>Address</a:t>
            </a:r>
          </a:p>
        </p:txBody>
      </p:sp>
      <p:sp>
        <p:nvSpPr>
          <p:cNvPr id="19" name="Text Box 14"/>
          <p:cNvSpPr txBox="1">
            <a:spLocks noChangeArrowheads="1"/>
          </p:cNvSpPr>
          <p:nvPr/>
        </p:nvSpPr>
        <p:spPr bwMode="auto">
          <a:xfrm>
            <a:off x="1889125" y="3394075"/>
            <a:ext cx="131445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FF0000"/>
                </a:solidFill>
                <a:latin typeface="+mn-lt"/>
                <a:ea typeface="ＭＳ Ｐゴシック" charset="-128"/>
                <a:cs typeface="+mn-cs"/>
              </a:rPr>
              <a:t>Logical</a:t>
            </a:r>
          </a:p>
          <a:p>
            <a:pPr>
              <a:defRPr/>
            </a:pPr>
            <a:r>
              <a:rPr lang="en-US" sz="2400" dirty="0">
                <a:solidFill>
                  <a:srgbClr val="FF0000"/>
                </a:solidFill>
                <a:latin typeface="+mn-lt"/>
                <a:ea typeface="ＭＳ Ｐゴシック" charset="-128"/>
                <a:cs typeface="+mn-cs"/>
              </a:rPr>
              <a:t>Address</a:t>
            </a:r>
          </a:p>
        </p:txBody>
      </p:sp>
      <p:sp>
        <p:nvSpPr>
          <p:cNvPr id="20" name="Line 15"/>
          <p:cNvSpPr>
            <a:spLocks noChangeShapeType="1"/>
          </p:cNvSpPr>
          <p:nvPr/>
        </p:nvSpPr>
        <p:spPr bwMode="auto">
          <a:xfrm>
            <a:off x="6172200" y="2667000"/>
            <a:ext cx="2819400" cy="0"/>
          </a:xfrm>
          <a:prstGeom prst="line">
            <a:avLst/>
          </a:prstGeom>
          <a:noFill/>
          <a:ln w="76200">
            <a:solidFill>
              <a:srgbClr val="3366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ＭＳ Ｐゴシック" charset="-128"/>
              <a:cs typeface="+mn-cs"/>
            </a:endParaRPr>
          </a:p>
        </p:txBody>
      </p:sp>
      <p:sp>
        <p:nvSpPr>
          <p:cNvPr id="21" name="Text Box 21"/>
          <p:cNvSpPr txBox="1">
            <a:spLocks noChangeArrowheads="1"/>
          </p:cNvSpPr>
          <p:nvPr/>
        </p:nvSpPr>
        <p:spPr bwMode="auto">
          <a:xfrm>
            <a:off x="6757988" y="2224088"/>
            <a:ext cx="1766887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000">
                <a:latin typeface="+mn-lt"/>
                <a:ea typeface="ＭＳ Ｐゴシック" charset="-128"/>
                <a:cs typeface="+mn-cs"/>
              </a:rPr>
              <a:t>Base Address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5441950"/>
            <a:ext cx="6324600" cy="4254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en-US" sz="2400">
                <a:latin typeface="Arial" charset="0"/>
              </a:rPr>
              <a:t>Base: start of the process</a:t>
            </a:r>
            <a:r>
              <a:rPr lang="ja-JP" altLang="en-US" sz="2400">
                <a:latin typeface="Arial" charset="0"/>
              </a:rPr>
              <a:t>’</a:t>
            </a:r>
            <a:r>
              <a:rPr lang="en-US" sz="2400">
                <a:latin typeface="Arial" charset="0"/>
              </a:rPr>
              <a:t>s memory partition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1" grpId="0" animBg="1"/>
      <p:bldP spid="15" grpId="0"/>
      <p:bldP spid="16" grpId="0"/>
      <p:bldP spid="17" grpId="0"/>
      <p:bldP spid="2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Base Register</a:t>
            </a:r>
          </a:p>
        </p:txBody>
      </p:sp>
      <p:sp>
        <p:nvSpPr>
          <p:cNvPr id="35843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89AD26E8-E1BF-B943-AAE8-06303E99D2E4}" type="slidenum">
              <a:rPr lang="en-US"/>
              <a:pPr/>
              <a:t>35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048000" y="1828800"/>
            <a:ext cx="2438400" cy="34290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anchor="b" anchorCtr="1"/>
          <a:lstStyle/>
          <a:p>
            <a:pPr algn="ctr">
              <a:defRPr/>
            </a:pPr>
            <a:r>
              <a:rPr lang="en-US" sz="2800" dirty="0">
                <a:latin typeface="+mn-lt"/>
                <a:ea typeface="ＭＳ Ｐゴシック" charset="-128"/>
                <a:cs typeface="+mn-cs"/>
              </a:rPr>
              <a:t>MMU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6781800" y="2057400"/>
            <a:ext cx="1752600" cy="4114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400" dirty="0">
                <a:latin typeface="+mn-lt"/>
                <a:ea typeface="ＭＳ Ｐゴシック" charset="-128"/>
                <a:cs typeface="+mn-cs"/>
              </a:rPr>
              <a:t>Memory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3352800" y="2057400"/>
            <a:ext cx="1981200" cy="533400"/>
          </a:xfrm>
          <a:prstGeom prst="rect">
            <a:avLst/>
          </a:prstGeom>
          <a:solidFill>
            <a:srgbClr val="C1F3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400" dirty="0">
                <a:latin typeface="+mn-lt"/>
                <a:ea typeface="ＭＳ Ｐゴシック" charset="-128"/>
                <a:cs typeface="+mn-cs"/>
              </a:rPr>
              <a:t>Base Register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381000" y="3276600"/>
            <a:ext cx="1524000" cy="190500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400" dirty="0">
                <a:latin typeface="+mn-lt"/>
                <a:ea typeface="ＭＳ Ｐゴシック" charset="-128"/>
                <a:cs typeface="+mn-cs"/>
              </a:rPr>
              <a:t>CPU </a:t>
            </a:r>
          </a:p>
          <a:p>
            <a:pPr algn="ctr">
              <a:defRPr/>
            </a:pPr>
            <a:r>
              <a:rPr lang="en-US" sz="2400" dirty="0">
                <a:latin typeface="+mn-lt"/>
                <a:ea typeface="ＭＳ Ｐゴシック" charset="-128"/>
                <a:cs typeface="+mn-cs"/>
              </a:rPr>
              <a:t>Instruction</a:t>
            </a:r>
          </a:p>
          <a:p>
            <a:pPr algn="ctr">
              <a:defRPr/>
            </a:pPr>
            <a:r>
              <a:rPr lang="en-US" sz="2400" dirty="0">
                <a:latin typeface="+mn-lt"/>
                <a:ea typeface="ＭＳ Ｐゴシック" charset="-128"/>
                <a:cs typeface="+mn-cs"/>
              </a:rPr>
              <a:t>Address</a:t>
            </a:r>
          </a:p>
        </p:txBody>
      </p:sp>
      <p:sp>
        <p:nvSpPr>
          <p:cNvPr id="9" name="Oval 6"/>
          <p:cNvSpPr>
            <a:spLocks noChangeArrowheads="1"/>
          </p:cNvSpPr>
          <p:nvPr/>
        </p:nvSpPr>
        <p:spPr bwMode="auto">
          <a:xfrm>
            <a:off x="3886200" y="3810000"/>
            <a:ext cx="685800" cy="685800"/>
          </a:xfrm>
          <a:prstGeom prst="ellipse">
            <a:avLst/>
          </a:prstGeom>
          <a:solidFill>
            <a:srgbClr val="80808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400">
                <a:latin typeface="+mn-lt"/>
                <a:ea typeface="ＭＳ Ｐゴシック" charset="-128"/>
                <a:cs typeface="+mn-cs"/>
              </a:rPr>
              <a:t>+</a:t>
            </a:r>
          </a:p>
        </p:txBody>
      </p:sp>
      <p:sp>
        <p:nvSpPr>
          <p:cNvPr id="10" name="Line 7"/>
          <p:cNvSpPr>
            <a:spLocks noChangeShapeType="1"/>
          </p:cNvSpPr>
          <p:nvPr/>
        </p:nvSpPr>
        <p:spPr bwMode="auto">
          <a:xfrm>
            <a:off x="1905000" y="4191000"/>
            <a:ext cx="19812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ＭＳ Ｐゴシック" charset="-128"/>
              <a:cs typeface="+mn-cs"/>
            </a:endParaRPr>
          </a:p>
        </p:txBody>
      </p:sp>
      <p:sp>
        <p:nvSpPr>
          <p:cNvPr id="11" name="Line 8"/>
          <p:cNvSpPr>
            <a:spLocks noChangeShapeType="1"/>
          </p:cNvSpPr>
          <p:nvPr/>
        </p:nvSpPr>
        <p:spPr bwMode="auto">
          <a:xfrm>
            <a:off x="4572000" y="4191000"/>
            <a:ext cx="22098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ＭＳ Ｐゴシック" charset="-128"/>
              <a:cs typeface="+mn-cs"/>
            </a:endParaRPr>
          </a:p>
        </p:txBody>
      </p:sp>
      <p:sp>
        <p:nvSpPr>
          <p:cNvPr id="12" name="Line 9"/>
          <p:cNvSpPr>
            <a:spLocks noChangeShapeType="1"/>
          </p:cNvSpPr>
          <p:nvPr/>
        </p:nvSpPr>
        <p:spPr bwMode="auto">
          <a:xfrm>
            <a:off x="4191000" y="2590800"/>
            <a:ext cx="0" cy="12192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ＭＳ Ｐゴシック" charset="-128"/>
              <a:cs typeface="+mn-cs"/>
            </a:endParaRPr>
          </a:p>
        </p:txBody>
      </p:sp>
      <p:sp>
        <p:nvSpPr>
          <p:cNvPr id="13" name="Text Box 10"/>
          <p:cNvSpPr txBox="1">
            <a:spLocks noChangeArrowheads="1"/>
          </p:cNvSpPr>
          <p:nvPr/>
        </p:nvSpPr>
        <p:spPr bwMode="auto">
          <a:xfrm>
            <a:off x="4327525" y="2555875"/>
            <a:ext cx="104298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FF0000"/>
                </a:solidFill>
                <a:latin typeface="+mn-lt"/>
                <a:ea typeface="ＭＳ Ｐゴシック" charset="-128"/>
                <a:cs typeface="+mn-cs"/>
              </a:rPr>
              <a:t>14000</a:t>
            </a: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1889125" y="4156075"/>
            <a:ext cx="6985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FF0000"/>
                </a:solidFill>
                <a:latin typeface="+mn-lt"/>
                <a:ea typeface="ＭＳ Ｐゴシック" charset="-128"/>
                <a:cs typeface="+mn-cs"/>
              </a:rPr>
              <a:t>346</a:t>
            </a:r>
          </a:p>
        </p:txBody>
      </p:sp>
      <p:sp>
        <p:nvSpPr>
          <p:cNvPr id="15" name="Text Box 12"/>
          <p:cNvSpPr txBox="1">
            <a:spLocks noChangeArrowheads="1"/>
          </p:cNvSpPr>
          <p:nvPr/>
        </p:nvSpPr>
        <p:spPr bwMode="auto">
          <a:xfrm>
            <a:off x="5738813" y="4267200"/>
            <a:ext cx="1042987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sz="2400" dirty="0">
                <a:solidFill>
                  <a:srgbClr val="FF0000"/>
                </a:solidFill>
                <a:latin typeface="+mn-lt"/>
                <a:ea typeface="ＭＳ Ｐゴシック" charset="-128"/>
                <a:cs typeface="+mn-cs"/>
              </a:rPr>
              <a:t>14346</a:t>
            </a:r>
          </a:p>
        </p:txBody>
      </p:sp>
      <p:sp>
        <p:nvSpPr>
          <p:cNvPr id="16" name="Text Box 13"/>
          <p:cNvSpPr txBox="1">
            <a:spLocks noChangeArrowheads="1"/>
          </p:cNvSpPr>
          <p:nvPr/>
        </p:nvSpPr>
        <p:spPr bwMode="auto">
          <a:xfrm>
            <a:off x="5546591" y="3352800"/>
            <a:ext cx="1235209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sz="2200" dirty="0">
                <a:latin typeface="+mn-lt"/>
                <a:ea typeface="ＭＳ Ｐゴシック" charset="-128"/>
                <a:cs typeface="+mn-cs"/>
              </a:rPr>
              <a:t>Physical</a:t>
            </a:r>
          </a:p>
          <a:p>
            <a:pPr algn="r">
              <a:defRPr/>
            </a:pPr>
            <a:r>
              <a:rPr lang="en-US" sz="2200" dirty="0">
                <a:latin typeface="+mn-lt"/>
                <a:ea typeface="ＭＳ Ｐゴシック" charset="-128"/>
                <a:cs typeface="+mn-cs"/>
              </a:rPr>
              <a:t>Address</a:t>
            </a:r>
          </a:p>
        </p:txBody>
      </p:sp>
      <p:sp>
        <p:nvSpPr>
          <p:cNvPr id="17" name="Text Box 14"/>
          <p:cNvSpPr txBox="1">
            <a:spLocks noChangeArrowheads="1"/>
          </p:cNvSpPr>
          <p:nvPr/>
        </p:nvSpPr>
        <p:spPr bwMode="auto">
          <a:xfrm>
            <a:off x="1889125" y="3394075"/>
            <a:ext cx="1232466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200" dirty="0">
                <a:latin typeface="+mn-lt"/>
                <a:ea typeface="ＭＳ Ｐゴシック" charset="-128"/>
                <a:cs typeface="+mn-cs"/>
              </a:rPr>
              <a:t>Logical</a:t>
            </a:r>
          </a:p>
          <a:p>
            <a:pPr>
              <a:defRPr/>
            </a:pPr>
            <a:r>
              <a:rPr lang="en-US" sz="2200" dirty="0">
                <a:latin typeface="+mn-lt"/>
                <a:ea typeface="ＭＳ Ｐゴシック" charset="-128"/>
                <a:cs typeface="+mn-cs"/>
              </a:rPr>
              <a:t>Address</a:t>
            </a:r>
          </a:p>
        </p:txBody>
      </p:sp>
      <p:sp>
        <p:nvSpPr>
          <p:cNvPr id="18" name="Line 15"/>
          <p:cNvSpPr>
            <a:spLocks noChangeShapeType="1"/>
          </p:cNvSpPr>
          <p:nvPr/>
        </p:nvSpPr>
        <p:spPr bwMode="auto">
          <a:xfrm>
            <a:off x="6172200" y="2667000"/>
            <a:ext cx="2819400" cy="0"/>
          </a:xfrm>
          <a:prstGeom prst="line">
            <a:avLst/>
          </a:prstGeom>
          <a:noFill/>
          <a:ln w="76200">
            <a:solidFill>
              <a:srgbClr val="3366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ＭＳ Ｐゴシック" charset="-128"/>
              <a:cs typeface="+mn-cs"/>
            </a:endParaRPr>
          </a:p>
        </p:txBody>
      </p:sp>
      <p:sp>
        <p:nvSpPr>
          <p:cNvPr id="19" name="Text Box 21"/>
          <p:cNvSpPr txBox="1">
            <a:spLocks noChangeArrowheads="1"/>
          </p:cNvSpPr>
          <p:nvPr/>
        </p:nvSpPr>
        <p:spPr bwMode="auto">
          <a:xfrm>
            <a:off x="6757988" y="2224088"/>
            <a:ext cx="1766887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000">
                <a:latin typeface="+mn-lt"/>
                <a:ea typeface="ＭＳ Ｐゴシック" charset="-128"/>
                <a:cs typeface="+mn-cs"/>
              </a:rPr>
              <a:t>Base Address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5441950"/>
            <a:ext cx="6324600" cy="43088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en-US" sz="2400" dirty="0">
                <a:latin typeface="Arial" charset="0"/>
              </a:rPr>
              <a:t>Base: start of the </a:t>
            </a:r>
            <a:r>
              <a:rPr lang="en-US" sz="2400" dirty="0" smtClean="0">
                <a:latin typeface="Arial" charset="0"/>
              </a:rPr>
              <a:t>process’s </a:t>
            </a:r>
            <a:r>
              <a:rPr lang="en-US" sz="2400" dirty="0">
                <a:latin typeface="Arial" charset="0"/>
              </a:rPr>
              <a:t>memory partition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Protection</a:t>
            </a:r>
          </a:p>
        </p:txBody>
      </p:sp>
      <p:sp>
        <p:nvSpPr>
          <p:cNvPr id="36867" name="Content Placeholder 2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Problem</a:t>
            </a:r>
          </a:p>
          <a:p>
            <a:pPr lvl="1" eaLnBrk="1" hangingPunct="1"/>
            <a:r>
              <a:rPr lang="en-US">
                <a:latin typeface="Arial" charset="0"/>
                <a:ea typeface="ＭＳ Ｐゴシック" charset="0"/>
              </a:rPr>
              <a:t>How to prevent a malicious process from writing or jumping into other user's or OS partitions</a:t>
            </a:r>
          </a:p>
          <a:p>
            <a:pPr eaLnBrk="1" hangingPunct="1"/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Solution</a:t>
            </a:r>
          </a:p>
          <a:p>
            <a:pPr lvl="1" eaLnBrk="1" hangingPunct="1"/>
            <a:r>
              <a:rPr lang="en-US">
                <a:latin typeface="Arial" charset="0"/>
                <a:ea typeface="ＭＳ Ｐゴシック" charset="0"/>
              </a:rPr>
              <a:t>Base bounds registers </a:t>
            </a:r>
          </a:p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36868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36869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54ADAD77-ADEB-B24C-AA32-60F05E9B4434}" type="slidenum">
              <a:rPr lang="en-US"/>
              <a:pPr/>
              <a:t>36</a:t>
            </a:fld>
            <a:endParaRPr lang="en-US"/>
          </a:p>
        </p:txBody>
      </p:sp>
      <p:pic>
        <p:nvPicPr>
          <p:cNvPr id="36870" name="Picture 4" descr="j0139031[1]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3733800"/>
            <a:ext cx="1930400" cy="2665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Base and bounds</a:t>
            </a:r>
          </a:p>
        </p:txBody>
      </p:sp>
      <p:sp>
        <p:nvSpPr>
          <p:cNvPr id="38915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  <a:defRPr/>
            </a:pPr>
            <a:r>
              <a:rPr lang="en-US" sz="1600" b="1" dirty="0" smtClean="0"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if (</a:t>
            </a:r>
            <a:r>
              <a:rPr lang="en-US" sz="1600" b="1" dirty="0" err="1" smtClean="0"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virt</a:t>
            </a:r>
            <a:r>
              <a:rPr lang="en-US" sz="1600" b="1" dirty="0" smtClean="0"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 </a:t>
            </a:r>
            <a:r>
              <a:rPr lang="en-US" sz="1600" b="1" dirty="0" err="1" smtClean="0"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addr</a:t>
            </a:r>
            <a:r>
              <a:rPr lang="en-US" sz="1600" b="1" dirty="0" smtClean="0"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 &gt; bound)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1600" b="1" dirty="0" smtClean="0"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    trap to kernel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1600" b="1" dirty="0" smtClean="0"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} else {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1600" b="1" dirty="0" smtClean="0"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    phys </a:t>
            </a:r>
            <a:r>
              <a:rPr lang="en-US" sz="1600" b="1" dirty="0" err="1" smtClean="0"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addr</a:t>
            </a:r>
            <a:r>
              <a:rPr lang="en-US" sz="1600" b="1" dirty="0" smtClean="0"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 = 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1600" b="1" dirty="0" smtClean="0"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	  </a:t>
            </a:r>
            <a:r>
              <a:rPr lang="en-US" sz="1600" b="1" dirty="0" err="1" smtClean="0"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virt</a:t>
            </a:r>
            <a:r>
              <a:rPr lang="en-US" sz="1600" b="1" dirty="0" smtClean="0"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 </a:t>
            </a:r>
            <a:r>
              <a:rPr lang="en-US" sz="1600" b="1" dirty="0" err="1" smtClean="0"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addr</a:t>
            </a:r>
            <a:r>
              <a:rPr lang="en-US" sz="1600" b="1" dirty="0" smtClean="0"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 + base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1600" b="1" dirty="0" smtClean="0"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}</a:t>
            </a:r>
          </a:p>
          <a:p>
            <a:pPr>
              <a:buFont typeface="Wingdings" pitchFamily="2" charset="2"/>
              <a:buNone/>
              <a:defRPr/>
            </a:pPr>
            <a:endParaRPr lang="en-US" sz="1050" dirty="0" smtClean="0">
              <a:ea typeface="ＭＳ Ｐゴシック" pitchFamily="34" charset="-128"/>
            </a:endParaRPr>
          </a:p>
          <a:p>
            <a:pPr eaLnBrk="1" hangingPunct="1">
              <a:buFont typeface="Wingdings" pitchFamily="2" charset="2"/>
              <a:buChar char="n"/>
              <a:defRPr/>
            </a:pPr>
            <a:r>
              <a:rPr lang="en-US" sz="2200" dirty="0" smtClean="0">
                <a:ea typeface="ＭＳ Ｐゴシック" pitchFamily="34" charset="-128"/>
              </a:rPr>
              <a:t>Process has the illusion of running on its own dedicated machine with memory [0,bound)</a:t>
            </a:r>
          </a:p>
          <a:p>
            <a:pPr eaLnBrk="1" hangingPunct="1">
              <a:buFont typeface="Wingdings" pitchFamily="2" charset="2"/>
              <a:buChar char="n"/>
              <a:defRPr/>
            </a:pPr>
            <a:r>
              <a:rPr lang="en-US" sz="2200" dirty="0" smtClean="0">
                <a:ea typeface="ＭＳ Ｐゴシック" pitchFamily="34" charset="-128"/>
              </a:rPr>
              <a:t>Provides protection from other processes also currently in memory</a:t>
            </a:r>
          </a:p>
          <a:p>
            <a:pPr>
              <a:buFont typeface="Wingdings" pitchFamily="2" charset="2"/>
              <a:buNone/>
              <a:defRPr/>
            </a:pPr>
            <a:endParaRPr lang="en-US" sz="1800" dirty="0" smtClean="0">
              <a:ea typeface="ＭＳ Ｐゴシック" pitchFamily="34" charset="-128"/>
            </a:endParaRPr>
          </a:p>
        </p:txBody>
      </p:sp>
      <p:sp>
        <p:nvSpPr>
          <p:cNvPr id="3789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3789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2A907D8B-6D00-7540-A480-50CEC81F8C6C}" type="slidenum">
              <a:rPr lang="en-US"/>
              <a:pPr/>
              <a:t>37</a:t>
            </a:fld>
            <a:endParaRPr lang="en-US"/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8001000" y="2590800"/>
            <a:ext cx="685800" cy="3352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sz="2400" dirty="0">
              <a:latin typeface="+mn-lt"/>
              <a:ea typeface="ＭＳ Ｐゴシック" charset="-128"/>
              <a:cs typeface="+mn-cs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5257800" y="5105400"/>
            <a:ext cx="6858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sz="2400" dirty="0">
              <a:latin typeface="+mn-lt"/>
              <a:ea typeface="ＭＳ Ｐゴシック" charset="-128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0" y="1905000"/>
            <a:ext cx="1146175" cy="6461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dirty="0">
                <a:latin typeface="+mn-lt"/>
                <a:ea typeface="ＭＳ Ｐゴシック" charset="-128"/>
                <a:cs typeface="+mn-cs"/>
              </a:rPr>
              <a:t>physical  </a:t>
            </a:r>
          </a:p>
          <a:p>
            <a:pPr algn="ctr">
              <a:defRPr/>
            </a:pPr>
            <a:r>
              <a:rPr lang="en-US" dirty="0">
                <a:latin typeface="+mn-lt"/>
                <a:ea typeface="ＭＳ Ｐゴシック" charset="-128"/>
                <a:cs typeface="+mn-cs"/>
              </a:rPr>
              <a:t>memory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81800" y="2514600"/>
            <a:ext cx="1146175" cy="9239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latin typeface="+mn-lt"/>
                <a:ea typeface="ＭＳ Ｐゴシック" charset="-128"/>
                <a:cs typeface="+mn-cs"/>
              </a:rPr>
              <a:t>physical  </a:t>
            </a:r>
          </a:p>
          <a:p>
            <a:pPr>
              <a:defRPr/>
            </a:pPr>
            <a:r>
              <a:rPr lang="en-US" dirty="0">
                <a:latin typeface="+mn-lt"/>
                <a:ea typeface="ＭＳ Ｐゴシック" charset="-128"/>
                <a:cs typeface="+mn-cs"/>
              </a:rPr>
              <a:t>memory</a:t>
            </a:r>
          </a:p>
          <a:p>
            <a:pPr>
              <a:defRPr/>
            </a:pPr>
            <a:r>
              <a:rPr lang="en-US" dirty="0">
                <a:latin typeface="+mn-lt"/>
                <a:ea typeface="ＭＳ Ｐゴシック" charset="-128"/>
                <a:cs typeface="+mn-cs"/>
              </a:rPr>
              <a:t>size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1913" y="3897313"/>
            <a:ext cx="1589087" cy="369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latin typeface="+mn-lt"/>
                <a:ea typeface="ＭＳ Ｐゴシック" charset="-128"/>
                <a:cs typeface="+mn-cs"/>
              </a:rPr>
              <a:t>base + bound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4735513"/>
            <a:ext cx="684213" cy="369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latin typeface="+mn-lt"/>
                <a:ea typeface="ＭＳ Ｐゴシック" charset="-128"/>
                <a:cs typeface="+mn-cs"/>
              </a:rPr>
              <a:t>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4964113"/>
            <a:ext cx="825500" cy="369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latin typeface="+mn-lt"/>
                <a:ea typeface="ＭＳ Ｐゴシック" charset="-128"/>
                <a:cs typeface="+mn-cs"/>
              </a:rPr>
              <a:t>bound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05400" y="4430713"/>
            <a:ext cx="1017588" cy="6461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dirty="0">
                <a:latin typeface="+mn-lt"/>
                <a:ea typeface="ＭＳ Ｐゴシック" charset="-128"/>
                <a:cs typeface="+mn-cs"/>
              </a:rPr>
              <a:t>virtual</a:t>
            </a:r>
          </a:p>
          <a:p>
            <a:pPr algn="ctr">
              <a:defRPr/>
            </a:pPr>
            <a:r>
              <a:rPr lang="en-US" dirty="0">
                <a:latin typeface="+mn-lt"/>
                <a:ea typeface="ＭＳ Ｐゴシック" charset="-128"/>
                <a:cs typeface="+mn-cs"/>
              </a:rPr>
              <a:t>memory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53000" y="5638800"/>
            <a:ext cx="312738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latin typeface="+mn-lt"/>
                <a:ea typeface="ＭＳ Ｐゴシック" charset="-128"/>
                <a:cs typeface="+mn-cs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6200" y="5649913"/>
            <a:ext cx="312738" cy="369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latin typeface="+mn-lt"/>
                <a:ea typeface="ＭＳ Ｐゴシック" charset="-128"/>
                <a:cs typeface="+mn-cs"/>
              </a:rPr>
              <a:t>0</a:t>
            </a:r>
          </a:p>
        </p:txBody>
      </p:sp>
      <p:cxnSp>
        <p:nvCxnSpPr>
          <p:cNvPr id="37904" name="Straight Connector 18"/>
          <p:cNvCxnSpPr>
            <a:cxnSpLocks noChangeShapeType="1"/>
          </p:cNvCxnSpPr>
          <p:nvPr/>
        </p:nvCxnSpPr>
        <p:spPr bwMode="auto">
          <a:xfrm flipV="1">
            <a:off x="5943600" y="5029200"/>
            <a:ext cx="2057400" cy="914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05" name="Straight Connector 19"/>
          <p:cNvCxnSpPr>
            <a:cxnSpLocks noChangeShapeType="1"/>
          </p:cNvCxnSpPr>
          <p:nvPr/>
        </p:nvCxnSpPr>
        <p:spPr bwMode="auto">
          <a:xfrm flipV="1">
            <a:off x="5943600" y="4191000"/>
            <a:ext cx="2057400" cy="914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Base and bounds</a:t>
            </a:r>
          </a:p>
        </p:txBody>
      </p:sp>
      <p:sp>
        <p:nvSpPr>
          <p:cNvPr id="38915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3891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0AD4F788-7EF1-E644-9872-A9CA142406DF}" type="slidenum">
              <a:rPr lang="en-US"/>
              <a:pPr/>
              <a:t>38</a:t>
            </a:fld>
            <a:endParaRPr lang="en-US"/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6477000" y="1905000"/>
            <a:ext cx="1676400" cy="43434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400">
                <a:latin typeface="+mn-lt"/>
                <a:ea typeface="ＭＳ Ｐゴシック" charset="-128"/>
                <a:cs typeface="+mn-cs"/>
              </a:rPr>
              <a:t>Memory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2286000" y="1676400"/>
            <a:ext cx="2057400" cy="304800"/>
          </a:xfrm>
          <a:prstGeom prst="rect">
            <a:avLst/>
          </a:prstGeom>
          <a:solidFill>
            <a:srgbClr val="66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000" dirty="0">
                <a:latin typeface="+mn-lt"/>
                <a:ea typeface="ＭＳ Ｐゴシック" charset="-128"/>
                <a:cs typeface="+mn-cs"/>
              </a:rPr>
              <a:t>Bounds Register</a:t>
            </a: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4419600" y="1676400"/>
            <a:ext cx="1905000" cy="304800"/>
          </a:xfrm>
          <a:prstGeom prst="rect">
            <a:avLst/>
          </a:prstGeom>
          <a:solidFill>
            <a:srgbClr val="00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000" dirty="0">
                <a:latin typeface="+mn-lt"/>
                <a:ea typeface="ＭＳ Ｐゴシック" charset="-128"/>
                <a:cs typeface="+mn-cs"/>
              </a:rPr>
              <a:t>Base Register</a:t>
            </a:r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685800" y="3352800"/>
            <a:ext cx="1447800" cy="91440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400" dirty="0">
                <a:latin typeface="+mn-lt"/>
                <a:ea typeface="ＭＳ Ｐゴシック" charset="-128"/>
                <a:cs typeface="+mn-cs"/>
              </a:rPr>
              <a:t>CPU</a:t>
            </a:r>
          </a:p>
          <a:p>
            <a:pPr algn="ctr">
              <a:defRPr/>
            </a:pPr>
            <a:r>
              <a:rPr lang="en-US" sz="2400" dirty="0">
                <a:latin typeface="+mn-lt"/>
                <a:ea typeface="ＭＳ Ｐゴシック" charset="-128"/>
                <a:cs typeface="+mn-cs"/>
              </a:rPr>
              <a:t>Address</a:t>
            </a:r>
          </a:p>
        </p:txBody>
      </p:sp>
      <p:sp>
        <p:nvSpPr>
          <p:cNvPr id="11" name="Oval 7"/>
          <p:cNvSpPr>
            <a:spLocks noChangeArrowheads="1"/>
          </p:cNvSpPr>
          <p:nvPr/>
        </p:nvSpPr>
        <p:spPr bwMode="auto">
          <a:xfrm>
            <a:off x="3124200" y="3581400"/>
            <a:ext cx="457200" cy="457200"/>
          </a:xfrm>
          <a:prstGeom prst="ellipse">
            <a:avLst/>
          </a:prstGeom>
          <a:solidFill>
            <a:srgbClr val="B0AC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400">
                <a:latin typeface="+mn-lt"/>
                <a:ea typeface="ＭＳ Ｐゴシック" charset="-128"/>
                <a:cs typeface="+mn-cs"/>
              </a:rPr>
              <a:t>&lt;</a:t>
            </a:r>
          </a:p>
        </p:txBody>
      </p:sp>
      <p:sp>
        <p:nvSpPr>
          <p:cNvPr id="12" name="Oval 8"/>
          <p:cNvSpPr>
            <a:spLocks noChangeArrowheads="1"/>
          </p:cNvSpPr>
          <p:nvPr/>
        </p:nvSpPr>
        <p:spPr bwMode="auto">
          <a:xfrm>
            <a:off x="5105400" y="3581400"/>
            <a:ext cx="457200" cy="457200"/>
          </a:xfrm>
          <a:prstGeom prst="ellipse">
            <a:avLst/>
          </a:prstGeom>
          <a:solidFill>
            <a:srgbClr val="B0AC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400">
                <a:latin typeface="+mn-lt"/>
                <a:ea typeface="ＭＳ Ｐゴシック" charset="-128"/>
                <a:cs typeface="+mn-cs"/>
              </a:rPr>
              <a:t>+</a:t>
            </a:r>
          </a:p>
        </p:txBody>
      </p:sp>
      <p:sp>
        <p:nvSpPr>
          <p:cNvPr id="13" name="Line 9"/>
          <p:cNvSpPr>
            <a:spLocks noChangeShapeType="1"/>
          </p:cNvSpPr>
          <p:nvPr/>
        </p:nvSpPr>
        <p:spPr bwMode="auto">
          <a:xfrm>
            <a:off x="2133600" y="3810000"/>
            <a:ext cx="9906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ＭＳ Ｐゴシック" charset="-128"/>
              <a:cs typeface="+mn-cs"/>
            </a:endParaRPr>
          </a:p>
        </p:txBody>
      </p:sp>
      <p:sp>
        <p:nvSpPr>
          <p:cNvPr id="14" name="Line 10"/>
          <p:cNvSpPr>
            <a:spLocks noChangeShapeType="1"/>
          </p:cNvSpPr>
          <p:nvPr/>
        </p:nvSpPr>
        <p:spPr bwMode="auto">
          <a:xfrm>
            <a:off x="5562600" y="3810000"/>
            <a:ext cx="8382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ＭＳ Ｐゴシック" charset="-128"/>
              <a:cs typeface="+mn-cs"/>
            </a:endParaRPr>
          </a:p>
        </p:txBody>
      </p:sp>
      <p:sp>
        <p:nvSpPr>
          <p:cNvPr id="15" name="Line 11"/>
          <p:cNvSpPr>
            <a:spLocks noChangeShapeType="1"/>
          </p:cNvSpPr>
          <p:nvPr/>
        </p:nvSpPr>
        <p:spPr bwMode="auto">
          <a:xfrm>
            <a:off x="3581400" y="3810000"/>
            <a:ext cx="15240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ＭＳ Ｐゴシック" charset="-128"/>
              <a:cs typeface="+mn-cs"/>
            </a:endParaRPr>
          </a:p>
        </p:txBody>
      </p:sp>
      <p:sp>
        <p:nvSpPr>
          <p:cNvPr id="16" name="Line 12"/>
          <p:cNvSpPr>
            <a:spLocks noChangeShapeType="1"/>
          </p:cNvSpPr>
          <p:nvPr/>
        </p:nvSpPr>
        <p:spPr bwMode="auto">
          <a:xfrm>
            <a:off x="3352800" y="1981200"/>
            <a:ext cx="0" cy="16002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ＭＳ Ｐゴシック" charset="-128"/>
              <a:cs typeface="+mn-cs"/>
            </a:endParaRPr>
          </a:p>
        </p:txBody>
      </p:sp>
      <p:sp>
        <p:nvSpPr>
          <p:cNvPr id="17" name="Line 13"/>
          <p:cNvSpPr>
            <a:spLocks noChangeShapeType="1"/>
          </p:cNvSpPr>
          <p:nvPr/>
        </p:nvSpPr>
        <p:spPr bwMode="auto">
          <a:xfrm>
            <a:off x="5334000" y="1981200"/>
            <a:ext cx="0" cy="16002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ＭＳ Ｐゴシック" charset="-128"/>
              <a:cs typeface="+mn-cs"/>
            </a:endParaRPr>
          </a:p>
        </p:txBody>
      </p:sp>
      <p:sp>
        <p:nvSpPr>
          <p:cNvPr id="18" name="Line 14"/>
          <p:cNvSpPr>
            <a:spLocks noChangeShapeType="1"/>
          </p:cNvSpPr>
          <p:nvPr/>
        </p:nvSpPr>
        <p:spPr bwMode="auto">
          <a:xfrm>
            <a:off x="5867400" y="5486400"/>
            <a:ext cx="2819400" cy="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ＭＳ Ｐゴシック" charset="-128"/>
              <a:cs typeface="+mn-cs"/>
            </a:endParaRPr>
          </a:p>
        </p:txBody>
      </p:sp>
      <p:sp>
        <p:nvSpPr>
          <p:cNvPr id="19" name="Line 15"/>
          <p:cNvSpPr>
            <a:spLocks noChangeShapeType="1"/>
          </p:cNvSpPr>
          <p:nvPr/>
        </p:nvSpPr>
        <p:spPr bwMode="auto">
          <a:xfrm>
            <a:off x="5867400" y="2362200"/>
            <a:ext cx="2819400" cy="0"/>
          </a:xfrm>
          <a:prstGeom prst="line">
            <a:avLst/>
          </a:prstGeom>
          <a:noFill/>
          <a:ln w="76200">
            <a:solidFill>
              <a:srgbClr val="3366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ＭＳ Ｐゴシック" charset="-128"/>
              <a:cs typeface="+mn-cs"/>
            </a:endParaRPr>
          </a:p>
        </p:txBody>
      </p:sp>
      <p:sp>
        <p:nvSpPr>
          <p:cNvPr id="20" name="Text Box 16"/>
          <p:cNvSpPr txBox="1">
            <a:spLocks noChangeArrowheads="1"/>
          </p:cNvSpPr>
          <p:nvPr/>
        </p:nvSpPr>
        <p:spPr bwMode="auto">
          <a:xfrm>
            <a:off x="1985963" y="4133850"/>
            <a:ext cx="131445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sz="2400" dirty="0">
                <a:latin typeface="+mn-lt"/>
                <a:ea typeface="ＭＳ Ｐゴシック" charset="-128"/>
                <a:cs typeface="+mn-cs"/>
              </a:rPr>
              <a:t>Memory</a:t>
            </a:r>
          </a:p>
          <a:p>
            <a:pPr algn="r">
              <a:defRPr/>
            </a:pPr>
            <a:r>
              <a:rPr lang="en-US" sz="2400" dirty="0">
                <a:latin typeface="+mn-lt"/>
                <a:ea typeface="ＭＳ Ｐゴシック" charset="-128"/>
                <a:cs typeface="+mn-cs"/>
              </a:rPr>
              <a:t>Address</a:t>
            </a:r>
          </a:p>
          <a:p>
            <a:pPr algn="r">
              <a:defRPr/>
            </a:pPr>
            <a:r>
              <a:rPr lang="en-US" sz="2400" dirty="0">
                <a:latin typeface="+mn-lt"/>
                <a:ea typeface="ＭＳ Ｐゴシック" charset="-128"/>
                <a:cs typeface="+mn-cs"/>
              </a:rPr>
              <a:t>MA</a:t>
            </a:r>
          </a:p>
        </p:txBody>
      </p:sp>
      <p:sp>
        <p:nvSpPr>
          <p:cNvPr id="21" name="Text Box 17"/>
          <p:cNvSpPr txBox="1">
            <a:spLocks noChangeArrowheads="1"/>
          </p:cNvSpPr>
          <p:nvPr/>
        </p:nvSpPr>
        <p:spPr bwMode="auto">
          <a:xfrm>
            <a:off x="1524000" y="2209800"/>
            <a:ext cx="1776413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sz="2400" dirty="0">
                <a:latin typeface="+mn-lt"/>
                <a:ea typeface="ＭＳ Ｐゴシック" charset="-128"/>
                <a:cs typeface="+mn-cs"/>
              </a:rPr>
              <a:t>Logical</a:t>
            </a:r>
          </a:p>
          <a:p>
            <a:pPr algn="r">
              <a:defRPr/>
            </a:pPr>
            <a:r>
              <a:rPr lang="en-US" sz="2400" dirty="0">
                <a:latin typeface="+mn-lt"/>
                <a:ea typeface="ＭＳ Ｐゴシック" charset="-128"/>
                <a:cs typeface="+mn-cs"/>
              </a:rPr>
              <a:t>Address LA</a:t>
            </a:r>
          </a:p>
        </p:txBody>
      </p:sp>
      <p:sp>
        <p:nvSpPr>
          <p:cNvPr id="22" name="Text Box 18"/>
          <p:cNvSpPr txBox="1">
            <a:spLocks noChangeArrowheads="1"/>
          </p:cNvSpPr>
          <p:nvPr/>
        </p:nvSpPr>
        <p:spPr bwMode="auto">
          <a:xfrm>
            <a:off x="5191125" y="3981450"/>
            <a:ext cx="1331913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sz="2400" dirty="0">
                <a:latin typeface="+mn-lt"/>
                <a:ea typeface="ＭＳ Ｐゴシック" charset="-128"/>
                <a:cs typeface="+mn-cs"/>
              </a:rPr>
              <a:t>Physical</a:t>
            </a:r>
          </a:p>
          <a:p>
            <a:pPr algn="r">
              <a:defRPr/>
            </a:pPr>
            <a:r>
              <a:rPr lang="en-US" sz="2400" dirty="0">
                <a:latin typeface="+mn-lt"/>
                <a:ea typeface="ＭＳ Ｐゴシック" charset="-128"/>
                <a:cs typeface="+mn-cs"/>
              </a:rPr>
              <a:t>Address</a:t>
            </a:r>
          </a:p>
          <a:p>
            <a:pPr algn="r">
              <a:defRPr/>
            </a:pPr>
            <a:r>
              <a:rPr lang="en-US" sz="2400" dirty="0">
                <a:latin typeface="+mn-lt"/>
                <a:ea typeface="ＭＳ Ｐゴシック" charset="-128"/>
                <a:cs typeface="+mn-cs"/>
              </a:rPr>
              <a:t>PA</a:t>
            </a:r>
          </a:p>
        </p:txBody>
      </p:sp>
      <p:sp>
        <p:nvSpPr>
          <p:cNvPr id="23" name="Line 19"/>
          <p:cNvSpPr>
            <a:spLocks noChangeShapeType="1"/>
          </p:cNvSpPr>
          <p:nvPr/>
        </p:nvSpPr>
        <p:spPr bwMode="auto">
          <a:xfrm>
            <a:off x="3352800" y="4038600"/>
            <a:ext cx="0" cy="14478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ＭＳ Ｐゴシック" charset="-128"/>
              <a:cs typeface="+mn-cs"/>
            </a:endParaRPr>
          </a:p>
        </p:txBody>
      </p:sp>
      <p:sp>
        <p:nvSpPr>
          <p:cNvPr id="24" name="Text Box 20"/>
          <p:cNvSpPr txBox="1">
            <a:spLocks noChangeArrowheads="1"/>
          </p:cNvSpPr>
          <p:nvPr/>
        </p:nvSpPr>
        <p:spPr bwMode="auto">
          <a:xfrm>
            <a:off x="2955925" y="5410200"/>
            <a:ext cx="86836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>
                <a:latin typeface="+mn-lt"/>
                <a:ea typeface="ＭＳ Ｐゴシック" charset="-128"/>
                <a:cs typeface="+mn-cs"/>
              </a:rPr>
              <a:t>Fault</a:t>
            </a:r>
          </a:p>
        </p:txBody>
      </p:sp>
      <p:sp>
        <p:nvSpPr>
          <p:cNvPr id="25" name="Text Box 21"/>
          <p:cNvSpPr txBox="1">
            <a:spLocks noChangeArrowheads="1"/>
          </p:cNvSpPr>
          <p:nvPr/>
        </p:nvSpPr>
        <p:spPr bwMode="auto">
          <a:xfrm>
            <a:off x="6453188" y="1919288"/>
            <a:ext cx="1766887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000">
                <a:latin typeface="+mn-lt"/>
                <a:ea typeface="ＭＳ Ｐゴシック" charset="-128"/>
                <a:cs typeface="+mn-cs"/>
              </a:rPr>
              <a:t>Base Address</a:t>
            </a:r>
          </a:p>
        </p:txBody>
      </p:sp>
      <p:sp>
        <p:nvSpPr>
          <p:cNvPr id="26" name="Text Box 22"/>
          <p:cNvSpPr txBox="1">
            <a:spLocks noChangeArrowheads="1"/>
          </p:cNvSpPr>
          <p:nvPr/>
        </p:nvSpPr>
        <p:spPr bwMode="auto">
          <a:xfrm>
            <a:off x="6723063" y="4800600"/>
            <a:ext cx="1125537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2000" dirty="0">
                <a:latin typeface="+mn-lt"/>
                <a:ea typeface="ＭＳ Ｐゴシック" charset="-128"/>
                <a:cs typeface="+mn-cs"/>
              </a:rPr>
              <a:t>Bound </a:t>
            </a:r>
          </a:p>
          <a:p>
            <a:pPr algn="ctr">
              <a:defRPr/>
            </a:pPr>
            <a:r>
              <a:rPr lang="en-US" sz="2000" dirty="0">
                <a:latin typeface="+mn-lt"/>
                <a:ea typeface="ＭＳ Ｐゴシック" charset="-128"/>
                <a:cs typeface="+mn-cs"/>
              </a:rPr>
              <a:t>Address</a:t>
            </a:r>
            <a:endParaRPr lang="en-US" sz="2400" dirty="0">
              <a:latin typeface="+mn-lt"/>
              <a:ea typeface="ＭＳ Ｐゴシック" charset="-128"/>
              <a:cs typeface="+mn-cs"/>
            </a:endParaRPr>
          </a:p>
        </p:txBody>
      </p:sp>
      <p:sp>
        <p:nvSpPr>
          <p:cNvPr id="27" name="Text Box 23"/>
          <p:cNvSpPr txBox="1">
            <a:spLocks noChangeArrowheads="1"/>
          </p:cNvSpPr>
          <p:nvPr/>
        </p:nvSpPr>
        <p:spPr bwMode="auto">
          <a:xfrm>
            <a:off x="6705600" y="3546475"/>
            <a:ext cx="127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  <a:ea typeface="ＭＳ Ｐゴシック" charset="-128"/>
                <a:cs typeface="+mn-cs"/>
              </a:rPr>
              <a:t>MA+BA</a:t>
            </a:r>
          </a:p>
        </p:txBody>
      </p:sp>
      <p:sp>
        <p:nvSpPr>
          <p:cNvPr id="28" name="Text Box 24"/>
          <p:cNvSpPr txBox="1">
            <a:spLocks noChangeArrowheads="1"/>
          </p:cNvSpPr>
          <p:nvPr/>
        </p:nvSpPr>
        <p:spPr bwMode="auto">
          <a:xfrm>
            <a:off x="3962400" y="2209800"/>
            <a:ext cx="131445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sz="2400" dirty="0">
                <a:latin typeface="+mn-lt"/>
                <a:ea typeface="ＭＳ Ｐゴシック" charset="-128"/>
                <a:cs typeface="+mn-cs"/>
              </a:rPr>
              <a:t>Base</a:t>
            </a:r>
          </a:p>
          <a:p>
            <a:pPr algn="r">
              <a:defRPr/>
            </a:pPr>
            <a:r>
              <a:rPr lang="en-US" sz="2400" dirty="0">
                <a:latin typeface="+mn-lt"/>
                <a:ea typeface="ＭＳ Ｐゴシック" charset="-128"/>
                <a:cs typeface="+mn-cs"/>
              </a:rPr>
              <a:t>Address</a:t>
            </a:r>
          </a:p>
          <a:p>
            <a:pPr algn="r">
              <a:defRPr/>
            </a:pPr>
            <a:r>
              <a:rPr lang="en-US" sz="2400" dirty="0">
                <a:latin typeface="+mn-lt"/>
                <a:ea typeface="ＭＳ Ｐゴシック" charset="-128"/>
                <a:cs typeface="+mn-cs"/>
              </a:rPr>
              <a:t>BA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" y="5830888"/>
            <a:ext cx="6705600" cy="6461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en-US" sz="2000" dirty="0">
                <a:latin typeface="Arial" charset="0"/>
              </a:rPr>
              <a:t>Base: start of the </a:t>
            </a:r>
            <a:r>
              <a:rPr lang="en-US" sz="2000" dirty="0" smtClean="0">
                <a:latin typeface="Arial" charset="0"/>
              </a:rPr>
              <a:t>process’s </a:t>
            </a:r>
            <a:r>
              <a:rPr lang="en-US" sz="2000" dirty="0">
                <a:latin typeface="Arial" charset="0"/>
              </a:rPr>
              <a:t>memory partition</a:t>
            </a:r>
          </a:p>
          <a:p>
            <a:pPr>
              <a:lnSpc>
                <a:spcPct val="90000"/>
              </a:lnSpc>
            </a:pPr>
            <a:r>
              <a:rPr lang="en-US" sz="2000" dirty="0">
                <a:latin typeface="Arial" charset="0"/>
              </a:rPr>
              <a:t>Bound: length of the </a:t>
            </a:r>
            <a:r>
              <a:rPr lang="en-US" sz="2000" dirty="0" smtClean="0">
                <a:latin typeface="Arial" charset="0"/>
              </a:rPr>
              <a:t>process’s </a:t>
            </a:r>
            <a:r>
              <a:rPr lang="en-US" sz="2000" dirty="0">
                <a:latin typeface="Arial" charset="0"/>
              </a:rPr>
              <a:t>memory partition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Base and bounds</a:t>
            </a:r>
          </a:p>
        </p:txBody>
      </p:sp>
      <p:sp>
        <p:nvSpPr>
          <p:cNvPr id="39939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latin typeface="Arial" charset="0"/>
                <a:ea typeface="ＭＳ Ｐゴシック" charset="0"/>
                <a:cs typeface="ＭＳ Ｐゴシック" charset="0"/>
              </a:rPr>
              <a:t>What must change during a context switch?</a:t>
            </a:r>
          </a:p>
          <a:p>
            <a:pPr lvl="1"/>
            <a:endParaRPr lang="en-US" sz="2400" dirty="0">
              <a:latin typeface="Arial" charset="0"/>
              <a:ea typeface="ＭＳ Ｐゴシック" charset="0"/>
            </a:endParaRPr>
          </a:p>
          <a:p>
            <a:r>
              <a:rPr lang="en-US" sz="2800" dirty="0">
                <a:latin typeface="Arial" charset="0"/>
                <a:ea typeface="ＭＳ Ｐゴシック" charset="0"/>
                <a:cs typeface="ＭＳ Ｐゴシック" charset="0"/>
              </a:rPr>
              <a:t>Can a </a:t>
            </a:r>
            <a:r>
              <a:rPr lang="en-US" sz="2800" dirty="0" smtClean="0">
                <a:latin typeface="Arial" charset="0"/>
                <a:ea typeface="ＭＳ Ｐゴシック" charset="0"/>
                <a:cs typeface="ＭＳ Ｐゴシック" charset="0"/>
              </a:rPr>
              <a:t>process </a:t>
            </a:r>
            <a:r>
              <a:rPr lang="en-US" sz="2800" dirty="0">
                <a:latin typeface="Arial" charset="0"/>
                <a:ea typeface="ＭＳ Ｐゴシック" charset="0"/>
                <a:cs typeface="ＭＳ Ｐゴシック" charset="0"/>
              </a:rPr>
              <a:t>change its own base and bound</a:t>
            </a:r>
            <a:r>
              <a:rPr lang="en-US" sz="2800" dirty="0" smtClean="0">
                <a:latin typeface="Arial" charset="0"/>
                <a:ea typeface="ＭＳ Ｐゴシック" charset="0"/>
                <a:cs typeface="ＭＳ Ｐゴシック" charset="0"/>
              </a:rPr>
              <a:t>?</a:t>
            </a:r>
            <a:endParaRPr lang="en-US" sz="2800" dirty="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3994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3994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69333802-BFFB-084F-9737-C638EC9942C1}" type="slidenum">
              <a:rPr lang="en-US"/>
              <a:pPr/>
              <a:t>39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Base and bounds</a:t>
            </a:r>
          </a:p>
        </p:txBody>
      </p:sp>
      <p:sp>
        <p:nvSpPr>
          <p:cNvPr id="41987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latin typeface="Arial" charset="0"/>
                <a:ea typeface="ＭＳ Ｐゴシック" charset="0"/>
                <a:cs typeface="ＭＳ Ｐゴシック" charset="0"/>
              </a:rPr>
              <a:t>What must change during a context switch?</a:t>
            </a:r>
          </a:p>
          <a:p>
            <a:pPr lvl="1"/>
            <a:r>
              <a:rPr lang="en-US" sz="2400" dirty="0">
                <a:latin typeface="Arial" charset="0"/>
                <a:ea typeface="ＭＳ Ｐゴシック" charset="0"/>
              </a:rPr>
              <a:t>The base and the bounds registers</a:t>
            </a:r>
          </a:p>
          <a:p>
            <a:r>
              <a:rPr lang="en-US" sz="2800" dirty="0">
                <a:latin typeface="Arial" charset="0"/>
                <a:ea typeface="ＭＳ Ｐゴシック" charset="0"/>
                <a:cs typeface="ＭＳ Ｐゴシック" charset="0"/>
              </a:rPr>
              <a:t>Can a process change its own base and bound?</a:t>
            </a:r>
          </a:p>
          <a:p>
            <a:pPr lvl="1"/>
            <a:r>
              <a:rPr lang="en-US" sz="2400" dirty="0">
                <a:latin typeface="Arial" charset="0"/>
                <a:ea typeface="ＭＳ Ｐゴシック" charset="0"/>
              </a:rPr>
              <a:t>No, only the OS can change these registers</a:t>
            </a:r>
          </a:p>
          <a:p>
            <a:pPr lvl="1"/>
            <a:r>
              <a:rPr lang="en-US" sz="2400" dirty="0">
                <a:latin typeface="Arial" charset="0"/>
                <a:ea typeface="ＭＳ Ｐゴシック" charset="0"/>
              </a:rPr>
              <a:t>The program can do it </a:t>
            </a:r>
            <a:r>
              <a:rPr lang="en-US" sz="2400" dirty="0" smtClean="0">
                <a:latin typeface="Arial" charset="0"/>
                <a:ea typeface="ＭＳ Ｐゴシック" charset="0"/>
              </a:rPr>
              <a:t>indirectly (e.g., ask for more memory in stack)</a:t>
            </a:r>
            <a:endParaRPr lang="en-US" sz="2000" dirty="0">
              <a:latin typeface="Arial" charset="0"/>
              <a:ea typeface="ＭＳ Ｐゴシック" charset="0"/>
            </a:endParaRPr>
          </a:p>
        </p:txBody>
      </p:sp>
      <p:sp>
        <p:nvSpPr>
          <p:cNvPr id="4096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4096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82188196-F9E9-614A-87C8-63FF0C95ED2A}" type="slidenum">
              <a:rPr lang="en-US"/>
              <a:pPr/>
              <a:t>40</a:t>
            </a:fld>
            <a:endParaRPr lang="en-US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Base and bounds</a:t>
            </a:r>
          </a:p>
        </p:txBody>
      </p:sp>
      <p:sp>
        <p:nvSpPr>
          <p:cNvPr id="41987" name="Content Placeholder 4"/>
          <p:cNvSpPr>
            <a:spLocks noGrp="1"/>
          </p:cNvSpPr>
          <p:nvPr>
            <p:ph idx="1"/>
          </p:nvPr>
        </p:nvSpPr>
        <p:spPr>
          <a:xfrm>
            <a:off x="949325" y="1981200"/>
            <a:ext cx="5451475" cy="4114800"/>
          </a:xfrm>
        </p:spPr>
        <p:txBody>
          <a:bodyPr/>
          <a:lstStyle/>
          <a:p>
            <a:r>
              <a:rPr lang="en-US" sz="2400" dirty="0" smtClean="0">
                <a:latin typeface="Arial" charset="0"/>
                <a:ea typeface="ＭＳ Ｐゴシック" charset="0"/>
                <a:cs typeface="ＭＳ Ｐゴシック" charset="0"/>
              </a:rPr>
              <a:t>Problem: Process needs more memory over time</a:t>
            </a:r>
          </a:p>
          <a:p>
            <a:r>
              <a:rPr lang="en-US" sz="2400" dirty="0" smtClean="0">
                <a:latin typeface="Arial" charset="0"/>
                <a:ea typeface="ＭＳ Ｐゴシック" charset="0"/>
                <a:cs typeface="ＭＳ Ｐゴシック" charset="0"/>
              </a:rPr>
              <a:t>How </a:t>
            </a:r>
            <a:r>
              <a:rPr lang="en-US" sz="2400" dirty="0">
                <a:latin typeface="Arial" charset="0"/>
                <a:ea typeface="ＭＳ Ｐゴシック" charset="0"/>
                <a:cs typeface="ＭＳ Ｐゴシック" charset="0"/>
              </a:rPr>
              <a:t>does the kernel handle the address space growing?</a:t>
            </a:r>
          </a:p>
          <a:p>
            <a:pPr lvl="1"/>
            <a:r>
              <a:rPr lang="en-US" sz="2400" dirty="0">
                <a:latin typeface="Arial" charset="0"/>
                <a:ea typeface="ＭＳ Ｐゴシック" charset="0"/>
              </a:rPr>
              <a:t>You are the OS </a:t>
            </a:r>
            <a:r>
              <a:rPr lang="en-US" sz="2400" dirty="0" smtClean="0">
                <a:latin typeface="Arial" charset="0"/>
                <a:ea typeface="ＭＳ Ｐゴシック" charset="0"/>
              </a:rPr>
              <a:t>designer</a:t>
            </a:r>
            <a:endParaRPr lang="en-US" sz="2400" dirty="0">
              <a:latin typeface="Arial" charset="0"/>
              <a:ea typeface="ＭＳ Ｐゴシック" charset="0"/>
            </a:endParaRPr>
          </a:p>
          <a:p>
            <a:pPr lvl="1"/>
            <a:r>
              <a:rPr lang="en-US" sz="2400" dirty="0" smtClean="0">
                <a:latin typeface="Arial" charset="0"/>
                <a:ea typeface="ＭＳ Ｐゴシック" charset="0"/>
              </a:rPr>
              <a:t>Design </a:t>
            </a:r>
            <a:r>
              <a:rPr lang="en-US" sz="2400" dirty="0">
                <a:latin typeface="Arial" charset="0"/>
                <a:ea typeface="ＭＳ Ｐゴシック" charset="0"/>
              </a:rPr>
              <a:t>algorithm for allowing processes to grow</a:t>
            </a:r>
          </a:p>
        </p:txBody>
      </p:sp>
      <p:sp>
        <p:nvSpPr>
          <p:cNvPr id="4198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4198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218C749B-F41B-A749-AADC-954184625FE0}" type="slidenum">
              <a:rPr lang="en-US"/>
              <a:pPr/>
              <a:t>41</a:t>
            </a:fld>
            <a:endParaRPr lang="en-US"/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8001000" y="2590800"/>
            <a:ext cx="685800" cy="3352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sz="2400" dirty="0">
              <a:latin typeface="+mn-lt"/>
              <a:ea typeface="ＭＳ Ｐゴシック" charset="-128"/>
              <a:cs typeface="+mn-cs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6221412" y="5105400"/>
            <a:ext cx="685800" cy="838200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sz="2400" dirty="0">
              <a:latin typeface="+mn-lt"/>
              <a:ea typeface="ＭＳ Ｐゴシック" charset="-128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0" y="1905000"/>
            <a:ext cx="1146175" cy="6461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dirty="0">
                <a:latin typeface="+mn-lt"/>
                <a:ea typeface="ＭＳ Ｐゴシック" charset="-128"/>
                <a:cs typeface="+mn-cs"/>
              </a:rPr>
              <a:t>physical  </a:t>
            </a:r>
          </a:p>
          <a:p>
            <a:pPr algn="ctr">
              <a:defRPr/>
            </a:pPr>
            <a:r>
              <a:rPr lang="en-US" dirty="0">
                <a:latin typeface="+mn-lt"/>
                <a:ea typeface="ＭＳ Ｐゴシック" charset="-128"/>
                <a:cs typeface="+mn-cs"/>
              </a:rPr>
              <a:t>memory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8113" y="3886200"/>
            <a:ext cx="1589087" cy="369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latin typeface="+mn-lt"/>
                <a:ea typeface="ＭＳ Ｐゴシック" charset="-128"/>
                <a:cs typeface="+mn-cs"/>
              </a:rPr>
              <a:t>base + bound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92987" y="4735513"/>
            <a:ext cx="684213" cy="369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latin typeface="+mn-lt"/>
                <a:ea typeface="ＭＳ Ｐゴシック" charset="-128"/>
                <a:cs typeface="+mn-cs"/>
              </a:rPr>
              <a:t>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7012" y="4964113"/>
            <a:ext cx="825500" cy="369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latin typeface="+mn-lt"/>
                <a:ea typeface="ＭＳ Ｐゴシック" charset="-128"/>
                <a:cs typeface="+mn-cs"/>
              </a:rPr>
              <a:t>bound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69012" y="4430713"/>
            <a:ext cx="1017588" cy="6461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dirty="0">
                <a:latin typeface="+mn-lt"/>
                <a:ea typeface="ＭＳ Ｐゴシック" charset="-128"/>
                <a:cs typeface="+mn-cs"/>
              </a:rPr>
              <a:t>virtual</a:t>
            </a:r>
          </a:p>
          <a:p>
            <a:pPr algn="ctr">
              <a:defRPr/>
            </a:pPr>
            <a:r>
              <a:rPr lang="en-US" dirty="0">
                <a:latin typeface="+mn-lt"/>
                <a:ea typeface="ＭＳ Ｐゴシック" charset="-128"/>
                <a:cs typeface="+mn-cs"/>
              </a:rPr>
              <a:t>memory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16612" y="5638800"/>
            <a:ext cx="312738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latin typeface="+mn-lt"/>
                <a:ea typeface="ＭＳ Ｐゴシック" charset="-128"/>
                <a:cs typeface="+mn-cs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5649913"/>
            <a:ext cx="312738" cy="369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latin typeface="+mn-lt"/>
                <a:ea typeface="ＭＳ Ｐゴシック" charset="-128"/>
                <a:cs typeface="+mn-cs"/>
              </a:rPr>
              <a:t>0</a:t>
            </a:r>
          </a:p>
        </p:txBody>
      </p:sp>
      <p:cxnSp>
        <p:nvCxnSpPr>
          <p:cNvPr id="16" name="Straight Connector 18"/>
          <p:cNvCxnSpPr>
            <a:cxnSpLocks noChangeShapeType="1"/>
          </p:cNvCxnSpPr>
          <p:nvPr/>
        </p:nvCxnSpPr>
        <p:spPr bwMode="auto">
          <a:xfrm flipV="1">
            <a:off x="6934200" y="5029200"/>
            <a:ext cx="1066800" cy="914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" name="Straight Connector 19"/>
          <p:cNvCxnSpPr>
            <a:cxnSpLocks noChangeShapeType="1"/>
          </p:cNvCxnSpPr>
          <p:nvPr/>
        </p:nvCxnSpPr>
        <p:spPr bwMode="auto">
          <a:xfrm flipV="1">
            <a:off x="6858000" y="4191000"/>
            <a:ext cx="1143000" cy="914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" name="Rectangle 3"/>
          <p:cNvSpPr>
            <a:spLocks noChangeArrowheads="1"/>
          </p:cNvSpPr>
          <p:nvPr/>
        </p:nvSpPr>
        <p:spPr bwMode="auto">
          <a:xfrm>
            <a:off x="8001000" y="4191000"/>
            <a:ext cx="685800" cy="838200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sz="2400" dirty="0">
              <a:latin typeface="+mn-lt"/>
              <a:ea typeface="ＭＳ Ｐゴシック" charset="-128"/>
              <a:cs typeface="+mn-cs"/>
            </a:endParaRPr>
          </a:p>
        </p:txBody>
      </p:sp>
      <p:sp>
        <p:nvSpPr>
          <p:cNvPr id="22" name="Rectangle 3"/>
          <p:cNvSpPr>
            <a:spLocks noChangeArrowheads="1"/>
          </p:cNvSpPr>
          <p:nvPr/>
        </p:nvSpPr>
        <p:spPr bwMode="auto">
          <a:xfrm>
            <a:off x="6450012" y="2514600"/>
            <a:ext cx="685800" cy="533400"/>
          </a:xfrm>
          <a:prstGeom prst="rect">
            <a:avLst/>
          </a:prstGeom>
          <a:solidFill>
            <a:srgbClr val="008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sz="2400" dirty="0">
              <a:latin typeface="+mn-lt"/>
              <a:ea typeface="ＭＳ Ｐゴシック" charset="-128"/>
              <a:cs typeface="+mn-cs"/>
            </a:endParaRPr>
          </a:p>
        </p:txBody>
      </p:sp>
      <p:cxnSp>
        <p:nvCxnSpPr>
          <p:cNvPr id="23" name="Straight Connector 18"/>
          <p:cNvCxnSpPr>
            <a:cxnSpLocks noChangeShapeType="1"/>
          </p:cNvCxnSpPr>
          <p:nvPr/>
        </p:nvCxnSpPr>
        <p:spPr bwMode="auto">
          <a:xfrm>
            <a:off x="7162800" y="3048000"/>
            <a:ext cx="838200" cy="609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traight Connector 19"/>
          <p:cNvCxnSpPr>
            <a:cxnSpLocks noChangeShapeType="1"/>
          </p:cNvCxnSpPr>
          <p:nvPr/>
        </p:nvCxnSpPr>
        <p:spPr bwMode="auto">
          <a:xfrm>
            <a:off x="7162800" y="2514600"/>
            <a:ext cx="838200" cy="609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" name="Rectangle 3"/>
          <p:cNvSpPr>
            <a:spLocks noChangeArrowheads="1"/>
          </p:cNvSpPr>
          <p:nvPr/>
        </p:nvSpPr>
        <p:spPr bwMode="auto">
          <a:xfrm>
            <a:off x="8001000" y="3124200"/>
            <a:ext cx="685800" cy="533400"/>
          </a:xfrm>
          <a:prstGeom prst="rect">
            <a:avLst/>
          </a:prstGeom>
          <a:solidFill>
            <a:srgbClr val="008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sz="2400" dirty="0">
              <a:latin typeface="+mn-lt"/>
              <a:ea typeface="ＭＳ Ｐゴシック" charset="-128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172200" y="2145268"/>
            <a:ext cx="12110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+mn-lt"/>
              </a:rPr>
              <a:t>Process 1</a:t>
            </a:r>
            <a:endParaRPr lang="en-US" dirty="0">
              <a:latin typeface="+mn-lt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951786" y="5955268"/>
            <a:ext cx="12110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+mn-lt"/>
              </a:rPr>
              <a:t>Process 2</a:t>
            </a:r>
            <a:endParaRPr lang="en-US" dirty="0">
              <a:latin typeface="+mn-lt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Theme1">
  <a:themeElements>
    <a:clrScheme name="Axis 8">
      <a:dk1>
        <a:srgbClr val="292929"/>
      </a:dk1>
      <a:lt1>
        <a:srgbClr val="FFFFFF"/>
      </a:lt1>
      <a:dk2>
        <a:srgbClr val="000000"/>
      </a:dk2>
      <a:lt2>
        <a:srgbClr val="808080"/>
      </a:lt2>
      <a:accent1>
        <a:srgbClr val="CC9900"/>
      </a:accent1>
      <a:accent2>
        <a:srgbClr val="CCCC99"/>
      </a:accent2>
      <a:accent3>
        <a:srgbClr val="FFFFFF"/>
      </a:accent3>
      <a:accent4>
        <a:srgbClr val="212121"/>
      </a:accent4>
      <a:accent5>
        <a:srgbClr val="E2CAAA"/>
      </a:accent5>
      <a:accent6>
        <a:srgbClr val="B9B98A"/>
      </a:accent6>
      <a:hlink>
        <a:srgbClr val="999933"/>
      </a:hlink>
      <a:folHlink>
        <a:srgbClr val="B2B2B2"/>
      </a:folHlink>
    </a:clrScheme>
    <a:fontScheme name="Axi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28575">
          <a:solidFill>
            <a:schemeClr val="tx1"/>
          </a:solidFill>
        </a:ln>
      </a:spPr>
      <a:bodyPr wrap="square" rtlCol="0" anchor="ctr">
        <a:noAutofit/>
      </a:bodyPr>
      <a:lstStyle>
        <a:defPPr algn="ctr">
          <a:defRPr dirty="0" smtClean="0">
            <a:latin typeface="+mn-lt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dirty="0">
            <a:latin typeface="+mn-lt"/>
          </a:defRPr>
        </a:defPPr>
      </a:lstStyle>
    </a:txDef>
  </a:objectDefaults>
  <a:extraClrSchemeLst>
    <a:extraClrScheme>
      <a:clrScheme name="Axis 1">
        <a:dk1>
          <a:srgbClr val="080808"/>
        </a:dk1>
        <a:lt1>
          <a:srgbClr val="F8F8F8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ADAAAA"/>
        </a:accent3>
        <a:accent4>
          <a:srgbClr val="D4D4D4"/>
        </a:accent4>
        <a:accent5>
          <a:srgbClr val="FFCAAA"/>
        </a:accent5>
        <a:accent6>
          <a:srgbClr val="B92D00"/>
        </a:accent6>
        <a:hlink>
          <a:srgbClr val="CC6600"/>
        </a:hlink>
        <a:folHlink>
          <a:srgbClr val="B2B28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2">
        <a:dk1>
          <a:srgbClr val="333333"/>
        </a:dk1>
        <a:lt1>
          <a:srgbClr val="F8F8F8"/>
        </a:lt1>
        <a:dk2>
          <a:srgbClr val="800000"/>
        </a:dk2>
        <a:lt2>
          <a:srgbClr val="FFFFFF"/>
        </a:lt2>
        <a:accent1>
          <a:srgbClr val="CC9900"/>
        </a:accent1>
        <a:accent2>
          <a:srgbClr val="666666"/>
        </a:accent2>
        <a:accent3>
          <a:srgbClr val="C0AAAA"/>
        </a:accent3>
        <a:accent4>
          <a:srgbClr val="D4D4D4"/>
        </a:accent4>
        <a:accent5>
          <a:srgbClr val="E2CAAA"/>
        </a:accent5>
        <a:accent6>
          <a:srgbClr val="5C5C5C"/>
        </a:accent6>
        <a:hlink>
          <a:srgbClr val="CC6600"/>
        </a:hlink>
        <a:folHlink>
          <a:srgbClr val="95A58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3">
        <a:dk1>
          <a:srgbClr val="5F5F5F"/>
        </a:dk1>
        <a:lt1>
          <a:srgbClr val="A4BEE0"/>
        </a:lt1>
        <a:dk2>
          <a:srgbClr val="013253"/>
        </a:dk2>
        <a:lt2>
          <a:srgbClr val="FFFFFF"/>
        </a:lt2>
        <a:accent1>
          <a:srgbClr val="588480"/>
        </a:accent1>
        <a:accent2>
          <a:srgbClr val="6600FF"/>
        </a:accent2>
        <a:accent3>
          <a:srgbClr val="AAADB3"/>
        </a:accent3>
        <a:accent4>
          <a:srgbClr val="8BA2BF"/>
        </a:accent4>
        <a:accent5>
          <a:srgbClr val="B4C2C0"/>
        </a:accent5>
        <a:accent6>
          <a:srgbClr val="5C00E7"/>
        </a:accent6>
        <a:hlink>
          <a:srgbClr val="CCCC00"/>
        </a:hlink>
        <a:folHlink>
          <a:srgbClr val="5F5F5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4">
        <a:dk1>
          <a:srgbClr val="003300"/>
        </a:dk1>
        <a:lt1>
          <a:srgbClr val="F8F8F8"/>
        </a:lt1>
        <a:dk2>
          <a:srgbClr val="3D4A1C"/>
        </a:dk2>
        <a:lt2>
          <a:srgbClr val="FFFFFF"/>
        </a:lt2>
        <a:accent1>
          <a:srgbClr val="99CC00"/>
        </a:accent1>
        <a:accent2>
          <a:srgbClr val="669900"/>
        </a:accent2>
        <a:accent3>
          <a:srgbClr val="AFB1AB"/>
        </a:accent3>
        <a:accent4>
          <a:srgbClr val="D4D4D4"/>
        </a:accent4>
        <a:accent5>
          <a:srgbClr val="CAE2AA"/>
        </a:accent5>
        <a:accent6>
          <a:srgbClr val="5C8A00"/>
        </a:accent6>
        <a:hlink>
          <a:srgbClr val="CC9900"/>
        </a:hlink>
        <a:folHlink>
          <a:srgbClr val="B2B28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5">
        <a:dk1>
          <a:srgbClr val="333333"/>
        </a:dk1>
        <a:lt1>
          <a:srgbClr val="F8F8F8"/>
        </a:lt1>
        <a:dk2>
          <a:srgbClr val="005D8C"/>
        </a:dk2>
        <a:lt2>
          <a:srgbClr val="FFFFFF"/>
        </a:lt2>
        <a:accent1>
          <a:srgbClr val="00CC99"/>
        </a:accent1>
        <a:accent2>
          <a:srgbClr val="0099CC"/>
        </a:accent2>
        <a:accent3>
          <a:srgbClr val="AAB6C5"/>
        </a:accent3>
        <a:accent4>
          <a:srgbClr val="D4D4D4"/>
        </a:accent4>
        <a:accent5>
          <a:srgbClr val="AAE2CA"/>
        </a:accent5>
        <a:accent6>
          <a:srgbClr val="008AB9"/>
        </a:accent6>
        <a:hlink>
          <a:srgbClr val="FFCC00"/>
        </a:hlink>
        <a:folHlink>
          <a:srgbClr val="D8D48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6">
        <a:dk1>
          <a:srgbClr val="000000"/>
        </a:dk1>
        <a:lt1>
          <a:srgbClr val="ECAE00"/>
        </a:lt1>
        <a:dk2>
          <a:srgbClr val="FFFFFF"/>
        </a:dk2>
        <a:lt2>
          <a:srgbClr val="333333"/>
        </a:lt2>
        <a:accent1>
          <a:srgbClr val="CC6600"/>
        </a:accent1>
        <a:accent2>
          <a:srgbClr val="BA6D10"/>
        </a:accent2>
        <a:accent3>
          <a:srgbClr val="F4D3AA"/>
        </a:accent3>
        <a:accent4>
          <a:srgbClr val="000000"/>
        </a:accent4>
        <a:accent5>
          <a:srgbClr val="E2B8AA"/>
        </a:accent5>
        <a:accent6>
          <a:srgbClr val="A8620D"/>
        </a:accent6>
        <a:hlink>
          <a:srgbClr val="666633"/>
        </a:hlink>
        <a:folHlink>
          <a:srgbClr val="8D996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xis 7">
        <a:dk1>
          <a:srgbClr val="000000"/>
        </a:dk1>
        <a:lt1>
          <a:srgbClr val="FFFFFF"/>
        </a:lt1>
        <a:dk2>
          <a:srgbClr val="372221"/>
        </a:dk2>
        <a:lt2>
          <a:srgbClr val="808080"/>
        </a:lt2>
        <a:accent1>
          <a:srgbClr val="009999"/>
        </a:accent1>
        <a:accent2>
          <a:srgbClr val="9AAC98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8B9B89"/>
        </a:accent6>
        <a:hlink>
          <a:srgbClr val="666699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xis 8">
        <a:dk1>
          <a:srgbClr val="292929"/>
        </a:dk1>
        <a:lt1>
          <a:srgbClr val="FFFFFF"/>
        </a:lt1>
        <a:dk2>
          <a:srgbClr val="000000"/>
        </a:dk2>
        <a:lt2>
          <a:srgbClr val="808080"/>
        </a:lt2>
        <a:accent1>
          <a:srgbClr val="CC9900"/>
        </a:accent1>
        <a:accent2>
          <a:srgbClr val="CCCC99"/>
        </a:accent2>
        <a:accent3>
          <a:srgbClr val="FFFFFF"/>
        </a:accent3>
        <a:accent4>
          <a:srgbClr val="212121"/>
        </a:accent4>
        <a:accent5>
          <a:srgbClr val="E2CAAA"/>
        </a:accent5>
        <a:accent6>
          <a:srgbClr val="B9B98A"/>
        </a:accent6>
        <a:hlink>
          <a:srgbClr val="9999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12675</TotalTime>
  <Words>2615</Words>
  <Application>Microsoft Macintosh PowerPoint</Application>
  <PresentationFormat>On-screen Show (4:3)</PresentationFormat>
  <Paragraphs>573</Paragraphs>
  <Slides>41</Slides>
  <Notes>22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2" baseType="lpstr">
      <vt:lpstr>Theme1</vt:lpstr>
      <vt:lpstr>Memory  </vt:lpstr>
      <vt:lpstr>Announcements</vt:lpstr>
      <vt:lpstr>Address Spaces and Memory</vt:lpstr>
      <vt:lpstr>Address Space Abstraction</vt:lpstr>
      <vt:lpstr>Address Space Illusions</vt:lpstr>
      <vt:lpstr>Address Space Illusions</vt:lpstr>
      <vt:lpstr>Address Space Illusions</vt:lpstr>
      <vt:lpstr>Address Space</vt:lpstr>
      <vt:lpstr>Uni-programming</vt:lpstr>
      <vt:lpstr>Uni-programming</vt:lpstr>
      <vt:lpstr>Multi-Programming</vt:lpstr>
      <vt:lpstr>Swapping</vt:lpstr>
      <vt:lpstr>Swapping</vt:lpstr>
      <vt:lpstr>Swapping</vt:lpstr>
      <vt:lpstr>Swapping</vt:lpstr>
      <vt:lpstr>Swapping</vt:lpstr>
      <vt:lpstr>Swapping</vt:lpstr>
      <vt:lpstr>Swapping</vt:lpstr>
      <vt:lpstr>Storage Placement Strategies</vt:lpstr>
      <vt:lpstr>Example</vt:lpstr>
      <vt:lpstr>Example</vt:lpstr>
      <vt:lpstr>Storage Placement Strategies</vt:lpstr>
      <vt:lpstr>Fragmentation</vt:lpstr>
      <vt:lpstr>Compaction</vt:lpstr>
      <vt:lpstr>Solve Fragmentation w. Compaction</vt:lpstr>
      <vt:lpstr>Limitations of Swapping</vt:lpstr>
      <vt:lpstr>Virtual memory</vt:lpstr>
      <vt:lpstr>Virtual Addresses</vt:lpstr>
      <vt:lpstr>Multi-programming</vt:lpstr>
      <vt:lpstr>Dynamic Address Translation</vt:lpstr>
      <vt:lpstr>Dynamic Address Translation</vt:lpstr>
      <vt:lpstr>Wheeler On Indirection</vt:lpstr>
      <vt:lpstr>Dynamic Address Translation</vt:lpstr>
      <vt:lpstr>Base Register</vt:lpstr>
      <vt:lpstr>Base Register</vt:lpstr>
      <vt:lpstr>Protection</vt:lpstr>
      <vt:lpstr>Base and bounds</vt:lpstr>
      <vt:lpstr>Base and bounds</vt:lpstr>
      <vt:lpstr>Base and bounds</vt:lpstr>
      <vt:lpstr>Base and bounds</vt:lpstr>
      <vt:lpstr>Base and bounds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rhk</dc:creator>
  <cp:lastModifiedBy>Philip Godfrey</cp:lastModifiedBy>
  <cp:revision>409</cp:revision>
  <cp:lastPrinted>2010-10-25T15:10:50Z</cp:lastPrinted>
  <dcterms:created xsi:type="dcterms:W3CDTF">2010-10-27T14:36:36Z</dcterms:created>
  <dcterms:modified xsi:type="dcterms:W3CDTF">2012-02-01T09:41:37Z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