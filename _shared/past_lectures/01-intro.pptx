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1" r:id="rId1"/>
  </p:sldMasterIdLst>
  <p:notesMasterIdLst>
    <p:notesMasterId r:id="rId42"/>
  </p:notesMasterIdLst>
  <p:sldIdLst>
    <p:sldId id="256" r:id="rId2"/>
    <p:sldId id="291" r:id="rId3"/>
    <p:sldId id="304" r:id="rId4"/>
    <p:sldId id="292" r:id="rId5"/>
    <p:sldId id="294" r:id="rId6"/>
    <p:sldId id="302" r:id="rId7"/>
    <p:sldId id="305" r:id="rId8"/>
    <p:sldId id="306" r:id="rId9"/>
    <p:sldId id="324" r:id="rId10"/>
    <p:sldId id="334" r:id="rId11"/>
    <p:sldId id="335" r:id="rId12"/>
    <p:sldId id="336" r:id="rId13"/>
    <p:sldId id="345" r:id="rId14"/>
    <p:sldId id="342" r:id="rId15"/>
    <p:sldId id="323" r:id="rId16"/>
    <p:sldId id="331" r:id="rId17"/>
    <p:sldId id="332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8" r:id="rId27"/>
    <p:sldId id="317" r:id="rId28"/>
    <p:sldId id="319" r:id="rId29"/>
    <p:sldId id="320" r:id="rId30"/>
    <p:sldId id="341" r:id="rId31"/>
    <p:sldId id="295" r:id="rId32"/>
    <p:sldId id="297" r:id="rId33"/>
    <p:sldId id="338" r:id="rId34"/>
    <p:sldId id="340" r:id="rId35"/>
    <p:sldId id="339" r:id="rId36"/>
    <p:sldId id="301" r:id="rId37"/>
    <p:sldId id="258" r:id="rId38"/>
    <p:sldId id="328" r:id="rId39"/>
    <p:sldId id="343" r:id="rId40"/>
    <p:sldId id="344" r:id="rId41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Tahoma" charset="0"/>
        <a:ea typeface="ＭＳ Ｐゴシック" charset="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clrMru>
    <a:srgbClr val="FFFFCC"/>
    <a:srgbClr val="003300"/>
    <a:srgbClr val="008000"/>
    <a:srgbClr val="99CCFF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07" autoAdjust="0"/>
    <p:restoredTop sz="77419" autoAdjust="0"/>
  </p:normalViewPr>
  <p:slideViewPr>
    <p:cSldViewPr>
      <p:cViewPr>
        <p:scale>
          <a:sx n="80" d="100"/>
          <a:sy n="80" d="100"/>
        </p:scale>
        <p:origin x="-85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interSettings" Target="printerSettings/printerSettings1.bin"/><Relationship Id="rId44" Type="http://schemas.openxmlformats.org/officeDocument/2006/relationships/presProps" Target="presProps.xml"/><Relationship Id="rId4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</a:defRPr>
            </a:lvl1pPr>
          </a:lstStyle>
          <a:p>
            <a:fld id="{AAE2C7B8-B868-0941-9F61-4D7414925C0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693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F23E1BF-CF84-B34D-BAF0-BA1585B4DAEB}" type="slidenum">
              <a:rPr lang="en-US">
                <a:latin typeface="Arial" charset="0"/>
              </a:rPr>
              <a:pPr/>
              <a:t>1</a:t>
            </a:fld>
            <a:endParaRPr lang="en-US">
              <a:latin typeface="Arial" charset="0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A21CB35-F841-0941-BD8C-0A7361FF24BD}" type="slidenum">
              <a:rPr lang="en-US">
                <a:latin typeface="Arial" charset="0"/>
              </a:rPr>
              <a:pPr/>
              <a:t>2</a:t>
            </a:fld>
            <a:endParaRPr lang="en-US">
              <a:latin typeface="Arial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097947B-433D-1141-A32F-D56DEEAACAA7}" type="slidenum">
              <a:rPr lang="en-US">
                <a:latin typeface="Arial" charset="0"/>
              </a:rPr>
              <a:pPr/>
              <a:t>3</a:t>
            </a:fld>
            <a:endParaRPr lang="en-US">
              <a:latin typeface="Arial" charset="0"/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2C3CD02-C01D-E541-8418-485C5F7780D5}" type="slidenum">
              <a:rPr lang="en-US">
                <a:latin typeface="Arial" charset="0"/>
              </a:rPr>
              <a:pPr/>
              <a:t>4</a:t>
            </a:fld>
            <a:endParaRPr lang="en-US">
              <a:latin typeface="Arial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AEC050E-179C-8742-A873-8B4EAC66340F}" type="slidenum">
              <a:rPr lang="en-US">
                <a:latin typeface="Arial" charset="0"/>
              </a:rPr>
              <a:pPr/>
              <a:t>5</a:t>
            </a:fld>
            <a:endParaRPr lang="en-US">
              <a:latin typeface="Arial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BFA54CF-088C-6842-85BC-9B272D32E821}" type="slidenum">
              <a:rPr lang="en-US">
                <a:latin typeface="Arial" charset="0"/>
              </a:rPr>
              <a:pPr/>
              <a:t>6</a:t>
            </a:fld>
            <a:endParaRPr lang="en-US">
              <a:latin typeface="Arial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E2C7B8-B868-0941-9F61-4D7414925C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335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E2C7B8-B868-0941-9F61-4D7414925C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307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Manages interactions between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E2C7B8-B868-0941-9F61-4D7414925C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2959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E8CF378-404B-8847-AAE2-940899E66C9B}" type="slidenum">
              <a:rPr lang="en-US">
                <a:latin typeface="Arial" charset="0"/>
              </a:rPr>
              <a:pPr/>
              <a:t>30</a:t>
            </a:fld>
            <a:endParaRPr lang="en-US">
              <a:latin typeface="Arial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dirty="0" smtClean="0"/>
              <a:t>I said a moment ago one goal is portability but there’s a bigger idea here</a:t>
            </a:r>
            <a:r>
              <a:rPr lang="en-US" baseline="0" dirty="0" smtClean="0"/>
              <a:t> and that is modularity.  What does modularity do for us?  Simplicity, …</a:t>
            </a:r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Abstractions hide the uncomfortable realities…</a:t>
            </a:r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EB561F6-A411-2647-8A4E-0A4DB9D2F58E}" type="slidenum">
              <a:rPr lang="en-US">
                <a:latin typeface="Arial" charset="0"/>
              </a:rPr>
              <a:pPr/>
              <a:t>31</a:t>
            </a:fld>
            <a:endParaRPr lang="en-US">
              <a:latin typeface="Arial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2E8CF378-404B-8847-AAE2-940899E66C9B}" type="slidenum">
              <a:rPr lang="en-US">
                <a:latin typeface="Arial" charset="0"/>
              </a:rPr>
              <a:pPr/>
              <a:t>32</a:t>
            </a:fld>
            <a:endParaRPr lang="en-US">
              <a:latin typeface="Arial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E2C7B8-B868-0941-9F61-4D7414925C05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7660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77311AE-CF5A-5448-AD35-1B00ECDB6210}" type="slidenum">
              <a:rPr lang="en-US">
                <a:latin typeface="Arial" charset="0"/>
              </a:rPr>
              <a:pPr/>
              <a:t>36</a:t>
            </a:fld>
            <a:endParaRPr lang="en-US">
              <a:latin typeface="Arial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dirty="0" smtClean="0"/>
              <a:t>Material not in slides: Discussions,</a:t>
            </a:r>
            <a:r>
              <a:rPr lang="en-US" baseline="0" dirty="0" smtClean="0"/>
              <a:t> problems we work out together in class</a:t>
            </a:r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2A52BB4-6BFC-BD4E-8BCD-C6BB31AE00D0}" type="slidenum">
              <a:rPr lang="en-US">
                <a:latin typeface="Arial" charset="0"/>
              </a:rPr>
              <a:pPr/>
              <a:t>37</a:t>
            </a:fld>
            <a:endParaRPr lang="en-US">
              <a:latin typeface="Arial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 like this material, but I didn’t know how the flow was intended to go, so I skipped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E2C7B8-B868-0941-9F61-4D7414925C05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196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 like this material, but I didn’t know how the flow was intended to go, so I skipped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E2C7B8-B868-0941-9F61-4D7414925C05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124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/>
          <p:cNvGrpSpPr>
            <a:grpSpLocks/>
          </p:cNvGrpSpPr>
          <p:nvPr/>
        </p:nvGrpSpPr>
        <p:grpSpPr bwMode="auto">
          <a:xfrm>
            <a:off x="0" y="914400"/>
            <a:ext cx="8686800" cy="2514600"/>
            <a:chOff x="0" y="576"/>
            <a:chExt cx="5472" cy="1584"/>
          </a:xfrm>
        </p:grpSpPr>
        <p:sp>
          <p:nvSpPr>
            <p:cNvPr id="5" name="Oval 7"/>
            <p:cNvSpPr>
              <a:spLocks noChangeArrowheads="1"/>
            </p:cNvSpPr>
            <p:nvPr/>
          </p:nvSpPr>
          <p:spPr bwMode="auto">
            <a:xfrm>
              <a:off x="144" y="576"/>
              <a:ext cx="1584" cy="1584"/>
            </a:xfrm>
            <a:prstGeom prst="ellips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>
                <a:latin typeface="Tahoma" pitchFamily="-32" charset="0"/>
                <a:ea typeface="+mn-ea"/>
              </a:endParaRPr>
            </a:p>
          </p:txBody>
        </p:sp>
        <p:sp>
          <p:nvSpPr>
            <p:cNvPr id="6" name="Rectangle 8"/>
            <p:cNvSpPr>
              <a:spLocks noChangeArrowheads="1"/>
            </p:cNvSpPr>
            <p:nvPr/>
          </p:nvSpPr>
          <p:spPr bwMode="hidden">
            <a:xfrm>
              <a:off x="0" y="1056"/>
              <a:ext cx="2976" cy="72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  <a:ea typeface="+mn-ea"/>
              </a:endParaRPr>
            </a:p>
          </p:txBody>
        </p:sp>
        <p:sp>
          <p:nvSpPr>
            <p:cNvPr id="7" name="Rectangle 9"/>
            <p:cNvSpPr>
              <a:spLocks noChangeArrowheads="1"/>
            </p:cNvSpPr>
            <p:nvPr/>
          </p:nvSpPr>
          <p:spPr bwMode="hidden">
            <a:xfrm>
              <a:off x="2496" y="1056"/>
              <a:ext cx="2976" cy="720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en-US" sz="2400">
                <a:latin typeface="Times New Roman" pitchFamily="18" charset="0"/>
                <a:ea typeface="+mn-ea"/>
              </a:endParaRPr>
            </a:p>
          </p:txBody>
        </p:sp>
        <p:sp>
          <p:nvSpPr>
            <p:cNvPr id="8" name="Freeform 10"/>
            <p:cNvSpPr>
              <a:spLocks noChangeArrowheads="1"/>
            </p:cNvSpPr>
            <p:nvPr/>
          </p:nvSpPr>
          <p:spPr bwMode="auto">
            <a:xfrm>
              <a:off x="384" y="960"/>
              <a:ext cx="144" cy="913"/>
            </a:xfrm>
            <a:custGeom>
              <a:avLst/>
              <a:gdLst/>
              <a:ahLst/>
              <a:cxnLst>
                <a:cxn ang="0">
                  <a:pos x="1000" y="1000"/>
                </a:cxn>
                <a:cxn ang="0">
                  <a:pos x="0" y="1000"/>
                </a:cxn>
                <a:cxn ang="0">
                  <a:pos x="0" y="0"/>
                </a:cxn>
                <a:cxn ang="0">
                  <a:pos x="1000" y="0"/>
                </a:cxn>
              </a:cxnLst>
              <a:rect l="0" t="0" r="r" b="b"/>
              <a:pathLst>
                <a:path w="1000" h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w="76200" cmpd="sng">
              <a:solidFill>
                <a:schemeClr val="tx2"/>
              </a:solidFill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Tahoma" pitchFamily="-32" charset="0"/>
                <a:ea typeface="+mn-ea"/>
              </a:endParaRPr>
            </a:p>
          </p:txBody>
        </p:sp>
        <p:sp>
          <p:nvSpPr>
            <p:cNvPr id="9" name="Freeform 11"/>
            <p:cNvSpPr>
              <a:spLocks noChangeArrowheads="1"/>
            </p:cNvSpPr>
            <p:nvPr/>
          </p:nvSpPr>
          <p:spPr bwMode="auto">
            <a:xfrm>
              <a:off x="4944" y="762"/>
              <a:ext cx="165" cy="8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00" y="0"/>
                </a:cxn>
                <a:cxn ang="0">
                  <a:pos x="1000" y="1000"/>
                </a:cxn>
                <a:cxn ang="0">
                  <a:pos x="0" y="1000"/>
                </a:cxn>
              </a:cxnLst>
              <a:rect l="0" t="0" r="r" b="b"/>
              <a:pathLst>
                <a:path w="1000" h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>
                <a:latin typeface="Tahoma" pitchFamily="-32" charset="0"/>
                <a:ea typeface="+mn-ea"/>
              </a:endParaRPr>
            </a:p>
          </p:txBody>
        </p:sp>
      </p:grpSp>
      <p:sp>
        <p:nvSpPr>
          <p:cNvPr id="159746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3581400"/>
            <a:ext cx="56388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597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838200" y="1443038"/>
            <a:ext cx="7086600" cy="16002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Rectangle 4"/>
          <p:cNvSpPr>
            <a:spLocks noGrp="1" noChangeArrowheads="1"/>
          </p:cNvSpPr>
          <p:nvPr>
            <p:ph type="ftr" sz="quarter" idx="11"/>
          </p:nvPr>
        </p:nvSpPr>
        <p:spPr>
          <a:xfrm>
            <a:off x="2590800" y="6477000"/>
            <a:ext cx="39624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2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1905000" cy="228600"/>
          </a:xfrm>
        </p:spPr>
        <p:txBody>
          <a:bodyPr/>
          <a:lstStyle>
            <a:lvl1pPr>
              <a:defRPr/>
            </a:lvl1pPr>
          </a:lstStyle>
          <a:p>
            <a:fld id="{9882B701-1CB5-EC4D-9F68-5C6FE6920C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21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D0A5F6-332F-1844-845D-0A7B6B1648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85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86DC00-BB1E-8B4F-BF94-D32256857CE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6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3754438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56163" y="1981200"/>
            <a:ext cx="3754437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E57B1A-E84B-3340-9C3B-4D8D77735D8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10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CBFF3C-D15B-C74E-87BD-017AD330AD1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47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6EFB1A-05E2-7B44-A918-3C80C2856B3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76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FC8D0E-09CF-D546-B409-59A45A4F003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6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BD7A18-092C-C44B-A14E-CEAD14128AD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0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EE916F-E499-2A42-8CC0-F630286E4CC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124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BD98BA-23C2-1E45-BEC9-0DBB3B94B01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3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1313" y="96838"/>
            <a:ext cx="1919287" cy="59991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31863" y="96838"/>
            <a:ext cx="5607050" cy="599916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03E1BD-4F37-DF43-8C35-AEBEB3B3410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8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ChangeArrowheads="1"/>
          </p:cNvSpPr>
          <p:nvPr/>
        </p:nvSpPr>
        <p:spPr bwMode="auto"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  <a:ea typeface="+mn-ea"/>
            </a:endParaRPr>
          </a:p>
        </p:txBody>
      </p:sp>
      <p:sp>
        <p:nvSpPr>
          <p:cNvPr id="158723" name="Rectangle 3"/>
          <p:cNvSpPr>
            <a:spLocks noChangeArrowheads="1"/>
          </p:cNvSpPr>
          <p:nvPr/>
        </p:nvSpPr>
        <p:spPr bwMode="auto">
          <a:xfrm>
            <a:off x="1447800" y="1377950"/>
            <a:ext cx="7239000" cy="1016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  <a:ea typeface="+mn-ea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931863" y="96838"/>
            <a:ext cx="7158037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4615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Tahoma" pitchFamily="-32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19400" y="6477000"/>
            <a:ext cx="38862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58728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4770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562F7014-E14F-8742-8595-2441CC82495C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58729" name="Freeform 9"/>
          <p:cNvSpPr>
            <a:spLocks noChangeArrowheads="1"/>
          </p:cNvSpPr>
          <p:nvPr/>
        </p:nvSpPr>
        <p:spPr bwMode="auto">
          <a:xfrm>
            <a:off x="838200" y="561975"/>
            <a:ext cx="152400" cy="1066800"/>
          </a:xfrm>
          <a:custGeom>
            <a:avLst/>
            <a:gdLst/>
            <a:ahLst/>
            <a:cxnLst>
              <a:cxn ang="0">
                <a:pos x="1000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76200" cmpd="sng">
            <a:solidFill>
              <a:schemeClr val="tx2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Tahoma" pitchFamily="-32" charset="0"/>
              <a:ea typeface="+mn-ea"/>
            </a:endParaRPr>
          </a:p>
        </p:txBody>
      </p:sp>
      <p:sp>
        <p:nvSpPr>
          <p:cNvPr id="158730" name="Freeform 10"/>
          <p:cNvSpPr>
            <a:spLocks noChangeArrowheads="1"/>
          </p:cNvSpPr>
          <p:nvPr/>
        </p:nvSpPr>
        <p:spPr bwMode="auto">
          <a:xfrm>
            <a:off x="8262938" y="269875"/>
            <a:ext cx="152400" cy="10731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000" y="0"/>
              </a:cxn>
              <a:cxn ang="0">
                <a:pos x="1000" y="1000"/>
              </a:cxn>
              <a:cxn ang="0">
                <a:pos x="0" y="1000"/>
              </a:cxn>
            </a:cxnLst>
            <a:rect l="0" t="0" r="r" b="b"/>
            <a:pathLst>
              <a:path w="1000" h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w="762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Tahoma" pitchFamily="-32" charset="0"/>
              <a:ea typeface="+mn-ea"/>
            </a:endParaRPr>
          </a:p>
        </p:txBody>
      </p:sp>
      <p:pic>
        <p:nvPicPr>
          <p:cNvPr id="1035" name="Picture 11" descr="uiuc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0138" y="6327775"/>
            <a:ext cx="34766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80" r:id="rId1"/>
    <p:sldLayoutId id="2147484170" r:id="rId2"/>
    <p:sldLayoutId id="2147484171" r:id="rId3"/>
    <p:sldLayoutId id="2147484172" r:id="rId4"/>
    <p:sldLayoutId id="2147484173" r:id="rId5"/>
    <p:sldLayoutId id="2147484174" r:id="rId6"/>
    <p:sldLayoutId id="2147484175" r:id="rId7"/>
    <p:sldLayoutId id="2147484176" r:id="rId8"/>
    <p:sldLayoutId id="2147484177" r:id="rId9"/>
    <p:sldLayoutId id="2147484178" r:id="rId10"/>
    <p:sldLayoutId id="2147484179" r:id="rId11"/>
  </p:sldLayoutIdLst>
  <p:timing>
    <p:tnLst>
      <p:par>
        <p:cTn xmlns:p14="http://schemas.microsoft.com/office/powerpoint/2010/main"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ＭＳ Ｐゴシック" charset="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  <a:ea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34" charset="0"/>
        </a:defRPr>
      </a:lvl9pPr>
    </p:titleStyle>
    <p:bodyStyle>
      <a:lvl1pPr marL="447675" indent="-44767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3200">
          <a:solidFill>
            <a:schemeClr val="tx1"/>
          </a:solidFill>
          <a:latin typeface="+mn-lt"/>
          <a:ea typeface="ＭＳ Ｐゴシック" charset="0"/>
          <a:cs typeface="+mn-cs"/>
        </a:defRPr>
      </a:lvl1pPr>
      <a:lvl2pPr marL="889000" indent="-439738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Wingdings" charset="0"/>
        <a:buChar char="¡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293813" indent="-4032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81163" indent="-38576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charset="0"/>
        <a:buChar char="¡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70100" indent="-3873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273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845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417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98900" indent="-3873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rhk@illinois.edu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ebmail.illinois.edu/owa/redir.aspx?C=bca242845dc64cb3952fbb106db9cd9e&amp;URL=https://wiki.engr.illinois.edu/display/undergradProg/Honor+Code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3" Type="http://schemas.openxmlformats.org/officeDocument/2006/relationships/image" Target="../media/image3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3" Type="http://schemas.openxmlformats.org/officeDocument/2006/relationships/image" Target="../media/image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4" Type="http://schemas.openxmlformats.org/officeDocument/2006/relationships/image" Target="../media/image3.w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3" Type="http://schemas.openxmlformats.org/officeDocument/2006/relationships/image" Target="../media/image3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3" Type="http://schemas.openxmlformats.org/officeDocument/2006/relationships/image" Target="../media/image3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3" Type="http://schemas.openxmlformats.org/officeDocument/2006/relationships/image" Target="../media/image3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3" Type="http://schemas.openxmlformats.org/officeDocument/2006/relationships/image" Target="../media/image3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3" Type="http://schemas.openxmlformats.org/officeDocument/2006/relationships/image" Target="../media/image3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3" Type="http://schemas.openxmlformats.org/officeDocument/2006/relationships/image" Target="../media/image3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3" Type="http://schemas.openxmlformats.org/officeDocument/2006/relationships/image" Target="../media/image3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3" Type="http://schemas.openxmlformats.org/officeDocument/2006/relationships/image" Target="../media/image3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wmf"/><Relationship Id="rId3" Type="http://schemas.openxmlformats.org/officeDocument/2006/relationships/image" Target="../media/image3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4" Type="http://schemas.openxmlformats.org/officeDocument/2006/relationships/image" Target="../media/image6.wmf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w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www.cs.uiuc.edu/class/cs241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illinois.edu/class/cs241" TargetMode="External"/><Relationship Id="rId4" Type="http://schemas.openxmlformats.org/officeDocument/2006/relationships/hyperlink" Target="http://www.lysator.liu.se/c/bwk-tutor.html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charset="0"/>
              <a:buNone/>
            </a:pPr>
            <a:r>
              <a:rPr lang="en-US" dirty="0" smtClean="0">
                <a:latin typeface="Arial" charset="0"/>
              </a:rPr>
              <a:t>Instructor: Brighten Godfrey</a:t>
            </a:r>
            <a:endParaRPr lang="en-US" dirty="0">
              <a:latin typeface="Arial" charset="0"/>
            </a:endParaRPr>
          </a:p>
        </p:txBody>
      </p:sp>
      <p:sp>
        <p:nvSpPr>
          <p:cNvPr id="3075" name="Rectangle 15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076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28CAF41-43CF-5C49-9652-228D8770B0CB}" type="slidenum">
              <a:rPr lang="en-US"/>
              <a:pPr/>
              <a:t>1</a:t>
            </a:fld>
            <a:endParaRPr lang="en-US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1443038"/>
            <a:ext cx="7772400" cy="1600200"/>
          </a:xfrm>
        </p:spPr>
        <p:txBody>
          <a:bodyPr/>
          <a:lstStyle/>
          <a:p>
            <a:pPr eaLnBrk="1" hangingPunct="1"/>
            <a:r>
              <a:rPr lang="en-US" sz="3600">
                <a:latin typeface="Arial" charset="0"/>
              </a:rPr>
              <a:t>Welcome to CS 241</a:t>
            </a:r>
            <a:br>
              <a:rPr lang="en-US" sz="3600">
                <a:latin typeface="Arial" charset="0"/>
              </a:rPr>
            </a:br>
            <a:r>
              <a:rPr lang="en-US" sz="3600">
                <a:latin typeface="Arial" charset="0"/>
              </a:rPr>
              <a:t>Systems Programming at Illinois 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The Team</a:t>
            </a:r>
          </a:p>
        </p:txBody>
      </p:sp>
      <p:sp>
        <p:nvSpPr>
          <p:cNvPr id="4099" name="Rectangle 5"/>
          <p:cNvSpPr>
            <a:spLocks noGrp="1" noChangeArrowheads="1"/>
          </p:cNvSpPr>
          <p:nvPr>
            <p:ph idx="1"/>
          </p:nvPr>
        </p:nvSpPr>
        <p:spPr>
          <a:xfrm>
            <a:off x="949325" y="1981200"/>
            <a:ext cx="7661275" cy="4572000"/>
          </a:xfrm>
        </p:spPr>
        <p:txBody>
          <a:bodyPr/>
          <a:lstStyle/>
          <a:p>
            <a:r>
              <a:rPr lang="en-US" sz="2400" dirty="0" smtClean="0">
                <a:latin typeface="Arial" charset="0"/>
              </a:rPr>
              <a:t>Brighten Godfrey</a:t>
            </a:r>
            <a:endParaRPr lang="en-US" sz="2400" dirty="0">
              <a:latin typeface="Arial" charset="0"/>
            </a:endParaRPr>
          </a:p>
          <a:p>
            <a:pPr lvl="1"/>
            <a:r>
              <a:rPr lang="en-US" sz="2400" dirty="0">
                <a:latin typeface="Arial" charset="0"/>
              </a:rPr>
              <a:t>Office: </a:t>
            </a:r>
            <a:r>
              <a:rPr lang="en-US" sz="2400" dirty="0" smtClean="0">
                <a:latin typeface="Arial" charset="0"/>
              </a:rPr>
              <a:t>3211 SC</a:t>
            </a:r>
          </a:p>
          <a:p>
            <a:pPr lvl="1"/>
            <a:r>
              <a:rPr lang="en-US" sz="2400" dirty="0" smtClean="0">
                <a:latin typeface="Arial" charset="0"/>
              </a:rPr>
              <a:t>Office hour this week: Fri 1:30 – 2:30 </a:t>
            </a:r>
            <a:endParaRPr lang="en-US" sz="2400" dirty="0">
              <a:latin typeface="Arial" charset="0"/>
            </a:endParaRPr>
          </a:p>
          <a:p>
            <a:pPr lvl="1"/>
            <a:r>
              <a:rPr lang="en-US" sz="2400" i="1" dirty="0" smtClean="0">
                <a:latin typeface="Arial" charset="0"/>
                <a:hlinkClick r:id="rId3"/>
              </a:rPr>
              <a:t>pbg@</a:t>
            </a:r>
            <a:r>
              <a:rPr lang="en-US" sz="2400" i="1" dirty="0">
                <a:latin typeface="Arial" charset="0"/>
                <a:hlinkClick r:id="rId3"/>
              </a:rPr>
              <a:t>illinois.edu</a:t>
            </a:r>
            <a:endParaRPr lang="en-US" sz="2400" i="1" dirty="0">
              <a:latin typeface="Arial" charset="0"/>
            </a:endParaRPr>
          </a:p>
          <a:p>
            <a:r>
              <a:rPr lang="en-US" sz="2400" dirty="0">
                <a:latin typeface="Arial" charset="0"/>
              </a:rPr>
              <a:t>TAs </a:t>
            </a:r>
          </a:p>
          <a:p>
            <a:pPr lvl="1"/>
            <a:r>
              <a:rPr lang="en-US" sz="2400" dirty="0">
                <a:latin typeface="Arial" charset="0"/>
              </a:rPr>
              <a:t>Wade </a:t>
            </a:r>
            <a:r>
              <a:rPr lang="en-US" sz="2400" dirty="0" err="1">
                <a:latin typeface="Arial" charset="0"/>
              </a:rPr>
              <a:t>Fagen</a:t>
            </a:r>
            <a:r>
              <a:rPr lang="en-US" sz="2400" dirty="0">
                <a:latin typeface="Arial" charset="0"/>
              </a:rPr>
              <a:t>, </a:t>
            </a:r>
            <a:r>
              <a:rPr lang="en-US" sz="2400" dirty="0" err="1">
                <a:latin typeface="Arial" charset="0"/>
              </a:rPr>
              <a:t>Farhana</a:t>
            </a:r>
            <a:r>
              <a:rPr lang="en-US" sz="2400" dirty="0">
                <a:latin typeface="Arial" charset="0"/>
              </a:rPr>
              <a:t> Ashraf, Matt </a:t>
            </a:r>
            <a:r>
              <a:rPr lang="en-US" sz="2400" dirty="0" err="1" smtClean="0">
                <a:latin typeface="Arial" charset="0"/>
              </a:rPr>
              <a:t>Trower</a:t>
            </a:r>
            <a:r>
              <a:rPr lang="en-US" sz="2400" dirty="0" smtClean="0">
                <a:latin typeface="Arial" charset="0"/>
              </a:rPr>
              <a:t>, </a:t>
            </a:r>
            <a:r>
              <a:rPr lang="en-US" sz="2400" dirty="0" err="1" smtClean="0">
                <a:latin typeface="Arial" charset="0"/>
              </a:rPr>
              <a:t>Yunlong</a:t>
            </a:r>
            <a:r>
              <a:rPr lang="en-US" sz="2400" dirty="0" smtClean="0">
                <a:latin typeface="Arial" charset="0"/>
              </a:rPr>
              <a:t> </a:t>
            </a:r>
            <a:r>
              <a:rPr lang="en-US" sz="2400" dirty="0" err="1" smtClean="0">
                <a:latin typeface="Arial" charset="0"/>
              </a:rPr>
              <a:t>Gao</a:t>
            </a:r>
            <a:endParaRPr lang="en-US" sz="2400" dirty="0">
              <a:latin typeface="Arial" charset="0"/>
            </a:endParaRPr>
          </a:p>
          <a:p>
            <a:r>
              <a:rPr lang="en-US" sz="2400" dirty="0">
                <a:latin typeface="Arial" charset="0"/>
              </a:rPr>
              <a:t>Discussion Sections</a:t>
            </a:r>
          </a:p>
          <a:p>
            <a:pPr lvl="1"/>
            <a:r>
              <a:rPr lang="en-US" sz="2400" dirty="0" smtClean="0">
                <a:latin typeface="Arial" charset="0"/>
              </a:rPr>
              <a:t>8 </a:t>
            </a:r>
            <a:r>
              <a:rPr lang="en-US" sz="2400" dirty="0">
                <a:latin typeface="Arial" charset="0"/>
              </a:rPr>
              <a:t>sessions (Thursdays 9</a:t>
            </a:r>
            <a:r>
              <a:rPr lang="en-US" sz="2400" dirty="0" smtClean="0">
                <a:latin typeface="Arial" charset="0"/>
              </a:rPr>
              <a:t>, 10, 12, 1</a:t>
            </a:r>
            <a:r>
              <a:rPr lang="en-US" sz="2400" dirty="0">
                <a:latin typeface="Arial" charset="0"/>
              </a:rPr>
              <a:t>, 2, 3, </a:t>
            </a:r>
            <a:r>
              <a:rPr lang="en-US" sz="2400" dirty="0" smtClean="0">
                <a:latin typeface="Arial" charset="0"/>
              </a:rPr>
              <a:t>4, 5)</a:t>
            </a:r>
            <a:endParaRPr lang="en-US" sz="2400" dirty="0">
              <a:latin typeface="Arial" charset="0"/>
            </a:endParaRPr>
          </a:p>
          <a:p>
            <a:pPr lvl="1"/>
            <a:r>
              <a:rPr lang="en-US" sz="2400" dirty="0">
                <a:latin typeface="Arial" charset="0"/>
              </a:rPr>
              <a:t>All sections in SC </a:t>
            </a:r>
            <a:r>
              <a:rPr lang="en-US" sz="2400" dirty="0" smtClean="0">
                <a:latin typeface="Arial" charset="0"/>
              </a:rPr>
              <a:t>0220</a:t>
            </a:r>
          </a:p>
          <a:p>
            <a:pPr lvl="1"/>
            <a:r>
              <a:rPr lang="en-US" sz="2400" dirty="0" smtClean="0">
                <a:solidFill>
                  <a:srgbClr val="FF6600"/>
                </a:solidFill>
                <a:latin typeface="Arial" charset="0"/>
              </a:rPr>
              <a:t>Please move out of the 11:00 a.m. session</a:t>
            </a:r>
            <a:endParaRPr lang="en-US" sz="2400" dirty="0">
              <a:solidFill>
                <a:srgbClr val="FF6600"/>
              </a:solidFill>
              <a:latin typeface="Arial" charset="0"/>
            </a:endParaRPr>
          </a:p>
        </p:txBody>
      </p:sp>
      <p:sp>
        <p:nvSpPr>
          <p:cNvPr id="41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182F5EE-5763-6D48-B6F3-7AC73C4AC2D6}" type="slidenum">
              <a:rPr lang="en-US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News and Email</a:t>
            </a:r>
          </a:p>
        </p:txBody>
      </p:sp>
      <p:sp>
        <p:nvSpPr>
          <p:cNvPr id="5123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Arial" charset="0"/>
              </a:rPr>
              <a:t>Piazza for announcements </a:t>
            </a:r>
            <a:r>
              <a:rPr lang="en-US" sz="2400" dirty="0">
                <a:latin typeface="Arial" charset="0"/>
              </a:rPr>
              <a:t>and </a:t>
            </a:r>
            <a:r>
              <a:rPr lang="en-US" sz="2400" dirty="0" smtClean="0">
                <a:latin typeface="Arial" charset="0"/>
              </a:rPr>
              <a:t>discussions</a:t>
            </a:r>
            <a:endParaRPr lang="en-US" sz="2400" dirty="0">
              <a:latin typeface="Arial" charset="0"/>
            </a:endParaRPr>
          </a:p>
          <a:p>
            <a:pPr lvl="1"/>
            <a:r>
              <a:rPr lang="en-US" sz="2400" dirty="0">
                <a:latin typeface="Arial" charset="0"/>
              </a:rPr>
              <a:t>http://</a:t>
            </a:r>
            <a:r>
              <a:rPr lang="en-US" sz="2400" dirty="0" err="1">
                <a:latin typeface="Arial" charset="0"/>
              </a:rPr>
              <a:t>www.piazza.com</a:t>
            </a:r>
            <a:r>
              <a:rPr lang="en-US" sz="2400" dirty="0">
                <a:latin typeface="Arial" charset="0"/>
              </a:rPr>
              <a:t>/</a:t>
            </a:r>
            <a:r>
              <a:rPr lang="en-US" sz="2400" dirty="0" err="1">
                <a:latin typeface="Arial" charset="0"/>
              </a:rPr>
              <a:t>illinois</a:t>
            </a:r>
            <a:r>
              <a:rPr lang="en-US" sz="2400" dirty="0">
                <a:latin typeface="Arial" charset="0"/>
              </a:rPr>
              <a:t>/cs241</a:t>
            </a:r>
          </a:p>
          <a:p>
            <a:pPr lvl="1"/>
            <a:r>
              <a:rPr lang="en-US" sz="2400" dirty="0" smtClean="0">
                <a:latin typeface="Arial" charset="0"/>
              </a:rPr>
              <a:t>This </a:t>
            </a:r>
            <a:r>
              <a:rPr lang="en-US" sz="2400" dirty="0">
                <a:latin typeface="Arial" charset="0"/>
              </a:rPr>
              <a:t>is your one-stop help-line!</a:t>
            </a:r>
          </a:p>
          <a:p>
            <a:pPr lvl="1"/>
            <a:r>
              <a:rPr lang="en-US" sz="2400" dirty="0">
                <a:latin typeface="Arial" charset="0"/>
              </a:rPr>
              <a:t>Will get answer &lt; 24 hours </a:t>
            </a:r>
          </a:p>
          <a:p>
            <a:r>
              <a:rPr lang="en-US" sz="2400" dirty="0" smtClean="0">
                <a:latin typeface="Arial" charset="0"/>
              </a:rPr>
              <a:t>Email</a:t>
            </a:r>
            <a:endParaRPr lang="en-US" sz="2400" dirty="0">
              <a:latin typeface="Arial" charset="0"/>
            </a:endParaRPr>
          </a:p>
          <a:p>
            <a:pPr lvl="1"/>
            <a:r>
              <a:rPr lang="en-US" sz="2400" dirty="0">
                <a:latin typeface="Arial" charset="0"/>
              </a:rPr>
              <a:t>cs241help</a:t>
            </a:r>
            <a:r>
              <a:rPr lang="en-US" sz="2400" dirty="0" smtClean="0">
                <a:latin typeface="Arial" charset="0"/>
              </a:rPr>
              <a:t>-sp12@cs.illinois.edu</a:t>
            </a:r>
            <a:endParaRPr lang="en-US" sz="2400" dirty="0">
              <a:latin typeface="Arial" charset="0"/>
            </a:endParaRPr>
          </a:p>
          <a:p>
            <a:pPr lvl="1"/>
            <a:r>
              <a:rPr lang="en-US" sz="2400" dirty="0" smtClean="0">
                <a:latin typeface="Arial" charset="0"/>
              </a:rPr>
              <a:t>Only for personal </a:t>
            </a:r>
            <a:r>
              <a:rPr lang="en-US" sz="2400" dirty="0">
                <a:latin typeface="Arial" charset="0"/>
              </a:rPr>
              <a:t>questions not </a:t>
            </a:r>
            <a:r>
              <a:rPr lang="en-US" sz="2400" dirty="0" err="1">
                <a:latin typeface="Arial" charset="0"/>
              </a:rPr>
              <a:t>postable</a:t>
            </a:r>
            <a:r>
              <a:rPr lang="en-US" sz="2400" dirty="0">
                <a:latin typeface="Arial" charset="0"/>
              </a:rPr>
              <a:t> on </a:t>
            </a:r>
            <a:r>
              <a:rPr lang="en-US" sz="2400" dirty="0" smtClean="0">
                <a:latin typeface="Arial" charset="0"/>
              </a:rPr>
              <a:t>Piazza</a:t>
            </a:r>
            <a:endParaRPr lang="en-US" sz="2400" dirty="0">
              <a:latin typeface="Arial" charset="0"/>
            </a:endParaRPr>
          </a:p>
        </p:txBody>
      </p:sp>
      <p:sp>
        <p:nvSpPr>
          <p:cNvPr id="512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512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7E01F85-C86C-6B46-AA20-BACD436AFDBF}" type="slidenum">
              <a:rPr lang="en-US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The Textbook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>
                <a:latin typeface="Arial" charset="0"/>
              </a:rPr>
              <a:t>Introduction to Systems Concepts and Systems Programming</a:t>
            </a:r>
          </a:p>
          <a:p>
            <a:pPr lvl="1" eaLnBrk="1" hangingPunct="1"/>
            <a:r>
              <a:rPr lang="en-US" sz="2400" dirty="0">
                <a:latin typeface="Arial" charset="0"/>
              </a:rPr>
              <a:t>University of Illinois Custom Edition</a:t>
            </a:r>
          </a:p>
          <a:p>
            <a:pPr lvl="1" eaLnBrk="1" hangingPunct="1"/>
            <a:r>
              <a:rPr lang="en-US" sz="2400" dirty="0" smtClean="0">
                <a:latin typeface="Arial" charset="0"/>
              </a:rPr>
              <a:t>ISBN </a:t>
            </a:r>
            <a:r>
              <a:rPr lang="en-US" sz="2400" dirty="0">
                <a:latin typeface="Arial" charset="0"/>
              </a:rPr>
              <a:t>0-536-48928-</a:t>
            </a:r>
            <a:r>
              <a:rPr lang="en-US" sz="2400" dirty="0" smtClean="0">
                <a:latin typeface="Arial" charset="0"/>
              </a:rPr>
              <a:t>9</a:t>
            </a:r>
            <a:endParaRPr lang="en-US" sz="2400" dirty="0">
              <a:latin typeface="Arial" charset="0"/>
            </a:endParaRPr>
          </a:p>
          <a:p>
            <a:pPr eaLnBrk="1" hangingPunct="1"/>
            <a:r>
              <a:rPr lang="en-US" sz="2400" dirty="0">
                <a:latin typeface="Arial" charset="0"/>
              </a:rPr>
              <a:t>Taken from:</a:t>
            </a:r>
          </a:p>
          <a:p>
            <a:pPr lvl="1" eaLnBrk="1" hangingPunct="1"/>
            <a:r>
              <a:rPr lang="en-US" sz="2400" dirty="0">
                <a:latin typeface="Arial" charset="0"/>
              </a:rPr>
              <a:t>Operating Systems: Internals and Design Principles, Fifth </a:t>
            </a:r>
            <a:r>
              <a:rPr lang="en-US" sz="2400" dirty="0" smtClean="0">
                <a:latin typeface="Arial" charset="0"/>
              </a:rPr>
              <a:t>Edition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dirty="0" smtClean="0">
                <a:latin typeface="Arial" charset="0"/>
              </a:rPr>
              <a:t>(Stallings)</a:t>
            </a:r>
            <a:endParaRPr lang="en-US" sz="2400" dirty="0">
              <a:latin typeface="Arial" charset="0"/>
            </a:endParaRPr>
          </a:p>
          <a:p>
            <a:pPr lvl="1" eaLnBrk="1" hangingPunct="1"/>
            <a:r>
              <a:rPr lang="en-US" sz="2400" dirty="0">
                <a:latin typeface="Arial" charset="0"/>
              </a:rPr>
              <a:t>UNIX™ Systems Programming: Communication, Concurrency, and </a:t>
            </a:r>
            <a:r>
              <a:rPr lang="en-US" sz="2400" dirty="0" smtClean="0">
                <a:latin typeface="Arial" charset="0"/>
              </a:rPr>
              <a:t>Threads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dirty="0" smtClean="0">
                <a:latin typeface="Arial" charset="0"/>
              </a:rPr>
              <a:t>(Robbins &amp; Robbins)</a:t>
            </a:r>
            <a:endParaRPr lang="en-US" sz="2400" dirty="0">
              <a:latin typeface="Arial" charset="0"/>
            </a:endParaRPr>
          </a:p>
          <a:p>
            <a:pPr lvl="1" eaLnBrk="1" hangingPunct="1"/>
            <a:r>
              <a:rPr lang="en-US" sz="2400" dirty="0">
                <a:latin typeface="Arial" charset="0"/>
              </a:rPr>
              <a:t>Computer Systems: A Programmer's </a:t>
            </a:r>
            <a:r>
              <a:rPr lang="en-US" sz="2400" dirty="0" smtClean="0">
                <a:latin typeface="Arial" charset="0"/>
              </a:rPr>
              <a:t>Perspective</a:t>
            </a:r>
            <a:r>
              <a:rPr lang="en-US" sz="2400" dirty="0">
                <a:latin typeface="Arial" charset="0"/>
              </a:rPr>
              <a:t> </a:t>
            </a:r>
            <a:r>
              <a:rPr lang="en-US" sz="2400" dirty="0" smtClean="0">
                <a:latin typeface="Arial" charset="0"/>
              </a:rPr>
              <a:t>(Bryant &amp; </a:t>
            </a:r>
            <a:r>
              <a:rPr lang="en-US" sz="2400" dirty="0" err="1" smtClean="0">
                <a:latin typeface="Arial" charset="0"/>
              </a:rPr>
              <a:t>O'Hallaron</a:t>
            </a:r>
            <a:r>
              <a:rPr lang="en-US" sz="2400" dirty="0" smtClean="0">
                <a:latin typeface="Arial" charset="0"/>
              </a:rPr>
              <a:t>)</a:t>
            </a:r>
            <a:endParaRPr lang="en-US" sz="2400" dirty="0">
              <a:latin typeface="Arial" charset="0"/>
            </a:endParaRPr>
          </a:p>
        </p:txBody>
      </p:sp>
      <p:sp>
        <p:nvSpPr>
          <p:cNvPr id="614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614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5833BC9-1000-3242-AC32-3DAB65056B70}" type="slidenum">
              <a:rPr lang="en-US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Arial" charset="0"/>
              </a:rPr>
              <a:t>Course components</a:t>
            </a:r>
            <a:endParaRPr lang="en-US" dirty="0">
              <a:latin typeface="Arial" charset="0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>
                <a:latin typeface="Arial" charset="0"/>
              </a:rPr>
              <a:t>Come to class</a:t>
            </a:r>
          </a:p>
          <a:p>
            <a:pPr lvl="1" eaLnBrk="1" hangingPunct="1"/>
            <a:r>
              <a:rPr lang="en-US" sz="2400" dirty="0">
                <a:latin typeface="Arial" charset="0"/>
              </a:rPr>
              <a:t>MWF, 11-11:50am</a:t>
            </a:r>
          </a:p>
          <a:p>
            <a:pPr lvl="1" eaLnBrk="1" hangingPunct="1"/>
            <a:r>
              <a:rPr lang="en-US" sz="2400" dirty="0">
                <a:latin typeface="Arial" charset="0"/>
              </a:rPr>
              <a:t>Please participate </a:t>
            </a:r>
            <a:r>
              <a:rPr lang="en-US" sz="2400" dirty="0" smtClean="0">
                <a:latin typeface="Arial" charset="0"/>
              </a:rPr>
              <a:t>actively</a:t>
            </a:r>
            <a:endParaRPr lang="en-US" sz="2400" dirty="0">
              <a:latin typeface="Arial" charset="0"/>
            </a:endParaRPr>
          </a:p>
          <a:p>
            <a:pPr eaLnBrk="1" hangingPunct="1"/>
            <a:r>
              <a:rPr lang="en-US" sz="2400" dirty="0" smtClean="0">
                <a:latin typeface="Arial" charset="0"/>
              </a:rPr>
              <a:t>Attend 1 </a:t>
            </a:r>
            <a:r>
              <a:rPr lang="en-US" sz="2400" dirty="0">
                <a:latin typeface="Arial" charset="0"/>
              </a:rPr>
              <a:t>discussion section per week</a:t>
            </a:r>
          </a:p>
          <a:p>
            <a:pPr eaLnBrk="1" hangingPunct="1"/>
            <a:r>
              <a:rPr lang="en-US" sz="2400" dirty="0">
                <a:latin typeface="Arial" charset="0"/>
              </a:rPr>
              <a:t>Read textbook </a:t>
            </a:r>
            <a:r>
              <a:rPr lang="en-US" sz="2400" dirty="0" smtClean="0">
                <a:latin typeface="Arial" charset="0"/>
              </a:rPr>
              <a:t>(assignments </a:t>
            </a:r>
            <a:r>
              <a:rPr lang="en-US" sz="2400" dirty="0">
                <a:latin typeface="Arial" charset="0"/>
              </a:rPr>
              <a:t>posted on </a:t>
            </a:r>
            <a:r>
              <a:rPr lang="en-US" sz="2400" dirty="0" smtClean="0">
                <a:latin typeface="Arial" charset="0"/>
              </a:rPr>
              <a:t>webpage) </a:t>
            </a:r>
            <a:endParaRPr lang="en-US" sz="2400" dirty="0">
              <a:latin typeface="Arial" charset="0"/>
            </a:endParaRPr>
          </a:p>
          <a:p>
            <a:pPr eaLnBrk="1" hangingPunct="1"/>
            <a:r>
              <a:rPr lang="en-US" sz="2400" dirty="0">
                <a:latin typeface="Arial" charset="0"/>
              </a:rPr>
              <a:t>Homework (1)				  </a:t>
            </a:r>
            <a:r>
              <a:rPr lang="en-US" sz="2400" dirty="0" smtClean="0">
                <a:latin typeface="Arial" charset="0"/>
              </a:rPr>
              <a:t>3%</a:t>
            </a:r>
            <a:endParaRPr lang="en-US" sz="2400" dirty="0">
              <a:latin typeface="Arial" charset="0"/>
            </a:endParaRPr>
          </a:p>
          <a:p>
            <a:pPr eaLnBrk="1" hangingPunct="1"/>
            <a:r>
              <a:rPr lang="en-US" sz="2400" dirty="0">
                <a:latin typeface="Arial" charset="0"/>
              </a:rPr>
              <a:t>Programming assignments (8)		</a:t>
            </a:r>
            <a:r>
              <a:rPr lang="en-US" sz="2400" dirty="0" smtClean="0">
                <a:latin typeface="Arial" charset="0"/>
              </a:rPr>
              <a:t>47%</a:t>
            </a:r>
            <a:endParaRPr lang="en-US" sz="2400" dirty="0">
              <a:latin typeface="Arial" charset="0"/>
            </a:endParaRPr>
          </a:p>
          <a:p>
            <a:pPr eaLnBrk="1" hangingPunct="1"/>
            <a:r>
              <a:rPr lang="en-US" sz="2400" dirty="0" smtClean="0">
                <a:latin typeface="Arial" charset="0"/>
              </a:rPr>
              <a:t>Midterm: March 6, 7-9pm</a:t>
            </a:r>
            <a:r>
              <a:rPr lang="en-US" sz="2400" dirty="0">
                <a:latin typeface="Arial" charset="0"/>
              </a:rPr>
              <a:t>		20%</a:t>
            </a:r>
          </a:p>
          <a:p>
            <a:pPr eaLnBrk="1" hangingPunct="1"/>
            <a:r>
              <a:rPr lang="en-US" sz="2400" dirty="0" smtClean="0">
                <a:latin typeface="Arial" charset="0"/>
              </a:rPr>
              <a:t>Final: time &amp; date TBA </a:t>
            </a:r>
            <a:r>
              <a:rPr lang="en-US" sz="2400" dirty="0">
                <a:latin typeface="Arial" charset="0"/>
              </a:rPr>
              <a:t>			30</a:t>
            </a:r>
            <a:r>
              <a:rPr lang="en-US" sz="2400" dirty="0" smtClean="0">
                <a:latin typeface="Arial" charset="0"/>
              </a:rPr>
              <a:t>%</a:t>
            </a:r>
          </a:p>
        </p:txBody>
      </p:sp>
      <p:sp>
        <p:nvSpPr>
          <p:cNvPr id="71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71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58779B9-EFC8-5F49-A84C-40D2C1AE849B}" type="slidenum">
              <a:rPr lang="en-US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Deadlines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Arial" charset="0"/>
              </a:rPr>
              <a:t>Homework</a:t>
            </a:r>
          </a:p>
          <a:p>
            <a:pPr lvl="1"/>
            <a:r>
              <a:rPr lang="en-US" sz="2400" dirty="0">
                <a:latin typeface="Arial" charset="0"/>
              </a:rPr>
              <a:t>Deadlines are strict </a:t>
            </a:r>
          </a:p>
          <a:p>
            <a:pPr lvl="1"/>
            <a:r>
              <a:rPr lang="en-US" sz="2400" dirty="0">
                <a:latin typeface="Arial" charset="0"/>
              </a:rPr>
              <a:t>Late submissions will not be considered </a:t>
            </a:r>
          </a:p>
          <a:p>
            <a:r>
              <a:rPr lang="en-US" sz="2800" dirty="0">
                <a:latin typeface="Arial" charset="0"/>
              </a:rPr>
              <a:t>MPs</a:t>
            </a:r>
          </a:p>
          <a:p>
            <a:pPr lvl="1"/>
            <a:r>
              <a:rPr lang="en-US" sz="2400" dirty="0">
                <a:latin typeface="Arial" charset="0"/>
              </a:rPr>
              <a:t>Please respect posted deadlines to ensure quick grading</a:t>
            </a:r>
          </a:p>
          <a:p>
            <a:pPr lvl="1"/>
            <a:r>
              <a:rPr lang="en-US" sz="2400" dirty="0">
                <a:latin typeface="Arial" charset="0"/>
              </a:rPr>
              <a:t>Late MPs will be penalized 2% for each late hour (rounded off to the higher hour)</a:t>
            </a:r>
          </a:p>
          <a:p>
            <a:pPr lvl="1"/>
            <a:r>
              <a:rPr lang="en-US" sz="2400" dirty="0">
                <a:latin typeface="Arial" charset="0"/>
              </a:rPr>
              <a:t>No submissions past </a:t>
            </a:r>
            <a:r>
              <a:rPr lang="en-US" sz="2400" dirty="0" smtClean="0">
                <a:latin typeface="Arial" charset="0"/>
              </a:rPr>
              <a:t>24 hours</a:t>
            </a:r>
            <a:endParaRPr lang="en-US" sz="2400" dirty="0">
              <a:latin typeface="Arial" charset="0"/>
            </a:endParaRPr>
          </a:p>
        </p:txBody>
      </p:sp>
      <p:sp>
        <p:nvSpPr>
          <p:cNvPr id="92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5F0FF16-1F53-E240-9000-20E4373C29D7}" type="slidenum">
              <a:rPr lang="en-US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Regrades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Arial" charset="0"/>
              </a:rPr>
              <a:t>Considered if you were graded incorrectly</a:t>
            </a:r>
          </a:p>
          <a:p>
            <a:r>
              <a:rPr lang="en-US" sz="2400" dirty="0" smtClean="0">
                <a:latin typeface="Arial" charset="0"/>
              </a:rPr>
              <a:t>Within </a:t>
            </a:r>
            <a:r>
              <a:rPr lang="en-US" sz="2400" dirty="0">
                <a:latin typeface="Arial" charset="0"/>
              </a:rPr>
              <a:t>one week of posting of grades for a quiz, homework, MP or exam </a:t>
            </a:r>
          </a:p>
          <a:p>
            <a:r>
              <a:rPr lang="en-US" sz="2400" dirty="0" err="1">
                <a:latin typeface="Arial" charset="0"/>
              </a:rPr>
              <a:t>Regrades</a:t>
            </a:r>
            <a:r>
              <a:rPr lang="en-US" sz="2400" dirty="0">
                <a:latin typeface="Arial" charset="0"/>
              </a:rPr>
              <a:t> must be submitted in writing on a separate piece of paper</a:t>
            </a:r>
          </a:p>
          <a:p>
            <a:pPr lvl="1"/>
            <a:r>
              <a:rPr lang="en-US" sz="2400" dirty="0">
                <a:latin typeface="Arial" charset="0"/>
              </a:rPr>
              <a:t>Please do not write on your </a:t>
            </a:r>
            <a:r>
              <a:rPr lang="en-US" sz="2400" dirty="0" smtClean="0">
                <a:latin typeface="Arial" charset="0"/>
              </a:rPr>
              <a:t>exam or homework</a:t>
            </a:r>
            <a:endParaRPr lang="en-US" sz="2400" dirty="0">
              <a:latin typeface="Arial" charset="0"/>
            </a:endParaRPr>
          </a:p>
        </p:txBody>
      </p:sp>
      <p:sp>
        <p:nvSpPr>
          <p:cNvPr id="102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02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3D7B54E-5F26-7545-9C50-C9B5A1FDC0E5}" type="slidenum">
              <a:rPr lang="en-US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Academic Honesty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charset="0"/>
              </a:rPr>
              <a:t>Your work in this class </a:t>
            </a:r>
            <a:r>
              <a:rPr lang="en-US" sz="2400" b="1" dirty="0">
                <a:latin typeface="Arial" charset="0"/>
              </a:rPr>
              <a:t>must</a:t>
            </a:r>
            <a:r>
              <a:rPr lang="en-US" sz="2400" dirty="0">
                <a:latin typeface="Arial" charset="0"/>
              </a:rPr>
              <a:t> be your own.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charset="0"/>
              </a:rPr>
              <a:t>If students are found to have </a:t>
            </a:r>
            <a:r>
              <a:rPr lang="en-US" sz="2400" dirty="0" smtClean="0">
                <a:latin typeface="Arial" charset="0"/>
              </a:rPr>
              <a:t>cheated </a:t>
            </a:r>
            <a:r>
              <a:rPr lang="en-US" sz="2400" dirty="0">
                <a:latin typeface="Arial" charset="0"/>
              </a:rPr>
              <a:t>(e.g., by copying or sharing answers during an examination or sharing code for the project), </a:t>
            </a:r>
            <a:r>
              <a:rPr lang="en-US" sz="2400" b="1" dirty="0">
                <a:latin typeface="Arial" charset="0"/>
              </a:rPr>
              <a:t>all</a:t>
            </a:r>
            <a:r>
              <a:rPr lang="en-US" sz="2400" dirty="0">
                <a:latin typeface="Arial" charset="0"/>
              </a:rPr>
              <a:t> involved will at a minimum receive grades of 0 for the first infraction and </a:t>
            </a:r>
            <a:r>
              <a:rPr lang="en-US" sz="2400" dirty="0" smtClean="0">
                <a:latin typeface="Arial" charset="0"/>
              </a:rPr>
              <a:t>will be reported </a:t>
            </a:r>
            <a:r>
              <a:rPr lang="en-US" sz="2400" dirty="0">
                <a:latin typeface="Arial" charset="0"/>
              </a:rPr>
              <a:t>to the academic office.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charset="0"/>
              </a:rPr>
              <a:t>Further infractions will result in failure in the course and/or recommendation for dismissal from the university.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latin typeface="Arial" charset="0"/>
              </a:rPr>
              <a:t>Department honor code: </a:t>
            </a:r>
            <a:r>
              <a:rPr lang="en-US" sz="2400" dirty="0">
                <a:latin typeface="Arial" charset="0"/>
                <a:hlinkClick r:id="rId3"/>
              </a:rPr>
              <a:t>https://wiki.engr.illinois.edu/display/undergradProg/Honor+Code</a:t>
            </a:r>
            <a:endParaRPr lang="en-US" sz="2400" dirty="0">
              <a:latin typeface="Arial" charset="0"/>
            </a:endParaRPr>
          </a:p>
          <a:p>
            <a:pPr>
              <a:lnSpc>
                <a:spcPct val="90000"/>
              </a:lnSpc>
            </a:pPr>
            <a:endParaRPr lang="en-US" sz="2400" dirty="0">
              <a:latin typeface="Arial" charset="0"/>
            </a:endParaRPr>
          </a:p>
        </p:txBody>
      </p:sp>
      <p:sp>
        <p:nvSpPr>
          <p:cNvPr id="1126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126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9E241D18-B1CA-A146-AECD-C272F736DAB9}" type="slidenum">
              <a:rPr lang="en-US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Cheating vs. collaborating</a:t>
            </a:r>
            <a:endParaRPr lang="en-US" dirty="0">
              <a:latin typeface="Arial" charset="0"/>
            </a:endParaRP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latin typeface="Arial" charset="0"/>
              </a:rPr>
              <a:t>Cheating</a:t>
            </a:r>
            <a:endParaRPr lang="en-US" sz="2800" dirty="0">
              <a:latin typeface="Arial" charset="0"/>
            </a:endParaRPr>
          </a:p>
          <a:p>
            <a:pPr lvl="1"/>
            <a:r>
              <a:rPr lang="en-US" sz="2400" dirty="0">
                <a:latin typeface="Arial" charset="0"/>
              </a:rPr>
              <a:t>Copying </a:t>
            </a:r>
            <a:r>
              <a:rPr lang="en-US" sz="2400" dirty="0" smtClean="0">
                <a:latin typeface="Arial" charset="0"/>
              </a:rPr>
              <a:t>code, pseudo</a:t>
            </a:r>
            <a:r>
              <a:rPr lang="en-US" sz="2400" dirty="0">
                <a:latin typeface="Arial" charset="0"/>
              </a:rPr>
              <a:t>-</a:t>
            </a:r>
            <a:r>
              <a:rPr lang="en-US" sz="2400" dirty="0" smtClean="0">
                <a:latin typeface="Arial" charset="0"/>
              </a:rPr>
              <a:t>code, flow charts</a:t>
            </a:r>
          </a:p>
          <a:p>
            <a:pPr lvl="1"/>
            <a:r>
              <a:rPr lang="en-US" sz="2400" dirty="0" smtClean="0">
                <a:latin typeface="Arial" charset="0"/>
              </a:rPr>
              <a:t>Writing someone else’s code line by line</a:t>
            </a:r>
            <a:endParaRPr lang="en-US" sz="2400" dirty="0">
              <a:latin typeface="Arial" charset="0"/>
            </a:endParaRPr>
          </a:p>
          <a:p>
            <a:r>
              <a:rPr lang="en-US" sz="2800" dirty="0" smtClean="0">
                <a:latin typeface="Arial" charset="0"/>
              </a:rPr>
              <a:t>Not cheating</a:t>
            </a:r>
          </a:p>
          <a:p>
            <a:pPr lvl="1"/>
            <a:r>
              <a:rPr lang="en-US" sz="2400" dirty="0" smtClean="0">
                <a:latin typeface="Arial" charset="0"/>
              </a:rPr>
              <a:t>Discussing high-level approaches</a:t>
            </a:r>
          </a:p>
          <a:p>
            <a:pPr lvl="1"/>
            <a:r>
              <a:rPr lang="en-US" sz="2400" dirty="0" smtClean="0">
                <a:latin typeface="Arial" charset="0"/>
              </a:rPr>
              <a:t>Discussing MP requirements, C language, tools</a:t>
            </a:r>
          </a:p>
          <a:p>
            <a:pPr lvl="1"/>
            <a:r>
              <a:rPr lang="en-US" sz="2400" dirty="0" smtClean="0">
                <a:latin typeface="Arial" charset="0"/>
              </a:rPr>
              <a:t>Helping each other with debugging</a:t>
            </a:r>
          </a:p>
          <a:p>
            <a:r>
              <a:rPr lang="en-US" sz="2800" dirty="0" smtClean="0">
                <a:latin typeface="Arial" charset="0"/>
              </a:rPr>
              <a:t>Consider</a:t>
            </a:r>
            <a:endParaRPr lang="en-US" sz="2800" dirty="0">
              <a:latin typeface="Arial" charset="0"/>
            </a:endParaRPr>
          </a:p>
          <a:p>
            <a:pPr lvl="1"/>
            <a:r>
              <a:rPr lang="en-US" sz="2400" dirty="0">
                <a:latin typeface="Arial" charset="0"/>
              </a:rPr>
              <a:t>Did some one else tell you how to do it</a:t>
            </a:r>
            <a:r>
              <a:rPr lang="en-US" sz="2400" dirty="0" smtClean="0">
                <a:latin typeface="Arial" charset="0"/>
              </a:rPr>
              <a:t>?</a:t>
            </a:r>
          </a:p>
        </p:txBody>
      </p:sp>
      <p:sp>
        <p:nvSpPr>
          <p:cNvPr id="122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22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DE313AC-58FE-FE45-85BF-36F740971BC5}" type="slidenum">
              <a:rPr lang="en-US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buFont typeface="Wingdings" charset="0"/>
              <a:buNone/>
            </a:pPr>
            <a:endParaRPr lang="en-US">
              <a:latin typeface="Arial" charset="0"/>
            </a:endParaRPr>
          </a:p>
        </p:txBody>
      </p:sp>
      <p:sp>
        <p:nvSpPr>
          <p:cNvPr id="21507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What is systems programming?</a:t>
            </a:r>
            <a:endParaRPr lang="en-US" dirty="0">
              <a:latin typeface="Arial" charset="0"/>
            </a:endParaRPr>
          </a:p>
        </p:txBody>
      </p:sp>
      <p:sp>
        <p:nvSpPr>
          <p:cNvPr id="2150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15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A8F66B3-8F02-6D4B-9EAA-D4B33BF2D49E}" type="slidenum">
              <a:rPr lang="en-US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What is a system?</a:t>
            </a:r>
            <a:endParaRPr lang="en-US" dirty="0"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ct val="0"/>
              </a:spcBef>
              <a:buClrTx/>
              <a:buSzTx/>
              <a:buFont typeface="Wingdings" charset="0"/>
              <a:buNone/>
            </a:pPr>
            <a:r>
              <a:rPr lang="en-US" sz="2400" b="1" i="1" dirty="0" err="1">
                <a:solidFill>
                  <a:srgbClr val="292929"/>
                </a:solidFill>
                <a:latin typeface="Tahoma" charset="0"/>
              </a:rPr>
              <a:t>sys·tem</a:t>
            </a:r>
            <a:r>
              <a:rPr lang="en-US" sz="2400" b="1" i="1" dirty="0">
                <a:solidFill>
                  <a:srgbClr val="292929"/>
                </a:solidFill>
                <a:latin typeface="Tahoma" charset="0"/>
              </a:rPr>
              <a:t>   </a:t>
            </a:r>
            <a:r>
              <a:rPr lang="en-US" sz="2400" b="1" dirty="0">
                <a:solidFill>
                  <a:srgbClr val="292929"/>
                </a:solidFill>
                <a:latin typeface="Tahoma" charset="0"/>
              </a:rPr>
              <a:t>Noun   /</a:t>
            </a:r>
            <a:r>
              <a:rPr lang="ja-JP" altLang="en-US" sz="2400" b="1" dirty="0">
                <a:solidFill>
                  <a:srgbClr val="292929"/>
                </a:solidFill>
                <a:latin typeface="Tahoma" charset="0"/>
              </a:rPr>
              <a:t>’</a:t>
            </a:r>
            <a:r>
              <a:rPr lang="en-US" sz="2400" b="1" dirty="0" err="1">
                <a:solidFill>
                  <a:srgbClr val="292929"/>
                </a:solidFill>
                <a:latin typeface="Tahoma" charset="0"/>
              </a:rPr>
              <a:t>sistəm</a:t>
            </a:r>
            <a:r>
              <a:rPr lang="en-US" sz="2400" b="1" dirty="0">
                <a:solidFill>
                  <a:srgbClr val="292929"/>
                </a:solidFill>
                <a:latin typeface="Tahoma" charset="0"/>
              </a:rPr>
              <a:t>/</a:t>
            </a:r>
          </a:p>
          <a:p>
            <a:pPr marL="0" indent="0">
              <a:spcBef>
                <a:spcPct val="0"/>
              </a:spcBef>
              <a:buClrTx/>
              <a:buSzTx/>
              <a:buFont typeface="Wingdings" charset="0"/>
              <a:buNone/>
            </a:pPr>
            <a:r>
              <a:rPr lang="en-US" sz="2400" dirty="0">
                <a:solidFill>
                  <a:srgbClr val="292929"/>
                </a:solidFill>
                <a:latin typeface="Tahoma" charset="0"/>
              </a:rPr>
              <a:t>1. A set of connected things or parts forming a larger and more complex whole.</a:t>
            </a:r>
          </a:p>
          <a:p>
            <a:pPr marL="0" indent="0">
              <a:spcBef>
                <a:spcPct val="0"/>
              </a:spcBef>
              <a:buClrTx/>
              <a:buSzTx/>
              <a:buFont typeface="Wingdings" charset="0"/>
              <a:buNone/>
            </a:pPr>
            <a:r>
              <a:rPr lang="en-US" sz="2400" dirty="0">
                <a:solidFill>
                  <a:srgbClr val="292929"/>
                </a:solidFill>
                <a:latin typeface="Tahoma" charset="0"/>
              </a:rPr>
              <a:t>2. An integrated set of elements that accomplish a defined objective</a:t>
            </a:r>
          </a:p>
          <a:p>
            <a:pPr marL="0" indent="0"/>
            <a:r>
              <a:rPr lang="en-US" sz="2400" dirty="0">
                <a:latin typeface="Arial" charset="0"/>
              </a:rPr>
              <a:t>Examples: </a:t>
            </a:r>
            <a:r>
              <a:rPr lang="en-US" sz="2400" dirty="0" smtClean="0">
                <a:latin typeface="Arial" charset="0"/>
              </a:rPr>
              <a:t>Computer systems, </a:t>
            </a:r>
            <a:r>
              <a:rPr lang="en-US" sz="2400" dirty="0">
                <a:latin typeface="Arial" charset="0"/>
              </a:rPr>
              <a:t>economic system, ecosystem, social </a:t>
            </a:r>
            <a:r>
              <a:rPr lang="en-US" sz="2400" dirty="0" smtClean="0">
                <a:latin typeface="Arial" charset="0"/>
              </a:rPr>
              <a:t>systems, digestive system, …</a:t>
            </a:r>
            <a:endParaRPr lang="en-US" sz="2400" dirty="0">
              <a:latin typeface="Arial" charset="0"/>
            </a:endParaRPr>
          </a:p>
          <a:p>
            <a:pPr marL="0" indent="0"/>
            <a:endParaRPr lang="en-US" sz="1200" dirty="0">
              <a:latin typeface="Arial" charset="0"/>
            </a:endParaRPr>
          </a:p>
          <a:p>
            <a:pPr marL="0" indent="0"/>
            <a:r>
              <a:rPr lang="en-US" sz="2400" dirty="0">
                <a:latin typeface="Arial" charset="0"/>
              </a:rPr>
              <a:t>Computer systems: collections of </a:t>
            </a:r>
            <a:r>
              <a:rPr lang="en-US" sz="2400" dirty="0" smtClean="0">
                <a:latin typeface="Arial" charset="0"/>
              </a:rPr>
              <a:t>programs</a:t>
            </a:r>
            <a:endParaRPr lang="en-US" sz="2400" dirty="0">
              <a:latin typeface="Arial" charset="0"/>
            </a:endParaRPr>
          </a:p>
          <a:p>
            <a:pPr lvl="1"/>
            <a:r>
              <a:rPr lang="en-US" sz="2000" dirty="0">
                <a:latin typeface="Arial" charset="0"/>
              </a:rPr>
              <a:t>Search engines, social networks, databases, Internet</a:t>
            </a:r>
          </a:p>
          <a:p>
            <a:pPr lvl="1"/>
            <a:r>
              <a:rPr lang="en-US" sz="2000" dirty="0">
                <a:latin typeface="Arial" charset="0"/>
              </a:rPr>
              <a:t>In this class, we learn how to design and implement computer systems</a:t>
            </a:r>
          </a:p>
        </p:txBody>
      </p:sp>
      <p:sp>
        <p:nvSpPr>
          <p:cNvPr id="2253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25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093D7C9-EB0C-D343-B7B4-7E9F2BB94EC7}" type="slidenum">
              <a:rPr lang="en-US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Challenges in </a:t>
            </a:r>
            <a:r>
              <a:rPr lang="en-US" dirty="0" smtClean="0">
                <a:latin typeface="Arial" charset="0"/>
              </a:rPr>
              <a:t>building computer </a:t>
            </a:r>
            <a:r>
              <a:rPr lang="en-US" dirty="0">
                <a:latin typeface="Arial" charset="0"/>
              </a:rPr>
              <a:t>systems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>
                <a:solidFill>
                  <a:srgbClr val="FF6600"/>
                </a:solidFill>
                <a:latin typeface="Arial" charset="0"/>
              </a:rPr>
              <a:t>Sharing</a:t>
            </a:r>
            <a:r>
              <a:rPr lang="en-US" sz="2800" dirty="0" smtClean="0">
                <a:latin typeface="Arial" charset="0"/>
              </a:rPr>
              <a:t> resources among programs</a:t>
            </a:r>
            <a:endParaRPr lang="en-US" sz="2800" dirty="0">
              <a:latin typeface="Arial" charset="0"/>
            </a:endParaRPr>
          </a:p>
          <a:p>
            <a:r>
              <a:rPr lang="en-US" sz="2800" dirty="0">
                <a:solidFill>
                  <a:srgbClr val="FF6600"/>
                </a:solidFill>
                <a:latin typeface="Arial" charset="0"/>
              </a:rPr>
              <a:t>Preventing </a:t>
            </a:r>
            <a:r>
              <a:rPr lang="en-US" sz="2800" dirty="0" smtClean="0">
                <a:solidFill>
                  <a:srgbClr val="FF6600"/>
                </a:solidFill>
                <a:latin typeface="Arial" charset="0"/>
              </a:rPr>
              <a:t>interference </a:t>
            </a:r>
            <a:r>
              <a:rPr lang="en-US" sz="2800" dirty="0" smtClean="0">
                <a:latin typeface="Arial" charset="0"/>
              </a:rPr>
              <a:t>from malicious</a:t>
            </a:r>
            <a:r>
              <a:rPr lang="en-US" sz="2800" dirty="0">
                <a:latin typeface="Arial" charset="0"/>
              </a:rPr>
              <a:t>/incorrect </a:t>
            </a:r>
            <a:r>
              <a:rPr lang="en-US" sz="2800" dirty="0" smtClean="0">
                <a:latin typeface="Arial" charset="0"/>
              </a:rPr>
              <a:t>programs</a:t>
            </a:r>
            <a:endParaRPr lang="en-US" sz="2800" dirty="0">
              <a:latin typeface="Arial" charset="0"/>
            </a:endParaRPr>
          </a:p>
          <a:p>
            <a:r>
              <a:rPr lang="en-US" sz="2800" dirty="0">
                <a:solidFill>
                  <a:srgbClr val="FF6600"/>
                </a:solidFill>
                <a:latin typeface="Arial" charset="0"/>
              </a:rPr>
              <a:t>Coordinating</a:t>
            </a:r>
            <a:r>
              <a:rPr lang="en-US" sz="2800" dirty="0">
                <a:latin typeface="Arial" charset="0"/>
              </a:rPr>
              <a:t> operations of multiple programs</a:t>
            </a:r>
          </a:p>
          <a:p>
            <a:r>
              <a:rPr lang="en-US" sz="2800" dirty="0">
                <a:solidFill>
                  <a:srgbClr val="FF6600"/>
                </a:solidFill>
                <a:latin typeface="Arial" charset="0"/>
              </a:rPr>
              <a:t>Communicating</a:t>
            </a:r>
            <a:r>
              <a:rPr lang="en-US" sz="2800" dirty="0">
                <a:latin typeface="Arial" charset="0"/>
              </a:rPr>
              <a:t> information between programs</a:t>
            </a:r>
          </a:p>
          <a:p>
            <a:endParaRPr lang="en-US" sz="2800" dirty="0">
              <a:latin typeface="Arial" charset="0"/>
            </a:endParaRP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7D68D98-7316-0D44-B119-1E2D5D419F32}" type="slidenum">
              <a:rPr lang="en-US"/>
              <a:pPr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does this do?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x</a:t>
            </a:r>
            <a:r>
              <a:rPr lang="en-US" dirty="0" smtClean="0"/>
              <a:t> = 0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Process 1: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</a:t>
            </a:r>
            <a:r>
              <a:rPr lang="en-US" dirty="0" err="1" smtClean="0"/>
              <a:t>i</a:t>
            </a:r>
            <a:r>
              <a:rPr lang="en-US" dirty="0" smtClean="0"/>
              <a:t> = 0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while (</a:t>
            </a:r>
            <a:r>
              <a:rPr lang="en-US" dirty="0" err="1" smtClean="0"/>
              <a:t>i</a:t>
            </a:r>
            <a:r>
              <a:rPr lang="en-US" dirty="0" smtClean="0"/>
              <a:t> &lt; 5)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x = x + 1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©: University of Illinois CS 241 Staff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5F6-332F-1844-845D-0A7B6B16485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454525" y="1981200"/>
            <a:ext cx="7661275" cy="4526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47675" indent="-4476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n"/>
              <a:defRPr sz="3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889000" indent="-4397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charset="0"/>
              <a:buChar char="¡"/>
              <a:defRPr sz="28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293813" indent="-4032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n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81163" indent="-3857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5000"/>
              <a:buFont typeface="Wingdings" charset="0"/>
              <a:buChar char="¡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4pPr>
            <a:lvl5pPr marL="2070100" indent="-3873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charset="0"/>
              <a:buChar char="n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5pPr>
            <a:lvl6pPr marL="25273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845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417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98900" indent="-3873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charset="0"/>
              <a:buNone/>
            </a:pPr>
            <a:r>
              <a:rPr lang="en-US" dirty="0" smtClean="0"/>
              <a:t> </a:t>
            </a:r>
          </a:p>
          <a:p>
            <a:pPr marL="0" indent="0">
              <a:buFont typeface="Wingdings" charset="0"/>
              <a:buNone/>
            </a:pPr>
            <a:endParaRPr lang="en-US" dirty="0" smtClean="0"/>
          </a:p>
          <a:p>
            <a:pPr marL="0" indent="0">
              <a:buFont typeface="Wingdings" charset="0"/>
              <a:buNone/>
            </a:pPr>
            <a:r>
              <a:rPr lang="en-US" dirty="0" smtClean="0"/>
              <a:t>Process 2:</a:t>
            </a:r>
          </a:p>
          <a:p>
            <a:pPr marL="0" indent="0">
              <a:buFont typeface="Wingdings" charset="0"/>
              <a:buNone/>
            </a:pPr>
            <a:r>
              <a:rPr lang="en-US" dirty="0" smtClean="0"/>
              <a:t>    </a:t>
            </a:r>
            <a:r>
              <a:rPr lang="en-US" dirty="0"/>
              <a:t>j</a:t>
            </a:r>
            <a:r>
              <a:rPr lang="en-US" dirty="0" smtClean="0"/>
              <a:t> = 0</a:t>
            </a:r>
          </a:p>
          <a:p>
            <a:pPr marL="0" indent="0">
              <a:buFont typeface="Wingdings" charset="0"/>
              <a:buNone/>
            </a:pPr>
            <a:r>
              <a:rPr lang="en-US" dirty="0" smtClean="0"/>
              <a:t>    while (</a:t>
            </a:r>
            <a:r>
              <a:rPr lang="en-US" dirty="0"/>
              <a:t>j</a:t>
            </a:r>
            <a:r>
              <a:rPr lang="en-US" dirty="0" smtClean="0"/>
              <a:t> &lt; 5)</a:t>
            </a:r>
          </a:p>
          <a:p>
            <a:pPr marL="0" indent="0">
              <a:buFont typeface="Wingdings" charset="0"/>
              <a:buNone/>
            </a:pPr>
            <a:r>
              <a:rPr lang="en-US" dirty="0" smtClean="0"/>
              <a:t>        x = x + 1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08542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Interactions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“What </a:t>
            </a:r>
            <a:r>
              <a:rPr lang="en-US" dirty="0"/>
              <a:t>we are concerned with here is the fundamental interconnectedness of all things</a:t>
            </a:r>
            <a:r>
              <a:rPr lang="en-US" dirty="0" smtClean="0"/>
              <a:t>.”</a:t>
            </a:r>
          </a:p>
          <a:p>
            <a:pPr marL="449262" lvl="1" indent="0" algn="r">
              <a:buNone/>
            </a:pPr>
            <a:r>
              <a:rPr lang="en-US" dirty="0" smtClean="0"/>
              <a:t>– Dirk Gently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©: University of Illinois CS 241 Staff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5F6-332F-1844-845D-0A7B6B164852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758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5"/>
          <p:cNvSpPr>
            <a:spLocks noChangeArrowheads="1"/>
          </p:cNvSpPr>
          <p:nvPr/>
        </p:nvSpPr>
        <p:spPr bwMode="auto">
          <a:xfrm>
            <a:off x="304800" y="4648200"/>
            <a:ext cx="8382000" cy="1828800"/>
          </a:xfrm>
          <a:prstGeom prst="rect">
            <a:avLst/>
          </a:prstGeom>
          <a:solidFill>
            <a:srgbClr val="FF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400" b="1">
                <a:latin typeface="Arial" charset="0"/>
              </a:rPr>
              <a:t>My Computer</a:t>
            </a: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</p:txBody>
      </p:sp>
      <p:sp>
        <p:nvSpPr>
          <p:cNvPr id="245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What is an operating system and why do I need one?</a:t>
            </a:r>
          </a:p>
        </p:txBody>
      </p:sp>
      <p:sp>
        <p:nvSpPr>
          <p:cNvPr id="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What do we have?</a:t>
            </a:r>
          </a:p>
          <a:p>
            <a:pPr lvl="1"/>
            <a:r>
              <a:rPr lang="en-US">
                <a:latin typeface="Arial" charset="0"/>
              </a:rPr>
              <a:t>Set of common resources</a:t>
            </a:r>
          </a:p>
        </p:txBody>
      </p:sp>
      <p:sp>
        <p:nvSpPr>
          <p:cNvPr id="24581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458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DD4C624-1C77-D14C-98F0-0E9A329CD012}" type="slidenum">
              <a:rPr lang="en-US"/>
              <a:pPr/>
              <a:t>15</a:t>
            </a:fld>
            <a:endParaRPr lang="en-US"/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381000" y="5105400"/>
            <a:ext cx="52578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Text Box 15"/>
          <p:cNvSpPr txBox="1">
            <a:spLocks noChangeArrowheads="1"/>
          </p:cNvSpPr>
          <p:nvPr/>
        </p:nvSpPr>
        <p:spPr bwMode="auto">
          <a:xfrm>
            <a:off x="381000" y="5105400"/>
            <a:ext cx="15890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latin typeface="+mn-lt"/>
                <a:ea typeface="Tahoma" pitchFamily="34" charset="0"/>
                <a:cs typeface="Tahoma" pitchFamily="34" charset="0"/>
              </a:rPr>
              <a:t>Hardware</a:t>
            </a:r>
          </a:p>
        </p:txBody>
      </p: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5867400" y="5105400"/>
            <a:ext cx="27432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5867400" y="5105400"/>
            <a:ext cx="1400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Tahoma" pitchFamily="34" charset="0"/>
                <a:cs typeface="Tahoma" pitchFamily="34" charset="0"/>
              </a:rPr>
              <a:t>Network</a:t>
            </a:r>
          </a:p>
        </p:txBody>
      </p:sp>
      <p:sp>
        <p:nvSpPr>
          <p:cNvPr id="10" name="cddrive"/>
          <p:cNvSpPr>
            <a:spLocks noEditPoints="1" noChangeArrowheads="1"/>
          </p:cNvSpPr>
          <p:nvPr/>
        </p:nvSpPr>
        <p:spPr bwMode="auto">
          <a:xfrm>
            <a:off x="533400" y="5867400"/>
            <a:ext cx="762000" cy="3810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10800 h 21600"/>
              <a:gd name="T4" fmla="*/ 10800 w 21600"/>
              <a:gd name="T5" fmla="*/ 21600 h 21600"/>
              <a:gd name="T6" fmla="*/ 0 w 21600"/>
              <a:gd name="T7" fmla="*/ 10800 h 21600"/>
              <a:gd name="T8" fmla="*/ 686 w 21600"/>
              <a:gd name="T9" fmla="*/ 23059 h 21600"/>
              <a:gd name="T10" fmla="*/ 21005 w 21600"/>
              <a:gd name="T11" fmla="*/ 3050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2563" y="12259"/>
                </a:moveTo>
                <a:lnTo>
                  <a:pt x="2563" y="12843"/>
                </a:lnTo>
                <a:lnTo>
                  <a:pt x="2746" y="13427"/>
                </a:lnTo>
                <a:lnTo>
                  <a:pt x="2929" y="14303"/>
                </a:lnTo>
                <a:lnTo>
                  <a:pt x="3112" y="14886"/>
                </a:lnTo>
                <a:lnTo>
                  <a:pt x="3478" y="15470"/>
                </a:lnTo>
                <a:lnTo>
                  <a:pt x="3844" y="16054"/>
                </a:lnTo>
                <a:lnTo>
                  <a:pt x="4393" y="16638"/>
                </a:lnTo>
                <a:lnTo>
                  <a:pt x="4942" y="17222"/>
                </a:lnTo>
                <a:lnTo>
                  <a:pt x="5492" y="17514"/>
                </a:lnTo>
                <a:lnTo>
                  <a:pt x="6224" y="18097"/>
                </a:lnTo>
                <a:lnTo>
                  <a:pt x="6773" y="18389"/>
                </a:lnTo>
                <a:lnTo>
                  <a:pt x="7505" y="18681"/>
                </a:lnTo>
                <a:lnTo>
                  <a:pt x="8237" y="18973"/>
                </a:lnTo>
                <a:lnTo>
                  <a:pt x="9153" y="18973"/>
                </a:lnTo>
                <a:lnTo>
                  <a:pt x="9885" y="19265"/>
                </a:lnTo>
                <a:lnTo>
                  <a:pt x="10800" y="19265"/>
                </a:lnTo>
                <a:lnTo>
                  <a:pt x="11532" y="19265"/>
                </a:lnTo>
                <a:lnTo>
                  <a:pt x="12447" y="18973"/>
                </a:lnTo>
                <a:lnTo>
                  <a:pt x="13180" y="18973"/>
                </a:lnTo>
                <a:lnTo>
                  <a:pt x="13912" y="18681"/>
                </a:lnTo>
                <a:lnTo>
                  <a:pt x="14644" y="18389"/>
                </a:lnTo>
                <a:lnTo>
                  <a:pt x="15376" y="18097"/>
                </a:lnTo>
                <a:lnTo>
                  <a:pt x="16108" y="17514"/>
                </a:lnTo>
                <a:lnTo>
                  <a:pt x="16658" y="17222"/>
                </a:lnTo>
                <a:lnTo>
                  <a:pt x="17207" y="16638"/>
                </a:lnTo>
                <a:lnTo>
                  <a:pt x="17573" y="16054"/>
                </a:lnTo>
                <a:lnTo>
                  <a:pt x="18122" y="15470"/>
                </a:lnTo>
                <a:lnTo>
                  <a:pt x="18305" y="14886"/>
                </a:lnTo>
                <a:lnTo>
                  <a:pt x="18671" y="14303"/>
                </a:lnTo>
                <a:lnTo>
                  <a:pt x="18854" y="13427"/>
                </a:lnTo>
                <a:lnTo>
                  <a:pt x="19037" y="12843"/>
                </a:lnTo>
                <a:lnTo>
                  <a:pt x="19037" y="12259"/>
                </a:lnTo>
                <a:lnTo>
                  <a:pt x="2563" y="12259"/>
                </a:lnTo>
                <a:close/>
              </a:path>
              <a:path w="21600" h="21600" extrusionOk="0">
                <a:moveTo>
                  <a:pt x="2563" y="12259"/>
                </a:moveTo>
                <a:lnTo>
                  <a:pt x="9153" y="12259"/>
                </a:lnTo>
                <a:lnTo>
                  <a:pt x="9153" y="12551"/>
                </a:lnTo>
                <a:lnTo>
                  <a:pt x="9336" y="12843"/>
                </a:lnTo>
                <a:lnTo>
                  <a:pt x="9519" y="13135"/>
                </a:lnTo>
                <a:lnTo>
                  <a:pt x="9702" y="13135"/>
                </a:lnTo>
                <a:lnTo>
                  <a:pt x="9885" y="13427"/>
                </a:lnTo>
                <a:lnTo>
                  <a:pt x="10068" y="13719"/>
                </a:lnTo>
                <a:lnTo>
                  <a:pt x="10434" y="13719"/>
                </a:lnTo>
                <a:lnTo>
                  <a:pt x="10800" y="13719"/>
                </a:lnTo>
                <a:lnTo>
                  <a:pt x="10983" y="13719"/>
                </a:lnTo>
                <a:lnTo>
                  <a:pt x="11349" y="13719"/>
                </a:lnTo>
                <a:lnTo>
                  <a:pt x="11715" y="13427"/>
                </a:lnTo>
                <a:lnTo>
                  <a:pt x="11898" y="13135"/>
                </a:lnTo>
                <a:lnTo>
                  <a:pt x="12081" y="13135"/>
                </a:lnTo>
                <a:lnTo>
                  <a:pt x="12264" y="12843"/>
                </a:lnTo>
                <a:lnTo>
                  <a:pt x="12264" y="12551"/>
                </a:lnTo>
                <a:lnTo>
                  <a:pt x="12264" y="12259"/>
                </a:lnTo>
                <a:lnTo>
                  <a:pt x="9153" y="12259"/>
                </a:lnTo>
                <a:close/>
              </a:path>
              <a:path w="21600" h="21600" extrusionOk="0">
                <a:moveTo>
                  <a:pt x="21600" y="7589"/>
                </a:moveTo>
                <a:lnTo>
                  <a:pt x="17756" y="0"/>
                </a:lnTo>
                <a:lnTo>
                  <a:pt x="10800" y="0"/>
                </a:lnTo>
                <a:lnTo>
                  <a:pt x="3844" y="0"/>
                </a:lnTo>
                <a:lnTo>
                  <a:pt x="0" y="7589"/>
                </a:lnTo>
                <a:lnTo>
                  <a:pt x="0" y="10800"/>
                </a:lnTo>
                <a:lnTo>
                  <a:pt x="0" y="18097"/>
                </a:lnTo>
                <a:lnTo>
                  <a:pt x="1464" y="18097"/>
                </a:lnTo>
                <a:lnTo>
                  <a:pt x="1464" y="21600"/>
                </a:lnTo>
                <a:lnTo>
                  <a:pt x="10800" y="21600"/>
                </a:lnTo>
                <a:lnTo>
                  <a:pt x="19953" y="21600"/>
                </a:lnTo>
                <a:lnTo>
                  <a:pt x="19953" y="18097"/>
                </a:lnTo>
                <a:lnTo>
                  <a:pt x="21600" y="18097"/>
                </a:lnTo>
                <a:lnTo>
                  <a:pt x="21600" y="11092"/>
                </a:lnTo>
                <a:lnTo>
                  <a:pt x="21600" y="7589"/>
                </a:lnTo>
              </a:path>
              <a:path w="21600" h="21600" extrusionOk="0">
                <a:moveTo>
                  <a:pt x="1647" y="18097"/>
                </a:moveTo>
                <a:lnTo>
                  <a:pt x="6407" y="18097"/>
                </a:lnTo>
                <a:moveTo>
                  <a:pt x="19953" y="18097"/>
                </a:moveTo>
                <a:lnTo>
                  <a:pt x="15010" y="18097"/>
                </a:lnTo>
                <a:moveTo>
                  <a:pt x="0" y="7589"/>
                </a:moveTo>
                <a:lnTo>
                  <a:pt x="21417" y="7589"/>
                </a:lnTo>
                <a:lnTo>
                  <a:pt x="21600" y="7589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1" name="monitor"/>
          <p:cNvSpPr>
            <a:spLocks noEditPoints="1" noChangeArrowheads="1"/>
          </p:cNvSpPr>
          <p:nvPr/>
        </p:nvSpPr>
        <p:spPr bwMode="auto">
          <a:xfrm>
            <a:off x="2209800" y="5181600"/>
            <a:ext cx="1065213" cy="1143000"/>
          </a:xfrm>
          <a:custGeom>
            <a:avLst/>
            <a:gdLst>
              <a:gd name="T0" fmla="*/ 6837 w 21600"/>
              <a:gd name="T1" fmla="*/ 21600 h 21600"/>
              <a:gd name="T2" fmla="*/ 3108 w 21600"/>
              <a:gd name="T3" fmla="*/ 19849 h 21600"/>
              <a:gd name="T4" fmla="*/ 0 w 21600"/>
              <a:gd name="T5" fmla="*/ 15178 h 21600"/>
              <a:gd name="T6" fmla="*/ 0 w 21600"/>
              <a:gd name="T7" fmla="*/ 10508 h 21600"/>
              <a:gd name="T8" fmla="*/ 0 w 21600"/>
              <a:gd name="T9" fmla="*/ 3941 h 21600"/>
              <a:gd name="T10" fmla="*/ 8081 w 21600"/>
              <a:gd name="T11" fmla="*/ 1168 h 21600"/>
              <a:gd name="T12" fmla="*/ 17871 w 21600"/>
              <a:gd name="T13" fmla="*/ 0 h 21600"/>
              <a:gd name="T14" fmla="*/ 21600 w 21600"/>
              <a:gd name="T15" fmla="*/ 1751 h 21600"/>
              <a:gd name="T16" fmla="*/ 21600 w 21600"/>
              <a:gd name="T17" fmla="*/ 10508 h 21600"/>
              <a:gd name="T18" fmla="*/ 21600 w 21600"/>
              <a:gd name="T19" fmla="*/ 16346 h 21600"/>
              <a:gd name="T20" fmla="*/ 10722 w 21600"/>
              <a:gd name="T21" fmla="*/ 20286 h 21600"/>
              <a:gd name="T22" fmla="*/ 1204 w 21600"/>
              <a:gd name="T23" fmla="*/ 22548 h 21600"/>
              <a:gd name="T24" fmla="*/ 20706 w 21600"/>
              <a:gd name="T25" fmla="*/ 283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T22" t="T23" r="T24" b="T25"/>
            <a:pathLst>
              <a:path w="21600" h="21600" extrusionOk="0">
                <a:moveTo>
                  <a:pt x="6837" y="21600"/>
                </a:moveTo>
                <a:lnTo>
                  <a:pt x="3108" y="19849"/>
                </a:lnTo>
                <a:lnTo>
                  <a:pt x="3108" y="17659"/>
                </a:lnTo>
                <a:lnTo>
                  <a:pt x="0" y="15178"/>
                </a:lnTo>
                <a:lnTo>
                  <a:pt x="0" y="10508"/>
                </a:lnTo>
                <a:lnTo>
                  <a:pt x="0" y="3941"/>
                </a:lnTo>
                <a:lnTo>
                  <a:pt x="8081" y="1168"/>
                </a:lnTo>
                <a:lnTo>
                  <a:pt x="10722" y="1605"/>
                </a:lnTo>
                <a:lnTo>
                  <a:pt x="12587" y="1751"/>
                </a:lnTo>
                <a:lnTo>
                  <a:pt x="17871" y="0"/>
                </a:lnTo>
                <a:lnTo>
                  <a:pt x="21600" y="1751"/>
                </a:lnTo>
                <a:lnTo>
                  <a:pt x="21600" y="10508"/>
                </a:lnTo>
                <a:lnTo>
                  <a:pt x="21600" y="16346"/>
                </a:lnTo>
                <a:lnTo>
                  <a:pt x="10722" y="20286"/>
                </a:lnTo>
                <a:lnTo>
                  <a:pt x="6837" y="21600"/>
                </a:lnTo>
                <a:close/>
              </a:path>
              <a:path w="21600" h="21600" extrusionOk="0">
                <a:moveTo>
                  <a:pt x="3108" y="5254"/>
                </a:moveTo>
                <a:lnTo>
                  <a:pt x="2642" y="4962"/>
                </a:lnTo>
                <a:lnTo>
                  <a:pt x="777" y="4232"/>
                </a:lnTo>
                <a:lnTo>
                  <a:pt x="155" y="3941"/>
                </a:lnTo>
                <a:moveTo>
                  <a:pt x="6837" y="7005"/>
                </a:moveTo>
                <a:lnTo>
                  <a:pt x="6216" y="6714"/>
                </a:lnTo>
                <a:lnTo>
                  <a:pt x="3885" y="5546"/>
                </a:lnTo>
                <a:lnTo>
                  <a:pt x="3108" y="5254"/>
                </a:lnTo>
                <a:moveTo>
                  <a:pt x="19735" y="14595"/>
                </a:moveTo>
                <a:lnTo>
                  <a:pt x="19735" y="4816"/>
                </a:lnTo>
                <a:lnTo>
                  <a:pt x="9790" y="8319"/>
                </a:lnTo>
                <a:lnTo>
                  <a:pt x="9790" y="18243"/>
                </a:lnTo>
                <a:lnTo>
                  <a:pt x="19735" y="14595"/>
                </a:lnTo>
                <a:moveTo>
                  <a:pt x="3108" y="17659"/>
                </a:moveTo>
                <a:lnTo>
                  <a:pt x="3108" y="5254"/>
                </a:lnTo>
                <a:lnTo>
                  <a:pt x="12742" y="1751"/>
                </a:lnTo>
                <a:moveTo>
                  <a:pt x="21600" y="1751"/>
                </a:moveTo>
                <a:lnTo>
                  <a:pt x="6837" y="7005"/>
                </a:lnTo>
                <a:lnTo>
                  <a:pt x="6837" y="21600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2" name="printer2"/>
          <p:cNvSpPr>
            <a:spLocks noEditPoints="1" noChangeArrowheads="1"/>
          </p:cNvSpPr>
          <p:nvPr/>
        </p:nvSpPr>
        <p:spPr bwMode="auto">
          <a:xfrm>
            <a:off x="3429000" y="5791200"/>
            <a:ext cx="1250950" cy="533400"/>
          </a:xfrm>
          <a:custGeom>
            <a:avLst/>
            <a:gdLst>
              <a:gd name="T0" fmla="*/ 10673 w 21600"/>
              <a:gd name="T1" fmla="*/ 0 h 21600"/>
              <a:gd name="T2" fmla="*/ 19186 w 21600"/>
              <a:gd name="T3" fmla="*/ 0 h 21600"/>
              <a:gd name="T4" fmla="*/ 21600 w 21600"/>
              <a:gd name="T5" fmla="*/ 4703 h 21600"/>
              <a:gd name="T6" fmla="*/ 21600 w 21600"/>
              <a:gd name="T7" fmla="*/ 10800 h 21600"/>
              <a:gd name="T8" fmla="*/ 21600 w 21600"/>
              <a:gd name="T9" fmla="*/ 16548 h 21600"/>
              <a:gd name="T10" fmla="*/ 18042 w 21600"/>
              <a:gd name="T11" fmla="*/ 21600 h 21600"/>
              <a:gd name="T12" fmla="*/ 10673 w 21600"/>
              <a:gd name="T13" fmla="*/ 21600 h 21600"/>
              <a:gd name="T14" fmla="*/ 3176 w 21600"/>
              <a:gd name="T15" fmla="*/ 21600 h 21600"/>
              <a:gd name="T16" fmla="*/ 0 w 21600"/>
              <a:gd name="T17" fmla="*/ 16548 h 21600"/>
              <a:gd name="T18" fmla="*/ 0 w 21600"/>
              <a:gd name="T19" fmla="*/ 10800 h 21600"/>
              <a:gd name="T20" fmla="*/ 0 w 21600"/>
              <a:gd name="T21" fmla="*/ 4703 h 21600"/>
              <a:gd name="T22" fmla="*/ 2414 w 21600"/>
              <a:gd name="T23" fmla="*/ 0 h 21600"/>
              <a:gd name="T24" fmla="*/ 1397 w 21600"/>
              <a:gd name="T25" fmla="*/ 23298 h 21600"/>
              <a:gd name="T26" fmla="*/ 20266 w 21600"/>
              <a:gd name="T27" fmla="*/ 311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10673" y="0"/>
                </a:moveTo>
                <a:lnTo>
                  <a:pt x="19186" y="0"/>
                </a:lnTo>
                <a:lnTo>
                  <a:pt x="21600" y="4703"/>
                </a:lnTo>
                <a:lnTo>
                  <a:pt x="21600" y="10800"/>
                </a:lnTo>
                <a:lnTo>
                  <a:pt x="21600" y="16548"/>
                </a:lnTo>
                <a:lnTo>
                  <a:pt x="18042" y="16548"/>
                </a:lnTo>
                <a:lnTo>
                  <a:pt x="18042" y="21600"/>
                </a:lnTo>
                <a:lnTo>
                  <a:pt x="10673" y="21600"/>
                </a:lnTo>
                <a:lnTo>
                  <a:pt x="3176" y="21600"/>
                </a:lnTo>
                <a:lnTo>
                  <a:pt x="3176" y="16548"/>
                </a:lnTo>
                <a:lnTo>
                  <a:pt x="0" y="16548"/>
                </a:lnTo>
                <a:lnTo>
                  <a:pt x="0" y="10800"/>
                </a:lnTo>
                <a:lnTo>
                  <a:pt x="0" y="4703"/>
                </a:lnTo>
                <a:lnTo>
                  <a:pt x="2414" y="0"/>
                </a:lnTo>
                <a:lnTo>
                  <a:pt x="10673" y="0"/>
                </a:lnTo>
                <a:close/>
              </a:path>
              <a:path w="21600" h="21600" extrusionOk="0">
                <a:moveTo>
                  <a:pt x="0" y="4703"/>
                </a:moveTo>
                <a:lnTo>
                  <a:pt x="3558" y="4703"/>
                </a:lnTo>
                <a:lnTo>
                  <a:pt x="17026" y="4703"/>
                </a:lnTo>
                <a:lnTo>
                  <a:pt x="21600" y="4703"/>
                </a:lnTo>
                <a:lnTo>
                  <a:pt x="0" y="4703"/>
                </a:lnTo>
                <a:moveTo>
                  <a:pt x="16518" y="4703"/>
                </a:moveTo>
                <a:lnTo>
                  <a:pt x="16518" y="10452"/>
                </a:lnTo>
                <a:lnTo>
                  <a:pt x="0" y="10452"/>
                </a:lnTo>
                <a:moveTo>
                  <a:pt x="4320" y="16548"/>
                </a:moveTo>
                <a:lnTo>
                  <a:pt x="4320" y="17419"/>
                </a:lnTo>
                <a:lnTo>
                  <a:pt x="4320" y="20555"/>
                </a:lnTo>
                <a:lnTo>
                  <a:pt x="4320" y="21600"/>
                </a:lnTo>
                <a:lnTo>
                  <a:pt x="4320" y="16548"/>
                </a:lnTo>
                <a:moveTo>
                  <a:pt x="16899" y="16548"/>
                </a:moveTo>
                <a:lnTo>
                  <a:pt x="16899" y="17419"/>
                </a:lnTo>
                <a:lnTo>
                  <a:pt x="16899" y="20555"/>
                </a:lnTo>
                <a:lnTo>
                  <a:pt x="16899" y="21600"/>
                </a:lnTo>
                <a:lnTo>
                  <a:pt x="16899" y="16548"/>
                </a:lnTo>
                <a:moveTo>
                  <a:pt x="15247" y="14981"/>
                </a:moveTo>
                <a:lnTo>
                  <a:pt x="15247" y="10452"/>
                </a:lnTo>
                <a:lnTo>
                  <a:pt x="16899" y="16548"/>
                </a:lnTo>
                <a:lnTo>
                  <a:pt x="18042" y="16548"/>
                </a:lnTo>
                <a:lnTo>
                  <a:pt x="16518" y="10452"/>
                </a:lnTo>
                <a:moveTo>
                  <a:pt x="15247" y="14981"/>
                </a:moveTo>
                <a:lnTo>
                  <a:pt x="15247" y="14981"/>
                </a:lnTo>
                <a:lnTo>
                  <a:pt x="16772" y="17942"/>
                </a:lnTo>
                <a:lnTo>
                  <a:pt x="4447" y="17942"/>
                </a:lnTo>
                <a:lnTo>
                  <a:pt x="5972" y="14981"/>
                </a:lnTo>
                <a:lnTo>
                  <a:pt x="5972" y="10452"/>
                </a:lnTo>
                <a:lnTo>
                  <a:pt x="4320" y="16548"/>
                </a:lnTo>
                <a:lnTo>
                  <a:pt x="3176" y="16548"/>
                </a:lnTo>
                <a:lnTo>
                  <a:pt x="4701" y="10452"/>
                </a:lnTo>
                <a:moveTo>
                  <a:pt x="20202" y="5574"/>
                </a:moveTo>
                <a:lnTo>
                  <a:pt x="20711" y="5574"/>
                </a:lnTo>
                <a:lnTo>
                  <a:pt x="20711" y="7839"/>
                </a:lnTo>
                <a:lnTo>
                  <a:pt x="20202" y="7839"/>
                </a:lnTo>
                <a:lnTo>
                  <a:pt x="20202" y="5574"/>
                </a:lnTo>
                <a:moveTo>
                  <a:pt x="5972" y="14981"/>
                </a:moveTo>
                <a:lnTo>
                  <a:pt x="7496" y="14981"/>
                </a:lnTo>
                <a:lnTo>
                  <a:pt x="13341" y="14981"/>
                </a:lnTo>
                <a:lnTo>
                  <a:pt x="15247" y="1498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3" name="tower"/>
          <p:cNvSpPr>
            <a:spLocks noEditPoints="1" noChangeArrowheads="1"/>
          </p:cNvSpPr>
          <p:nvPr/>
        </p:nvSpPr>
        <p:spPr bwMode="auto">
          <a:xfrm>
            <a:off x="4953000" y="5181600"/>
            <a:ext cx="604838" cy="111760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pic>
        <p:nvPicPr>
          <p:cNvPr id="14" name="Picture 4" descr="C:\Users\rhk\AppData\Local\Microsoft\Windows\Temporary Internet Files\Content.IE5\P0TC36KP\MCj03984470000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791200"/>
            <a:ext cx="8382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5" descr="C:\Users\rhk\AppData\Local\Microsoft\Windows\Temporary Internet Files\Content.IE5\6WDTZ2I7\MCj03984450000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715000"/>
            <a:ext cx="725488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5"/>
          <p:cNvSpPr>
            <a:spLocks noChangeArrowheads="1"/>
          </p:cNvSpPr>
          <p:nvPr/>
        </p:nvSpPr>
        <p:spPr bwMode="auto">
          <a:xfrm>
            <a:off x="304800" y="4648200"/>
            <a:ext cx="8382000" cy="1828800"/>
          </a:xfrm>
          <a:prstGeom prst="rect">
            <a:avLst/>
          </a:prstGeom>
          <a:solidFill>
            <a:srgbClr val="FFFFCC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anchor="ctr"/>
          <a:lstStyle/>
          <a:p>
            <a:r>
              <a:rPr lang="en-US" sz="2400" b="1">
                <a:latin typeface="Arial" charset="0"/>
              </a:rPr>
              <a:t>My Computer</a:t>
            </a: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  <a:p>
            <a:endParaRPr lang="en-US">
              <a:latin typeface="Arial" charset="0"/>
            </a:endParaRPr>
          </a:p>
        </p:txBody>
      </p:sp>
      <p:sp>
        <p:nvSpPr>
          <p:cNvPr id="256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What is an operating system and why do I need one?</a:t>
            </a:r>
          </a:p>
        </p:txBody>
      </p:sp>
      <p:sp>
        <p:nvSpPr>
          <p:cNvPr id="2560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What do we have?</a:t>
            </a:r>
          </a:p>
          <a:p>
            <a:pPr lvl="1"/>
            <a:r>
              <a:rPr lang="en-US">
                <a:latin typeface="Arial" charset="0"/>
              </a:rPr>
              <a:t>Set of common resources</a:t>
            </a:r>
          </a:p>
          <a:p>
            <a:r>
              <a:rPr lang="en-US">
                <a:latin typeface="Arial" charset="0"/>
              </a:rPr>
              <a:t>What do we need?</a:t>
            </a:r>
          </a:p>
        </p:txBody>
      </p:sp>
      <p:sp>
        <p:nvSpPr>
          <p:cNvPr id="25605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560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CD7013B1-3CD7-DB48-81A2-EFB92FE032EA}" type="slidenum">
              <a:rPr lang="en-US"/>
              <a:pPr/>
              <a:t>16</a:t>
            </a:fld>
            <a:endParaRPr lang="en-US"/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381000" y="5105400"/>
            <a:ext cx="52578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Text Box 15"/>
          <p:cNvSpPr txBox="1">
            <a:spLocks noChangeArrowheads="1"/>
          </p:cNvSpPr>
          <p:nvPr/>
        </p:nvSpPr>
        <p:spPr bwMode="auto">
          <a:xfrm>
            <a:off x="381000" y="5105400"/>
            <a:ext cx="15890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latin typeface="+mn-lt"/>
                <a:ea typeface="Tahoma" pitchFamily="34" charset="0"/>
                <a:cs typeface="Tahoma" pitchFamily="34" charset="0"/>
              </a:rPr>
              <a:t>Hardware</a:t>
            </a:r>
          </a:p>
        </p:txBody>
      </p: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5867400" y="5105400"/>
            <a:ext cx="27432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5867400" y="5105400"/>
            <a:ext cx="1400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Tahoma" pitchFamily="34" charset="0"/>
                <a:cs typeface="Tahoma" pitchFamily="34" charset="0"/>
              </a:rPr>
              <a:t>Network</a:t>
            </a:r>
          </a:p>
        </p:txBody>
      </p:sp>
      <p:sp>
        <p:nvSpPr>
          <p:cNvPr id="10" name="cddrive"/>
          <p:cNvSpPr>
            <a:spLocks noEditPoints="1" noChangeArrowheads="1"/>
          </p:cNvSpPr>
          <p:nvPr/>
        </p:nvSpPr>
        <p:spPr bwMode="auto">
          <a:xfrm>
            <a:off x="533400" y="5867400"/>
            <a:ext cx="762000" cy="3810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10800 h 21600"/>
              <a:gd name="T4" fmla="*/ 10800 w 21600"/>
              <a:gd name="T5" fmla="*/ 21600 h 21600"/>
              <a:gd name="T6" fmla="*/ 0 w 21600"/>
              <a:gd name="T7" fmla="*/ 10800 h 21600"/>
              <a:gd name="T8" fmla="*/ 686 w 21600"/>
              <a:gd name="T9" fmla="*/ 23059 h 21600"/>
              <a:gd name="T10" fmla="*/ 21005 w 21600"/>
              <a:gd name="T11" fmla="*/ 3050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2563" y="12259"/>
                </a:moveTo>
                <a:lnTo>
                  <a:pt x="2563" y="12843"/>
                </a:lnTo>
                <a:lnTo>
                  <a:pt x="2746" y="13427"/>
                </a:lnTo>
                <a:lnTo>
                  <a:pt x="2929" y="14303"/>
                </a:lnTo>
                <a:lnTo>
                  <a:pt x="3112" y="14886"/>
                </a:lnTo>
                <a:lnTo>
                  <a:pt x="3478" y="15470"/>
                </a:lnTo>
                <a:lnTo>
                  <a:pt x="3844" y="16054"/>
                </a:lnTo>
                <a:lnTo>
                  <a:pt x="4393" y="16638"/>
                </a:lnTo>
                <a:lnTo>
                  <a:pt x="4942" y="17222"/>
                </a:lnTo>
                <a:lnTo>
                  <a:pt x="5492" y="17514"/>
                </a:lnTo>
                <a:lnTo>
                  <a:pt x="6224" y="18097"/>
                </a:lnTo>
                <a:lnTo>
                  <a:pt x="6773" y="18389"/>
                </a:lnTo>
                <a:lnTo>
                  <a:pt x="7505" y="18681"/>
                </a:lnTo>
                <a:lnTo>
                  <a:pt x="8237" y="18973"/>
                </a:lnTo>
                <a:lnTo>
                  <a:pt x="9153" y="18973"/>
                </a:lnTo>
                <a:lnTo>
                  <a:pt x="9885" y="19265"/>
                </a:lnTo>
                <a:lnTo>
                  <a:pt x="10800" y="19265"/>
                </a:lnTo>
                <a:lnTo>
                  <a:pt x="11532" y="19265"/>
                </a:lnTo>
                <a:lnTo>
                  <a:pt x="12447" y="18973"/>
                </a:lnTo>
                <a:lnTo>
                  <a:pt x="13180" y="18973"/>
                </a:lnTo>
                <a:lnTo>
                  <a:pt x="13912" y="18681"/>
                </a:lnTo>
                <a:lnTo>
                  <a:pt x="14644" y="18389"/>
                </a:lnTo>
                <a:lnTo>
                  <a:pt x="15376" y="18097"/>
                </a:lnTo>
                <a:lnTo>
                  <a:pt x="16108" y="17514"/>
                </a:lnTo>
                <a:lnTo>
                  <a:pt x="16658" y="17222"/>
                </a:lnTo>
                <a:lnTo>
                  <a:pt x="17207" y="16638"/>
                </a:lnTo>
                <a:lnTo>
                  <a:pt x="17573" y="16054"/>
                </a:lnTo>
                <a:lnTo>
                  <a:pt x="18122" y="15470"/>
                </a:lnTo>
                <a:lnTo>
                  <a:pt x="18305" y="14886"/>
                </a:lnTo>
                <a:lnTo>
                  <a:pt x="18671" y="14303"/>
                </a:lnTo>
                <a:lnTo>
                  <a:pt x="18854" y="13427"/>
                </a:lnTo>
                <a:lnTo>
                  <a:pt x="19037" y="12843"/>
                </a:lnTo>
                <a:lnTo>
                  <a:pt x="19037" y="12259"/>
                </a:lnTo>
                <a:lnTo>
                  <a:pt x="2563" y="12259"/>
                </a:lnTo>
                <a:close/>
              </a:path>
              <a:path w="21600" h="21600" extrusionOk="0">
                <a:moveTo>
                  <a:pt x="2563" y="12259"/>
                </a:moveTo>
                <a:lnTo>
                  <a:pt x="9153" y="12259"/>
                </a:lnTo>
                <a:lnTo>
                  <a:pt x="9153" y="12551"/>
                </a:lnTo>
                <a:lnTo>
                  <a:pt x="9336" y="12843"/>
                </a:lnTo>
                <a:lnTo>
                  <a:pt x="9519" y="13135"/>
                </a:lnTo>
                <a:lnTo>
                  <a:pt x="9702" y="13135"/>
                </a:lnTo>
                <a:lnTo>
                  <a:pt x="9885" y="13427"/>
                </a:lnTo>
                <a:lnTo>
                  <a:pt x="10068" y="13719"/>
                </a:lnTo>
                <a:lnTo>
                  <a:pt x="10434" y="13719"/>
                </a:lnTo>
                <a:lnTo>
                  <a:pt x="10800" y="13719"/>
                </a:lnTo>
                <a:lnTo>
                  <a:pt x="10983" y="13719"/>
                </a:lnTo>
                <a:lnTo>
                  <a:pt x="11349" y="13719"/>
                </a:lnTo>
                <a:lnTo>
                  <a:pt x="11715" y="13427"/>
                </a:lnTo>
                <a:lnTo>
                  <a:pt x="11898" y="13135"/>
                </a:lnTo>
                <a:lnTo>
                  <a:pt x="12081" y="13135"/>
                </a:lnTo>
                <a:lnTo>
                  <a:pt x="12264" y="12843"/>
                </a:lnTo>
                <a:lnTo>
                  <a:pt x="12264" y="12551"/>
                </a:lnTo>
                <a:lnTo>
                  <a:pt x="12264" y="12259"/>
                </a:lnTo>
                <a:lnTo>
                  <a:pt x="9153" y="12259"/>
                </a:lnTo>
                <a:close/>
              </a:path>
              <a:path w="21600" h="21600" extrusionOk="0">
                <a:moveTo>
                  <a:pt x="21600" y="7589"/>
                </a:moveTo>
                <a:lnTo>
                  <a:pt x="17756" y="0"/>
                </a:lnTo>
                <a:lnTo>
                  <a:pt x="10800" y="0"/>
                </a:lnTo>
                <a:lnTo>
                  <a:pt x="3844" y="0"/>
                </a:lnTo>
                <a:lnTo>
                  <a:pt x="0" y="7589"/>
                </a:lnTo>
                <a:lnTo>
                  <a:pt x="0" y="10800"/>
                </a:lnTo>
                <a:lnTo>
                  <a:pt x="0" y="18097"/>
                </a:lnTo>
                <a:lnTo>
                  <a:pt x="1464" y="18097"/>
                </a:lnTo>
                <a:lnTo>
                  <a:pt x="1464" y="21600"/>
                </a:lnTo>
                <a:lnTo>
                  <a:pt x="10800" y="21600"/>
                </a:lnTo>
                <a:lnTo>
                  <a:pt x="19953" y="21600"/>
                </a:lnTo>
                <a:lnTo>
                  <a:pt x="19953" y="18097"/>
                </a:lnTo>
                <a:lnTo>
                  <a:pt x="21600" y="18097"/>
                </a:lnTo>
                <a:lnTo>
                  <a:pt x="21600" y="11092"/>
                </a:lnTo>
                <a:lnTo>
                  <a:pt x="21600" y="7589"/>
                </a:lnTo>
              </a:path>
              <a:path w="21600" h="21600" extrusionOk="0">
                <a:moveTo>
                  <a:pt x="1647" y="18097"/>
                </a:moveTo>
                <a:lnTo>
                  <a:pt x="6407" y="18097"/>
                </a:lnTo>
                <a:moveTo>
                  <a:pt x="19953" y="18097"/>
                </a:moveTo>
                <a:lnTo>
                  <a:pt x="15010" y="18097"/>
                </a:lnTo>
                <a:moveTo>
                  <a:pt x="0" y="7589"/>
                </a:moveTo>
                <a:lnTo>
                  <a:pt x="21417" y="7589"/>
                </a:lnTo>
                <a:lnTo>
                  <a:pt x="21600" y="7589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1" name="monitor"/>
          <p:cNvSpPr>
            <a:spLocks noEditPoints="1" noChangeArrowheads="1"/>
          </p:cNvSpPr>
          <p:nvPr/>
        </p:nvSpPr>
        <p:spPr bwMode="auto">
          <a:xfrm>
            <a:off x="2209800" y="5181600"/>
            <a:ext cx="1065213" cy="1143000"/>
          </a:xfrm>
          <a:custGeom>
            <a:avLst/>
            <a:gdLst>
              <a:gd name="T0" fmla="*/ 6837 w 21600"/>
              <a:gd name="T1" fmla="*/ 21600 h 21600"/>
              <a:gd name="T2" fmla="*/ 3108 w 21600"/>
              <a:gd name="T3" fmla="*/ 19849 h 21600"/>
              <a:gd name="T4" fmla="*/ 0 w 21600"/>
              <a:gd name="T5" fmla="*/ 15178 h 21600"/>
              <a:gd name="T6" fmla="*/ 0 w 21600"/>
              <a:gd name="T7" fmla="*/ 10508 h 21600"/>
              <a:gd name="T8" fmla="*/ 0 w 21600"/>
              <a:gd name="T9" fmla="*/ 3941 h 21600"/>
              <a:gd name="T10" fmla="*/ 8081 w 21600"/>
              <a:gd name="T11" fmla="*/ 1168 h 21600"/>
              <a:gd name="T12" fmla="*/ 17871 w 21600"/>
              <a:gd name="T13" fmla="*/ 0 h 21600"/>
              <a:gd name="T14" fmla="*/ 21600 w 21600"/>
              <a:gd name="T15" fmla="*/ 1751 h 21600"/>
              <a:gd name="T16" fmla="*/ 21600 w 21600"/>
              <a:gd name="T17" fmla="*/ 10508 h 21600"/>
              <a:gd name="T18" fmla="*/ 21600 w 21600"/>
              <a:gd name="T19" fmla="*/ 16346 h 21600"/>
              <a:gd name="T20" fmla="*/ 10722 w 21600"/>
              <a:gd name="T21" fmla="*/ 20286 h 21600"/>
              <a:gd name="T22" fmla="*/ 1204 w 21600"/>
              <a:gd name="T23" fmla="*/ 22548 h 21600"/>
              <a:gd name="T24" fmla="*/ 20706 w 21600"/>
              <a:gd name="T25" fmla="*/ 283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T22" t="T23" r="T24" b="T25"/>
            <a:pathLst>
              <a:path w="21600" h="21600" extrusionOk="0">
                <a:moveTo>
                  <a:pt x="6837" y="21600"/>
                </a:moveTo>
                <a:lnTo>
                  <a:pt x="3108" y="19849"/>
                </a:lnTo>
                <a:lnTo>
                  <a:pt x="3108" y="17659"/>
                </a:lnTo>
                <a:lnTo>
                  <a:pt x="0" y="15178"/>
                </a:lnTo>
                <a:lnTo>
                  <a:pt x="0" y="10508"/>
                </a:lnTo>
                <a:lnTo>
                  <a:pt x="0" y="3941"/>
                </a:lnTo>
                <a:lnTo>
                  <a:pt x="8081" y="1168"/>
                </a:lnTo>
                <a:lnTo>
                  <a:pt x="10722" y="1605"/>
                </a:lnTo>
                <a:lnTo>
                  <a:pt x="12587" y="1751"/>
                </a:lnTo>
                <a:lnTo>
                  <a:pt x="17871" y="0"/>
                </a:lnTo>
                <a:lnTo>
                  <a:pt x="21600" y="1751"/>
                </a:lnTo>
                <a:lnTo>
                  <a:pt x="21600" y="10508"/>
                </a:lnTo>
                <a:lnTo>
                  <a:pt x="21600" y="16346"/>
                </a:lnTo>
                <a:lnTo>
                  <a:pt x="10722" y="20286"/>
                </a:lnTo>
                <a:lnTo>
                  <a:pt x="6837" y="21600"/>
                </a:lnTo>
                <a:close/>
              </a:path>
              <a:path w="21600" h="21600" extrusionOk="0">
                <a:moveTo>
                  <a:pt x="3108" y="5254"/>
                </a:moveTo>
                <a:lnTo>
                  <a:pt x="2642" y="4962"/>
                </a:lnTo>
                <a:lnTo>
                  <a:pt x="777" y="4232"/>
                </a:lnTo>
                <a:lnTo>
                  <a:pt x="155" y="3941"/>
                </a:lnTo>
                <a:moveTo>
                  <a:pt x="6837" y="7005"/>
                </a:moveTo>
                <a:lnTo>
                  <a:pt x="6216" y="6714"/>
                </a:lnTo>
                <a:lnTo>
                  <a:pt x="3885" y="5546"/>
                </a:lnTo>
                <a:lnTo>
                  <a:pt x="3108" y="5254"/>
                </a:lnTo>
                <a:moveTo>
                  <a:pt x="19735" y="14595"/>
                </a:moveTo>
                <a:lnTo>
                  <a:pt x="19735" y="4816"/>
                </a:lnTo>
                <a:lnTo>
                  <a:pt x="9790" y="8319"/>
                </a:lnTo>
                <a:lnTo>
                  <a:pt x="9790" y="18243"/>
                </a:lnTo>
                <a:lnTo>
                  <a:pt x="19735" y="14595"/>
                </a:lnTo>
                <a:moveTo>
                  <a:pt x="3108" y="17659"/>
                </a:moveTo>
                <a:lnTo>
                  <a:pt x="3108" y="5254"/>
                </a:lnTo>
                <a:lnTo>
                  <a:pt x="12742" y="1751"/>
                </a:lnTo>
                <a:moveTo>
                  <a:pt x="21600" y="1751"/>
                </a:moveTo>
                <a:lnTo>
                  <a:pt x="6837" y="7005"/>
                </a:lnTo>
                <a:lnTo>
                  <a:pt x="6837" y="21600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2" name="printer2"/>
          <p:cNvSpPr>
            <a:spLocks noEditPoints="1" noChangeArrowheads="1"/>
          </p:cNvSpPr>
          <p:nvPr/>
        </p:nvSpPr>
        <p:spPr bwMode="auto">
          <a:xfrm>
            <a:off x="3429000" y="5791200"/>
            <a:ext cx="1250950" cy="533400"/>
          </a:xfrm>
          <a:custGeom>
            <a:avLst/>
            <a:gdLst>
              <a:gd name="T0" fmla="*/ 10673 w 21600"/>
              <a:gd name="T1" fmla="*/ 0 h 21600"/>
              <a:gd name="T2" fmla="*/ 19186 w 21600"/>
              <a:gd name="T3" fmla="*/ 0 h 21600"/>
              <a:gd name="T4" fmla="*/ 21600 w 21600"/>
              <a:gd name="T5" fmla="*/ 4703 h 21600"/>
              <a:gd name="T6" fmla="*/ 21600 w 21600"/>
              <a:gd name="T7" fmla="*/ 10800 h 21600"/>
              <a:gd name="T8" fmla="*/ 21600 w 21600"/>
              <a:gd name="T9" fmla="*/ 16548 h 21600"/>
              <a:gd name="T10" fmla="*/ 18042 w 21600"/>
              <a:gd name="T11" fmla="*/ 21600 h 21600"/>
              <a:gd name="T12" fmla="*/ 10673 w 21600"/>
              <a:gd name="T13" fmla="*/ 21600 h 21600"/>
              <a:gd name="T14" fmla="*/ 3176 w 21600"/>
              <a:gd name="T15" fmla="*/ 21600 h 21600"/>
              <a:gd name="T16" fmla="*/ 0 w 21600"/>
              <a:gd name="T17" fmla="*/ 16548 h 21600"/>
              <a:gd name="T18" fmla="*/ 0 w 21600"/>
              <a:gd name="T19" fmla="*/ 10800 h 21600"/>
              <a:gd name="T20" fmla="*/ 0 w 21600"/>
              <a:gd name="T21" fmla="*/ 4703 h 21600"/>
              <a:gd name="T22" fmla="*/ 2414 w 21600"/>
              <a:gd name="T23" fmla="*/ 0 h 21600"/>
              <a:gd name="T24" fmla="*/ 1397 w 21600"/>
              <a:gd name="T25" fmla="*/ 23298 h 21600"/>
              <a:gd name="T26" fmla="*/ 20266 w 21600"/>
              <a:gd name="T27" fmla="*/ 311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10673" y="0"/>
                </a:moveTo>
                <a:lnTo>
                  <a:pt x="19186" y="0"/>
                </a:lnTo>
                <a:lnTo>
                  <a:pt x="21600" y="4703"/>
                </a:lnTo>
                <a:lnTo>
                  <a:pt x="21600" y="10800"/>
                </a:lnTo>
                <a:lnTo>
                  <a:pt x="21600" y="16548"/>
                </a:lnTo>
                <a:lnTo>
                  <a:pt x="18042" y="16548"/>
                </a:lnTo>
                <a:lnTo>
                  <a:pt x="18042" y="21600"/>
                </a:lnTo>
                <a:lnTo>
                  <a:pt x="10673" y="21600"/>
                </a:lnTo>
                <a:lnTo>
                  <a:pt x="3176" y="21600"/>
                </a:lnTo>
                <a:lnTo>
                  <a:pt x="3176" y="16548"/>
                </a:lnTo>
                <a:lnTo>
                  <a:pt x="0" y="16548"/>
                </a:lnTo>
                <a:lnTo>
                  <a:pt x="0" y="10800"/>
                </a:lnTo>
                <a:lnTo>
                  <a:pt x="0" y="4703"/>
                </a:lnTo>
                <a:lnTo>
                  <a:pt x="2414" y="0"/>
                </a:lnTo>
                <a:lnTo>
                  <a:pt x="10673" y="0"/>
                </a:lnTo>
                <a:close/>
              </a:path>
              <a:path w="21600" h="21600" extrusionOk="0">
                <a:moveTo>
                  <a:pt x="0" y="4703"/>
                </a:moveTo>
                <a:lnTo>
                  <a:pt x="3558" y="4703"/>
                </a:lnTo>
                <a:lnTo>
                  <a:pt x="17026" y="4703"/>
                </a:lnTo>
                <a:lnTo>
                  <a:pt x="21600" y="4703"/>
                </a:lnTo>
                <a:lnTo>
                  <a:pt x="0" y="4703"/>
                </a:lnTo>
                <a:moveTo>
                  <a:pt x="16518" y="4703"/>
                </a:moveTo>
                <a:lnTo>
                  <a:pt x="16518" y="10452"/>
                </a:lnTo>
                <a:lnTo>
                  <a:pt x="0" y="10452"/>
                </a:lnTo>
                <a:moveTo>
                  <a:pt x="4320" y="16548"/>
                </a:moveTo>
                <a:lnTo>
                  <a:pt x="4320" y="17419"/>
                </a:lnTo>
                <a:lnTo>
                  <a:pt x="4320" y="20555"/>
                </a:lnTo>
                <a:lnTo>
                  <a:pt x="4320" y="21600"/>
                </a:lnTo>
                <a:lnTo>
                  <a:pt x="4320" y="16548"/>
                </a:lnTo>
                <a:moveTo>
                  <a:pt x="16899" y="16548"/>
                </a:moveTo>
                <a:lnTo>
                  <a:pt x="16899" y="17419"/>
                </a:lnTo>
                <a:lnTo>
                  <a:pt x="16899" y="20555"/>
                </a:lnTo>
                <a:lnTo>
                  <a:pt x="16899" y="21600"/>
                </a:lnTo>
                <a:lnTo>
                  <a:pt x="16899" y="16548"/>
                </a:lnTo>
                <a:moveTo>
                  <a:pt x="15247" y="14981"/>
                </a:moveTo>
                <a:lnTo>
                  <a:pt x="15247" y="10452"/>
                </a:lnTo>
                <a:lnTo>
                  <a:pt x="16899" y="16548"/>
                </a:lnTo>
                <a:lnTo>
                  <a:pt x="18042" y="16548"/>
                </a:lnTo>
                <a:lnTo>
                  <a:pt x="16518" y="10452"/>
                </a:lnTo>
                <a:moveTo>
                  <a:pt x="15247" y="14981"/>
                </a:moveTo>
                <a:lnTo>
                  <a:pt x="15247" y="14981"/>
                </a:lnTo>
                <a:lnTo>
                  <a:pt x="16772" y="17942"/>
                </a:lnTo>
                <a:lnTo>
                  <a:pt x="4447" y="17942"/>
                </a:lnTo>
                <a:lnTo>
                  <a:pt x="5972" y="14981"/>
                </a:lnTo>
                <a:lnTo>
                  <a:pt x="5972" y="10452"/>
                </a:lnTo>
                <a:lnTo>
                  <a:pt x="4320" y="16548"/>
                </a:lnTo>
                <a:lnTo>
                  <a:pt x="3176" y="16548"/>
                </a:lnTo>
                <a:lnTo>
                  <a:pt x="4701" y="10452"/>
                </a:lnTo>
                <a:moveTo>
                  <a:pt x="20202" y="5574"/>
                </a:moveTo>
                <a:lnTo>
                  <a:pt x="20711" y="5574"/>
                </a:lnTo>
                <a:lnTo>
                  <a:pt x="20711" y="7839"/>
                </a:lnTo>
                <a:lnTo>
                  <a:pt x="20202" y="7839"/>
                </a:lnTo>
                <a:lnTo>
                  <a:pt x="20202" y="5574"/>
                </a:lnTo>
                <a:moveTo>
                  <a:pt x="5972" y="14981"/>
                </a:moveTo>
                <a:lnTo>
                  <a:pt x="7496" y="14981"/>
                </a:lnTo>
                <a:lnTo>
                  <a:pt x="13341" y="14981"/>
                </a:lnTo>
                <a:lnTo>
                  <a:pt x="15247" y="1498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3" name="tower"/>
          <p:cNvSpPr>
            <a:spLocks noEditPoints="1" noChangeArrowheads="1"/>
          </p:cNvSpPr>
          <p:nvPr/>
        </p:nvSpPr>
        <p:spPr bwMode="auto">
          <a:xfrm>
            <a:off x="4953000" y="5181600"/>
            <a:ext cx="604838" cy="111760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pic>
        <p:nvPicPr>
          <p:cNvPr id="25615" name="Picture 4" descr="C:\Users\rhk\AppData\Local\Microsoft\Windows\Temporary Internet Files\Content.IE5\P0TC36KP\MCj03984470000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791200"/>
            <a:ext cx="8382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16" name="Picture 5" descr="C:\Users\rhk\AppData\Local\Microsoft\Windows\Temporary Internet Files\Content.IE5\6WDTZ2I7\MCj03984450000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715000"/>
            <a:ext cx="725488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What is an operating system and why do I need one?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What do we have?</a:t>
            </a:r>
          </a:p>
          <a:p>
            <a:pPr lvl="1"/>
            <a:r>
              <a:rPr lang="en-US">
                <a:latin typeface="Arial" charset="0"/>
              </a:rPr>
              <a:t>Set of common resources</a:t>
            </a:r>
          </a:p>
          <a:p>
            <a:r>
              <a:rPr lang="en-US">
                <a:latin typeface="Arial" charset="0"/>
              </a:rPr>
              <a:t>What do we need?</a:t>
            </a:r>
          </a:p>
          <a:p>
            <a:pPr lvl="1"/>
            <a:r>
              <a:rPr lang="en-US">
                <a:latin typeface="Arial" charset="0"/>
              </a:rPr>
              <a:t>A clean way to allow applications to use these resources!</a:t>
            </a:r>
          </a:p>
        </p:txBody>
      </p:sp>
      <p:sp>
        <p:nvSpPr>
          <p:cNvPr id="2662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121D906-CADD-3A4C-A433-A7401CF2953A}" type="slidenum">
              <a:rPr lang="en-US"/>
              <a:pPr/>
              <a:t>17</a:t>
            </a:fld>
            <a:endParaRPr lang="en-US"/>
          </a:p>
        </p:txBody>
      </p:sp>
      <p:sp>
        <p:nvSpPr>
          <p:cNvPr id="6" name="Rectangle 14"/>
          <p:cNvSpPr>
            <a:spLocks noChangeArrowheads="1"/>
          </p:cNvSpPr>
          <p:nvPr/>
        </p:nvSpPr>
        <p:spPr bwMode="auto">
          <a:xfrm>
            <a:off x="381000" y="5105400"/>
            <a:ext cx="52578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7" name="Text Box 15"/>
          <p:cNvSpPr txBox="1">
            <a:spLocks noChangeArrowheads="1"/>
          </p:cNvSpPr>
          <p:nvPr/>
        </p:nvSpPr>
        <p:spPr bwMode="auto">
          <a:xfrm>
            <a:off x="381000" y="5105400"/>
            <a:ext cx="15890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latin typeface="+mn-lt"/>
                <a:ea typeface="Tahoma" pitchFamily="34" charset="0"/>
                <a:cs typeface="Tahoma" pitchFamily="34" charset="0"/>
              </a:rPr>
              <a:t>Hardware</a:t>
            </a:r>
          </a:p>
        </p:txBody>
      </p:sp>
      <p:sp>
        <p:nvSpPr>
          <p:cNvPr id="8" name="Rectangle 17"/>
          <p:cNvSpPr>
            <a:spLocks noChangeArrowheads="1"/>
          </p:cNvSpPr>
          <p:nvPr/>
        </p:nvSpPr>
        <p:spPr bwMode="auto">
          <a:xfrm>
            <a:off x="5867400" y="5105400"/>
            <a:ext cx="27432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5867400" y="5105400"/>
            <a:ext cx="1400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Tahoma" pitchFamily="34" charset="0"/>
                <a:cs typeface="Tahoma" pitchFamily="34" charset="0"/>
              </a:rPr>
              <a:t>Network</a:t>
            </a:r>
          </a:p>
        </p:txBody>
      </p:sp>
      <p:sp>
        <p:nvSpPr>
          <p:cNvPr id="10" name="cddrive"/>
          <p:cNvSpPr>
            <a:spLocks noEditPoints="1" noChangeArrowheads="1"/>
          </p:cNvSpPr>
          <p:nvPr/>
        </p:nvSpPr>
        <p:spPr bwMode="auto">
          <a:xfrm>
            <a:off x="533400" y="5867400"/>
            <a:ext cx="762000" cy="3810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10800 h 21600"/>
              <a:gd name="T4" fmla="*/ 10800 w 21600"/>
              <a:gd name="T5" fmla="*/ 21600 h 21600"/>
              <a:gd name="T6" fmla="*/ 0 w 21600"/>
              <a:gd name="T7" fmla="*/ 10800 h 21600"/>
              <a:gd name="T8" fmla="*/ 686 w 21600"/>
              <a:gd name="T9" fmla="*/ 23059 h 21600"/>
              <a:gd name="T10" fmla="*/ 21005 w 21600"/>
              <a:gd name="T11" fmla="*/ 3050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2563" y="12259"/>
                </a:moveTo>
                <a:lnTo>
                  <a:pt x="2563" y="12843"/>
                </a:lnTo>
                <a:lnTo>
                  <a:pt x="2746" y="13427"/>
                </a:lnTo>
                <a:lnTo>
                  <a:pt x="2929" y="14303"/>
                </a:lnTo>
                <a:lnTo>
                  <a:pt x="3112" y="14886"/>
                </a:lnTo>
                <a:lnTo>
                  <a:pt x="3478" y="15470"/>
                </a:lnTo>
                <a:lnTo>
                  <a:pt x="3844" y="16054"/>
                </a:lnTo>
                <a:lnTo>
                  <a:pt x="4393" y="16638"/>
                </a:lnTo>
                <a:lnTo>
                  <a:pt x="4942" y="17222"/>
                </a:lnTo>
                <a:lnTo>
                  <a:pt x="5492" y="17514"/>
                </a:lnTo>
                <a:lnTo>
                  <a:pt x="6224" y="18097"/>
                </a:lnTo>
                <a:lnTo>
                  <a:pt x="6773" y="18389"/>
                </a:lnTo>
                <a:lnTo>
                  <a:pt x="7505" y="18681"/>
                </a:lnTo>
                <a:lnTo>
                  <a:pt x="8237" y="18973"/>
                </a:lnTo>
                <a:lnTo>
                  <a:pt x="9153" y="18973"/>
                </a:lnTo>
                <a:lnTo>
                  <a:pt x="9885" y="19265"/>
                </a:lnTo>
                <a:lnTo>
                  <a:pt x="10800" y="19265"/>
                </a:lnTo>
                <a:lnTo>
                  <a:pt x="11532" y="19265"/>
                </a:lnTo>
                <a:lnTo>
                  <a:pt x="12447" y="18973"/>
                </a:lnTo>
                <a:lnTo>
                  <a:pt x="13180" y="18973"/>
                </a:lnTo>
                <a:lnTo>
                  <a:pt x="13912" y="18681"/>
                </a:lnTo>
                <a:lnTo>
                  <a:pt x="14644" y="18389"/>
                </a:lnTo>
                <a:lnTo>
                  <a:pt x="15376" y="18097"/>
                </a:lnTo>
                <a:lnTo>
                  <a:pt x="16108" y="17514"/>
                </a:lnTo>
                <a:lnTo>
                  <a:pt x="16658" y="17222"/>
                </a:lnTo>
                <a:lnTo>
                  <a:pt x="17207" y="16638"/>
                </a:lnTo>
                <a:lnTo>
                  <a:pt x="17573" y="16054"/>
                </a:lnTo>
                <a:lnTo>
                  <a:pt x="18122" y="15470"/>
                </a:lnTo>
                <a:lnTo>
                  <a:pt x="18305" y="14886"/>
                </a:lnTo>
                <a:lnTo>
                  <a:pt x="18671" y="14303"/>
                </a:lnTo>
                <a:lnTo>
                  <a:pt x="18854" y="13427"/>
                </a:lnTo>
                <a:lnTo>
                  <a:pt x="19037" y="12843"/>
                </a:lnTo>
                <a:lnTo>
                  <a:pt x="19037" y="12259"/>
                </a:lnTo>
                <a:lnTo>
                  <a:pt x="2563" y="12259"/>
                </a:lnTo>
                <a:close/>
              </a:path>
              <a:path w="21600" h="21600" extrusionOk="0">
                <a:moveTo>
                  <a:pt x="2563" y="12259"/>
                </a:moveTo>
                <a:lnTo>
                  <a:pt x="9153" y="12259"/>
                </a:lnTo>
                <a:lnTo>
                  <a:pt x="9153" y="12551"/>
                </a:lnTo>
                <a:lnTo>
                  <a:pt x="9336" y="12843"/>
                </a:lnTo>
                <a:lnTo>
                  <a:pt x="9519" y="13135"/>
                </a:lnTo>
                <a:lnTo>
                  <a:pt x="9702" y="13135"/>
                </a:lnTo>
                <a:lnTo>
                  <a:pt x="9885" y="13427"/>
                </a:lnTo>
                <a:lnTo>
                  <a:pt x="10068" y="13719"/>
                </a:lnTo>
                <a:lnTo>
                  <a:pt x="10434" y="13719"/>
                </a:lnTo>
                <a:lnTo>
                  <a:pt x="10800" y="13719"/>
                </a:lnTo>
                <a:lnTo>
                  <a:pt x="10983" y="13719"/>
                </a:lnTo>
                <a:lnTo>
                  <a:pt x="11349" y="13719"/>
                </a:lnTo>
                <a:lnTo>
                  <a:pt x="11715" y="13427"/>
                </a:lnTo>
                <a:lnTo>
                  <a:pt x="11898" y="13135"/>
                </a:lnTo>
                <a:lnTo>
                  <a:pt x="12081" y="13135"/>
                </a:lnTo>
                <a:lnTo>
                  <a:pt x="12264" y="12843"/>
                </a:lnTo>
                <a:lnTo>
                  <a:pt x="12264" y="12551"/>
                </a:lnTo>
                <a:lnTo>
                  <a:pt x="12264" y="12259"/>
                </a:lnTo>
                <a:lnTo>
                  <a:pt x="9153" y="12259"/>
                </a:lnTo>
                <a:close/>
              </a:path>
              <a:path w="21600" h="21600" extrusionOk="0">
                <a:moveTo>
                  <a:pt x="21600" y="7589"/>
                </a:moveTo>
                <a:lnTo>
                  <a:pt x="17756" y="0"/>
                </a:lnTo>
                <a:lnTo>
                  <a:pt x="10800" y="0"/>
                </a:lnTo>
                <a:lnTo>
                  <a:pt x="3844" y="0"/>
                </a:lnTo>
                <a:lnTo>
                  <a:pt x="0" y="7589"/>
                </a:lnTo>
                <a:lnTo>
                  <a:pt x="0" y="10800"/>
                </a:lnTo>
                <a:lnTo>
                  <a:pt x="0" y="18097"/>
                </a:lnTo>
                <a:lnTo>
                  <a:pt x="1464" y="18097"/>
                </a:lnTo>
                <a:lnTo>
                  <a:pt x="1464" y="21600"/>
                </a:lnTo>
                <a:lnTo>
                  <a:pt x="10800" y="21600"/>
                </a:lnTo>
                <a:lnTo>
                  <a:pt x="19953" y="21600"/>
                </a:lnTo>
                <a:lnTo>
                  <a:pt x="19953" y="18097"/>
                </a:lnTo>
                <a:lnTo>
                  <a:pt x="21600" y="18097"/>
                </a:lnTo>
                <a:lnTo>
                  <a:pt x="21600" y="11092"/>
                </a:lnTo>
                <a:lnTo>
                  <a:pt x="21600" y="7589"/>
                </a:lnTo>
              </a:path>
              <a:path w="21600" h="21600" extrusionOk="0">
                <a:moveTo>
                  <a:pt x="1647" y="18097"/>
                </a:moveTo>
                <a:lnTo>
                  <a:pt x="6407" y="18097"/>
                </a:lnTo>
                <a:moveTo>
                  <a:pt x="19953" y="18097"/>
                </a:moveTo>
                <a:lnTo>
                  <a:pt x="15010" y="18097"/>
                </a:lnTo>
                <a:moveTo>
                  <a:pt x="0" y="7589"/>
                </a:moveTo>
                <a:lnTo>
                  <a:pt x="21417" y="7589"/>
                </a:lnTo>
                <a:lnTo>
                  <a:pt x="21600" y="7589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1" name="monitor"/>
          <p:cNvSpPr>
            <a:spLocks noEditPoints="1" noChangeArrowheads="1"/>
          </p:cNvSpPr>
          <p:nvPr/>
        </p:nvSpPr>
        <p:spPr bwMode="auto">
          <a:xfrm>
            <a:off x="2209800" y="5181600"/>
            <a:ext cx="1065213" cy="1143000"/>
          </a:xfrm>
          <a:custGeom>
            <a:avLst/>
            <a:gdLst>
              <a:gd name="T0" fmla="*/ 6837 w 21600"/>
              <a:gd name="T1" fmla="*/ 21600 h 21600"/>
              <a:gd name="T2" fmla="*/ 3108 w 21600"/>
              <a:gd name="T3" fmla="*/ 19849 h 21600"/>
              <a:gd name="T4" fmla="*/ 0 w 21600"/>
              <a:gd name="T5" fmla="*/ 15178 h 21600"/>
              <a:gd name="T6" fmla="*/ 0 w 21600"/>
              <a:gd name="T7" fmla="*/ 10508 h 21600"/>
              <a:gd name="T8" fmla="*/ 0 w 21600"/>
              <a:gd name="T9" fmla="*/ 3941 h 21600"/>
              <a:gd name="T10" fmla="*/ 8081 w 21600"/>
              <a:gd name="T11" fmla="*/ 1168 h 21600"/>
              <a:gd name="T12" fmla="*/ 17871 w 21600"/>
              <a:gd name="T13" fmla="*/ 0 h 21600"/>
              <a:gd name="T14" fmla="*/ 21600 w 21600"/>
              <a:gd name="T15" fmla="*/ 1751 h 21600"/>
              <a:gd name="T16" fmla="*/ 21600 w 21600"/>
              <a:gd name="T17" fmla="*/ 10508 h 21600"/>
              <a:gd name="T18" fmla="*/ 21600 w 21600"/>
              <a:gd name="T19" fmla="*/ 16346 h 21600"/>
              <a:gd name="T20" fmla="*/ 10722 w 21600"/>
              <a:gd name="T21" fmla="*/ 20286 h 21600"/>
              <a:gd name="T22" fmla="*/ 1204 w 21600"/>
              <a:gd name="T23" fmla="*/ 22548 h 21600"/>
              <a:gd name="T24" fmla="*/ 20706 w 21600"/>
              <a:gd name="T25" fmla="*/ 283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T22" t="T23" r="T24" b="T25"/>
            <a:pathLst>
              <a:path w="21600" h="21600" extrusionOk="0">
                <a:moveTo>
                  <a:pt x="6837" y="21600"/>
                </a:moveTo>
                <a:lnTo>
                  <a:pt x="3108" y="19849"/>
                </a:lnTo>
                <a:lnTo>
                  <a:pt x="3108" y="17659"/>
                </a:lnTo>
                <a:lnTo>
                  <a:pt x="0" y="15178"/>
                </a:lnTo>
                <a:lnTo>
                  <a:pt x="0" y="10508"/>
                </a:lnTo>
                <a:lnTo>
                  <a:pt x="0" y="3941"/>
                </a:lnTo>
                <a:lnTo>
                  <a:pt x="8081" y="1168"/>
                </a:lnTo>
                <a:lnTo>
                  <a:pt x="10722" y="1605"/>
                </a:lnTo>
                <a:lnTo>
                  <a:pt x="12587" y="1751"/>
                </a:lnTo>
                <a:lnTo>
                  <a:pt x="17871" y="0"/>
                </a:lnTo>
                <a:lnTo>
                  <a:pt x="21600" y="1751"/>
                </a:lnTo>
                <a:lnTo>
                  <a:pt x="21600" y="10508"/>
                </a:lnTo>
                <a:lnTo>
                  <a:pt x="21600" y="16346"/>
                </a:lnTo>
                <a:lnTo>
                  <a:pt x="10722" y="20286"/>
                </a:lnTo>
                <a:lnTo>
                  <a:pt x="6837" y="21600"/>
                </a:lnTo>
                <a:close/>
              </a:path>
              <a:path w="21600" h="21600" extrusionOk="0">
                <a:moveTo>
                  <a:pt x="3108" y="5254"/>
                </a:moveTo>
                <a:lnTo>
                  <a:pt x="2642" y="4962"/>
                </a:lnTo>
                <a:lnTo>
                  <a:pt x="777" y="4232"/>
                </a:lnTo>
                <a:lnTo>
                  <a:pt x="155" y="3941"/>
                </a:lnTo>
                <a:moveTo>
                  <a:pt x="6837" y="7005"/>
                </a:moveTo>
                <a:lnTo>
                  <a:pt x="6216" y="6714"/>
                </a:lnTo>
                <a:lnTo>
                  <a:pt x="3885" y="5546"/>
                </a:lnTo>
                <a:lnTo>
                  <a:pt x="3108" y="5254"/>
                </a:lnTo>
                <a:moveTo>
                  <a:pt x="19735" y="14595"/>
                </a:moveTo>
                <a:lnTo>
                  <a:pt x="19735" y="4816"/>
                </a:lnTo>
                <a:lnTo>
                  <a:pt x="9790" y="8319"/>
                </a:lnTo>
                <a:lnTo>
                  <a:pt x="9790" y="18243"/>
                </a:lnTo>
                <a:lnTo>
                  <a:pt x="19735" y="14595"/>
                </a:lnTo>
                <a:moveTo>
                  <a:pt x="3108" y="17659"/>
                </a:moveTo>
                <a:lnTo>
                  <a:pt x="3108" y="5254"/>
                </a:lnTo>
                <a:lnTo>
                  <a:pt x="12742" y="1751"/>
                </a:lnTo>
                <a:moveTo>
                  <a:pt x="21600" y="1751"/>
                </a:moveTo>
                <a:lnTo>
                  <a:pt x="6837" y="7005"/>
                </a:lnTo>
                <a:lnTo>
                  <a:pt x="6837" y="21600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2" name="printer2"/>
          <p:cNvSpPr>
            <a:spLocks noEditPoints="1" noChangeArrowheads="1"/>
          </p:cNvSpPr>
          <p:nvPr/>
        </p:nvSpPr>
        <p:spPr bwMode="auto">
          <a:xfrm>
            <a:off x="3429000" y="5791200"/>
            <a:ext cx="1250950" cy="533400"/>
          </a:xfrm>
          <a:custGeom>
            <a:avLst/>
            <a:gdLst>
              <a:gd name="T0" fmla="*/ 10673 w 21600"/>
              <a:gd name="T1" fmla="*/ 0 h 21600"/>
              <a:gd name="T2" fmla="*/ 19186 w 21600"/>
              <a:gd name="T3" fmla="*/ 0 h 21600"/>
              <a:gd name="T4" fmla="*/ 21600 w 21600"/>
              <a:gd name="T5" fmla="*/ 4703 h 21600"/>
              <a:gd name="T6" fmla="*/ 21600 w 21600"/>
              <a:gd name="T7" fmla="*/ 10800 h 21600"/>
              <a:gd name="T8" fmla="*/ 21600 w 21600"/>
              <a:gd name="T9" fmla="*/ 16548 h 21600"/>
              <a:gd name="T10" fmla="*/ 18042 w 21600"/>
              <a:gd name="T11" fmla="*/ 21600 h 21600"/>
              <a:gd name="T12" fmla="*/ 10673 w 21600"/>
              <a:gd name="T13" fmla="*/ 21600 h 21600"/>
              <a:gd name="T14" fmla="*/ 3176 w 21600"/>
              <a:gd name="T15" fmla="*/ 21600 h 21600"/>
              <a:gd name="T16" fmla="*/ 0 w 21600"/>
              <a:gd name="T17" fmla="*/ 16548 h 21600"/>
              <a:gd name="T18" fmla="*/ 0 w 21600"/>
              <a:gd name="T19" fmla="*/ 10800 h 21600"/>
              <a:gd name="T20" fmla="*/ 0 w 21600"/>
              <a:gd name="T21" fmla="*/ 4703 h 21600"/>
              <a:gd name="T22" fmla="*/ 2414 w 21600"/>
              <a:gd name="T23" fmla="*/ 0 h 21600"/>
              <a:gd name="T24" fmla="*/ 1397 w 21600"/>
              <a:gd name="T25" fmla="*/ 23298 h 21600"/>
              <a:gd name="T26" fmla="*/ 20266 w 21600"/>
              <a:gd name="T27" fmla="*/ 311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10673" y="0"/>
                </a:moveTo>
                <a:lnTo>
                  <a:pt x="19186" y="0"/>
                </a:lnTo>
                <a:lnTo>
                  <a:pt x="21600" y="4703"/>
                </a:lnTo>
                <a:lnTo>
                  <a:pt x="21600" y="10800"/>
                </a:lnTo>
                <a:lnTo>
                  <a:pt x="21600" y="16548"/>
                </a:lnTo>
                <a:lnTo>
                  <a:pt x="18042" y="16548"/>
                </a:lnTo>
                <a:lnTo>
                  <a:pt x="18042" y="21600"/>
                </a:lnTo>
                <a:lnTo>
                  <a:pt x="10673" y="21600"/>
                </a:lnTo>
                <a:lnTo>
                  <a:pt x="3176" y="21600"/>
                </a:lnTo>
                <a:lnTo>
                  <a:pt x="3176" y="16548"/>
                </a:lnTo>
                <a:lnTo>
                  <a:pt x="0" y="16548"/>
                </a:lnTo>
                <a:lnTo>
                  <a:pt x="0" y="10800"/>
                </a:lnTo>
                <a:lnTo>
                  <a:pt x="0" y="4703"/>
                </a:lnTo>
                <a:lnTo>
                  <a:pt x="2414" y="0"/>
                </a:lnTo>
                <a:lnTo>
                  <a:pt x="10673" y="0"/>
                </a:lnTo>
                <a:close/>
              </a:path>
              <a:path w="21600" h="21600" extrusionOk="0">
                <a:moveTo>
                  <a:pt x="0" y="4703"/>
                </a:moveTo>
                <a:lnTo>
                  <a:pt x="3558" y="4703"/>
                </a:lnTo>
                <a:lnTo>
                  <a:pt x="17026" y="4703"/>
                </a:lnTo>
                <a:lnTo>
                  <a:pt x="21600" y="4703"/>
                </a:lnTo>
                <a:lnTo>
                  <a:pt x="0" y="4703"/>
                </a:lnTo>
                <a:moveTo>
                  <a:pt x="16518" y="4703"/>
                </a:moveTo>
                <a:lnTo>
                  <a:pt x="16518" y="10452"/>
                </a:lnTo>
                <a:lnTo>
                  <a:pt x="0" y="10452"/>
                </a:lnTo>
                <a:moveTo>
                  <a:pt x="4320" y="16548"/>
                </a:moveTo>
                <a:lnTo>
                  <a:pt x="4320" y="17419"/>
                </a:lnTo>
                <a:lnTo>
                  <a:pt x="4320" y="20555"/>
                </a:lnTo>
                <a:lnTo>
                  <a:pt x="4320" y="21600"/>
                </a:lnTo>
                <a:lnTo>
                  <a:pt x="4320" y="16548"/>
                </a:lnTo>
                <a:moveTo>
                  <a:pt x="16899" y="16548"/>
                </a:moveTo>
                <a:lnTo>
                  <a:pt x="16899" y="17419"/>
                </a:lnTo>
                <a:lnTo>
                  <a:pt x="16899" y="20555"/>
                </a:lnTo>
                <a:lnTo>
                  <a:pt x="16899" y="21600"/>
                </a:lnTo>
                <a:lnTo>
                  <a:pt x="16899" y="16548"/>
                </a:lnTo>
                <a:moveTo>
                  <a:pt x="15247" y="14981"/>
                </a:moveTo>
                <a:lnTo>
                  <a:pt x="15247" y="10452"/>
                </a:lnTo>
                <a:lnTo>
                  <a:pt x="16899" y="16548"/>
                </a:lnTo>
                <a:lnTo>
                  <a:pt x="18042" y="16548"/>
                </a:lnTo>
                <a:lnTo>
                  <a:pt x="16518" y="10452"/>
                </a:lnTo>
                <a:moveTo>
                  <a:pt x="15247" y="14981"/>
                </a:moveTo>
                <a:lnTo>
                  <a:pt x="15247" y="14981"/>
                </a:lnTo>
                <a:lnTo>
                  <a:pt x="16772" y="17942"/>
                </a:lnTo>
                <a:lnTo>
                  <a:pt x="4447" y="17942"/>
                </a:lnTo>
                <a:lnTo>
                  <a:pt x="5972" y="14981"/>
                </a:lnTo>
                <a:lnTo>
                  <a:pt x="5972" y="10452"/>
                </a:lnTo>
                <a:lnTo>
                  <a:pt x="4320" y="16548"/>
                </a:lnTo>
                <a:lnTo>
                  <a:pt x="3176" y="16548"/>
                </a:lnTo>
                <a:lnTo>
                  <a:pt x="4701" y="10452"/>
                </a:lnTo>
                <a:moveTo>
                  <a:pt x="20202" y="5574"/>
                </a:moveTo>
                <a:lnTo>
                  <a:pt x="20711" y="5574"/>
                </a:lnTo>
                <a:lnTo>
                  <a:pt x="20711" y="7839"/>
                </a:lnTo>
                <a:lnTo>
                  <a:pt x="20202" y="7839"/>
                </a:lnTo>
                <a:lnTo>
                  <a:pt x="20202" y="5574"/>
                </a:lnTo>
                <a:moveTo>
                  <a:pt x="5972" y="14981"/>
                </a:moveTo>
                <a:lnTo>
                  <a:pt x="7496" y="14981"/>
                </a:lnTo>
                <a:lnTo>
                  <a:pt x="13341" y="14981"/>
                </a:lnTo>
                <a:lnTo>
                  <a:pt x="15247" y="1498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3" name="tower"/>
          <p:cNvSpPr>
            <a:spLocks noEditPoints="1" noChangeArrowheads="1"/>
          </p:cNvSpPr>
          <p:nvPr/>
        </p:nvSpPr>
        <p:spPr bwMode="auto">
          <a:xfrm>
            <a:off x="4953000" y="5181600"/>
            <a:ext cx="604838" cy="111760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pic>
        <p:nvPicPr>
          <p:cNvPr id="26638" name="Picture 4" descr="C:\Users\rhk\AppData\Local\Microsoft\Windows\Temporary Internet Files\Content.IE5\P0TC36KP\MCj03984470000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791200"/>
            <a:ext cx="8382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9" name="Picture 5" descr="C:\Users\rhk\AppData\Local\Microsoft\Windows\Temporary Internet Files\Content.IE5\6WDTZ2I7\MCj03984450000[1].wm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715000"/>
            <a:ext cx="725488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381000" y="1828800"/>
            <a:ext cx="8229600" cy="1752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5334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Firefox</a:t>
            </a: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25146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Second Life</a:t>
            </a:r>
          </a:p>
        </p:txBody>
      </p:sp>
      <p:sp>
        <p:nvSpPr>
          <p:cNvPr id="19" name="Rectangle 8"/>
          <p:cNvSpPr>
            <a:spLocks noChangeArrowheads="1"/>
          </p:cNvSpPr>
          <p:nvPr/>
        </p:nvSpPr>
        <p:spPr bwMode="auto">
          <a:xfrm>
            <a:off x="45720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Yahoo</a:t>
            </a:r>
          </a:p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Chat</a:t>
            </a:r>
          </a:p>
        </p:txBody>
      </p:sp>
      <p:sp>
        <p:nvSpPr>
          <p:cNvPr id="20" name="Rectangle 9"/>
          <p:cNvSpPr>
            <a:spLocks noChangeArrowheads="1"/>
          </p:cNvSpPr>
          <p:nvPr/>
        </p:nvSpPr>
        <p:spPr bwMode="auto">
          <a:xfrm>
            <a:off x="65532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 err="1">
                <a:latin typeface="+mn-lt"/>
                <a:ea typeface="Tahoma" pitchFamily="34" charset="0"/>
                <a:cs typeface="Tahoma" pitchFamily="34" charset="0"/>
              </a:rPr>
              <a:t>GMail</a:t>
            </a:r>
            <a:endParaRPr lang="en-US" sz="2400" dirty="0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21" name="Text Box 11"/>
          <p:cNvSpPr txBox="1">
            <a:spLocks noChangeArrowheads="1"/>
          </p:cNvSpPr>
          <p:nvPr/>
        </p:nvSpPr>
        <p:spPr bwMode="auto">
          <a:xfrm>
            <a:off x="381000" y="1905000"/>
            <a:ext cx="3387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Tahoma" pitchFamily="34" charset="0"/>
                <a:cs typeface="Tahoma" pitchFamily="34" charset="0"/>
              </a:rPr>
              <a:t>Application Software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Application Requirements</a:t>
            </a:r>
          </a:p>
        </p:txBody>
      </p:sp>
      <p:sp>
        <p:nvSpPr>
          <p:cNvPr id="2765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1D5D41B-173B-EC42-A6AD-94E345850C1E}" type="slidenum">
              <a:rPr lang="en-US"/>
              <a:pPr/>
              <a:t>18</a:t>
            </a:fld>
            <a:endParaRPr lang="en-US"/>
          </a:p>
        </p:txBody>
      </p:sp>
      <p:sp>
        <p:nvSpPr>
          <p:cNvPr id="174082" name="Rectangle 2"/>
          <p:cNvSpPr>
            <a:spLocks noChangeArrowheads="1"/>
          </p:cNvSpPr>
          <p:nvPr/>
        </p:nvSpPr>
        <p:spPr bwMode="auto">
          <a:xfrm>
            <a:off x="381000" y="1828800"/>
            <a:ext cx="8229600" cy="2514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4084" name="Rectangle 4"/>
          <p:cNvSpPr>
            <a:spLocks noChangeArrowheads="1"/>
          </p:cNvSpPr>
          <p:nvPr/>
        </p:nvSpPr>
        <p:spPr bwMode="auto">
          <a:xfrm>
            <a:off x="5334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Firefox</a:t>
            </a:r>
          </a:p>
        </p:txBody>
      </p:sp>
      <p:sp>
        <p:nvSpPr>
          <p:cNvPr id="174088" name="Text Box 8"/>
          <p:cNvSpPr txBox="1">
            <a:spLocks noChangeArrowheads="1"/>
          </p:cNvSpPr>
          <p:nvPr/>
        </p:nvSpPr>
        <p:spPr bwMode="auto">
          <a:xfrm>
            <a:off x="381000" y="1905000"/>
            <a:ext cx="3387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Application Software</a:t>
            </a:r>
          </a:p>
        </p:txBody>
      </p:sp>
      <p:sp>
        <p:nvSpPr>
          <p:cNvPr id="174089" name="Rectangle 9"/>
          <p:cNvSpPr>
            <a:spLocks noChangeArrowheads="1"/>
          </p:cNvSpPr>
          <p:nvPr/>
        </p:nvSpPr>
        <p:spPr bwMode="auto">
          <a:xfrm>
            <a:off x="381000" y="5105400"/>
            <a:ext cx="52578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4090" name="Text Box 10"/>
          <p:cNvSpPr txBox="1">
            <a:spLocks noChangeArrowheads="1"/>
          </p:cNvSpPr>
          <p:nvPr/>
        </p:nvSpPr>
        <p:spPr bwMode="auto">
          <a:xfrm>
            <a:off x="381000" y="5105400"/>
            <a:ext cx="15890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Hardware</a:t>
            </a:r>
          </a:p>
        </p:txBody>
      </p:sp>
      <p:sp>
        <p:nvSpPr>
          <p:cNvPr id="174091" name="Rectangle 11"/>
          <p:cNvSpPr>
            <a:spLocks noChangeArrowheads="1"/>
          </p:cNvSpPr>
          <p:nvPr/>
        </p:nvSpPr>
        <p:spPr bwMode="auto">
          <a:xfrm>
            <a:off x="5867400" y="5105400"/>
            <a:ext cx="27432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4092" name="Text Box 12"/>
          <p:cNvSpPr txBox="1">
            <a:spLocks noChangeArrowheads="1"/>
          </p:cNvSpPr>
          <p:nvPr/>
        </p:nvSpPr>
        <p:spPr bwMode="auto">
          <a:xfrm>
            <a:off x="5867400" y="5105400"/>
            <a:ext cx="1400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Network</a:t>
            </a:r>
          </a:p>
        </p:txBody>
      </p:sp>
      <p:sp>
        <p:nvSpPr>
          <p:cNvPr id="174093" name="cddrive"/>
          <p:cNvSpPr>
            <a:spLocks noEditPoints="1" noChangeArrowheads="1"/>
          </p:cNvSpPr>
          <p:nvPr/>
        </p:nvSpPr>
        <p:spPr bwMode="auto">
          <a:xfrm>
            <a:off x="533400" y="5867400"/>
            <a:ext cx="762000" cy="3810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10800 h 21600"/>
              <a:gd name="T4" fmla="*/ 10800 w 21600"/>
              <a:gd name="T5" fmla="*/ 21600 h 21600"/>
              <a:gd name="T6" fmla="*/ 0 w 21600"/>
              <a:gd name="T7" fmla="*/ 10800 h 21600"/>
              <a:gd name="T8" fmla="*/ 686 w 21600"/>
              <a:gd name="T9" fmla="*/ 23059 h 21600"/>
              <a:gd name="T10" fmla="*/ 21005 w 21600"/>
              <a:gd name="T11" fmla="*/ 3050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2563" y="12259"/>
                </a:moveTo>
                <a:lnTo>
                  <a:pt x="2563" y="12843"/>
                </a:lnTo>
                <a:lnTo>
                  <a:pt x="2746" y="13427"/>
                </a:lnTo>
                <a:lnTo>
                  <a:pt x="2929" y="14303"/>
                </a:lnTo>
                <a:lnTo>
                  <a:pt x="3112" y="14886"/>
                </a:lnTo>
                <a:lnTo>
                  <a:pt x="3478" y="15470"/>
                </a:lnTo>
                <a:lnTo>
                  <a:pt x="3844" y="16054"/>
                </a:lnTo>
                <a:lnTo>
                  <a:pt x="4393" y="16638"/>
                </a:lnTo>
                <a:lnTo>
                  <a:pt x="4942" y="17222"/>
                </a:lnTo>
                <a:lnTo>
                  <a:pt x="5492" y="17514"/>
                </a:lnTo>
                <a:lnTo>
                  <a:pt x="6224" y="18097"/>
                </a:lnTo>
                <a:lnTo>
                  <a:pt x="6773" y="18389"/>
                </a:lnTo>
                <a:lnTo>
                  <a:pt x="7505" y="18681"/>
                </a:lnTo>
                <a:lnTo>
                  <a:pt x="8237" y="18973"/>
                </a:lnTo>
                <a:lnTo>
                  <a:pt x="9153" y="18973"/>
                </a:lnTo>
                <a:lnTo>
                  <a:pt x="9885" y="19265"/>
                </a:lnTo>
                <a:lnTo>
                  <a:pt x="10800" y="19265"/>
                </a:lnTo>
                <a:lnTo>
                  <a:pt x="11532" y="19265"/>
                </a:lnTo>
                <a:lnTo>
                  <a:pt x="12447" y="18973"/>
                </a:lnTo>
                <a:lnTo>
                  <a:pt x="13180" y="18973"/>
                </a:lnTo>
                <a:lnTo>
                  <a:pt x="13912" y="18681"/>
                </a:lnTo>
                <a:lnTo>
                  <a:pt x="14644" y="18389"/>
                </a:lnTo>
                <a:lnTo>
                  <a:pt x="15376" y="18097"/>
                </a:lnTo>
                <a:lnTo>
                  <a:pt x="16108" y="17514"/>
                </a:lnTo>
                <a:lnTo>
                  <a:pt x="16658" y="17222"/>
                </a:lnTo>
                <a:lnTo>
                  <a:pt x="17207" y="16638"/>
                </a:lnTo>
                <a:lnTo>
                  <a:pt x="17573" y="16054"/>
                </a:lnTo>
                <a:lnTo>
                  <a:pt x="18122" y="15470"/>
                </a:lnTo>
                <a:lnTo>
                  <a:pt x="18305" y="14886"/>
                </a:lnTo>
                <a:lnTo>
                  <a:pt x="18671" y="14303"/>
                </a:lnTo>
                <a:lnTo>
                  <a:pt x="18854" y="13427"/>
                </a:lnTo>
                <a:lnTo>
                  <a:pt x="19037" y="12843"/>
                </a:lnTo>
                <a:lnTo>
                  <a:pt x="19037" y="12259"/>
                </a:lnTo>
                <a:lnTo>
                  <a:pt x="2563" y="12259"/>
                </a:lnTo>
                <a:close/>
              </a:path>
              <a:path w="21600" h="21600" extrusionOk="0">
                <a:moveTo>
                  <a:pt x="2563" y="12259"/>
                </a:moveTo>
                <a:lnTo>
                  <a:pt x="9153" y="12259"/>
                </a:lnTo>
                <a:lnTo>
                  <a:pt x="9153" y="12551"/>
                </a:lnTo>
                <a:lnTo>
                  <a:pt x="9336" y="12843"/>
                </a:lnTo>
                <a:lnTo>
                  <a:pt x="9519" y="13135"/>
                </a:lnTo>
                <a:lnTo>
                  <a:pt x="9702" y="13135"/>
                </a:lnTo>
                <a:lnTo>
                  <a:pt x="9885" y="13427"/>
                </a:lnTo>
                <a:lnTo>
                  <a:pt x="10068" y="13719"/>
                </a:lnTo>
                <a:lnTo>
                  <a:pt x="10434" y="13719"/>
                </a:lnTo>
                <a:lnTo>
                  <a:pt x="10800" y="13719"/>
                </a:lnTo>
                <a:lnTo>
                  <a:pt x="10983" y="13719"/>
                </a:lnTo>
                <a:lnTo>
                  <a:pt x="11349" y="13719"/>
                </a:lnTo>
                <a:lnTo>
                  <a:pt x="11715" y="13427"/>
                </a:lnTo>
                <a:lnTo>
                  <a:pt x="11898" y="13135"/>
                </a:lnTo>
                <a:lnTo>
                  <a:pt x="12081" y="13135"/>
                </a:lnTo>
                <a:lnTo>
                  <a:pt x="12264" y="12843"/>
                </a:lnTo>
                <a:lnTo>
                  <a:pt x="12264" y="12551"/>
                </a:lnTo>
                <a:lnTo>
                  <a:pt x="12264" y="12259"/>
                </a:lnTo>
                <a:lnTo>
                  <a:pt x="9153" y="12259"/>
                </a:lnTo>
                <a:close/>
              </a:path>
              <a:path w="21600" h="21600" extrusionOk="0">
                <a:moveTo>
                  <a:pt x="21600" y="7589"/>
                </a:moveTo>
                <a:lnTo>
                  <a:pt x="17756" y="0"/>
                </a:lnTo>
                <a:lnTo>
                  <a:pt x="10800" y="0"/>
                </a:lnTo>
                <a:lnTo>
                  <a:pt x="3844" y="0"/>
                </a:lnTo>
                <a:lnTo>
                  <a:pt x="0" y="7589"/>
                </a:lnTo>
                <a:lnTo>
                  <a:pt x="0" y="10800"/>
                </a:lnTo>
                <a:lnTo>
                  <a:pt x="0" y="18097"/>
                </a:lnTo>
                <a:lnTo>
                  <a:pt x="1464" y="18097"/>
                </a:lnTo>
                <a:lnTo>
                  <a:pt x="1464" y="21600"/>
                </a:lnTo>
                <a:lnTo>
                  <a:pt x="10800" y="21600"/>
                </a:lnTo>
                <a:lnTo>
                  <a:pt x="19953" y="21600"/>
                </a:lnTo>
                <a:lnTo>
                  <a:pt x="19953" y="18097"/>
                </a:lnTo>
                <a:lnTo>
                  <a:pt x="21600" y="18097"/>
                </a:lnTo>
                <a:lnTo>
                  <a:pt x="21600" y="11092"/>
                </a:lnTo>
                <a:lnTo>
                  <a:pt x="21600" y="7589"/>
                </a:lnTo>
              </a:path>
              <a:path w="21600" h="21600" extrusionOk="0">
                <a:moveTo>
                  <a:pt x="1647" y="18097"/>
                </a:moveTo>
                <a:lnTo>
                  <a:pt x="6407" y="18097"/>
                </a:lnTo>
                <a:moveTo>
                  <a:pt x="19953" y="18097"/>
                </a:moveTo>
                <a:lnTo>
                  <a:pt x="15010" y="18097"/>
                </a:lnTo>
                <a:moveTo>
                  <a:pt x="0" y="7589"/>
                </a:moveTo>
                <a:lnTo>
                  <a:pt x="21417" y="7589"/>
                </a:lnTo>
                <a:lnTo>
                  <a:pt x="21600" y="7589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4094" name="monitor"/>
          <p:cNvSpPr>
            <a:spLocks noEditPoints="1" noChangeArrowheads="1"/>
          </p:cNvSpPr>
          <p:nvPr/>
        </p:nvSpPr>
        <p:spPr bwMode="auto">
          <a:xfrm>
            <a:off x="2209800" y="5181600"/>
            <a:ext cx="1065213" cy="1143000"/>
          </a:xfrm>
          <a:custGeom>
            <a:avLst/>
            <a:gdLst>
              <a:gd name="T0" fmla="*/ 6837 w 21600"/>
              <a:gd name="T1" fmla="*/ 21600 h 21600"/>
              <a:gd name="T2" fmla="*/ 3108 w 21600"/>
              <a:gd name="T3" fmla="*/ 19849 h 21600"/>
              <a:gd name="T4" fmla="*/ 0 w 21600"/>
              <a:gd name="T5" fmla="*/ 15178 h 21600"/>
              <a:gd name="T6" fmla="*/ 0 w 21600"/>
              <a:gd name="T7" fmla="*/ 10508 h 21600"/>
              <a:gd name="T8" fmla="*/ 0 w 21600"/>
              <a:gd name="T9" fmla="*/ 3941 h 21600"/>
              <a:gd name="T10" fmla="*/ 8081 w 21600"/>
              <a:gd name="T11" fmla="*/ 1168 h 21600"/>
              <a:gd name="T12" fmla="*/ 17871 w 21600"/>
              <a:gd name="T13" fmla="*/ 0 h 21600"/>
              <a:gd name="T14" fmla="*/ 21600 w 21600"/>
              <a:gd name="T15" fmla="*/ 1751 h 21600"/>
              <a:gd name="T16" fmla="*/ 21600 w 21600"/>
              <a:gd name="T17" fmla="*/ 10508 h 21600"/>
              <a:gd name="T18" fmla="*/ 21600 w 21600"/>
              <a:gd name="T19" fmla="*/ 16346 h 21600"/>
              <a:gd name="T20" fmla="*/ 10722 w 21600"/>
              <a:gd name="T21" fmla="*/ 20286 h 21600"/>
              <a:gd name="T22" fmla="*/ 1204 w 21600"/>
              <a:gd name="T23" fmla="*/ 22548 h 21600"/>
              <a:gd name="T24" fmla="*/ 20706 w 21600"/>
              <a:gd name="T25" fmla="*/ 283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T22" t="T23" r="T24" b="T25"/>
            <a:pathLst>
              <a:path w="21600" h="21600" extrusionOk="0">
                <a:moveTo>
                  <a:pt x="6837" y="21600"/>
                </a:moveTo>
                <a:lnTo>
                  <a:pt x="3108" y="19849"/>
                </a:lnTo>
                <a:lnTo>
                  <a:pt x="3108" y="17659"/>
                </a:lnTo>
                <a:lnTo>
                  <a:pt x="0" y="15178"/>
                </a:lnTo>
                <a:lnTo>
                  <a:pt x="0" y="10508"/>
                </a:lnTo>
                <a:lnTo>
                  <a:pt x="0" y="3941"/>
                </a:lnTo>
                <a:lnTo>
                  <a:pt x="8081" y="1168"/>
                </a:lnTo>
                <a:lnTo>
                  <a:pt x="10722" y="1605"/>
                </a:lnTo>
                <a:lnTo>
                  <a:pt x="12587" y="1751"/>
                </a:lnTo>
                <a:lnTo>
                  <a:pt x="17871" y="0"/>
                </a:lnTo>
                <a:lnTo>
                  <a:pt x="21600" y="1751"/>
                </a:lnTo>
                <a:lnTo>
                  <a:pt x="21600" y="10508"/>
                </a:lnTo>
                <a:lnTo>
                  <a:pt x="21600" y="16346"/>
                </a:lnTo>
                <a:lnTo>
                  <a:pt x="10722" y="20286"/>
                </a:lnTo>
                <a:lnTo>
                  <a:pt x="6837" y="21600"/>
                </a:lnTo>
                <a:close/>
              </a:path>
              <a:path w="21600" h="21600" extrusionOk="0">
                <a:moveTo>
                  <a:pt x="3108" y="5254"/>
                </a:moveTo>
                <a:lnTo>
                  <a:pt x="2642" y="4962"/>
                </a:lnTo>
                <a:lnTo>
                  <a:pt x="777" y="4232"/>
                </a:lnTo>
                <a:lnTo>
                  <a:pt x="155" y="3941"/>
                </a:lnTo>
                <a:moveTo>
                  <a:pt x="6837" y="7005"/>
                </a:moveTo>
                <a:lnTo>
                  <a:pt x="6216" y="6714"/>
                </a:lnTo>
                <a:lnTo>
                  <a:pt x="3885" y="5546"/>
                </a:lnTo>
                <a:lnTo>
                  <a:pt x="3108" y="5254"/>
                </a:lnTo>
                <a:moveTo>
                  <a:pt x="19735" y="14595"/>
                </a:moveTo>
                <a:lnTo>
                  <a:pt x="19735" y="4816"/>
                </a:lnTo>
                <a:lnTo>
                  <a:pt x="9790" y="8319"/>
                </a:lnTo>
                <a:lnTo>
                  <a:pt x="9790" y="18243"/>
                </a:lnTo>
                <a:lnTo>
                  <a:pt x="19735" y="14595"/>
                </a:lnTo>
                <a:moveTo>
                  <a:pt x="3108" y="17659"/>
                </a:moveTo>
                <a:lnTo>
                  <a:pt x="3108" y="5254"/>
                </a:lnTo>
                <a:lnTo>
                  <a:pt x="12742" y="1751"/>
                </a:lnTo>
                <a:moveTo>
                  <a:pt x="21600" y="1751"/>
                </a:moveTo>
                <a:lnTo>
                  <a:pt x="6837" y="7005"/>
                </a:lnTo>
                <a:lnTo>
                  <a:pt x="6837" y="21600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4095" name="printer2"/>
          <p:cNvSpPr>
            <a:spLocks noEditPoints="1" noChangeArrowheads="1"/>
          </p:cNvSpPr>
          <p:nvPr/>
        </p:nvSpPr>
        <p:spPr bwMode="auto">
          <a:xfrm>
            <a:off x="3429000" y="5791200"/>
            <a:ext cx="1250950" cy="533400"/>
          </a:xfrm>
          <a:custGeom>
            <a:avLst/>
            <a:gdLst>
              <a:gd name="T0" fmla="*/ 10673 w 21600"/>
              <a:gd name="T1" fmla="*/ 0 h 21600"/>
              <a:gd name="T2" fmla="*/ 19186 w 21600"/>
              <a:gd name="T3" fmla="*/ 0 h 21600"/>
              <a:gd name="T4" fmla="*/ 21600 w 21600"/>
              <a:gd name="T5" fmla="*/ 4703 h 21600"/>
              <a:gd name="T6" fmla="*/ 21600 w 21600"/>
              <a:gd name="T7" fmla="*/ 10800 h 21600"/>
              <a:gd name="T8" fmla="*/ 21600 w 21600"/>
              <a:gd name="T9" fmla="*/ 16548 h 21600"/>
              <a:gd name="T10" fmla="*/ 18042 w 21600"/>
              <a:gd name="T11" fmla="*/ 21600 h 21600"/>
              <a:gd name="T12" fmla="*/ 10673 w 21600"/>
              <a:gd name="T13" fmla="*/ 21600 h 21600"/>
              <a:gd name="T14" fmla="*/ 3176 w 21600"/>
              <a:gd name="T15" fmla="*/ 21600 h 21600"/>
              <a:gd name="T16" fmla="*/ 0 w 21600"/>
              <a:gd name="T17" fmla="*/ 16548 h 21600"/>
              <a:gd name="T18" fmla="*/ 0 w 21600"/>
              <a:gd name="T19" fmla="*/ 10800 h 21600"/>
              <a:gd name="T20" fmla="*/ 0 w 21600"/>
              <a:gd name="T21" fmla="*/ 4703 h 21600"/>
              <a:gd name="T22" fmla="*/ 2414 w 21600"/>
              <a:gd name="T23" fmla="*/ 0 h 21600"/>
              <a:gd name="T24" fmla="*/ 1397 w 21600"/>
              <a:gd name="T25" fmla="*/ 23298 h 21600"/>
              <a:gd name="T26" fmla="*/ 20266 w 21600"/>
              <a:gd name="T27" fmla="*/ 311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10673" y="0"/>
                </a:moveTo>
                <a:lnTo>
                  <a:pt x="19186" y="0"/>
                </a:lnTo>
                <a:lnTo>
                  <a:pt x="21600" y="4703"/>
                </a:lnTo>
                <a:lnTo>
                  <a:pt x="21600" y="10800"/>
                </a:lnTo>
                <a:lnTo>
                  <a:pt x="21600" y="16548"/>
                </a:lnTo>
                <a:lnTo>
                  <a:pt x="18042" y="16548"/>
                </a:lnTo>
                <a:lnTo>
                  <a:pt x="18042" y="21600"/>
                </a:lnTo>
                <a:lnTo>
                  <a:pt x="10673" y="21600"/>
                </a:lnTo>
                <a:lnTo>
                  <a:pt x="3176" y="21600"/>
                </a:lnTo>
                <a:lnTo>
                  <a:pt x="3176" y="16548"/>
                </a:lnTo>
                <a:lnTo>
                  <a:pt x="0" y="16548"/>
                </a:lnTo>
                <a:lnTo>
                  <a:pt x="0" y="10800"/>
                </a:lnTo>
                <a:lnTo>
                  <a:pt x="0" y="4703"/>
                </a:lnTo>
                <a:lnTo>
                  <a:pt x="2414" y="0"/>
                </a:lnTo>
                <a:lnTo>
                  <a:pt x="10673" y="0"/>
                </a:lnTo>
                <a:close/>
              </a:path>
              <a:path w="21600" h="21600" extrusionOk="0">
                <a:moveTo>
                  <a:pt x="0" y="4703"/>
                </a:moveTo>
                <a:lnTo>
                  <a:pt x="3558" y="4703"/>
                </a:lnTo>
                <a:lnTo>
                  <a:pt x="17026" y="4703"/>
                </a:lnTo>
                <a:lnTo>
                  <a:pt x="21600" y="4703"/>
                </a:lnTo>
                <a:lnTo>
                  <a:pt x="0" y="4703"/>
                </a:lnTo>
                <a:moveTo>
                  <a:pt x="16518" y="4703"/>
                </a:moveTo>
                <a:lnTo>
                  <a:pt x="16518" y="10452"/>
                </a:lnTo>
                <a:lnTo>
                  <a:pt x="0" y="10452"/>
                </a:lnTo>
                <a:moveTo>
                  <a:pt x="4320" y="16548"/>
                </a:moveTo>
                <a:lnTo>
                  <a:pt x="4320" y="17419"/>
                </a:lnTo>
                <a:lnTo>
                  <a:pt x="4320" y="20555"/>
                </a:lnTo>
                <a:lnTo>
                  <a:pt x="4320" y="21600"/>
                </a:lnTo>
                <a:lnTo>
                  <a:pt x="4320" y="16548"/>
                </a:lnTo>
                <a:moveTo>
                  <a:pt x="16899" y="16548"/>
                </a:moveTo>
                <a:lnTo>
                  <a:pt x="16899" y="17419"/>
                </a:lnTo>
                <a:lnTo>
                  <a:pt x="16899" y="20555"/>
                </a:lnTo>
                <a:lnTo>
                  <a:pt x="16899" y="21600"/>
                </a:lnTo>
                <a:lnTo>
                  <a:pt x="16899" y="16548"/>
                </a:lnTo>
                <a:moveTo>
                  <a:pt x="15247" y="14981"/>
                </a:moveTo>
                <a:lnTo>
                  <a:pt x="15247" y="10452"/>
                </a:lnTo>
                <a:lnTo>
                  <a:pt x="16899" y="16548"/>
                </a:lnTo>
                <a:lnTo>
                  <a:pt x="18042" y="16548"/>
                </a:lnTo>
                <a:lnTo>
                  <a:pt x="16518" y="10452"/>
                </a:lnTo>
                <a:moveTo>
                  <a:pt x="15247" y="14981"/>
                </a:moveTo>
                <a:lnTo>
                  <a:pt x="15247" y="14981"/>
                </a:lnTo>
                <a:lnTo>
                  <a:pt x="16772" y="17942"/>
                </a:lnTo>
                <a:lnTo>
                  <a:pt x="4447" y="17942"/>
                </a:lnTo>
                <a:lnTo>
                  <a:pt x="5972" y="14981"/>
                </a:lnTo>
                <a:lnTo>
                  <a:pt x="5972" y="10452"/>
                </a:lnTo>
                <a:lnTo>
                  <a:pt x="4320" y="16548"/>
                </a:lnTo>
                <a:lnTo>
                  <a:pt x="3176" y="16548"/>
                </a:lnTo>
                <a:lnTo>
                  <a:pt x="4701" y="10452"/>
                </a:lnTo>
                <a:moveTo>
                  <a:pt x="20202" y="5574"/>
                </a:moveTo>
                <a:lnTo>
                  <a:pt x="20711" y="5574"/>
                </a:lnTo>
                <a:lnTo>
                  <a:pt x="20711" y="7839"/>
                </a:lnTo>
                <a:lnTo>
                  <a:pt x="20202" y="7839"/>
                </a:lnTo>
                <a:lnTo>
                  <a:pt x="20202" y="5574"/>
                </a:lnTo>
                <a:moveTo>
                  <a:pt x="5972" y="14981"/>
                </a:moveTo>
                <a:lnTo>
                  <a:pt x="7496" y="14981"/>
                </a:lnTo>
                <a:lnTo>
                  <a:pt x="13341" y="14981"/>
                </a:lnTo>
                <a:lnTo>
                  <a:pt x="15247" y="1498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4096" name="tower"/>
          <p:cNvSpPr>
            <a:spLocks noEditPoints="1" noChangeArrowheads="1"/>
          </p:cNvSpPr>
          <p:nvPr/>
        </p:nvSpPr>
        <p:spPr bwMode="auto">
          <a:xfrm>
            <a:off x="4953000" y="5181600"/>
            <a:ext cx="604838" cy="111760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4097" name="Line 17"/>
          <p:cNvSpPr>
            <a:spLocks noChangeShapeType="1"/>
          </p:cNvSpPr>
          <p:nvPr/>
        </p:nvSpPr>
        <p:spPr bwMode="auto">
          <a:xfrm flipH="1">
            <a:off x="914400" y="3200400"/>
            <a:ext cx="2286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4098" name="Line 18"/>
          <p:cNvSpPr>
            <a:spLocks noChangeShapeType="1"/>
          </p:cNvSpPr>
          <p:nvPr/>
        </p:nvSpPr>
        <p:spPr bwMode="auto">
          <a:xfrm>
            <a:off x="1295400" y="3200400"/>
            <a:ext cx="838200" cy="2209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4099" name="Line 19"/>
          <p:cNvSpPr>
            <a:spLocks noChangeShapeType="1"/>
          </p:cNvSpPr>
          <p:nvPr/>
        </p:nvSpPr>
        <p:spPr bwMode="auto">
          <a:xfrm>
            <a:off x="1524000" y="3200400"/>
            <a:ext cx="25146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4100" name="Line 20"/>
          <p:cNvSpPr>
            <a:spLocks noChangeShapeType="1"/>
          </p:cNvSpPr>
          <p:nvPr/>
        </p:nvSpPr>
        <p:spPr bwMode="auto">
          <a:xfrm>
            <a:off x="1752600" y="3200400"/>
            <a:ext cx="3048000" cy="2209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4101" name="Text Box 21"/>
          <p:cNvSpPr txBox="1">
            <a:spLocks noChangeArrowheads="1"/>
          </p:cNvSpPr>
          <p:nvPr/>
        </p:nvSpPr>
        <p:spPr bwMode="auto">
          <a:xfrm rot="16497151">
            <a:off x="152400" y="4038600"/>
            <a:ext cx="12811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Read/write</a:t>
            </a:r>
          </a:p>
        </p:txBody>
      </p:sp>
      <p:sp>
        <p:nvSpPr>
          <p:cNvPr id="174102" name="Text Box 22"/>
          <p:cNvSpPr txBox="1">
            <a:spLocks noChangeArrowheads="1"/>
          </p:cNvSpPr>
          <p:nvPr/>
        </p:nvSpPr>
        <p:spPr bwMode="auto">
          <a:xfrm rot="3925596">
            <a:off x="1463675" y="4152900"/>
            <a:ext cx="9413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Display</a:t>
            </a:r>
          </a:p>
        </p:txBody>
      </p:sp>
      <p:sp>
        <p:nvSpPr>
          <p:cNvPr id="174103" name="Text Box 23"/>
          <p:cNvSpPr txBox="1">
            <a:spLocks noChangeArrowheads="1"/>
          </p:cNvSpPr>
          <p:nvPr/>
        </p:nvSpPr>
        <p:spPr bwMode="auto">
          <a:xfrm rot="2382975">
            <a:off x="2662238" y="4265613"/>
            <a:ext cx="6588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Print</a:t>
            </a:r>
          </a:p>
        </p:txBody>
      </p:sp>
      <p:sp>
        <p:nvSpPr>
          <p:cNvPr id="174104" name="Text Box 24"/>
          <p:cNvSpPr txBox="1">
            <a:spLocks noChangeArrowheads="1"/>
          </p:cNvSpPr>
          <p:nvPr/>
        </p:nvSpPr>
        <p:spPr bwMode="auto">
          <a:xfrm rot="2004995">
            <a:off x="3036888" y="3960813"/>
            <a:ext cx="7366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Store</a:t>
            </a:r>
          </a:p>
        </p:txBody>
      </p:sp>
      <p:sp>
        <p:nvSpPr>
          <p:cNvPr id="174105" name="Line 25"/>
          <p:cNvSpPr>
            <a:spLocks noChangeShapeType="1"/>
          </p:cNvSpPr>
          <p:nvPr/>
        </p:nvSpPr>
        <p:spPr bwMode="auto">
          <a:xfrm>
            <a:off x="2057400" y="3200400"/>
            <a:ext cx="4800600" cy="1905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4106" name="Text Box 26"/>
          <p:cNvSpPr txBox="1">
            <a:spLocks noChangeArrowheads="1"/>
          </p:cNvSpPr>
          <p:nvPr/>
        </p:nvSpPr>
        <p:spPr bwMode="auto">
          <a:xfrm rot="1276622">
            <a:off x="5083175" y="4341813"/>
            <a:ext cx="15319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Send/receive</a:t>
            </a:r>
          </a:p>
        </p:txBody>
      </p:sp>
      <p:pic>
        <p:nvPicPr>
          <p:cNvPr id="27674" name="Picture 4" descr="C:\Users\rhk\AppData\Local\Microsoft\Windows\Temporary Internet Files\Content.IE5\P0TC36KP\MCj03984470000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791200"/>
            <a:ext cx="8382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75" name="Picture 5" descr="C:\Users\rhk\AppData\Local\Microsoft\Windows\Temporary Internet Files\Content.IE5\6WDTZ2I7\MCj03984450000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715000"/>
            <a:ext cx="725488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1" grpId="0"/>
      <p:bldP spid="174102" grpId="0"/>
      <p:bldP spid="174103" grpId="0"/>
      <p:bldP spid="174104" grpId="0"/>
      <p:bldP spid="17410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Two Applications?</a:t>
            </a:r>
          </a:p>
        </p:txBody>
      </p:sp>
      <p:sp>
        <p:nvSpPr>
          <p:cNvPr id="2867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FA626C6-895F-164E-8F24-A2C04B15C7E5}" type="slidenum">
              <a:rPr lang="en-US"/>
              <a:pPr/>
              <a:t>19</a:t>
            </a:fld>
            <a:endParaRPr lang="en-US"/>
          </a:p>
        </p:txBody>
      </p:sp>
      <p:sp>
        <p:nvSpPr>
          <p:cNvPr id="175106" name="Rectangle 2"/>
          <p:cNvSpPr>
            <a:spLocks noChangeArrowheads="1"/>
          </p:cNvSpPr>
          <p:nvPr/>
        </p:nvSpPr>
        <p:spPr bwMode="auto">
          <a:xfrm>
            <a:off x="381000" y="1828800"/>
            <a:ext cx="8229600" cy="2514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08" name="Rectangle 4"/>
          <p:cNvSpPr>
            <a:spLocks noChangeArrowheads="1"/>
          </p:cNvSpPr>
          <p:nvPr/>
        </p:nvSpPr>
        <p:spPr bwMode="auto">
          <a:xfrm>
            <a:off x="5334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Firefox</a:t>
            </a:r>
            <a:endParaRPr lang="en-US" sz="2400" dirty="0">
              <a:latin typeface="+mn-lt"/>
              <a:ea typeface="+mn-ea"/>
            </a:endParaRPr>
          </a:p>
        </p:txBody>
      </p:sp>
      <p:sp>
        <p:nvSpPr>
          <p:cNvPr id="175109" name="Rectangle 5"/>
          <p:cNvSpPr>
            <a:spLocks noChangeArrowheads="1"/>
          </p:cNvSpPr>
          <p:nvPr/>
        </p:nvSpPr>
        <p:spPr bwMode="auto">
          <a:xfrm>
            <a:off x="25146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Second Life</a:t>
            </a:r>
          </a:p>
        </p:txBody>
      </p:sp>
      <p:sp>
        <p:nvSpPr>
          <p:cNvPr id="175112" name="Text Box 8"/>
          <p:cNvSpPr txBox="1">
            <a:spLocks noChangeArrowheads="1"/>
          </p:cNvSpPr>
          <p:nvPr/>
        </p:nvSpPr>
        <p:spPr bwMode="auto">
          <a:xfrm>
            <a:off x="381000" y="1905000"/>
            <a:ext cx="3387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Application Software</a:t>
            </a:r>
          </a:p>
        </p:txBody>
      </p:sp>
      <p:sp>
        <p:nvSpPr>
          <p:cNvPr id="175113" name="Rectangle 9"/>
          <p:cNvSpPr>
            <a:spLocks noChangeArrowheads="1"/>
          </p:cNvSpPr>
          <p:nvPr/>
        </p:nvSpPr>
        <p:spPr bwMode="auto">
          <a:xfrm>
            <a:off x="381000" y="5105400"/>
            <a:ext cx="52578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14" name="Text Box 10"/>
          <p:cNvSpPr txBox="1">
            <a:spLocks noChangeArrowheads="1"/>
          </p:cNvSpPr>
          <p:nvPr/>
        </p:nvSpPr>
        <p:spPr bwMode="auto">
          <a:xfrm>
            <a:off x="381000" y="5105400"/>
            <a:ext cx="15890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Hardware</a:t>
            </a:r>
          </a:p>
        </p:txBody>
      </p:sp>
      <p:sp>
        <p:nvSpPr>
          <p:cNvPr id="175115" name="Rectangle 11"/>
          <p:cNvSpPr>
            <a:spLocks noChangeArrowheads="1"/>
          </p:cNvSpPr>
          <p:nvPr/>
        </p:nvSpPr>
        <p:spPr bwMode="auto">
          <a:xfrm>
            <a:off x="5867400" y="5105400"/>
            <a:ext cx="27432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16" name="Text Box 12"/>
          <p:cNvSpPr txBox="1">
            <a:spLocks noChangeArrowheads="1"/>
          </p:cNvSpPr>
          <p:nvPr/>
        </p:nvSpPr>
        <p:spPr bwMode="auto">
          <a:xfrm>
            <a:off x="5867400" y="5105400"/>
            <a:ext cx="1400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Network</a:t>
            </a:r>
          </a:p>
        </p:txBody>
      </p:sp>
      <p:sp>
        <p:nvSpPr>
          <p:cNvPr id="175117" name="cddrive"/>
          <p:cNvSpPr>
            <a:spLocks noEditPoints="1" noChangeArrowheads="1"/>
          </p:cNvSpPr>
          <p:nvPr/>
        </p:nvSpPr>
        <p:spPr bwMode="auto">
          <a:xfrm>
            <a:off x="533400" y="5867400"/>
            <a:ext cx="762000" cy="3810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10800 h 21600"/>
              <a:gd name="T4" fmla="*/ 10800 w 21600"/>
              <a:gd name="T5" fmla="*/ 21600 h 21600"/>
              <a:gd name="T6" fmla="*/ 0 w 21600"/>
              <a:gd name="T7" fmla="*/ 10800 h 21600"/>
              <a:gd name="T8" fmla="*/ 686 w 21600"/>
              <a:gd name="T9" fmla="*/ 23059 h 21600"/>
              <a:gd name="T10" fmla="*/ 21005 w 21600"/>
              <a:gd name="T11" fmla="*/ 3050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2563" y="12259"/>
                </a:moveTo>
                <a:lnTo>
                  <a:pt x="2563" y="12843"/>
                </a:lnTo>
                <a:lnTo>
                  <a:pt x="2746" y="13427"/>
                </a:lnTo>
                <a:lnTo>
                  <a:pt x="2929" y="14303"/>
                </a:lnTo>
                <a:lnTo>
                  <a:pt x="3112" y="14886"/>
                </a:lnTo>
                <a:lnTo>
                  <a:pt x="3478" y="15470"/>
                </a:lnTo>
                <a:lnTo>
                  <a:pt x="3844" y="16054"/>
                </a:lnTo>
                <a:lnTo>
                  <a:pt x="4393" y="16638"/>
                </a:lnTo>
                <a:lnTo>
                  <a:pt x="4942" y="17222"/>
                </a:lnTo>
                <a:lnTo>
                  <a:pt x="5492" y="17514"/>
                </a:lnTo>
                <a:lnTo>
                  <a:pt x="6224" y="18097"/>
                </a:lnTo>
                <a:lnTo>
                  <a:pt x="6773" y="18389"/>
                </a:lnTo>
                <a:lnTo>
                  <a:pt x="7505" y="18681"/>
                </a:lnTo>
                <a:lnTo>
                  <a:pt x="8237" y="18973"/>
                </a:lnTo>
                <a:lnTo>
                  <a:pt x="9153" y="18973"/>
                </a:lnTo>
                <a:lnTo>
                  <a:pt x="9885" y="19265"/>
                </a:lnTo>
                <a:lnTo>
                  <a:pt x="10800" y="19265"/>
                </a:lnTo>
                <a:lnTo>
                  <a:pt x="11532" y="19265"/>
                </a:lnTo>
                <a:lnTo>
                  <a:pt x="12447" y="18973"/>
                </a:lnTo>
                <a:lnTo>
                  <a:pt x="13180" y="18973"/>
                </a:lnTo>
                <a:lnTo>
                  <a:pt x="13912" y="18681"/>
                </a:lnTo>
                <a:lnTo>
                  <a:pt x="14644" y="18389"/>
                </a:lnTo>
                <a:lnTo>
                  <a:pt x="15376" y="18097"/>
                </a:lnTo>
                <a:lnTo>
                  <a:pt x="16108" y="17514"/>
                </a:lnTo>
                <a:lnTo>
                  <a:pt x="16658" y="17222"/>
                </a:lnTo>
                <a:lnTo>
                  <a:pt x="17207" y="16638"/>
                </a:lnTo>
                <a:lnTo>
                  <a:pt x="17573" y="16054"/>
                </a:lnTo>
                <a:lnTo>
                  <a:pt x="18122" y="15470"/>
                </a:lnTo>
                <a:lnTo>
                  <a:pt x="18305" y="14886"/>
                </a:lnTo>
                <a:lnTo>
                  <a:pt x="18671" y="14303"/>
                </a:lnTo>
                <a:lnTo>
                  <a:pt x="18854" y="13427"/>
                </a:lnTo>
                <a:lnTo>
                  <a:pt x="19037" y="12843"/>
                </a:lnTo>
                <a:lnTo>
                  <a:pt x="19037" y="12259"/>
                </a:lnTo>
                <a:lnTo>
                  <a:pt x="2563" y="12259"/>
                </a:lnTo>
                <a:close/>
              </a:path>
              <a:path w="21600" h="21600" extrusionOk="0">
                <a:moveTo>
                  <a:pt x="2563" y="12259"/>
                </a:moveTo>
                <a:lnTo>
                  <a:pt x="9153" y="12259"/>
                </a:lnTo>
                <a:lnTo>
                  <a:pt x="9153" y="12551"/>
                </a:lnTo>
                <a:lnTo>
                  <a:pt x="9336" y="12843"/>
                </a:lnTo>
                <a:lnTo>
                  <a:pt x="9519" y="13135"/>
                </a:lnTo>
                <a:lnTo>
                  <a:pt x="9702" y="13135"/>
                </a:lnTo>
                <a:lnTo>
                  <a:pt x="9885" y="13427"/>
                </a:lnTo>
                <a:lnTo>
                  <a:pt x="10068" y="13719"/>
                </a:lnTo>
                <a:lnTo>
                  <a:pt x="10434" y="13719"/>
                </a:lnTo>
                <a:lnTo>
                  <a:pt x="10800" y="13719"/>
                </a:lnTo>
                <a:lnTo>
                  <a:pt x="10983" y="13719"/>
                </a:lnTo>
                <a:lnTo>
                  <a:pt x="11349" y="13719"/>
                </a:lnTo>
                <a:lnTo>
                  <a:pt x="11715" y="13427"/>
                </a:lnTo>
                <a:lnTo>
                  <a:pt x="11898" y="13135"/>
                </a:lnTo>
                <a:lnTo>
                  <a:pt x="12081" y="13135"/>
                </a:lnTo>
                <a:lnTo>
                  <a:pt x="12264" y="12843"/>
                </a:lnTo>
                <a:lnTo>
                  <a:pt x="12264" y="12551"/>
                </a:lnTo>
                <a:lnTo>
                  <a:pt x="12264" y="12259"/>
                </a:lnTo>
                <a:lnTo>
                  <a:pt x="9153" y="12259"/>
                </a:lnTo>
                <a:close/>
              </a:path>
              <a:path w="21600" h="21600" extrusionOk="0">
                <a:moveTo>
                  <a:pt x="21600" y="7589"/>
                </a:moveTo>
                <a:lnTo>
                  <a:pt x="17756" y="0"/>
                </a:lnTo>
                <a:lnTo>
                  <a:pt x="10800" y="0"/>
                </a:lnTo>
                <a:lnTo>
                  <a:pt x="3844" y="0"/>
                </a:lnTo>
                <a:lnTo>
                  <a:pt x="0" y="7589"/>
                </a:lnTo>
                <a:lnTo>
                  <a:pt x="0" y="10800"/>
                </a:lnTo>
                <a:lnTo>
                  <a:pt x="0" y="18097"/>
                </a:lnTo>
                <a:lnTo>
                  <a:pt x="1464" y="18097"/>
                </a:lnTo>
                <a:lnTo>
                  <a:pt x="1464" y="21600"/>
                </a:lnTo>
                <a:lnTo>
                  <a:pt x="10800" y="21600"/>
                </a:lnTo>
                <a:lnTo>
                  <a:pt x="19953" y="21600"/>
                </a:lnTo>
                <a:lnTo>
                  <a:pt x="19953" y="18097"/>
                </a:lnTo>
                <a:lnTo>
                  <a:pt x="21600" y="18097"/>
                </a:lnTo>
                <a:lnTo>
                  <a:pt x="21600" y="11092"/>
                </a:lnTo>
                <a:lnTo>
                  <a:pt x="21600" y="7589"/>
                </a:lnTo>
              </a:path>
              <a:path w="21600" h="21600" extrusionOk="0">
                <a:moveTo>
                  <a:pt x="1647" y="18097"/>
                </a:moveTo>
                <a:lnTo>
                  <a:pt x="6407" y="18097"/>
                </a:lnTo>
                <a:moveTo>
                  <a:pt x="19953" y="18097"/>
                </a:moveTo>
                <a:lnTo>
                  <a:pt x="15010" y="18097"/>
                </a:lnTo>
                <a:moveTo>
                  <a:pt x="0" y="7589"/>
                </a:moveTo>
                <a:lnTo>
                  <a:pt x="21417" y="7589"/>
                </a:lnTo>
                <a:lnTo>
                  <a:pt x="21600" y="7589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18" name="monitor"/>
          <p:cNvSpPr>
            <a:spLocks noEditPoints="1" noChangeArrowheads="1"/>
          </p:cNvSpPr>
          <p:nvPr/>
        </p:nvSpPr>
        <p:spPr bwMode="auto">
          <a:xfrm>
            <a:off x="2209800" y="5181600"/>
            <a:ext cx="1065213" cy="1143000"/>
          </a:xfrm>
          <a:custGeom>
            <a:avLst/>
            <a:gdLst>
              <a:gd name="T0" fmla="*/ 6837 w 21600"/>
              <a:gd name="T1" fmla="*/ 21600 h 21600"/>
              <a:gd name="T2" fmla="*/ 3108 w 21600"/>
              <a:gd name="T3" fmla="*/ 19849 h 21600"/>
              <a:gd name="T4" fmla="*/ 0 w 21600"/>
              <a:gd name="T5" fmla="*/ 15178 h 21600"/>
              <a:gd name="T6" fmla="*/ 0 w 21600"/>
              <a:gd name="T7" fmla="*/ 10508 h 21600"/>
              <a:gd name="T8" fmla="*/ 0 w 21600"/>
              <a:gd name="T9" fmla="*/ 3941 h 21600"/>
              <a:gd name="T10" fmla="*/ 8081 w 21600"/>
              <a:gd name="T11" fmla="*/ 1168 h 21600"/>
              <a:gd name="T12" fmla="*/ 17871 w 21600"/>
              <a:gd name="T13" fmla="*/ 0 h 21600"/>
              <a:gd name="T14" fmla="*/ 21600 w 21600"/>
              <a:gd name="T15" fmla="*/ 1751 h 21600"/>
              <a:gd name="T16" fmla="*/ 21600 w 21600"/>
              <a:gd name="T17" fmla="*/ 10508 h 21600"/>
              <a:gd name="T18" fmla="*/ 21600 w 21600"/>
              <a:gd name="T19" fmla="*/ 16346 h 21600"/>
              <a:gd name="T20" fmla="*/ 10722 w 21600"/>
              <a:gd name="T21" fmla="*/ 20286 h 21600"/>
              <a:gd name="T22" fmla="*/ 1204 w 21600"/>
              <a:gd name="T23" fmla="*/ 22548 h 21600"/>
              <a:gd name="T24" fmla="*/ 20706 w 21600"/>
              <a:gd name="T25" fmla="*/ 283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T22" t="T23" r="T24" b="T25"/>
            <a:pathLst>
              <a:path w="21600" h="21600" extrusionOk="0">
                <a:moveTo>
                  <a:pt x="6837" y="21600"/>
                </a:moveTo>
                <a:lnTo>
                  <a:pt x="3108" y="19849"/>
                </a:lnTo>
                <a:lnTo>
                  <a:pt x="3108" y="17659"/>
                </a:lnTo>
                <a:lnTo>
                  <a:pt x="0" y="15178"/>
                </a:lnTo>
                <a:lnTo>
                  <a:pt x="0" y="10508"/>
                </a:lnTo>
                <a:lnTo>
                  <a:pt x="0" y="3941"/>
                </a:lnTo>
                <a:lnTo>
                  <a:pt x="8081" y="1168"/>
                </a:lnTo>
                <a:lnTo>
                  <a:pt x="10722" y="1605"/>
                </a:lnTo>
                <a:lnTo>
                  <a:pt x="12587" y="1751"/>
                </a:lnTo>
                <a:lnTo>
                  <a:pt x="17871" y="0"/>
                </a:lnTo>
                <a:lnTo>
                  <a:pt x="21600" y="1751"/>
                </a:lnTo>
                <a:lnTo>
                  <a:pt x="21600" y="10508"/>
                </a:lnTo>
                <a:lnTo>
                  <a:pt x="21600" y="16346"/>
                </a:lnTo>
                <a:lnTo>
                  <a:pt x="10722" y="20286"/>
                </a:lnTo>
                <a:lnTo>
                  <a:pt x="6837" y="21600"/>
                </a:lnTo>
                <a:close/>
              </a:path>
              <a:path w="21600" h="21600" extrusionOk="0">
                <a:moveTo>
                  <a:pt x="3108" y="5254"/>
                </a:moveTo>
                <a:lnTo>
                  <a:pt x="2642" y="4962"/>
                </a:lnTo>
                <a:lnTo>
                  <a:pt x="777" y="4232"/>
                </a:lnTo>
                <a:lnTo>
                  <a:pt x="155" y="3941"/>
                </a:lnTo>
                <a:moveTo>
                  <a:pt x="6837" y="7005"/>
                </a:moveTo>
                <a:lnTo>
                  <a:pt x="6216" y="6714"/>
                </a:lnTo>
                <a:lnTo>
                  <a:pt x="3885" y="5546"/>
                </a:lnTo>
                <a:lnTo>
                  <a:pt x="3108" y="5254"/>
                </a:lnTo>
                <a:moveTo>
                  <a:pt x="19735" y="14595"/>
                </a:moveTo>
                <a:lnTo>
                  <a:pt x="19735" y="4816"/>
                </a:lnTo>
                <a:lnTo>
                  <a:pt x="9790" y="8319"/>
                </a:lnTo>
                <a:lnTo>
                  <a:pt x="9790" y="18243"/>
                </a:lnTo>
                <a:lnTo>
                  <a:pt x="19735" y="14595"/>
                </a:lnTo>
                <a:moveTo>
                  <a:pt x="3108" y="17659"/>
                </a:moveTo>
                <a:lnTo>
                  <a:pt x="3108" y="5254"/>
                </a:lnTo>
                <a:lnTo>
                  <a:pt x="12742" y="1751"/>
                </a:lnTo>
                <a:moveTo>
                  <a:pt x="21600" y="1751"/>
                </a:moveTo>
                <a:lnTo>
                  <a:pt x="6837" y="7005"/>
                </a:lnTo>
                <a:lnTo>
                  <a:pt x="6837" y="21600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19" name="printer2"/>
          <p:cNvSpPr>
            <a:spLocks noEditPoints="1" noChangeArrowheads="1"/>
          </p:cNvSpPr>
          <p:nvPr/>
        </p:nvSpPr>
        <p:spPr bwMode="auto">
          <a:xfrm>
            <a:off x="3429000" y="5791200"/>
            <a:ext cx="1250950" cy="533400"/>
          </a:xfrm>
          <a:custGeom>
            <a:avLst/>
            <a:gdLst>
              <a:gd name="T0" fmla="*/ 10673 w 21600"/>
              <a:gd name="T1" fmla="*/ 0 h 21600"/>
              <a:gd name="T2" fmla="*/ 19186 w 21600"/>
              <a:gd name="T3" fmla="*/ 0 h 21600"/>
              <a:gd name="T4" fmla="*/ 21600 w 21600"/>
              <a:gd name="T5" fmla="*/ 4703 h 21600"/>
              <a:gd name="T6" fmla="*/ 21600 w 21600"/>
              <a:gd name="T7" fmla="*/ 10800 h 21600"/>
              <a:gd name="T8" fmla="*/ 21600 w 21600"/>
              <a:gd name="T9" fmla="*/ 16548 h 21600"/>
              <a:gd name="T10" fmla="*/ 18042 w 21600"/>
              <a:gd name="T11" fmla="*/ 21600 h 21600"/>
              <a:gd name="T12" fmla="*/ 10673 w 21600"/>
              <a:gd name="T13" fmla="*/ 21600 h 21600"/>
              <a:gd name="T14" fmla="*/ 3176 w 21600"/>
              <a:gd name="T15" fmla="*/ 21600 h 21600"/>
              <a:gd name="T16" fmla="*/ 0 w 21600"/>
              <a:gd name="T17" fmla="*/ 16548 h 21600"/>
              <a:gd name="T18" fmla="*/ 0 w 21600"/>
              <a:gd name="T19" fmla="*/ 10800 h 21600"/>
              <a:gd name="T20" fmla="*/ 0 w 21600"/>
              <a:gd name="T21" fmla="*/ 4703 h 21600"/>
              <a:gd name="T22" fmla="*/ 2414 w 21600"/>
              <a:gd name="T23" fmla="*/ 0 h 21600"/>
              <a:gd name="T24" fmla="*/ 1397 w 21600"/>
              <a:gd name="T25" fmla="*/ 23298 h 21600"/>
              <a:gd name="T26" fmla="*/ 20266 w 21600"/>
              <a:gd name="T27" fmla="*/ 311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10673" y="0"/>
                </a:moveTo>
                <a:lnTo>
                  <a:pt x="19186" y="0"/>
                </a:lnTo>
                <a:lnTo>
                  <a:pt x="21600" y="4703"/>
                </a:lnTo>
                <a:lnTo>
                  <a:pt x="21600" y="10800"/>
                </a:lnTo>
                <a:lnTo>
                  <a:pt x="21600" y="16548"/>
                </a:lnTo>
                <a:lnTo>
                  <a:pt x="18042" y="16548"/>
                </a:lnTo>
                <a:lnTo>
                  <a:pt x="18042" y="21600"/>
                </a:lnTo>
                <a:lnTo>
                  <a:pt x="10673" y="21600"/>
                </a:lnTo>
                <a:lnTo>
                  <a:pt x="3176" y="21600"/>
                </a:lnTo>
                <a:lnTo>
                  <a:pt x="3176" y="16548"/>
                </a:lnTo>
                <a:lnTo>
                  <a:pt x="0" y="16548"/>
                </a:lnTo>
                <a:lnTo>
                  <a:pt x="0" y="10800"/>
                </a:lnTo>
                <a:lnTo>
                  <a:pt x="0" y="4703"/>
                </a:lnTo>
                <a:lnTo>
                  <a:pt x="2414" y="0"/>
                </a:lnTo>
                <a:lnTo>
                  <a:pt x="10673" y="0"/>
                </a:lnTo>
                <a:close/>
              </a:path>
              <a:path w="21600" h="21600" extrusionOk="0">
                <a:moveTo>
                  <a:pt x="0" y="4703"/>
                </a:moveTo>
                <a:lnTo>
                  <a:pt x="3558" y="4703"/>
                </a:lnTo>
                <a:lnTo>
                  <a:pt x="17026" y="4703"/>
                </a:lnTo>
                <a:lnTo>
                  <a:pt x="21600" y="4703"/>
                </a:lnTo>
                <a:lnTo>
                  <a:pt x="0" y="4703"/>
                </a:lnTo>
                <a:moveTo>
                  <a:pt x="16518" y="4703"/>
                </a:moveTo>
                <a:lnTo>
                  <a:pt x="16518" y="10452"/>
                </a:lnTo>
                <a:lnTo>
                  <a:pt x="0" y="10452"/>
                </a:lnTo>
                <a:moveTo>
                  <a:pt x="4320" y="16548"/>
                </a:moveTo>
                <a:lnTo>
                  <a:pt x="4320" y="17419"/>
                </a:lnTo>
                <a:lnTo>
                  <a:pt x="4320" y="20555"/>
                </a:lnTo>
                <a:lnTo>
                  <a:pt x="4320" y="21600"/>
                </a:lnTo>
                <a:lnTo>
                  <a:pt x="4320" y="16548"/>
                </a:lnTo>
                <a:moveTo>
                  <a:pt x="16899" y="16548"/>
                </a:moveTo>
                <a:lnTo>
                  <a:pt x="16899" y="17419"/>
                </a:lnTo>
                <a:lnTo>
                  <a:pt x="16899" y="20555"/>
                </a:lnTo>
                <a:lnTo>
                  <a:pt x="16899" y="21600"/>
                </a:lnTo>
                <a:lnTo>
                  <a:pt x="16899" y="16548"/>
                </a:lnTo>
                <a:moveTo>
                  <a:pt x="15247" y="14981"/>
                </a:moveTo>
                <a:lnTo>
                  <a:pt x="15247" y="10452"/>
                </a:lnTo>
                <a:lnTo>
                  <a:pt x="16899" y="16548"/>
                </a:lnTo>
                <a:lnTo>
                  <a:pt x="18042" y="16548"/>
                </a:lnTo>
                <a:lnTo>
                  <a:pt x="16518" y="10452"/>
                </a:lnTo>
                <a:moveTo>
                  <a:pt x="15247" y="14981"/>
                </a:moveTo>
                <a:lnTo>
                  <a:pt x="15247" y="14981"/>
                </a:lnTo>
                <a:lnTo>
                  <a:pt x="16772" y="17942"/>
                </a:lnTo>
                <a:lnTo>
                  <a:pt x="4447" y="17942"/>
                </a:lnTo>
                <a:lnTo>
                  <a:pt x="5972" y="14981"/>
                </a:lnTo>
                <a:lnTo>
                  <a:pt x="5972" y="10452"/>
                </a:lnTo>
                <a:lnTo>
                  <a:pt x="4320" y="16548"/>
                </a:lnTo>
                <a:lnTo>
                  <a:pt x="3176" y="16548"/>
                </a:lnTo>
                <a:lnTo>
                  <a:pt x="4701" y="10452"/>
                </a:lnTo>
                <a:moveTo>
                  <a:pt x="20202" y="5574"/>
                </a:moveTo>
                <a:lnTo>
                  <a:pt x="20711" y="5574"/>
                </a:lnTo>
                <a:lnTo>
                  <a:pt x="20711" y="7839"/>
                </a:lnTo>
                <a:lnTo>
                  <a:pt x="20202" y="7839"/>
                </a:lnTo>
                <a:lnTo>
                  <a:pt x="20202" y="5574"/>
                </a:lnTo>
                <a:moveTo>
                  <a:pt x="5972" y="14981"/>
                </a:moveTo>
                <a:lnTo>
                  <a:pt x="7496" y="14981"/>
                </a:lnTo>
                <a:lnTo>
                  <a:pt x="13341" y="14981"/>
                </a:lnTo>
                <a:lnTo>
                  <a:pt x="15247" y="1498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20" name="tower"/>
          <p:cNvSpPr>
            <a:spLocks noEditPoints="1" noChangeArrowheads="1"/>
          </p:cNvSpPr>
          <p:nvPr/>
        </p:nvSpPr>
        <p:spPr bwMode="auto">
          <a:xfrm>
            <a:off x="4953000" y="5181600"/>
            <a:ext cx="604838" cy="111760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21" name="Line 17"/>
          <p:cNvSpPr>
            <a:spLocks noChangeShapeType="1"/>
          </p:cNvSpPr>
          <p:nvPr/>
        </p:nvSpPr>
        <p:spPr bwMode="auto">
          <a:xfrm flipH="1">
            <a:off x="914400" y="3200400"/>
            <a:ext cx="2286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22" name="Line 18"/>
          <p:cNvSpPr>
            <a:spLocks noChangeShapeType="1"/>
          </p:cNvSpPr>
          <p:nvPr/>
        </p:nvSpPr>
        <p:spPr bwMode="auto">
          <a:xfrm>
            <a:off x="1295400" y="3200400"/>
            <a:ext cx="838200" cy="2209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23" name="Line 19"/>
          <p:cNvSpPr>
            <a:spLocks noChangeShapeType="1"/>
          </p:cNvSpPr>
          <p:nvPr/>
        </p:nvSpPr>
        <p:spPr bwMode="auto">
          <a:xfrm>
            <a:off x="1524000" y="3200400"/>
            <a:ext cx="25146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24" name="Line 20"/>
          <p:cNvSpPr>
            <a:spLocks noChangeShapeType="1"/>
          </p:cNvSpPr>
          <p:nvPr/>
        </p:nvSpPr>
        <p:spPr bwMode="auto">
          <a:xfrm>
            <a:off x="1752600" y="3200400"/>
            <a:ext cx="3048000" cy="2209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25" name="Text Box 21"/>
          <p:cNvSpPr txBox="1">
            <a:spLocks noChangeArrowheads="1"/>
          </p:cNvSpPr>
          <p:nvPr/>
        </p:nvSpPr>
        <p:spPr bwMode="auto">
          <a:xfrm rot="16497151">
            <a:off x="152400" y="4038600"/>
            <a:ext cx="12811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Read/write</a:t>
            </a:r>
          </a:p>
        </p:txBody>
      </p:sp>
      <p:sp>
        <p:nvSpPr>
          <p:cNvPr id="175126" name="Text Box 22"/>
          <p:cNvSpPr txBox="1">
            <a:spLocks noChangeArrowheads="1"/>
          </p:cNvSpPr>
          <p:nvPr/>
        </p:nvSpPr>
        <p:spPr bwMode="auto">
          <a:xfrm rot="3925596">
            <a:off x="1463675" y="4152900"/>
            <a:ext cx="9413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Display</a:t>
            </a:r>
          </a:p>
        </p:txBody>
      </p:sp>
      <p:sp>
        <p:nvSpPr>
          <p:cNvPr id="175127" name="Text Box 23"/>
          <p:cNvSpPr txBox="1">
            <a:spLocks noChangeArrowheads="1"/>
          </p:cNvSpPr>
          <p:nvPr/>
        </p:nvSpPr>
        <p:spPr bwMode="auto">
          <a:xfrm rot="2382975">
            <a:off x="2662238" y="4265613"/>
            <a:ext cx="6588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Print</a:t>
            </a:r>
          </a:p>
        </p:txBody>
      </p:sp>
      <p:sp>
        <p:nvSpPr>
          <p:cNvPr id="175128" name="Text Box 24"/>
          <p:cNvSpPr txBox="1">
            <a:spLocks noChangeArrowheads="1"/>
          </p:cNvSpPr>
          <p:nvPr/>
        </p:nvSpPr>
        <p:spPr bwMode="auto">
          <a:xfrm rot="2004995">
            <a:off x="3036888" y="3960813"/>
            <a:ext cx="7366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Store</a:t>
            </a:r>
          </a:p>
        </p:txBody>
      </p:sp>
      <p:sp>
        <p:nvSpPr>
          <p:cNvPr id="175129" name="Line 25"/>
          <p:cNvSpPr>
            <a:spLocks noChangeShapeType="1"/>
          </p:cNvSpPr>
          <p:nvPr/>
        </p:nvSpPr>
        <p:spPr bwMode="auto">
          <a:xfrm flipH="1">
            <a:off x="1066800" y="3200400"/>
            <a:ext cx="18288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30" name="Line 26"/>
          <p:cNvSpPr>
            <a:spLocks noChangeShapeType="1"/>
          </p:cNvSpPr>
          <p:nvPr/>
        </p:nvSpPr>
        <p:spPr bwMode="auto">
          <a:xfrm flipH="1">
            <a:off x="2895600" y="3200400"/>
            <a:ext cx="228600" cy="1981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31" name="Line 27"/>
          <p:cNvSpPr>
            <a:spLocks noChangeShapeType="1"/>
          </p:cNvSpPr>
          <p:nvPr/>
        </p:nvSpPr>
        <p:spPr bwMode="auto">
          <a:xfrm>
            <a:off x="3352800" y="3200400"/>
            <a:ext cx="762000" cy="24384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32" name="Line 28"/>
          <p:cNvSpPr>
            <a:spLocks noChangeShapeType="1"/>
          </p:cNvSpPr>
          <p:nvPr/>
        </p:nvSpPr>
        <p:spPr bwMode="auto">
          <a:xfrm>
            <a:off x="3657600" y="3200400"/>
            <a:ext cx="1676400" cy="1905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33" name="Text Box 29"/>
          <p:cNvSpPr txBox="1">
            <a:spLocks noChangeArrowheads="1"/>
          </p:cNvSpPr>
          <p:nvPr/>
        </p:nvSpPr>
        <p:spPr bwMode="auto">
          <a:xfrm rot="18502192">
            <a:off x="1677987" y="3581401"/>
            <a:ext cx="12811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Read/write</a:t>
            </a:r>
          </a:p>
        </p:txBody>
      </p:sp>
      <p:sp>
        <p:nvSpPr>
          <p:cNvPr id="175134" name="Text Box 30"/>
          <p:cNvSpPr txBox="1">
            <a:spLocks noChangeArrowheads="1"/>
          </p:cNvSpPr>
          <p:nvPr/>
        </p:nvSpPr>
        <p:spPr bwMode="auto">
          <a:xfrm rot="16787155">
            <a:off x="2379663" y="3544888"/>
            <a:ext cx="9413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Display</a:t>
            </a:r>
          </a:p>
        </p:txBody>
      </p:sp>
      <p:sp>
        <p:nvSpPr>
          <p:cNvPr id="175135" name="Text Box 31"/>
          <p:cNvSpPr txBox="1">
            <a:spLocks noChangeArrowheads="1"/>
          </p:cNvSpPr>
          <p:nvPr/>
        </p:nvSpPr>
        <p:spPr bwMode="auto">
          <a:xfrm rot="3976878">
            <a:off x="3433762" y="3643313"/>
            <a:ext cx="658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Print</a:t>
            </a:r>
          </a:p>
        </p:txBody>
      </p:sp>
      <p:sp>
        <p:nvSpPr>
          <p:cNvPr id="175136" name="Text Box 32"/>
          <p:cNvSpPr txBox="1">
            <a:spLocks noChangeArrowheads="1"/>
          </p:cNvSpPr>
          <p:nvPr/>
        </p:nvSpPr>
        <p:spPr bwMode="auto">
          <a:xfrm rot="3101637">
            <a:off x="3944144" y="3448844"/>
            <a:ext cx="736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Store</a:t>
            </a:r>
          </a:p>
        </p:txBody>
      </p:sp>
      <p:sp>
        <p:nvSpPr>
          <p:cNvPr id="175139" name="Line 35"/>
          <p:cNvSpPr>
            <a:spLocks noChangeShapeType="1"/>
          </p:cNvSpPr>
          <p:nvPr/>
        </p:nvSpPr>
        <p:spPr bwMode="auto">
          <a:xfrm>
            <a:off x="2057400" y="3200400"/>
            <a:ext cx="4800600" cy="1905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40" name="Text Box 36"/>
          <p:cNvSpPr txBox="1">
            <a:spLocks noChangeArrowheads="1"/>
          </p:cNvSpPr>
          <p:nvPr/>
        </p:nvSpPr>
        <p:spPr bwMode="auto">
          <a:xfrm rot="1276622">
            <a:off x="5083175" y="4341813"/>
            <a:ext cx="15319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Send/receive</a:t>
            </a:r>
          </a:p>
        </p:txBody>
      </p:sp>
      <p:sp>
        <p:nvSpPr>
          <p:cNvPr id="175141" name="Line 37"/>
          <p:cNvSpPr>
            <a:spLocks noChangeShapeType="1"/>
          </p:cNvSpPr>
          <p:nvPr/>
        </p:nvSpPr>
        <p:spPr bwMode="auto">
          <a:xfrm>
            <a:off x="3886200" y="3200400"/>
            <a:ext cx="3200400" cy="1905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5142" name="Text Box 38"/>
          <p:cNvSpPr txBox="1">
            <a:spLocks noChangeArrowheads="1"/>
          </p:cNvSpPr>
          <p:nvPr/>
        </p:nvSpPr>
        <p:spPr bwMode="auto">
          <a:xfrm rot="1839513">
            <a:off x="5768975" y="4340225"/>
            <a:ext cx="15319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Send/receive</a:t>
            </a:r>
          </a:p>
        </p:txBody>
      </p:sp>
      <p:pic>
        <p:nvPicPr>
          <p:cNvPr id="28709" name="Picture 4" descr="C:\Users\rhk\AppData\Local\Microsoft\Windows\Temporary Internet Files\Content.IE5\P0TC36KP\MCj03984470000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791200"/>
            <a:ext cx="8382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710" name="Picture 5" descr="C:\Users\rhk\AppData\Local\Microsoft\Windows\Temporary Internet Files\Content.IE5\6WDTZ2I7\MCj03984450000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715000"/>
            <a:ext cx="725488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>
                <a:latin typeface="Arial" charset="0"/>
              </a:rPr>
              <a:t>Managing More Applications?</a:t>
            </a:r>
          </a:p>
        </p:txBody>
      </p:sp>
      <p:sp>
        <p:nvSpPr>
          <p:cNvPr id="2969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E698239E-54CB-2E4E-9814-683626F785A9}" type="slidenum">
              <a:rPr lang="en-US"/>
              <a:pPr/>
              <a:t>20</a:t>
            </a:fld>
            <a:endParaRPr lang="en-US"/>
          </a:p>
        </p:txBody>
      </p:sp>
      <p:sp>
        <p:nvSpPr>
          <p:cNvPr id="176130" name="Rectangle 2"/>
          <p:cNvSpPr>
            <a:spLocks noChangeArrowheads="1"/>
          </p:cNvSpPr>
          <p:nvPr/>
        </p:nvSpPr>
        <p:spPr bwMode="auto">
          <a:xfrm>
            <a:off x="381000" y="1828800"/>
            <a:ext cx="8229600" cy="2514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32" name="Rectangle 4"/>
          <p:cNvSpPr>
            <a:spLocks noChangeArrowheads="1"/>
          </p:cNvSpPr>
          <p:nvPr/>
        </p:nvSpPr>
        <p:spPr bwMode="auto">
          <a:xfrm>
            <a:off x="5334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Firefox</a:t>
            </a:r>
            <a:endParaRPr lang="en-US" sz="2400" dirty="0">
              <a:latin typeface="+mn-lt"/>
              <a:ea typeface="+mn-ea"/>
            </a:endParaRPr>
          </a:p>
        </p:txBody>
      </p:sp>
      <p:sp>
        <p:nvSpPr>
          <p:cNvPr id="176133" name="Rectangle 5"/>
          <p:cNvSpPr>
            <a:spLocks noChangeArrowheads="1"/>
          </p:cNvSpPr>
          <p:nvPr/>
        </p:nvSpPr>
        <p:spPr bwMode="auto">
          <a:xfrm>
            <a:off x="25146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Second Life</a:t>
            </a:r>
          </a:p>
        </p:txBody>
      </p:sp>
      <p:sp>
        <p:nvSpPr>
          <p:cNvPr id="176134" name="Rectangle 6"/>
          <p:cNvSpPr>
            <a:spLocks noChangeArrowheads="1"/>
          </p:cNvSpPr>
          <p:nvPr/>
        </p:nvSpPr>
        <p:spPr bwMode="auto">
          <a:xfrm>
            <a:off x="45720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+mn-ea"/>
              </a:rPr>
              <a:t>Yahoo</a:t>
            </a:r>
          </a:p>
          <a:p>
            <a:pPr algn="ctr">
              <a:defRPr/>
            </a:pPr>
            <a:r>
              <a:rPr lang="en-US" sz="2400" dirty="0">
                <a:latin typeface="+mn-lt"/>
                <a:ea typeface="+mn-ea"/>
              </a:rPr>
              <a:t>Chat</a:t>
            </a:r>
          </a:p>
        </p:txBody>
      </p:sp>
      <p:sp>
        <p:nvSpPr>
          <p:cNvPr id="176136" name="Text Box 8"/>
          <p:cNvSpPr txBox="1">
            <a:spLocks noChangeArrowheads="1"/>
          </p:cNvSpPr>
          <p:nvPr/>
        </p:nvSpPr>
        <p:spPr bwMode="auto">
          <a:xfrm>
            <a:off x="381000" y="1905000"/>
            <a:ext cx="3387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Application Software</a:t>
            </a:r>
          </a:p>
        </p:txBody>
      </p:sp>
      <p:sp>
        <p:nvSpPr>
          <p:cNvPr id="176137" name="Rectangle 9"/>
          <p:cNvSpPr>
            <a:spLocks noChangeArrowheads="1"/>
          </p:cNvSpPr>
          <p:nvPr/>
        </p:nvSpPr>
        <p:spPr bwMode="auto">
          <a:xfrm>
            <a:off x="381000" y="5105400"/>
            <a:ext cx="52578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38" name="Text Box 10"/>
          <p:cNvSpPr txBox="1">
            <a:spLocks noChangeArrowheads="1"/>
          </p:cNvSpPr>
          <p:nvPr/>
        </p:nvSpPr>
        <p:spPr bwMode="auto">
          <a:xfrm>
            <a:off x="381000" y="5105400"/>
            <a:ext cx="15890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Hardware</a:t>
            </a:r>
          </a:p>
        </p:txBody>
      </p:sp>
      <p:sp>
        <p:nvSpPr>
          <p:cNvPr id="176139" name="Rectangle 11"/>
          <p:cNvSpPr>
            <a:spLocks noChangeArrowheads="1"/>
          </p:cNvSpPr>
          <p:nvPr/>
        </p:nvSpPr>
        <p:spPr bwMode="auto">
          <a:xfrm>
            <a:off x="5867400" y="5105400"/>
            <a:ext cx="27432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40" name="Text Box 12"/>
          <p:cNvSpPr txBox="1">
            <a:spLocks noChangeArrowheads="1"/>
          </p:cNvSpPr>
          <p:nvPr/>
        </p:nvSpPr>
        <p:spPr bwMode="auto">
          <a:xfrm>
            <a:off x="5867400" y="5105400"/>
            <a:ext cx="1400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Network</a:t>
            </a:r>
          </a:p>
        </p:txBody>
      </p:sp>
      <p:sp>
        <p:nvSpPr>
          <p:cNvPr id="176141" name="cddrive"/>
          <p:cNvSpPr>
            <a:spLocks noEditPoints="1" noChangeArrowheads="1"/>
          </p:cNvSpPr>
          <p:nvPr/>
        </p:nvSpPr>
        <p:spPr bwMode="auto">
          <a:xfrm>
            <a:off x="533400" y="5867400"/>
            <a:ext cx="762000" cy="3810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10800 h 21600"/>
              <a:gd name="T4" fmla="*/ 10800 w 21600"/>
              <a:gd name="T5" fmla="*/ 21600 h 21600"/>
              <a:gd name="T6" fmla="*/ 0 w 21600"/>
              <a:gd name="T7" fmla="*/ 10800 h 21600"/>
              <a:gd name="T8" fmla="*/ 686 w 21600"/>
              <a:gd name="T9" fmla="*/ 23059 h 21600"/>
              <a:gd name="T10" fmla="*/ 21005 w 21600"/>
              <a:gd name="T11" fmla="*/ 3050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2563" y="12259"/>
                </a:moveTo>
                <a:lnTo>
                  <a:pt x="2563" y="12843"/>
                </a:lnTo>
                <a:lnTo>
                  <a:pt x="2746" y="13427"/>
                </a:lnTo>
                <a:lnTo>
                  <a:pt x="2929" y="14303"/>
                </a:lnTo>
                <a:lnTo>
                  <a:pt x="3112" y="14886"/>
                </a:lnTo>
                <a:lnTo>
                  <a:pt x="3478" y="15470"/>
                </a:lnTo>
                <a:lnTo>
                  <a:pt x="3844" y="16054"/>
                </a:lnTo>
                <a:lnTo>
                  <a:pt x="4393" y="16638"/>
                </a:lnTo>
                <a:lnTo>
                  <a:pt x="4942" y="17222"/>
                </a:lnTo>
                <a:lnTo>
                  <a:pt x="5492" y="17514"/>
                </a:lnTo>
                <a:lnTo>
                  <a:pt x="6224" y="18097"/>
                </a:lnTo>
                <a:lnTo>
                  <a:pt x="6773" y="18389"/>
                </a:lnTo>
                <a:lnTo>
                  <a:pt x="7505" y="18681"/>
                </a:lnTo>
                <a:lnTo>
                  <a:pt x="8237" y="18973"/>
                </a:lnTo>
                <a:lnTo>
                  <a:pt x="9153" y="18973"/>
                </a:lnTo>
                <a:lnTo>
                  <a:pt x="9885" y="19265"/>
                </a:lnTo>
                <a:lnTo>
                  <a:pt x="10800" y="19265"/>
                </a:lnTo>
                <a:lnTo>
                  <a:pt x="11532" y="19265"/>
                </a:lnTo>
                <a:lnTo>
                  <a:pt x="12447" y="18973"/>
                </a:lnTo>
                <a:lnTo>
                  <a:pt x="13180" y="18973"/>
                </a:lnTo>
                <a:lnTo>
                  <a:pt x="13912" y="18681"/>
                </a:lnTo>
                <a:lnTo>
                  <a:pt x="14644" y="18389"/>
                </a:lnTo>
                <a:lnTo>
                  <a:pt x="15376" y="18097"/>
                </a:lnTo>
                <a:lnTo>
                  <a:pt x="16108" y="17514"/>
                </a:lnTo>
                <a:lnTo>
                  <a:pt x="16658" y="17222"/>
                </a:lnTo>
                <a:lnTo>
                  <a:pt x="17207" y="16638"/>
                </a:lnTo>
                <a:lnTo>
                  <a:pt x="17573" y="16054"/>
                </a:lnTo>
                <a:lnTo>
                  <a:pt x="18122" y="15470"/>
                </a:lnTo>
                <a:lnTo>
                  <a:pt x="18305" y="14886"/>
                </a:lnTo>
                <a:lnTo>
                  <a:pt x="18671" y="14303"/>
                </a:lnTo>
                <a:lnTo>
                  <a:pt x="18854" y="13427"/>
                </a:lnTo>
                <a:lnTo>
                  <a:pt x="19037" y="12843"/>
                </a:lnTo>
                <a:lnTo>
                  <a:pt x="19037" y="12259"/>
                </a:lnTo>
                <a:lnTo>
                  <a:pt x="2563" y="12259"/>
                </a:lnTo>
                <a:close/>
              </a:path>
              <a:path w="21600" h="21600" extrusionOk="0">
                <a:moveTo>
                  <a:pt x="2563" y="12259"/>
                </a:moveTo>
                <a:lnTo>
                  <a:pt x="9153" y="12259"/>
                </a:lnTo>
                <a:lnTo>
                  <a:pt x="9153" y="12551"/>
                </a:lnTo>
                <a:lnTo>
                  <a:pt x="9336" y="12843"/>
                </a:lnTo>
                <a:lnTo>
                  <a:pt x="9519" y="13135"/>
                </a:lnTo>
                <a:lnTo>
                  <a:pt x="9702" y="13135"/>
                </a:lnTo>
                <a:lnTo>
                  <a:pt x="9885" y="13427"/>
                </a:lnTo>
                <a:lnTo>
                  <a:pt x="10068" y="13719"/>
                </a:lnTo>
                <a:lnTo>
                  <a:pt x="10434" y="13719"/>
                </a:lnTo>
                <a:lnTo>
                  <a:pt x="10800" y="13719"/>
                </a:lnTo>
                <a:lnTo>
                  <a:pt x="10983" y="13719"/>
                </a:lnTo>
                <a:lnTo>
                  <a:pt x="11349" y="13719"/>
                </a:lnTo>
                <a:lnTo>
                  <a:pt x="11715" y="13427"/>
                </a:lnTo>
                <a:lnTo>
                  <a:pt x="11898" y="13135"/>
                </a:lnTo>
                <a:lnTo>
                  <a:pt x="12081" y="13135"/>
                </a:lnTo>
                <a:lnTo>
                  <a:pt x="12264" y="12843"/>
                </a:lnTo>
                <a:lnTo>
                  <a:pt x="12264" y="12551"/>
                </a:lnTo>
                <a:lnTo>
                  <a:pt x="12264" y="12259"/>
                </a:lnTo>
                <a:lnTo>
                  <a:pt x="9153" y="12259"/>
                </a:lnTo>
                <a:close/>
              </a:path>
              <a:path w="21600" h="21600" extrusionOk="0">
                <a:moveTo>
                  <a:pt x="21600" y="7589"/>
                </a:moveTo>
                <a:lnTo>
                  <a:pt x="17756" y="0"/>
                </a:lnTo>
                <a:lnTo>
                  <a:pt x="10800" y="0"/>
                </a:lnTo>
                <a:lnTo>
                  <a:pt x="3844" y="0"/>
                </a:lnTo>
                <a:lnTo>
                  <a:pt x="0" y="7589"/>
                </a:lnTo>
                <a:lnTo>
                  <a:pt x="0" y="10800"/>
                </a:lnTo>
                <a:lnTo>
                  <a:pt x="0" y="18097"/>
                </a:lnTo>
                <a:lnTo>
                  <a:pt x="1464" y="18097"/>
                </a:lnTo>
                <a:lnTo>
                  <a:pt x="1464" y="21600"/>
                </a:lnTo>
                <a:lnTo>
                  <a:pt x="10800" y="21600"/>
                </a:lnTo>
                <a:lnTo>
                  <a:pt x="19953" y="21600"/>
                </a:lnTo>
                <a:lnTo>
                  <a:pt x="19953" y="18097"/>
                </a:lnTo>
                <a:lnTo>
                  <a:pt x="21600" y="18097"/>
                </a:lnTo>
                <a:lnTo>
                  <a:pt x="21600" y="11092"/>
                </a:lnTo>
                <a:lnTo>
                  <a:pt x="21600" y="7589"/>
                </a:lnTo>
              </a:path>
              <a:path w="21600" h="21600" extrusionOk="0">
                <a:moveTo>
                  <a:pt x="1647" y="18097"/>
                </a:moveTo>
                <a:lnTo>
                  <a:pt x="6407" y="18097"/>
                </a:lnTo>
                <a:moveTo>
                  <a:pt x="19953" y="18097"/>
                </a:moveTo>
                <a:lnTo>
                  <a:pt x="15010" y="18097"/>
                </a:lnTo>
                <a:moveTo>
                  <a:pt x="0" y="7589"/>
                </a:moveTo>
                <a:lnTo>
                  <a:pt x="21417" y="7589"/>
                </a:lnTo>
                <a:lnTo>
                  <a:pt x="21600" y="7589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42" name="monitor"/>
          <p:cNvSpPr>
            <a:spLocks noEditPoints="1" noChangeArrowheads="1"/>
          </p:cNvSpPr>
          <p:nvPr/>
        </p:nvSpPr>
        <p:spPr bwMode="auto">
          <a:xfrm>
            <a:off x="2209800" y="5181600"/>
            <a:ext cx="1065213" cy="1143000"/>
          </a:xfrm>
          <a:custGeom>
            <a:avLst/>
            <a:gdLst>
              <a:gd name="T0" fmla="*/ 6837 w 21600"/>
              <a:gd name="T1" fmla="*/ 21600 h 21600"/>
              <a:gd name="T2" fmla="*/ 3108 w 21600"/>
              <a:gd name="T3" fmla="*/ 19849 h 21600"/>
              <a:gd name="T4" fmla="*/ 0 w 21600"/>
              <a:gd name="T5" fmla="*/ 15178 h 21600"/>
              <a:gd name="T6" fmla="*/ 0 w 21600"/>
              <a:gd name="T7" fmla="*/ 10508 h 21600"/>
              <a:gd name="T8" fmla="*/ 0 w 21600"/>
              <a:gd name="T9" fmla="*/ 3941 h 21600"/>
              <a:gd name="T10" fmla="*/ 8081 w 21600"/>
              <a:gd name="T11" fmla="*/ 1168 h 21600"/>
              <a:gd name="T12" fmla="*/ 17871 w 21600"/>
              <a:gd name="T13" fmla="*/ 0 h 21600"/>
              <a:gd name="T14" fmla="*/ 21600 w 21600"/>
              <a:gd name="T15" fmla="*/ 1751 h 21600"/>
              <a:gd name="T16" fmla="*/ 21600 w 21600"/>
              <a:gd name="T17" fmla="*/ 10508 h 21600"/>
              <a:gd name="T18" fmla="*/ 21600 w 21600"/>
              <a:gd name="T19" fmla="*/ 16346 h 21600"/>
              <a:gd name="T20" fmla="*/ 10722 w 21600"/>
              <a:gd name="T21" fmla="*/ 20286 h 21600"/>
              <a:gd name="T22" fmla="*/ 1204 w 21600"/>
              <a:gd name="T23" fmla="*/ 22548 h 21600"/>
              <a:gd name="T24" fmla="*/ 20706 w 21600"/>
              <a:gd name="T25" fmla="*/ 283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T22" t="T23" r="T24" b="T25"/>
            <a:pathLst>
              <a:path w="21600" h="21600" extrusionOk="0">
                <a:moveTo>
                  <a:pt x="6837" y="21600"/>
                </a:moveTo>
                <a:lnTo>
                  <a:pt x="3108" y="19849"/>
                </a:lnTo>
                <a:lnTo>
                  <a:pt x="3108" y="17659"/>
                </a:lnTo>
                <a:lnTo>
                  <a:pt x="0" y="15178"/>
                </a:lnTo>
                <a:lnTo>
                  <a:pt x="0" y="10508"/>
                </a:lnTo>
                <a:lnTo>
                  <a:pt x="0" y="3941"/>
                </a:lnTo>
                <a:lnTo>
                  <a:pt x="8081" y="1168"/>
                </a:lnTo>
                <a:lnTo>
                  <a:pt x="10722" y="1605"/>
                </a:lnTo>
                <a:lnTo>
                  <a:pt x="12587" y="1751"/>
                </a:lnTo>
                <a:lnTo>
                  <a:pt x="17871" y="0"/>
                </a:lnTo>
                <a:lnTo>
                  <a:pt x="21600" y="1751"/>
                </a:lnTo>
                <a:lnTo>
                  <a:pt x="21600" y="10508"/>
                </a:lnTo>
                <a:lnTo>
                  <a:pt x="21600" y="16346"/>
                </a:lnTo>
                <a:lnTo>
                  <a:pt x="10722" y="20286"/>
                </a:lnTo>
                <a:lnTo>
                  <a:pt x="6837" y="21600"/>
                </a:lnTo>
                <a:close/>
              </a:path>
              <a:path w="21600" h="21600" extrusionOk="0">
                <a:moveTo>
                  <a:pt x="3108" y="5254"/>
                </a:moveTo>
                <a:lnTo>
                  <a:pt x="2642" y="4962"/>
                </a:lnTo>
                <a:lnTo>
                  <a:pt x="777" y="4232"/>
                </a:lnTo>
                <a:lnTo>
                  <a:pt x="155" y="3941"/>
                </a:lnTo>
                <a:moveTo>
                  <a:pt x="6837" y="7005"/>
                </a:moveTo>
                <a:lnTo>
                  <a:pt x="6216" y="6714"/>
                </a:lnTo>
                <a:lnTo>
                  <a:pt x="3885" y="5546"/>
                </a:lnTo>
                <a:lnTo>
                  <a:pt x="3108" y="5254"/>
                </a:lnTo>
                <a:moveTo>
                  <a:pt x="19735" y="14595"/>
                </a:moveTo>
                <a:lnTo>
                  <a:pt x="19735" y="4816"/>
                </a:lnTo>
                <a:lnTo>
                  <a:pt x="9790" y="8319"/>
                </a:lnTo>
                <a:lnTo>
                  <a:pt x="9790" y="18243"/>
                </a:lnTo>
                <a:lnTo>
                  <a:pt x="19735" y="14595"/>
                </a:lnTo>
                <a:moveTo>
                  <a:pt x="3108" y="17659"/>
                </a:moveTo>
                <a:lnTo>
                  <a:pt x="3108" y="5254"/>
                </a:lnTo>
                <a:lnTo>
                  <a:pt x="12742" y="1751"/>
                </a:lnTo>
                <a:moveTo>
                  <a:pt x="21600" y="1751"/>
                </a:moveTo>
                <a:lnTo>
                  <a:pt x="6837" y="7005"/>
                </a:lnTo>
                <a:lnTo>
                  <a:pt x="6837" y="21600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43" name="printer2"/>
          <p:cNvSpPr>
            <a:spLocks noEditPoints="1" noChangeArrowheads="1"/>
          </p:cNvSpPr>
          <p:nvPr/>
        </p:nvSpPr>
        <p:spPr bwMode="auto">
          <a:xfrm>
            <a:off x="3429000" y="5791200"/>
            <a:ext cx="1250950" cy="533400"/>
          </a:xfrm>
          <a:custGeom>
            <a:avLst/>
            <a:gdLst>
              <a:gd name="T0" fmla="*/ 10673 w 21600"/>
              <a:gd name="T1" fmla="*/ 0 h 21600"/>
              <a:gd name="T2" fmla="*/ 19186 w 21600"/>
              <a:gd name="T3" fmla="*/ 0 h 21600"/>
              <a:gd name="T4" fmla="*/ 21600 w 21600"/>
              <a:gd name="T5" fmla="*/ 4703 h 21600"/>
              <a:gd name="T6" fmla="*/ 21600 w 21600"/>
              <a:gd name="T7" fmla="*/ 10800 h 21600"/>
              <a:gd name="T8" fmla="*/ 21600 w 21600"/>
              <a:gd name="T9" fmla="*/ 16548 h 21600"/>
              <a:gd name="T10" fmla="*/ 18042 w 21600"/>
              <a:gd name="T11" fmla="*/ 21600 h 21600"/>
              <a:gd name="T12" fmla="*/ 10673 w 21600"/>
              <a:gd name="T13" fmla="*/ 21600 h 21600"/>
              <a:gd name="T14" fmla="*/ 3176 w 21600"/>
              <a:gd name="T15" fmla="*/ 21600 h 21600"/>
              <a:gd name="T16" fmla="*/ 0 w 21600"/>
              <a:gd name="T17" fmla="*/ 16548 h 21600"/>
              <a:gd name="T18" fmla="*/ 0 w 21600"/>
              <a:gd name="T19" fmla="*/ 10800 h 21600"/>
              <a:gd name="T20" fmla="*/ 0 w 21600"/>
              <a:gd name="T21" fmla="*/ 4703 h 21600"/>
              <a:gd name="T22" fmla="*/ 2414 w 21600"/>
              <a:gd name="T23" fmla="*/ 0 h 21600"/>
              <a:gd name="T24" fmla="*/ 1397 w 21600"/>
              <a:gd name="T25" fmla="*/ 23298 h 21600"/>
              <a:gd name="T26" fmla="*/ 20266 w 21600"/>
              <a:gd name="T27" fmla="*/ 311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10673" y="0"/>
                </a:moveTo>
                <a:lnTo>
                  <a:pt x="19186" y="0"/>
                </a:lnTo>
                <a:lnTo>
                  <a:pt x="21600" y="4703"/>
                </a:lnTo>
                <a:lnTo>
                  <a:pt x="21600" y="10800"/>
                </a:lnTo>
                <a:lnTo>
                  <a:pt x="21600" y="16548"/>
                </a:lnTo>
                <a:lnTo>
                  <a:pt x="18042" y="16548"/>
                </a:lnTo>
                <a:lnTo>
                  <a:pt x="18042" y="21600"/>
                </a:lnTo>
                <a:lnTo>
                  <a:pt x="10673" y="21600"/>
                </a:lnTo>
                <a:lnTo>
                  <a:pt x="3176" y="21600"/>
                </a:lnTo>
                <a:lnTo>
                  <a:pt x="3176" y="16548"/>
                </a:lnTo>
                <a:lnTo>
                  <a:pt x="0" y="16548"/>
                </a:lnTo>
                <a:lnTo>
                  <a:pt x="0" y="10800"/>
                </a:lnTo>
                <a:lnTo>
                  <a:pt x="0" y="4703"/>
                </a:lnTo>
                <a:lnTo>
                  <a:pt x="2414" y="0"/>
                </a:lnTo>
                <a:lnTo>
                  <a:pt x="10673" y="0"/>
                </a:lnTo>
                <a:close/>
              </a:path>
              <a:path w="21600" h="21600" extrusionOk="0">
                <a:moveTo>
                  <a:pt x="0" y="4703"/>
                </a:moveTo>
                <a:lnTo>
                  <a:pt x="3558" y="4703"/>
                </a:lnTo>
                <a:lnTo>
                  <a:pt x="17026" y="4703"/>
                </a:lnTo>
                <a:lnTo>
                  <a:pt x="21600" y="4703"/>
                </a:lnTo>
                <a:lnTo>
                  <a:pt x="0" y="4703"/>
                </a:lnTo>
                <a:moveTo>
                  <a:pt x="16518" y="4703"/>
                </a:moveTo>
                <a:lnTo>
                  <a:pt x="16518" y="10452"/>
                </a:lnTo>
                <a:lnTo>
                  <a:pt x="0" y="10452"/>
                </a:lnTo>
                <a:moveTo>
                  <a:pt x="4320" y="16548"/>
                </a:moveTo>
                <a:lnTo>
                  <a:pt x="4320" y="17419"/>
                </a:lnTo>
                <a:lnTo>
                  <a:pt x="4320" y="20555"/>
                </a:lnTo>
                <a:lnTo>
                  <a:pt x="4320" y="21600"/>
                </a:lnTo>
                <a:lnTo>
                  <a:pt x="4320" y="16548"/>
                </a:lnTo>
                <a:moveTo>
                  <a:pt x="16899" y="16548"/>
                </a:moveTo>
                <a:lnTo>
                  <a:pt x="16899" y="17419"/>
                </a:lnTo>
                <a:lnTo>
                  <a:pt x="16899" y="20555"/>
                </a:lnTo>
                <a:lnTo>
                  <a:pt x="16899" y="21600"/>
                </a:lnTo>
                <a:lnTo>
                  <a:pt x="16899" y="16548"/>
                </a:lnTo>
                <a:moveTo>
                  <a:pt x="15247" y="14981"/>
                </a:moveTo>
                <a:lnTo>
                  <a:pt x="15247" y="10452"/>
                </a:lnTo>
                <a:lnTo>
                  <a:pt x="16899" y="16548"/>
                </a:lnTo>
                <a:lnTo>
                  <a:pt x="18042" y="16548"/>
                </a:lnTo>
                <a:lnTo>
                  <a:pt x="16518" y="10452"/>
                </a:lnTo>
                <a:moveTo>
                  <a:pt x="15247" y="14981"/>
                </a:moveTo>
                <a:lnTo>
                  <a:pt x="15247" y="14981"/>
                </a:lnTo>
                <a:lnTo>
                  <a:pt x="16772" y="17942"/>
                </a:lnTo>
                <a:lnTo>
                  <a:pt x="4447" y="17942"/>
                </a:lnTo>
                <a:lnTo>
                  <a:pt x="5972" y="14981"/>
                </a:lnTo>
                <a:lnTo>
                  <a:pt x="5972" y="10452"/>
                </a:lnTo>
                <a:lnTo>
                  <a:pt x="4320" y="16548"/>
                </a:lnTo>
                <a:lnTo>
                  <a:pt x="3176" y="16548"/>
                </a:lnTo>
                <a:lnTo>
                  <a:pt x="4701" y="10452"/>
                </a:lnTo>
                <a:moveTo>
                  <a:pt x="20202" y="5574"/>
                </a:moveTo>
                <a:lnTo>
                  <a:pt x="20711" y="5574"/>
                </a:lnTo>
                <a:lnTo>
                  <a:pt x="20711" y="7839"/>
                </a:lnTo>
                <a:lnTo>
                  <a:pt x="20202" y="7839"/>
                </a:lnTo>
                <a:lnTo>
                  <a:pt x="20202" y="5574"/>
                </a:lnTo>
                <a:moveTo>
                  <a:pt x="5972" y="14981"/>
                </a:moveTo>
                <a:lnTo>
                  <a:pt x="7496" y="14981"/>
                </a:lnTo>
                <a:lnTo>
                  <a:pt x="13341" y="14981"/>
                </a:lnTo>
                <a:lnTo>
                  <a:pt x="15247" y="1498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44" name="tower"/>
          <p:cNvSpPr>
            <a:spLocks noEditPoints="1" noChangeArrowheads="1"/>
          </p:cNvSpPr>
          <p:nvPr/>
        </p:nvSpPr>
        <p:spPr bwMode="auto">
          <a:xfrm>
            <a:off x="4953000" y="5181600"/>
            <a:ext cx="604838" cy="111760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45" name="Line 17"/>
          <p:cNvSpPr>
            <a:spLocks noChangeShapeType="1"/>
          </p:cNvSpPr>
          <p:nvPr/>
        </p:nvSpPr>
        <p:spPr bwMode="auto">
          <a:xfrm flipH="1">
            <a:off x="914400" y="3200400"/>
            <a:ext cx="2286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46" name="Line 18"/>
          <p:cNvSpPr>
            <a:spLocks noChangeShapeType="1"/>
          </p:cNvSpPr>
          <p:nvPr/>
        </p:nvSpPr>
        <p:spPr bwMode="auto">
          <a:xfrm>
            <a:off x="1295400" y="3200400"/>
            <a:ext cx="838200" cy="2209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47" name="Line 19"/>
          <p:cNvSpPr>
            <a:spLocks noChangeShapeType="1"/>
          </p:cNvSpPr>
          <p:nvPr/>
        </p:nvSpPr>
        <p:spPr bwMode="auto">
          <a:xfrm>
            <a:off x="1524000" y="3200400"/>
            <a:ext cx="25146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48" name="Line 20"/>
          <p:cNvSpPr>
            <a:spLocks noChangeShapeType="1"/>
          </p:cNvSpPr>
          <p:nvPr/>
        </p:nvSpPr>
        <p:spPr bwMode="auto">
          <a:xfrm>
            <a:off x="1752600" y="3200400"/>
            <a:ext cx="3048000" cy="2209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49" name="Text Box 21"/>
          <p:cNvSpPr txBox="1">
            <a:spLocks noChangeArrowheads="1"/>
          </p:cNvSpPr>
          <p:nvPr/>
        </p:nvSpPr>
        <p:spPr bwMode="auto">
          <a:xfrm rot="19614327">
            <a:off x="1600200" y="4649788"/>
            <a:ext cx="12811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Read/write</a:t>
            </a:r>
          </a:p>
        </p:txBody>
      </p:sp>
      <p:sp>
        <p:nvSpPr>
          <p:cNvPr id="176150" name="Text Box 22"/>
          <p:cNvSpPr txBox="1">
            <a:spLocks noChangeArrowheads="1"/>
          </p:cNvSpPr>
          <p:nvPr/>
        </p:nvSpPr>
        <p:spPr bwMode="auto">
          <a:xfrm rot="3925596">
            <a:off x="1463675" y="4152900"/>
            <a:ext cx="9413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Display</a:t>
            </a:r>
          </a:p>
        </p:txBody>
      </p:sp>
      <p:sp>
        <p:nvSpPr>
          <p:cNvPr id="176151" name="Text Box 23"/>
          <p:cNvSpPr txBox="1">
            <a:spLocks noChangeArrowheads="1"/>
          </p:cNvSpPr>
          <p:nvPr/>
        </p:nvSpPr>
        <p:spPr bwMode="auto">
          <a:xfrm rot="2382975">
            <a:off x="2662238" y="4265613"/>
            <a:ext cx="6588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Print</a:t>
            </a:r>
          </a:p>
        </p:txBody>
      </p:sp>
      <p:sp>
        <p:nvSpPr>
          <p:cNvPr id="176152" name="Text Box 24"/>
          <p:cNvSpPr txBox="1">
            <a:spLocks noChangeArrowheads="1"/>
          </p:cNvSpPr>
          <p:nvPr/>
        </p:nvSpPr>
        <p:spPr bwMode="auto">
          <a:xfrm rot="2004995">
            <a:off x="3036888" y="3960813"/>
            <a:ext cx="7366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Store</a:t>
            </a:r>
          </a:p>
        </p:txBody>
      </p:sp>
      <p:sp>
        <p:nvSpPr>
          <p:cNvPr id="176153" name="Line 25"/>
          <p:cNvSpPr>
            <a:spLocks noChangeShapeType="1"/>
          </p:cNvSpPr>
          <p:nvPr/>
        </p:nvSpPr>
        <p:spPr bwMode="auto">
          <a:xfrm flipH="1">
            <a:off x="1066800" y="3200400"/>
            <a:ext cx="18288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54" name="Line 26"/>
          <p:cNvSpPr>
            <a:spLocks noChangeShapeType="1"/>
          </p:cNvSpPr>
          <p:nvPr/>
        </p:nvSpPr>
        <p:spPr bwMode="auto">
          <a:xfrm flipH="1">
            <a:off x="2895600" y="3200400"/>
            <a:ext cx="228600" cy="1981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55" name="Line 27"/>
          <p:cNvSpPr>
            <a:spLocks noChangeShapeType="1"/>
          </p:cNvSpPr>
          <p:nvPr/>
        </p:nvSpPr>
        <p:spPr bwMode="auto">
          <a:xfrm>
            <a:off x="3352800" y="3200400"/>
            <a:ext cx="762000" cy="24384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56" name="Line 28"/>
          <p:cNvSpPr>
            <a:spLocks noChangeShapeType="1"/>
          </p:cNvSpPr>
          <p:nvPr/>
        </p:nvSpPr>
        <p:spPr bwMode="auto">
          <a:xfrm>
            <a:off x="3657600" y="3200400"/>
            <a:ext cx="1676400" cy="1905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57" name="Text Box 29"/>
          <p:cNvSpPr txBox="1">
            <a:spLocks noChangeArrowheads="1"/>
          </p:cNvSpPr>
          <p:nvPr/>
        </p:nvSpPr>
        <p:spPr bwMode="auto">
          <a:xfrm rot="18502192">
            <a:off x="1677987" y="3581401"/>
            <a:ext cx="12811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Read/write</a:t>
            </a:r>
          </a:p>
        </p:txBody>
      </p:sp>
      <p:sp>
        <p:nvSpPr>
          <p:cNvPr id="176158" name="Text Box 30"/>
          <p:cNvSpPr txBox="1">
            <a:spLocks noChangeArrowheads="1"/>
          </p:cNvSpPr>
          <p:nvPr/>
        </p:nvSpPr>
        <p:spPr bwMode="auto">
          <a:xfrm rot="16787155">
            <a:off x="2379663" y="3544888"/>
            <a:ext cx="9413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Display</a:t>
            </a:r>
          </a:p>
        </p:txBody>
      </p:sp>
      <p:sp>
        <p:nvSpPr>
          <p:cNvPr id="176159" name="Text Box 31"/>
          <p:cNvSpPr txBox="1">
            <a:spLocks noChangeArrowheads="1"/>
          </p:cNvSpPr>
          <p:nvPr/>
        </p:nvSpPr>
        <p:spPr bwMode="auto">
          <a:xfrm rot="3976878">
            <a:off x="3433762" y="3643313"/>
            <a:ext cx="658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Print</a:t>
            </a:r>
          </a:p>
        </p:txBody>
      </p:sp>
      <p:sp>
        <p:nvSpPr>
          <p:cNvPr id="176160" name="Text Box 32"/>
          <p:cNvSpPr txBox="1">
            <a:spLocks noChangeArrowheads="1"/>
          </p:cNvSpPr>
          <p:nvPr/>
        </p:nvSpPr>
        <p:spPr bwMode="auto">
          <a:xfrm rot="3101637">
            <a:off x="3944144" y="3448844"/>
            <a:ext cx="736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Store</a:t>
            </a:r>
          </a:p>
        </p:txBody>
      </p:sp>
      <p:sp>
        <p:nvSpPr>
          <p:cNvPr id="176161" name="Line 33"/>
          <p:cNvSpPr>
            <a:spLocks noChangeShapeType="1"/>
          </p:cNvSpPr>
          <p:nvPr/>
        </p:nvSpPr>
        <p:spPr bwMode="auto">
          <a:xfrm>
            <a:off x="2057400" y="3200400"/>
            <a:ext cx="4800600" cy="1905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62" name="Text Box 34"/>
          <p:cNvSpPr txBox="1">
            <a:spLocks noChangeArrowheads="1"/>
          </p:cNvSpPr>
          <p:nvPr/>
        </p:nvSpPr>
        <p:spPr bwMode="auto">
          <a:xfrm rot="1276622">
            <a:off x="5083175" y="4341813"/>
            <a:ext cx="15319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Send/receive</a:t>
            </a:r>
          </a:p>
        </p:txBody>
      </p:sp>
      <p:sp>
        <p:nvSpPr>
          <p:cNvPr id="176163" name="Line 35"/>
          <p:cNvSpPr>
            <a:spLocks noChangeShapeType="1"/>
          </p:cNvSpPr>
          <p:nvPr/>
        </p:nvSpPr>
        <p:spPr bwMode="auto">
          <a:xfrm>
            <a:off x="3886200" y="3200400"/>
            <a:ext cx="3200400" cy="1905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64" name="Text Box 36"/>
          <p:cNvSpPr txBox="1">
            <a:spLocks noChangeArrowheads="1"/>
          </p:cNvSpPr>
          <p:nvPr/>
        </p:nvSpPr>
        <p:spPr bwMode="auto">
          <a:xfrm rot="1839513">
            <a:off x="5768975" y="4340225"/>
            <a:ext cx="15319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Send/receive</a:t>
            </a:r>
          </a:p>
        </p:txBody>
      </p:sp>
      <p:sp>
        <p:nvSpPr>
          <p:cNvPr id="176165" name="Line 37"/>
          <p:cNvSpPr>
            <a:spLocks noChangeShapeType="1"/>
          </p:cNvSpPr>
          <p:nvPr/>
        </p:nvSpPr>
        <p:spPr bwMode="auto">
          <a:xfrm flipH="1">
            <a:off x="1295400" y="3276600"/>
            <a:ext cx="3657600" cy="24384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66" name="Text Box 38"/>
          <p:cNvSpPr txBox="1">
            <a:spLocks noChangeArrowheads="1"/>
          </p:cNvSpPr>
          <p:nvPr/>
        </p:nvSpPr>
        <p:spPr bwMode="auto">
          <a:xfrm rot="16497151">
            <a:off x="304800" y="4191000"/>
            <a:ext cx="12811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Read/write</a:t>
            </a:r>
          </a:p>
        </p:txBody>
      </p:sp>
      <p:sp>
        <p:nvSpPr>
          <p:cNvPr id="176167" name="Line 39"/>
          <p:cNvSpPr>
            <a:spLocks noChangeShapeType="1"/>
          </p:cNvSpPr>
          <p:nvPr/>
        </p:nvSpPr>
        <p:spPr bwMode="auto">
          <a:xfrm flipH="1">
            <a:off x="3200400" y="3276600"/>
            <a:ext cx="1981200" cy="1981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68" name="Line 40"/>
          <p:cNvSpPr>
            <a:spLocks noChangeShapeType="1"/>
          </p:cNvSpPr>
          <p:nvPr/>
        </p:nvSpPr>
        <p:spPr bwMode="auto">
          <a:xfrm flipH="1">
            <a:off x="4267200" y="3276600"/>
            <a:ext cx="1143000" cy="2362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69" name="Line 41"/>
          <p:cNvSpPr>
            <a:spLocks noChangeShapeType="1"/>
          </p:cNvSpPr>
          <p:nvPr/>
        </p:nvSpPr>
        <p:spPr bwMode="auto">
          <a:xfrm flipH="1">
            <a:off x="5486400" y="3276600"/>
            <a:ext cx="228600" cy="1828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70" name="Line 42"/>
          <p:cNvSpPr>
            <a:spLocks noChangeShapeType="1"/>
          </p:cNvSpPr>
          <p:nvPr/>
        </p:nvSpPr>
        <p:spPr bwMode="auto">
          <a:xfrm>
            <a:off x="5867400" y="3276600"/>
            <a:ext cx="1600200" cy="1828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6171" name="Text Box 43"/>
          <p:cNvSpPr txBox="1">
            <a:spLocks noChangeArrowheads="1"/>
          </p:cNvSpPr>
          <p:nvPr/>
        </p:nvSpPr>
        <p:spPr bwMode="auto">
          <a:xfrm rot="19260462">
            <a:off x="3792538" y="4267200"/>
            <a:ext cx="9413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Display</a:t>
            </a:r>
          </a:p>
        </p:txBody>
      </p:sp>
      <p:sp>
        <p:nvSpPr>
          <p:cNvPr id="176172" name="Text Box 44"/>
          <p:cNvSpPr txBox="1">
            <a:spLocks noChangeArrowheads="1"/>
          </p:cNvSpPr>
          <p:nvPr/>
        </p:nvSpPr>
        <p:spPr bwMode="auto">
          <a:xfrm rot="17982495">
            <a:off x="5113338" y="3489325"/>
            <a:ext cx="658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Print</a:t>
            </a:r>
          </a:p>
        </p:txBody>
      </p:sp>
      <p:sp>
        <p:nvSpPr>
          <p:cNvPr id="176173" name="Text Box 45"/>
          <p:cNvSpPr txBox="1">
            <a:spLocks noChangeArrowheads="1"/>
          </p:cNvSpPr>
          <p:nvPr/>
        </p:nvSpPr>
        <p:spPr bwMode="auto">
          <a:xfrm rot="16478936">
            <a:off x="5453857" y="3601244"/>
            <a:ext cx="7366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Store</a:t>
            </a:r>
          </a:p>
        </p:txBody>
      </p:sp>
      <p:sp>
        <p:nvSpPr>
          <p:cNvPr id="176174" name="Text Box 46"/>
          <p:cNvSpPr txBox="1">
            <a:spLocks noChangeArrowheads="1"/>
          </p:cNvSpPr>
          <p:nvPr/>
        </p:nvSpPr>
        <p:spPr bwMode="auto">
          <a:xfrm rot="2911272">
            <a:off x="6043613" y="3913188"/>
            <a:ext cx="15319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Send/receive</a:t>
            </a:r>
          </a:p>
        </p:txBody>
      </p:sp>
      <p:pic>
        <p:nvPicPr>
          <p:cNvPr id="29744" name="Picture 4" descr="C:\Users\rhk\AppData\Local\Microsoft\Windows\Temporary Internet Files\Content.IE5\P0TC36KP\MCj03984470000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791200"/>
            <a:ext cx="8382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45" name="Picture 5" descr="C:\Users\rhk\AppData\Local\Microsoft\Windows\Temporary Internet Files\Content.IE5\6WDTZ2I7\MCj03984450000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715000"/>
            <a:ext cx="725488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8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i="1">
                <a:latin typeface="Arial" charset="0"/>
              </a:rPr>
              <a:t>We need help!</a:t>
            </a:r>
            <a:endParaRPr lang="en-US">
              <a:latin typeface="Arial" charset="0"/>
            </a:endParaRPr>
          </a:p>
        </p:txBody>
      </p:sp>
      <p:sp>
        <p:nvSpPr>
          <p:cNvPr id="307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F087A39E-D55C-2840-BC64-10D44069CB89}" type="slidenum">
              <a:rPr lang="en-US"/>
              <a:pPr/>
              <a:t>21</a:t>
            </a:fld>
            <a:endParaRPr lang="en-US"/>
          </a:p>
        </p:txBody>
      </p:sp>
      <p:sp>
        <p:nvSpPr>
          <p:cNvPr id="177154" name="Rectangle 2"/>
          <p:cNvSpPr>
            <a:spLocks noChangeArrowheads="1"/>
          </p:cNvSpPr>
          <p:nvPr/>
        </p:nvSpPr>
        <p:spPr bwMode="auto">
          <a:xfrm>
            <a:off x="381000" y="1828800"/>
            <a:ext cx="8229600" cy="2514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56" name="Rectangle 4"/>
          <p:cNvSpPr>
            <a:spLocks noChangeArrowheads="1"/>
          </p:cNvSpPr>
          <p:nvPr/>
        </p:nvSpPr>
        <p:spPr bwMode="auto">
          <a:xfrm>
            <a:off x="5334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Firefox</a:t>
            </a:r>
            <a:endParaRPr lang="en-US" sz="2400" dirty="0">
              <a:latin typeface="+mn-lt"/>
              <a:ea typeface="+mn-ea"/>
            </a:endParaRPr>
          </a:p>
        </p:txBody>
      </p:sp>
      <p:sp>
        <p:nvSpPr>
          <p:cNvPr id="177157" name="Rectangle 5"/>
          <p:cNvSpPr>
            <a:spLocks noChangeArrowheads="1"/>
          </p:cNvSpPr>
          <p:nvPr/>
        </p:nvSpPr>
        <p:spPr bwMode="auto">
          <a:xfrm>
            <a:off x="25146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Second Life</a:t>
            </a:r>
          </a:p>
        </p:txBody>
      </p:sp>
      <p:sp>
        <p:nvSpPr>
          <p:cNvPr id="177158" name="Rectangle 6"/>
          <p:cNvSpPr>
            <a:spLocks noChangeArrowheads="1"/>
          </p:cNvSpPr>
          <p:nvPr/>
        </p:nvSpPr>
        <p:spPr bwMode="auto">
          <a:xfrm>
            <a:off x="45720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+mn-ea"/>
              </a:rPr>
              <a:t>Yahoo</a:t>
            </a:r>
          </a:p>
          <a:p>
            <a:pPr algn="ctr">
              <a:defRPr/>
            </a:pPr>
            <a:r>
              <a:rPr lang="en-US" sz="2400" dirty="0">
                <a:latin typeface="+mn-lt"/>
                <a:ea typeface="+mn-ea"/>
              </a:rPr>
              <a:t>Chat</a:t>
            </a:r>
          </a:p>
        </p:txBody>
      </p:sp>
      <p:sp>
        <p:nvSpPr>
          <p:cNvPr id="177159" name="Rectangle 7"/>
          <p:cNvSpPr>
            <a:spLocks noChangeArrowheads="1"/>
          </p:cNvSpPr>
          <p:nvPr/>
        </p:nvSpPr>
        <p:spPr bwMode="auto">
          <a:xfrm>
            <a:off x="65532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 err="1">
                <a:latin typeface="+mn-lt"/>
                <a:ea typeface="Tahoma" pitchFamily="34" charset="0"/>
                <a:cs typeface="Tahoma" pitchFamily="34" charset="0"/>
              </a:rPr>
              <a:t>GMail</a:t>
            </a:r>
            <a:endParaRPr lang="en-US" sz="2400" dirty="0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77160" name="Text Box 8"/>
          <p:cNvSpPr txBox="1">
            <a:spLocks noChangeArrowheads="1"/>
          </p:cNvSpPr>
          <p:nvPr/>
        </p:nvSpPr>
        <p:spPr bwMode="auto">
          <a:xfrm>
            <a:off x="381000" y="1905000"/>
            <a:ext cx="3387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Application Software</a:t>
            </a:r>
          </a:p>
        </p:txBody>
      </p:sp>
      <p:sp>
        <p:nvSpPr>
          <p:cNvPr id="177161" name="Rectangle 9"/>
          <p:cNvSpPr>
            <a:spLocks noChangeArrowheads="1"/>
          </p:cNvSpPr>
          <p:nvPr/>
        </p:nvSpPr>
        <p:spPr bwMode="auto">
          <a:xfrm>
            <a:off x="381000" y="5105400"/>
            <a:ext cx="52578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62" name="Text Box 10"/>
          <p:cNvSpPr txBox="1">
            <a:spLocks noChangeArrowheads="1"/>
          </p:cNvSpPr>
          <p:nvPr/>
        </p:nvSpPr>
        <p:spPr bwMode="auto">
          <a:xfrm>
            <a:off x="381000" y="5105400"/>
            <a:ext cx="15890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Hardware</a:t>
            </a:r>
          </a:p>
        </p:txBody>
      </p:sp>
      <p:sp>
        <p:nvSpPr>
          <p:cNvPr id="177163" name="Rectangle 11"/>
          <p:cNvSpPr>
            <a:spLocks noChangeArrowheads="1"/>
          </p:cNvSpPr>
          <p:nvPr/>
        </p:nvSpPr>
        <p:spPr bwMode="auto">
          <a:xfrm>
            <a:off x="5867400" y="5105400"/>
            <a:ext cx="27432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64" name="Text Box 12"/>
          <p:cNvSpPr txBox="1">
            <a:spLocks noChangeArrowheads="1"/>
          </p:cNvSpPr>
          <p:nvPr/>
        </p:nvSpPr>
        <p:spPr bwMode="auto">
          <a:xfrm>
            <a:off x="5867400" y="5105400"/>
            <a:ext cx="1400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Network</a:t>
            </a:r>
          </a:p>
        </p:txBody>
      </p:sp>
      <p:sp>
        <p:nvSpPr>
          <p:cNvPr id="177165" name="cddrive"/>
          <p:cNvSpPr>
            <a:spLocks noEditPoints="1" noChangeArrowheads="1"/>
          </p:cNvSpPr>
          <p:nvPr/>
        </p:nvSpPr>
        <p:spPr bwMode="auto">
          <a:xfrm>
            <a:off x="533400" y="5867400"/>
            <a:ext cx="762000" cy="3810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10800 h 21600"/>
              <a:gd name="T4" fmla="*/ 10800 w 21600"/>
              <a:gd name="T5" fmla="*/ 21600 h 21600"/>
              <a:gd name="T6" fmla="*/ 0 w 21600"/>
              <a:gd name="T7" fmla="*/ 10800 h 21600"/>
              <a:gd name="T8" fmla="*/ 686 w 21600"/>
              <a:gd name="T9" fmla="*/ 23059 h 21600"/>
              <a:gd name="T10" fmla="*/ 21005 w 21600"/>
              <a:gd name="T11" fmla="*/ 3050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2563" y="12259"/>
                </a:moveTo>
                <a:lnTo>
                  <a:pt x="2563" y="12843"/>
                </a:lnTo>
                <a:lnTo>
                  <a:pt x="2746" y="13427"/>
                </a:lnTo>
                <a:lnTo>
                  <a:pt x="2929" y="14303"/>
                </a:lnTo>
                <a:lnTo>
                  <a:pt x="3112" y="14886"/>
                </a:lnTo>
                <a:lnTo>
                  <a:pt x="3478" y="15470"/>
                </a:lnTo>
                <a:lnTo>
                  <a:pt x="3844" y="16054"/>
                </a:lnTo>
                <a:lnTo>
                  <a:pt x="4393" y="16638"/>
                </a:lnTo>
                <a:lnTo>
                  <a:pt x="4942" y="17222"/>
                </a:lnTo>
                <a:lnTo>
                  <a:pt x="5492" y="17514"/>
                </a:lnTo>
                <a:lnTo>
                  <a:pt x="6224" y="18097"/>
                </a:lnTo>
                <a:lnTo>
                  <a:pt x="6773" y="18389"/>
                </a:lnTo>
                <a:lnTo>
                  <a:pt x="7505" y="18681"/>
                </a:lnTo>
                <a:lnTo>
                  <a:pt x="8237" y="18973"/>
                </a:lnTo>
                <a:lnTo>
                  <a:pt x="9153" y="18973"/>
                </a:lnTo>
                <a:lnTo>
                  <a:pt x="9885" y="19265"/>
                </a:lnTo>
                <a:lnTo>
                  <a:pt x="10800" y="19265"/>
                </a:lnTo>
                <a:lnTo>
                  <a:pt x="11532" y="19265"/>
                </a:lnTo>
                <a:lnTo>
                  <a:pt x="12447" y="18973"/>
                </a:lnTo>
                <a:lnTo>
                  <a:pt x="13180" y="18973"/>
                </a:lnTo>
                <a:lnTo>
                  <a:pt x="13912" y="18681"/>
                </a:lnTo>
                <a:lnTo>
                  <a:pt x="14644" y="18389"/>
                </a:lnTo>
                <a:lnTo>
                  <a:pt x="15376" y="18097"/>
                </a:lnTo>
                <a:lnTo>
                  <a:pt x="16108" y="17514"/>
                </a:lnTo>
                <a:lnTo>
                  <a:pt x="16658" y="17222"/>
                </a:lnTo>
                <a:lnTo>
                  <a:pt x="17207" y="16638"/>
                </a:lnTo>
                <a:lnTo>
                  <a:pt x="17573" y="16054"/>
                </a:lnTo>
                <a:lnTo>
                  <a:pt x="18122" y="15470"/>
                </a:lnTo>
                <a:lnTo>
                  <a:pt x="18305" y="14886"/>
                </a:lnTo>
                <a:lnTo>
                  <a:pt x="18671" y="14303"/>
                </a:lnTo>
                <a:lnTo>
                  <a:pt x="18854" y="13427"/>
                </a:lnTo>
                <a:lnTo>
                  <a:pt x="19037" y="12843"/>
                </a:lnTo>
                <a:lnTo>
                  <a:pt x="19037" y="12259"/>
                </a:lnTo>
                <a:lnTo>
                  <a:pt x="2563" y="12259"/>
                </a:lnTo>
                <a:close/>
              </a:path>
              <a:path w="21600" h="21600" extrusionOk="0">
                <a:moveTo>
                  <a:pt x="2563" y="12259"/>
                </a:moveTo>
                <a:lnTo>
                  <a:pt x="9153" y="12259"/>
                </a:lnTo>
                <a:lnTo>
                  <a:pt x="9153" y="12551"/>
                </a:lnTo>
                <a:lnTo>
                  <a:pt x="9336" y="12843"/>
                </a:lnTo>
                <a:lnTo>
                  <a:pt x="9519" y="13135"/>
                </a:lnTo>
                <a:lnTo>
                  <a:pt x="9702" y="13135"/>
                </a:lnTo>
                <a:lnTo>
                  <a:pt x="9885" y="13427"/>
                </a:lnTo>
                <a:lnTo>
                  <a:pt x="10068" y="13719"/>
                </a:lnTo>
                <a:lnTo>
                  <a:pt x="10434" y="13719"/>
                </a:lnTo>
                <a:lnTo>
                  <a:pt x="10800" y="13719"/>
                </a:lnTo>
                <a:lnTo>
                  <a:pt x="10983" y="13719"/>
                </a:lnTo>
                <a:lnTo>
                  <a:pt x="11349" y="13719"/>
                </a:lnTo>
                <a:lnTo>
                  <a:pt x="11715" y="13427"/>
                </a:lnTo>
                <a:lnTo>
                  <a:pt x="11898" y="13135"/>
                </a:lnTo>
                <a:lnTo>
                  <a:pt x="12081" y="13135"/>
                </a:lnTo>
                <a:lnTo>
                  <a:pt x="12264" y="12843"/>
                </a:lnTo>
                <a:lnTo>
                  <a:pt x="12264" y="12551"/>
                </a:lnTo>
                <a:lnTo>
                  <a:pt x="12264" y="12259"/>
                </a:lnTo>
                <a:lnTo>
                  <a:pt x="9153" y="12259"/>
                </a:lnTo>
                <a:close/>
              </a:path>
              <a:path w="21600" h="21600" extrusionOk="0">
                <a:moveTo>
                  <a:pt x="21600" y="7589"/>
                </a:moveTo>
                <a:lnTo>
                  <a:pt x="17756" y="0"/>
                </a:lnTo>
                <a:lnTo>
                  <a:pt x="10800" y="0"/>
                </a:lnTo>
                <a:lnTo>
                  <a:pt x="3844" y="0"/>
                </a:lnTo>
                <a:lnTo>
                  <a:pt x="0" y="7589"/>
                </a:lnTo>
                <a:lnTo>
                  <a:pt x="0" y="10800"/>
                </a:lnTo>
                <a:lnTo>
                  <a:pt x="0" y="18097"/>
                </a:lnTo>
                <a:lnTo>
                  <a:pt x="1464" y="18097"/>
                </a:lnTo>
                <a:lnTo>
                  <a:pt x="1464" y="21600"/>
                </a:lnTo>
                <a:lnTo>
                  <a:pt x="10800" y="21600"/>
                </a:lnTo>
                <a:lnTo>
                  <a:pt x="19953" y="21600"/>
                </a:lnTo>
                <a:lnTo>
                  <a:pt x="19953" y="18097"/>
                </a:lnTo>
                <a:lnTo>
                  <a:pt x="21600" y="18097"/>
                </a:lnTo>
                <a:lnTo>
                  <a:pt x="21600" y="11092"/>
                </a:lnTo>
                <a:lnTo>
                  <a:pt x="21600" y="7589"/>
                </a:lnTo>
              </a:path>
              <a:path w="21600" h="21600" extrusionOk="0">
                <a:moveTo>
                  <a:pt x="1647" y="18097"/>
                </a:moveTo>
                <a:lnTo>
                  <a:pt x="6407" y="18097"/>
                </a:lnTo>
                <a:moveTo>
                  <a:pt x="19953" y="18097"/>
                </a:moveTo>
                <a:lnTo>
                  <a:pt x="15010" y="18097"/>
                </a:lnTo>
                <a:moveTo>
                  <a:pt x="0" y="7589"/>
                </a:moveTo>
                <a:lnTo>
                  <a:pt x="21417" y="7589"/>
                </a:lnTo>
                <a:lnTo>
                  <a:pt x="21600" y="7589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66" name="monitor"/>
          <p:cNvSpPr>
            <a:spLocks noEditPoints="1" noChangeArrowheads="1"/>
          </p:cNvSpPr>
          <p:nvPr/>
        </p:nvSpPr>
        <p:spPr bwMode="auto">
          <a:xfrm>
            <a:off x="2209800" y="5181600"/>
            <a:ext cx="1065213" cy="1143000"/>
          </a:xfrm>
          <a:custGeom>
            <a:avLst/>
            <a:gdLst>
              <a:gd name="T0" fmla="*/ 6837 w 21600"/>
              <a:gd name="T1" fmla="*/ 21600 h 21600"/>
              <a:gd name="T2" fmla="*/ 3108 w 21600"/>
              <a:gd name="T3" fmla="*/ 19849 h 21600"/>
              <a:gd name="T4" fmla="*/ 0 w 21600"/>
              <a:gd name="T5" fmla="*/ 15178 h 21600"/>
              <a:gd name="T6" fmla="*/ 0 w 21600"/>
              <a:gd name="T7" fmla="*/ 10508 h 21600"/>
              <a:gd name="T8" fmla="*/ 0 w 21600"/>
              <a:gd name="T9" fmla="*/ 3941 h 21600"/>
              <a:gd name="T10" fmla="*/ 8081 w 21600"/>
              <a:gd name="T11" fmla="*/ 1168 h 21600"/>
              <a:gd name="T12" fmla="*/ 17871 w 21600"/>
              <a:gd name="T13" fmla="*/ 0 h 21600"/>
              <a:gd name="T14" fmla="*/ 21600 w 21600"/>
              <a:gd name="T15" fmla="*/ 1751 h 21600"/>
              <a:gd name="T16" fmla="*/ 21600 w 21600"/>
              <a:gd name="T17" fmla="*/ 10508 h 21600"/>
              <a:gd name="T18" fmla="*/ 21600 w 21600"/>
              <a:gd name="T19" fmla="*/ 16346 h 21600"/>
              <a:gd name="T20" fmla="*/ 10722 w 21600"/>
              <a:gd name="T21" fmla="*/ 20286 h 21600"/>
              <a:gd name="T22" fmla="*/ 1204 w 21600"/>
              <a:gd name="T23" fmla="*/ 22548 h 21600"/>
              <a:gd name="T24" fmla="*/ 20706 w 21600"/>
              <a:gd name="T25" fmla="*/ 283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T22" t="T23" r="T24" b="T25"/>
            <a:pathLst>
              <a:path w="21600" h="21600" extrusionOk="0">
                <a:moveTo>
                  <a:pt x="6837" y="21600"/>
                </a:moveTo>
                <a:lnTo>
                  <a:pt x="3108" y="19849"/>
                </a:lnTo>
                <a:lnTo>
                  <a:pt x="3108" y="17659"/>
                </a:lnTo>
                <a:lnTo>
                  <a:pt x="0" y="15178"/>
                </a:lnTo>
                <a:lnTo>
                  <a:pt x="0" y="10508"/>
                </a:lnTo>
                <a:lnTo>
                  <a:pt x="0" y="3941"/>
                </a:lnTo>
                <a:lnTo>
                  <a:pt x="8081" y="1168"/>
                </a:lnTo>
                <a:lnTo>
                  <a:pt x="10722" y="1605"/>
                </a:lnTo>
                <a:lnTo>
                  <a:pt x="12587" y="1751"/>
                </a:lnTo>
                <a:lnTo>
                  <a:pt x="17871" y="0"/>
                </a:lnTo>
                <a:lnTo>
                  <a:pt x="21600" y="1751"/>
                </a:lnTo>
                <a:lnTo>
                  <a:pt x="21600" y="10508"/>
                </a:lnTo>
                <a:lnTo>
                  <a:pt x="21600" y="16346"/>
                </a:lnTo>
                <a:lnTo>
                  <a:pt x="10722" y="20286"/>
                </a:lnTo>
                <a:lnTo>
                  <a:pt x="6837" y="21600"/>
                </a:lnTo>
                <a:close/>
              </a:path>
              <a:path w="21600" h="21600" extrusionOk="0">
                <a:moveTo>
                  <a:pt x="3108" y="5254"/>
                </a:moveTo>
                <a:lnTo>
                  <a:pt x="2642" y="4962"/>
                </a:lnTo>
                <a:lnTo>
                  <a:pt x="777" y="4232"/>
                </a:lnTo>
                <a:lnTo>
                  <a:pt x="155" y="3941"/>
                </a:lnTo>
                <a:moveTo>
                  <a:pt x="6837" y="7005"/>
                </a:moveTo>
                <a:lnTo>
                  <a:pt x="6216" y="6714"/>
                </a:lnTo>
                <a:lnTo>
                  <a:pt x="3885" y="5546"/>
                </a:lnTo>
                <a:lnTo>
                  <a:pt x="3108" y="5254"/>
                </a:lnTo>
                <a:moveTo>
                  <a:pt x="19735" y="14595"/>
                </a:moveTo>
                <a:lnTo>
                  <a:pt x="19735" y="4816"/>
                </a:lnTo>
                <a:lnTo>
                  <a:pt x="9790" y="8319"/>
                </a:lnTo>
                <a:lnTo>
                  <a:pt x="9790" y="18243"/>
                </a:lnTo>
                <a:lnTo>
                  <a:pt x="19735" y="14595"/>
                </a:lnTo>
                <a:moveTo>
                  <a:pt x="3108" y="17659"/>
                </a:moveTo>
                <a:lnTo>
                  <a:pt x="3108" y="5254"/>
                </a:lnTo>
                <a:lnTo>
                  <a:pt x="12742" y="1751"/>
                </a:lnTo>
                <a:moveTo>
                  <a:pt x="21600" y="1751"/>
                </a:moveTo>
                <a:lnTo>
                  <a:pt x="6837" y="7005"/>
                </a:lnTo>
                <a:lnTo>
                  <a:pt x="6837" y="21600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67" name="printer2"/>
          <p:cNvSpPr>
            <a:spLocks noEditPoints="1" noChangeArrowheads="1"/>
          </p:cNvSpPr>
          <p:nvPr/>
        </p:nvSpPr>
        <p:spPr bwMode="auto">
          <a:xfrm>
            <a:off x="3429000" y="5791200"/>
            <a:ext cx="1250950" cy="533400"/>
          </a:xfrm>
          <a:custGeom>
            <a:avLst/>
            <a:gdLst>
              <a:gd name="T0" fmla="*/ 10673 w 21600"/>
              <a:gd name="T1" fmla="*/ 0 h 21600"/>
              <a:gd name="T2" fmla="*/ 19186 w 21600"/>
              <a:gd name="T3" fmla="*/ 0 h 21600"/>
              <a:gd name="T4" fmla="*/ 21600 w 21600"/>
              <a:gd name="T5" fmla="*/ 4703 h 21600"/>
              <a:gd name="T6" fmla="*/ 21600 w 21600"/>
              <a:gd name="T7" fmla="*/ 10800 h 21600"/>
              <a:gd name="T8" fmla="*/ 21600 w 21600"/>
              <a:gd name="T9" fmla="*/ 16548 h 21600"/>
              <a:gd name="T10" fmla="*/ 18042 w 21600"/>
              <a:gd name="T11" fmla="*/ 21600 h 21600"/>
              <a:gd name="T12" fmla="*/ 10673 w 21600"/>
              <a:gd name="T13" fmla="*/ 21600 h 21600"/>
              <a:gd name="T14" fmla="*/ 3176 w 21600"/>
              <a:gd name="T15" fmla="*/ 21600 h 21600"/>
              <a:gd name="T16" fmla="*/ 0 w 21600"/>
              <a:gd name="T17" fmla="*/ 16548 h 21600"/>
              <a:gd name="T18" fmla="*/ 0 w 21600"/>
              <a:gd name="T19" fmla="*/ 10800 h 21600"/>
              <a:gd name="T20" fmla="*/ 0 w 21600"/>
              <a:gd name="T21" fmla="*/ 4703 h 21600"/>
              <a:gd name="T22" fmla="*/ 2414 w 21600"/>
              <a:gd name="T23" fmla="*/ 0 h 21600"/>
              <a:gd name="T24" fmla="*/ 1397 w 21600"/>
              <a:gd name="T25" fmla="*/ 23298 h 21600"/>
              <a:gd name="T26" fmla="*/ 20266 w 21600"/>
              <a:gd name="T27" fmla="*/ 311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10673" y="0"/>
                </a:moveTo>
                <a:lnTo>
                  <a:pt x="19186" y="0"/>
                </a:lnTo>
                <a:lnTo>
                  <a:pt x="21600" y="4703"/>
                </a:lnTo>
                <a:lnTo>
                  <a:pt x="21600" y="10800"/>
                </a:lnTo>
                <a:lnTo>
                  <a:pt x="21600" y="16548"/>
                </a:lnTo>
                <a:lnTo>
                  <a:pt x="18042" y="16548"/>
                </a:lnTo>
                <a:lnTo>
                  <a:pt x="18042" y="21600"/>
                </a:lnTo>
                <a:lnTo>
                  <a:pt x="10673" y="21600"/>
                </a:lnTo>
                <a:lnTo>
                  <a:pt x="3176" y="21600"/>
                </a:lnTo>
                <a:lnTo>
                  <a:pt x="3176" y="16548"/>
                </a:lnTo>
                <a:lnTo>
                  <a:pt x="0" y="16548"/>
                </a:lnTo>
                <a:lnTo>
                  <a:pt x="0" y="10800"/>
                </a:lnTo>
                <a:lnTo>
                  <a:pt x="0" y="4703"/>
                </a:lnTo>
                <a:lnTo>
                  <a:pt x="2414" y="0"/>
                </a:lnTo>
                <a:lnTo>
                  <a:pt x="10673" y="0"/>
                </a:lnTo>
                <a:close/>
              </a:path>
              <a:path w="21600" h="21600" extrusionOk="0">
                <a:moveTo>
                  <a:pt x="0" y="4703"/>
                </a:moveTo>
                <a:lnTo>
                  <a:pt x="3558" y="4703"/>
                </a:lnTo>
                <a:lnTo>
                  <a:pt x="17026" y="4703"/>
                </a:lnTo>
                <a:lnTo>
                  <a:pt x="21600" y="4703"/>
                </a:lnTo>
                <a:lnTo>
                  <a:pt x="0" y="4703"/>
                </a:lnTo>
                <a:moveTo>
                  <a:pt x="16518" y="4703"/>
                </a:moveTo>
                <a:lnTo>
                  <a:pt x="16518" y="10452"/>
                </a:lnTo>
                <a:lnTo>
                  <a:pt x="0" y="10452"/>
                </a:lnTo>
                <a:moveTo>
                  <a:pt x="4320" y="16548"/>
                </a:moveTo>
                <a:lnTo>
                  <a:pt x="4320" y="17419"/>
                </a:lnTo>
                <a:lnTo>
                  <a:pt x="4320" y="20555"/>
                </a:lnTo>
                <a:lnTo>
                  <a:pt x="4320" y="21600"/>
                </a:lnTo>
                <a:lnTo>
                  <a:pt x="4320" y="16548"/>
                </a:lnTo>
                <a:moveTo>
                  <a:pt x="16899" y="16548"/>
                </a:moveTo>
                <a:lnTo>
                  <a:pt x="16899" y="17419"/>
                </a:lnTo>
                <a:lnTo>
                  <a:pt x="16899" y="20555"/>
                </a:lnTo>
                <a:lnTo>
                  <a:pt x="16899" y="21600"/>
                </a:lnTo>
                <a:lnTo>
                  <a:pt x="16899" y="16548"/>
                </a:lnTo>
                <a:moveTo>
                  <a:pt x="15247" y="14981"/>
                </a:moveTo>
                <a:lnTo>
                  <a:pt x="15247" y="10452"/>
                </a:lnTo>
                <a:lnTo>
                  <a:pt x="16899" y="16548"/>
                </a:lnTo>
                <a:lnTo>
                  <a:pt x="18042" y="16548"/>
                </a:lnTo>
                <a:lnTo>
                  <a:pt x="16518" y="10452"/>
                </a:lnTo>
                <a:moveTo>
                  <a:pt x="15247" y="14981"/>
                </a:moveTo>
                <a:lnTo>
                  <a:pt x="15247" y="14981"/>
                </a:lnTo>
                <a:lnTo>
                  <a:pt x="16772" y="17942"/>
                </a:lnTo>
                <a:lnTo>
                  <a:pt x="4447" y="17942"/>
                </a:lnTo>
                <a:lnTo>
                  <a:pt x="5972" y="14981"/>
                </a:lnTo>
                <a:lnTo>
                  <a:pt x="5972" y="10452"/>
                </a:lnTo>
                <a:lnTo>
                  <a:pt x="4320" y="16548"/>
                </a:lnTo>
                <a:lnTo>
                  <a:pt x="3176" y="16548"/>
                </a:lnTo>
                <a:lnTo>
                  <a:pt x="4701" y="10452"/>
                </a:lnTo>
                <a:moveTo>
                  <a:pt x="20202" y="5574"/>
                </a:moveTo>
                <a:lnTo>
                  <a:pt x="20711" y="5574"/>
                </a:lnTo>
                <a:lnTo>
                  <a:pt x="20711" y="7839"/>
                </a:lnTo>
                <a:lnTo>
                  <a:pt x="20202" y="7839"/>
                </a:lnTo>
                <a:lnTo>
                  <a:pt x="20202" y="5574"/>
                </a:lnTo>
                <a:moveTo>
                  <a:pt x="5972" y="14981"/>
                </a:moveTo>
                <a:lnTo>
                  <a:pt x="7496" y="14981"/>
                </a:lnTo>
                <a:lnTo>
                  <a:pt x="13341" y="14981"/>
                </a:lnTo>
                <a:lnTo>
                  <a:pt x="15247" y="1498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68" name="tower"/>
          <p:cNvSpPr>
            <a:spLocks noEditPoints="1" noChangeArrowheads="1"/>
          </p:cNvSpPr>
          <p:nvPr/>
        </p:nvSpPr>
        <p:spPr bwMode="auto">
          <a:xfrm>
            <a:off x="4953000" y="5181600"/>
            <a:ext cx="604838" cy="111760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69" name="Line 17"/>
          <p:cNvSpPr>
            <a:spLocks noChangeShapeType="1"/>
          </p:cNvSpPr>
          <p:nvPr/>
        </p:nvSpPr>
        <p:spPr bwMode="auto">
          <a:xfrm flipH="1">
            <a:off x="914400" y="3200400"/>
            <a:ext cx="2286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70" name="Line 18"/>
          <p:cNvSpPr>
            <a:spLocks noChangeShapeType="1"/>
          </p:cNvSpPr>
          <p:nvPr/>
        </p:nvSpPr>
        <p:spPr bwMode="auto">
          <a:xfrm>
            <a:off x="1295400" y="3200400"/>
            <a:ext cx="838200" cy="2209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71" name="Line 19"/>
          <p:cNvSpPr>
            <a:spLocks noChangeShapeType="1"/>
          </p:cNvSpPr>
          <p:nvPr/>
        </p:nvSpPr>
        <p:spPr bwMode="auto">
          <a:xfrm>
            <a:off x="1524000" y="3200400"/>
            <a:ext cx="25146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72" name="Line 20"/>
          <p:cNvSpPr>
            <a:spLocks noChangeShapeType="1"/>
          </p:cNvSpPr>
          <p:nvPr/>
        </p:nvSpPr>
        <p:spPr bwMode="auto">
          <a:xfrm>
            <a:off x="1752600" y="3200400"/>
            <a:ext cx="3048000" cy="2209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73" name="Text Box 21"/>
          <p:cNvSpPr txBox="1">
            <a:spLocks noChangeArrowheads="1"/>
          </p:cNvSpPr>
          <p:nvPr/>
        </p:nvSpPr>
        <p:spPr bwMode="auto">
          <a:xfrm rot="19614327">
            <a:off x="1600200" y="4649788"/>
            <a:ext cx="12811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Read/write</a:t>
            </a:r>
          </a:p>
        </p:txBody>
      </p:sp>
      <p:sp>
        <p:nvSpPr>
          <p:cNvPr id="177174" name="Text Box 22"/>
          <p:cNvSpPr txBox="1">
            <a:spLocks noChangeArrowheads="1"/>
          </p:cNvSpPr>
          <p:nvPr/>
        </p:nvSpPr>
        <p:spPr bwMode="auto">
          <a:xfrm rot="3925596">
            <a:off x="1463675" y="4152900"/>
            <a:ext cx="9413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Display</a:t>
            </a:r>
          </a:p>
        </p:txBody>
      </p:sp>
      <p:sp>
        <p:nvSpPr>
          <p:cNvPr id="177175" name="Text Box 23"/>
          <p:cNvSpPr txBox="1">
            <a:spLocks noChangeArrowheads="1"/>
          </p:cNvSpPr>
          <p:nvPr/>
        </p:nvSpPr>
        <p:spPr bwMode="auto">
          <a:xfrm rot="2382975">
            <a:off x="2662238" y="4265613"/>
            <a:ext cx="6588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Print</a:t>
            </a:r>
          </a:p>
        </p:txBody>
      </p:sp>
      <p:sp>
        <p:nvSpPr>
          <p:cNvPr id="177176" name="Text Box 24"/>
          <p:cNvSpPr txBox="1">
            <a:spLocks noChangeArrowheads="1"/>
          </p:cNvSpPr>
          <p:nvPr/>
        </p:nvSpPr>
        <p:spPr bwMode="auto">
          <a:xfrm rot="2004995">
            <a:off x="3036888" y="3960813"/>
            <a:ext cx="7366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Store</a:t>
            </a:r>
          </a:p>
        </p:txBody>
      </p:sp>
      <p:sp>
        <p:nvSpPr>
          <p:cNvPr id="177177" name="Line 25"/>
          <p:cNvSpPr>
            <a:spLocks noChangeShapeType="1"/>
          </p:cNvSpPr>
          <p:nvPr/>
        </p:nvSpPr>
        <p:spPr bwMode="auto">
          <a:xfrm flipH="1">
            <a:off x="1066800" y="3200400"/>
            <a:ext cx="18288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78" name="Line 26"/>
          <p:cNvSpPr>
            <a:spLocks noChangeShapeType="1"/>
          </p:cNvSpPr>
          <p:nvPr/>
        </p:nvSpPr>
        <p:spPr bwMode="auto">
          <a:xfrm flipH="1">
            <a:off x="2895600" y="3200400"/>
            <a:ext cx="228600" cy="1981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79" name="Line 27"/>
          <p:cNvSpPr>
            <a:spLocks noChangeShapeType="1"/>
          </p:cNvSpPr>
          <p:nvPr/>
        </p:nvSpPr>
        <p:spPr bwMode="auto">
          <a:xfrm>
            <a:off x="3352800" y="3200400"/>
            <a:ext cx="762000" cy="24384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80" name="Line 28"/>
          <p:cNvSpPr>
            <a:spLocks noChangeShapeType="1"/>
          </p:cNvSpPr>
          <p:nvPr/>
        </p:nvSpPr>
        <p:spPr bwMode="auto">
          <a:xfrm>
            <a:off x="3657600" y="3200400"/>
            <a:ext cx="1676400" cy="1905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81" name="Text Box 29"/>
          <p:cNvSpPr txBox="1">
            <a:spLocks noChangeArrowheads="1"/>
          </p:cNvSpPr>
          <p:nvPr/>
        </p:nvSpPr>
        <p:spPr bwMode="auto">
          <a:xfrm rot="18502192">
            <a:off x="1677987" y="3505201"/>
            <a:ext cx="1281113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Read/write</a:t>
            </a:r>
          </a:p>
        </p:txBody>
      </p:sp>
      <p:sp>
        <p:nvSpPr>
          <p:cNvPr id="177182" name="Text Box 30"/>
          <p:cNvSpPr txBox="1">
            <a:spLocks noChangeArrowheads="1"/>
          </p:cNvSpPr>
          <p:nvPr/>
        </p:nvSpPr>
        <p:spPr bwMode="auto">
          <a:xfrm rot="16787155">
            <a:off x="2379663" y="3544888"/>
            <a:ext cx="9413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Display</a:t>
            </a:r>
          </a:p>
        </p:txBody>
      </p:sp>
      <p:sp>
        <p:nvSpPr>
          <p:cNvPr id="177183" name="Text Box 31"/>
          <p:cNvSpPr txBox="1">
            <a:spLocks noChangeArrowheads="1"/>
          </p:cNvSpPr>
          <p:nvPr/>
        </p:nvSpPr>
        <p:spPr bwMode="auto">
          <a:xfrm rot="3976878">
            <a:off x="3433762" y="3643313"/>
            <a:ext cx="658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Print</a:t>
            </a:r>
          </a:p>
        </p:txBody>
      </p:sp>
      <p:sp>
        <p:nvSpPr>
          <p:cNvPr id="177184" name="Text Box 32"/>
          <p:cNvSpPr txBox="1">
            <a:spLocks noChangeArrowheads="1"/>
          </p:cNvSpPr>
          <p:nvPr/>
        </p:nvSpPr>
        <p:spPr bwMode="auto">
          <a:xfrm rot="3101637">
            <a:off x="3944144" y="3448844"/>
            <a:ext cx="736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Store</a:t>
            </a:r>
          </a:p>
        </p:txBody>
      </p:sp>
      <p:sp>
        <p:nvSpPr>
          <p:cNvPr id="177185" name="Line 33"/>
          <p:cNvSpPr>
            <a:spLocks noChangeShapeType="1"/>
          </p:cNvSpPr>
          <p:nvPr/>
        </p:nvSpPr>
        <p:spPr bwMode="auto">
          <a:xfrm>
            <a:off x="2057400" y="3200400"/>
            <a:ext cx="4800600" cy="1905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86" name="Text Box 34"/>
          <p:cNvSpPr txBox="1">
            <a:spLocks noChangeArrowheads="1"/>
          </p:cNvSpPr>
          <p:nvPr/>
        </p:nvSpPr>
        <p:spPr bwMode="auto">
          <a:xfrm rot="1276622">
            <a:off x="5083175" y="4341813"/>
            <a:ext cx="15319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Send/receive</a:t>
            </a:r>
          </a:p>
        </p:txBody>
      </p:sp>
      <p:sp>
        <p:nvSpPr>
          <p:cNvPr id="177187" name="Line 35"/>
          <p:cNvSpPr>
            <a:spLocks noChangeShapeType="1"/>
          </p:cNvSpPr>
          <p:nvPr/>
        </p:nvSpPr>
        <p:spPr bwMode="auto">
          <a:xfrm>
            <a:off x="3886200" y="3200400"/>
            <a:ext cx="3200400" cy="1905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88" name="Text Box 36"/>
          <p:cNvSpPr txBox="1">
            <a:spLocks noChangeArrowheads="1"/>
          </p:cNvSpPr>
          <p:nvPr/>
        </p:nvSpPr>
        <p:spPr bwMode="auto">
          <a:xfrm rot="1839513">
            <a:off x="5768975" y="4340225"/>
            <a:ext cx="15319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Send/receive</a:t>
            </a:r>
          </a:p>
        </p:txBody>
      </p:sp>
      <p:sp>
        <p:nvSpPr>
          <p:cNvPr id="177189" name="Line 37"/>
          <p:cNvSpPr>
            <a:spLocks noChangeShapeType="1"/>
          </p:cNvSpPr>
          <p:nvPr/>
        </p:nvSpPr>
        <p:spPr bwMode="auto">
          <a:xfrm flipH="1">
            <a:off x="1295400" y="3276600"/>
            <a:ext cx="3657600" cy="24384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90" name="Text Box 38"/>
          <p:cNvSpPr txBox="1">
            <a:spLocks noChangeArrowheads="1"/>
          </p:cNvSpPr>
          <p:nvPr/>
        </p:nvSpPr>
        <p:spPr bwMode="auto">
          <a:xfrm rot="16497151">
            <a:off x="304800" y="4191000"/>
            <a:ext cx="12811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</a:rPr>
              <a:t>Read/write</a:t>
            </a:r>
          </a:p>
        </p:txBody>
      </p:sp>
      <p:sp>
        <p:nvSpPr>
          <p:cNvPr id="177191" name="Line 39"/>
          <p:cNvSpPr>
            <a:spLocks noChangeShapeType="1"/>
          </p:cNvSpPr>
          <p:nvPr/>
        </p:nvSpPr>
        <p:spPr bwMode="auto">
          <a:xfrm flipH="1">
            <a:off x="3200400" y="3276600"/>
            <a:ext cx="1981200" cy="1981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92" name="Line 40"/>
          <p:cNvSpPr>
            <a:spLocks noChangeShapeType="1"/>
          </p:cNvSpPr>
          <p:nvPr/>
        </p:nvSpPr>
        <p:spPr bwMode="auto">
          <a:xfrm flipH="1">
            <a:off x="4267200" y="3276600"/>
            <a:ext cx="1143000" cy="2362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93" name="Line 41"/>
          <p:cNvSpPr>
            <a:spLocks noChangeShapeType="1"/>
          </p:cNvSpPr>
          <p:nvPr/>
        </p:nvSpPr>
        <p:spPr bwMode="auto">
          <a:xfrm flipH="1">
            <a:off x="5486400" y="3276600"/>
            <a:ext cx="228600" cy="1828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94" name="Line 42"/>
          <p:cNvSpPr>
            <a:spLocks noChangeShapeType="1"/>
          </p:cNvSpPr>
          <p:nvPr/>
        </p:nvSpPr>
        <p:spPr bwMode="auto">
          <a:xfrm>
            <a:off x="5867400" y="3276600"/>
            <a:ext cx="1600200" cy="1828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195" name="Text Box 43"/>
          <p:cNvSpPr txBox="1">
            <a:spLocks noChangeArrowheads="1"/>
          </p:cNvSpPr>
          <p:nvPr/>
        </p:nvSpPr>
        <p:spPr bwMode="auto">
          <a:xfrm rot="19260462">
            <a:off x="3792538" y="4267200"/>
            <a:ext cx="9413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Display</a:t>
            </a:r>
          </a:p>
        </p:txBody>
      </p:sp>
      <p:sp>
        <p:nvSpPr>
          <p:cNvPr id="177196" name="Text Box 44"/>
          <p:cNvSpPr txBox="1">
            <a:spLocks noChangeArrowheads="1"/>
          </p:cNvSpPr>
          <p:nvPr/>
        </p:nvSpPr>
        <p:spPr bwMode="auto">
          <a:xfrm rot="17982495">
            <a:off x="5113338" y="3489325"/>
            <a:ext cx="658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Print</a:t>
            </a:r>
          </a:p>
        </p:txBody>
      </p:sp>
      <p:sp>
        <p:nvSpPr>
          <p:cNvPr id="177197" name="Text Box 45"/>
          <p:cNvSpPr txBox="1">
            <a:spLocks noChangeArrowheads="1"/>
          </p:cNvSpPr>
          <p:nvPr/>
        </p:nvSpPr>
        <p:spPr bwMode="auto">
          <a:xfrm rot="16478936">
            <a:off x="5453857" y="3601244"/>
            <a:ext cx="7366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Store</a:t>
            </a:r>
          </a:p>
        </p:txBody>
      </p:sp>
      <p:sp>
        <p:nvSpPr>
          <p:cNvPr id="177198" name="Text Box 46"/>
          <p:cNvSpPr txBox="1">
            <a:spLocks noChangeArrowheads="1"/>
          </p:cNvSpPr>
          <p:nvPr/>
        </p:nvSpPr>
        <p:spPr bwMode="auto">
          <a:xfrm rot="2911272">
            <a:off x="6043613" y="3913188"/>
            <a:ext cx="15319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Send/receive</a:t>
            </a:r>
          </a:p>
        </p:txBody>
      </p:sp>
      <p:sp>
        <p:nvSpPr>
          <p:cNvPr id="177199" name="Line 47"/>
          <p:cNvSpPr>
            <a:spLocks noChangeShapeType="1"/>
          </p:cNvSpPr>
          <p:nvPr/>
        </p:nvSpPr>
        <p:spPr bwMode="auto">
          <a:xfrm flipH="1">
            <a:off x="1600200" y="3276600"/>
            <a:ext cx="5181600" cy="2362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200" name="Line 48"/>
          <p:cNvSpPr>
            <a:spLocks noChangeShapeType="1"/>
          </p:cNvSpPr>
          <p:nvPr/>
        </p:nvSpPr>
        <p:spPr bwMode="auto">
          <a:xfrm flipH="1">
            <a:off x="3352800" y="3200400"/>
            <a:ext cx="3733800" cy="2362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201" name="Line 49"/>
          <p:cNvSpPr>
            <a:spLocks noChangeShapeType="1"/>
          </p:cNvSpPr>
          <p:nvPr/>
        </p:nvSpPr>
        <p:spPr bwMode="auto">
          <a:xfrm flipH="1">
            <a:off x="4495800" y="3200400"/>
            <a:ext cx="28194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202" name="Line 50"/>
          <p:cNvSpPr>
            <a:spLocks noChangeShapeType="1"/>
          </p:cNvSpPr>
          <p:nvPr/>
        </p:nvSpPr>
        <p:spPr bwMode="auto">
          <a:xfrm>
            <a:off x="7696200" y="3200400"/>
            <a:ext cx="76200" cy="1905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203" name="Text Box 51"/>
          <p:cNvSpPr txBox="1">
            <a:spLocks noChangeArrowheads="1"/>
          </p:cNvSpPr>
          <p:nvPr/>
        </p:nvSpPr>
        <p:spPr bwMode="auto">
          <a:xfrm rot="5100108">
            <a:off x="7188200" y="3986213"/>
            <a:ext cx="15319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Send/receive</a:t>
            </a:r>
          </a:p>
        </p:txBody>
      </p:sp>
      <p:sp>
        <p:nvSpPr>
          <p:cNvPr id="177204" name="Text Box 52"/>
          <p:cNvSpPr txBox="1">
            <a:spLocks noChangeArrowheads="1"/>
          </p:cNvSpPr>
          <p:nvPr/>
        </p:nvSpPr>
        <p:spPr bwMode="auto">
          <a:xfrm rot="19832218">
            <a:off x="4024313" y="4494213"/>
            <a:ext cx="9413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Display</a:t>
            </a:r>
          </a:p>
        </p:txBody>
      </p:sp>
      <p:sp>
        <p:nvSpPr>
          <p:cNvPr id="177205" name="Text Box 53"/>
          <p:cNvSpPr txBox="1">
            <a:spLocks noChangeArrowheads="1"/>
          </p:cNvSpPr>
          <p:nvPr/>
        </p:nvSpPr>
        <p:spPr bwMode="auto">
          <a:xfrm rot="18668371">
            <a:off x="6922294" y="3504406"/>
            <a:ext cx="736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Store</a:t>
            </a:r>
          </a:p>
        </p:txBody>
      </p:sp>
      <p:sp>
        <p:nvSpPr>
          <p:cNvPr id="177206" name="Line 54"/>
          <p:cNvSpPr>
            <a:spLocks noChangeShapeType="1"/>
          </p:cNvSpPr>
          <p:nvPr/>
        </p:nvSpPr>
        <p:spPr bwMode="auto">
          <a:xfrm flipH="1">
            <a:off x="5486400" y="3200400"/>
            <a:ext cx="1981200" cy="2133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7207" name="Text Box 55"/>
          <p:cNvSpPr txBox="1">
            <a:spLocks noChangeArrowheads="1"/>
          </p:cNvSpPr>
          <p:nvPr/>
        </p:nvSpPr>
        <p:spPr bwMode="auto">
          <a:xfrm rot="19219314">
            <a:off x="4491038" y="4951413"/>
            <a:ext cx="6588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Print</a:t>
            </a:r>
          </a:p>
        </p:txBody>
      </p:sp>
      <p:sp>
        <p:nvSpPr>
          <p:cNvPr id="177208" name="Text Box 56"/>
          <p:cNvSpPr txBox="1">
            <a:spLocks noChangeArrowheads="1"/>
          </p:cNvSpPr>
          <p:nvPr/>
        </p:nvSpPr>
        <p:spPr bwMode="auto">
          <a:xfrm rot="20252305">
            <a:off x="2514600" y="4572000"/>
            <a:ext cx="128111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Read/write</a:t>
            </a:r>
          </a:p>
        </p:txBody>
      </p:sp>
      <p:pic>
        <p:nvPicPr>
          <p:cNvPr id="30779" name="Picture 4" descr="C:\Users\rhk\AppData\Local\Microsoft\Windows\Temporary Internet Files\Content.IE5\P0TC36KP\MCj03984470000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791200"/>
            <a:ext cx="8382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0" name="Picture 5" descr="C:\Users\rhk\AppData\Local\Microsoft\Windows\Temporary Internet Files\Content.IE5\6WDTZ2I7\MCj03984450000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715000"/>
            <a:ext cx="725488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ChangeArrowheads="1"/>
          </p:cNvSpPr>
          <p:nvPr>
            <p:ph type="title"/>
          </p:nvPr>
        </p:nvSpPr>
        <p:spPr>
          <a:xfrm>
            <a:off x="931863" y="96838"/>
            <a:ext cx="7450137" cy="1412875"/>
          </a:xfrm>
        </p:spPr>
        <p:txBody>
          <a:bodyPr/>
          <a:lstStyle/>
          <a:p>
            <a:r>
              <a:rPr lang="en-US">
                <a:latin typeface="Arial" charset="0"/>
              </a:rPr>
              <a:t>Approach: Find Common Functions</a:t>
            </a:r>
          </a:p>
        </p:txBody>
      </p:sp>
      <p:sp>
        <p:nvSpPr>
          <p:cNvPr id="3174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174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310CC86C-62A3-204D-8C14-122F7D89B43E}" type="slidenum">
              <a:rPr lang="en-US"/>
              <a:pPr/>
              <a:t>22</a:t>
            </a:fld>
            <a:endParaRPr lang="en-US"/>
          </a:p>
        </p:txBody>
      </p:sp>
      <p:sp>
        <p:nvSpPr>
          <p:cNvPr id="178178" name="Rectangle 2"/>
          <p:cNvSpPr>
            <a:spLocks noChangeArrowheads="1"/>
          </p:cNvSpPr>
          <p:nvPr/>
        </p:nvSpPr>
        <p:spPr bwMode="auto">
          <a:xfrm>
            <a:off x="381000" y="1828800"/>
            <a:ext cx="8229600" cy="2514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180" name="Rectangle 4"/>
          <p:cNvSpPr>
            <a:spLocks noChangeArrowheads="1"/>
          </p:cNvSpPr>
          <p:nvPr/>
        </p:nvSpPr>
        <p:spPr bwMode="auto">
          <a:xfrm>
            <a:off x="5334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Firefox</a:t>
            </a:r>
            <a:endParaRPr lang="en-US" sz="2400" dirty="0">
              <a:latin typeface="+mn-lt"/>
              <a:ea typeface="+mn-ea"/>
            </a:endParaRPr>
          </a:p>
        </p:txBody>
      </p:sp>
      <p:sp>
        <p:nvSpPr>
          <p:cNvPr id="178181" name="Rectangle 5"/>
          <p:cNvSpPr>
            <a:spLocks noChangeArrowheads="1"/>
          </p:cNvSpPr>
          <p:nvPr/>
        </p:nvSpPr>
        <p:spPr bwMode="auto">
          <a:xfrm>
            <a:off x="25146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Second Life</a:t>
            </a:r>
          </a:p>
        </p:txBody>
      </p:sp>
      <p:sp>
        <p:nvSpPr>
          <p:cNvPr id="178182" name="Rectangle 6"/>
          <p:cNvSpPr>
            <a:spLocks noChangeArrowheads="1"/>
          </p:cNvSpPr>
          <p:nvPr/>
        </p:nvSpPr>
        <p:spPr bwMode="auto">
          <a:xfrm>
            <a:off x="45720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+mn-ea"/>
              </a:rPr>
              <a:t>Yahoo</a:t>
            </a:r>
          </a:p>
          <a:p>
            <a:pPr algn="ctr">
              <a:defRPr/>
            </a:pPr>
            <a:r>
              <a:rPr lang="en-US" sz="2400" dirty="0">
                <a:latin typeface="+mn-lt"/>
                <a:ea typeface="+mn-ea"/>
              </a:rPr>
              <a:t>Chat</a:t>
            </a:r>
          </a:p>
        </p:txBody>
      </p:sp>
      <p:sp>
        <p:nvSpPr>
          <p:cNvPr id="178183" name="Rectangle 7"/>
          <p:cNvSpPr>
            <a:spLocks noChangeArrowheads="1"/>
          </p:cNvSpPr>
          <p:nvPr/>
        </p:nvSpPr>
        <p:spPr bwMode="auto">
          <a:xfrm>
            <a:off x="65532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 err="1">
                <a:latin typeface="+mn-lt"/>
                <a:ea typeface="Tahoma" pitchFamily="34" charset="0"/>
                <a:cs typeface="Tahoma" pitchFamily="34" charset="0"/>
              </a:rPr>
              <a:t>GMail</a:t>
            </a:r>
            <a:endParaRPr lang="en-US" sz="2400" dirty="0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78184" name="Text Box 8"/>
          <p:cNvSpPr txBox="1">
            <a:spLocks noChangeArrowheads="1"/>
          </p:cNvSpPr>
          <p:nvPr/>
        </p:nvSpPr>
        <p:spPr bwMode="auto">
          <a:xfrm>
            <a:off x="381000" y="1905000"/>
            <a:ext cx="3387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Application Software</a:t>
            </a:r>
          </a:p>
        </p:txBody>
      </p:sp>
      <p:sp>
        <p:nvSpPr>
          <p:cNvPr id="178185" name="Rectangle 9"/>
          <p:cNvSpPr>
            <a:spLocks noChangeArrowheads="1"/>
          </p:cNvSpPr>
          <p:nvPr/>
        </p:nvSpPr>
        <p:spPr bwMode="auto">
          <a:xfrm>
            <a:off x="381000" y="5105400"/>
            <a:ext cx="52578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186" name="Text Box 10"/>
          <p:cNvSpPr txBox="1">
            <a:spLocks noChangeArrowheads="1"/>
          </p:cNvSpPr>
          <p:nvPr/>
        </p:nvSpPr>
        <p:spPr bwMode="auto">
          <a:xfrm>
            <a:off x="381000" y="5105400"/>
            <a:ext cx="15890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Hardware</a:t>
            </a:r>
          </a:p>
        </p:txBody>
      </p:sp>
      <p:sp>
        <p:nvSpPr>
          <p:cNvPr id="178187" name="Rectangle 11"/>
          <p:cNvSpPr>
            <a:spLocks noChangeArrowheads="1"/>
          </p:cNvSpPr>
          <p:nvPr/>
        </p:nvSpPr>
        <p:spPr bwMode="auto">
          <a:xfrm>
            <a:off x="5867400" y="5105400"/>
            <a:ext cx="27432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188" name="Text Box 12"/>
          <p:cNvSpPr txBox="1">
            <a:spLocks noChangeArrowheads="1"/>
          </p:cNvSpPr>
          <p:nvPr/>
        </p:nvSpPr>
        <p:spPr bwMode="auto">
          <a:xfrm>
            <a:off x="5867400" y="5105400"/>
            <a:ext cx="1400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Network</a:t>
            </a:r>
          </a:p>
        </p:txBody>
      </p:sp>
      <p:sp>
        <p:nvSpPr>
          <p:cNvPr id="178189" name="cddrive"/>
          <p:cNvSpPr>
            <a:spLocks noEditPoints="1" noChangeArrowheads="1"/>
          </p:cNvSpPr>
          <p:nvPr/>
        </p:nvSpPr>
        <p:spPr bwMode="auto">
          <a:xfrm>
            <a:off x="533400" y="5867400"/>
            <a:ext cx="762000" cy="3810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10800 h 21600"/>
              <a:gd name="T4" fmla="*/ 10800 w 21600"/>
              <a:gd name="T5" fmla="*/ 21600 h 21600"/>
              <a:gd name="T6" fmla="*/ 0 w 21600"/>
              <a:gd name="T7" fmla="*/ 10800 h 21600"/>
              <a:gd name="T8" fmla="*/ 686 w 21600"/>
              <a:gd name="T9" fmla="*/ 23059 h 21600"/>
              <a:gd name="T10" fmla="*/ 21005 w 21600"/>
              <a:gd name="T11" fmla="*/ 3050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2563" y="12259"/>
                </a:moveTo>
                <a:lnTo>
                  <a:pt x="2563" y="12843"/>
                </a:lnTo>
                <a:lnTo>
                  <a:pt x="2746" y="13427"/>
                </a:lnTo>
                <a:lnTo>
                  <a:pt x="2929" y="14303"/>
                </a:lnTo>
                <a:lnTo>
                  <a:pt x="3112" y="14886"/>
                </a:lnTo>
                <a:lnTo>
                  <a:pt x="3478" y="15470"/>
                </a:lnTo>
                <a:lnTo>
                  <a:pt x="3844" y="16054"/>
                </a:lnTo>
                <a:lnTo>
                  <a:pt x="4393" y="16638"/>
                </a:lnTo>
                <a:lnTo>
                  <a:pt x="4942" y="17222"/>
                </a:lnTo>
                <a:lnTo>
                  <a:pt x="5492" y="17514"/>
                </a:lnTo>
                <a:lnTo>
                  <a:pt x="6224" y="18097"/>
                </a:lnTo>
                <a:lnTo>
                  <a:pt x="6773" y="18389"/>
                </a:lnTo>
                <a:lnTo>
                  <a:pt x="7505" y="18681"/>
                </a:lnTo>
                <a:lnTo>
                  <a:pt x="8237" y="18973"/>
                </a:lnTo>
                <a:lnTo>
                  <a:pt x="9153" y="18973"/>
                </a:lnTo>
                <a:lnTo>
                  <a:pt x="9885" y="19265"/>
                </a:lnTo>
                <a:lnTo>
                  <a:pt x="10800" y="19265"/>
                </a:lnTo>
                <a:lnTo>
                  <a:pt x="11532" y="19265"/>
                </a:lnTo>
                <a:lnTo>
                  <a:pt x="12447" y="18973"/>
                </a:lnTo>
                <a:lnTo>
                  <a:pt x="13180" y="18973"/>
                </a:lnTo>
                <a:lnTo>
                  <a:pt x="13912" y="18681"/>
                </a:lnTo>
                <a:lnTo>
                  <a:pt x="14644" y="18389"/>
                </a:lnTo>
                <a:lnTo>
                  <a:pt x="15376" y="18097"/>
                </a:lnTo>
                <a:lnTo>
                  <a:pt x="16108" y="17514"/>
                </a:lnTo>
                <a:lnTo>
                  <a:pt x="16658" y="17222"/>
                </a:lnTo>
                <a:lnTo>
                  <a:pt x="17207" y="16638"/>
                </a:lnTo>
                <a:lnTo>
                  <a:pt x="17573" y="16054"/>
                </a:lnTo>
                <a:lnTo>
                  <a:pt x="18122" y="15470"/>
                </a:lnTo>
                <a:lnTo>
                  <a:pt x="18305" y="14886"/>
                </a:lnTo>
                <a:lnTo>
                  <a:pt x="18671" y="14303"/>
                </a:lnTo>
                <a:lnTo>
                  <a:pt x="18854" y="13427"/>
                </a:lnTo>
                <a:lnTo>
                  <a:pt x="19037" y="12843"/>
                </a:lnTo>
                <a:lnTo>
                  <a:pt x="19037" y="12259"/>
                </a:lnTo>
                <a:lnTo>
                  <a:pt x="2563" y="12259"/>
                </a:lnTo>
                <a:close/>
              </a:path>
              <a:path w="21600" h="21600" extrusionOk="0">
                <a:moveTo>
                  <a:pt x="2563" y="12259"/>
                </a:moveTo>
                <a:lnTo>
                  <a:pt x="9153" y="12259"/>
                </a:lnTo>
                <a:lnTo>
                  <a:pt x="9153" y="12551"/>
                </a:lnTo>
                <a:lnTo>
                  <a:pt x="9336" y="12843"/>
                </a:lnTo>
                <a:lnTo>
                  <a:pt x="9519" y="13135"/>
                </a:lnTo>
                <a:lnTo>
                  <a:pt x="9702" y="13135"/>
                </a:lnTo>
                <a:lnTo>
                  <a:pt x="9885" y="13427"/>
                </a:lnTo>
                <a:lnTo>
                  <a:pt x="10068" y="13719"/>
                </a:lnTo>
                <a:lnTo>
                  <a:pt x="10434" y="13719"/>
                </a:lnTo>
                <a:lnTo>
                  <a:pt x="10800" y="13719"/>
                </a:lnTo>
                <a:lnTo>
                  <a:pt x="10983" y="13719"/>
                </a:lnTo>
                <a:lnTo>
                  <a:pt x="11349" y="13719"/>
                </a:lnTo>
                <a:lnTo>
                  <a:pt x="11715" y="13427"/>
                </a:lnTo>
                <a:lnTo>
                  <a:pt x="11898" y="13135"/>
                </a:lnTo>
                <a:lnTo>
                  <a:pt x="12081" y="13135"/>
                </a:lnTo>
                <a:lnTo>
                  <a:pt x="12264" y="12843"/>
                </a:lnTo>
                <a:lnTo>
                  <a:pt x="12264" y="12551"/>
                </a:lnTo>
                <a:lnTo>
                  <a:pt x="12264" y="12259"/>
                </a:lnTo>
                <a:lnTo>
                  <a:pt x="9153" y="12259"/>
                </a:lnTo>
                <a:close/>
              </a:path>
              <a:path w="21600" h="21600" extrusionOk="0">
                <a:moveTo>
                  <a:pt x="21600" y="7589"/>
                </a:moveTo>
                <a:lnTo>
                  <a:pt x="17756" y="0"/>
                </a:lnTo>
                <a:lnTo>
                  <a:pt x="10800" y="0"/>
                </a:lnTo>
                <a:lnTo>
                  <a:pt x="3844" y="0"/>
                </a:lnTo>
                <a:lnTo>
                  <a:pt x="0" y="7589"/>
                </a:lnTo>
                <a:lnTo>
                  <a:pt x="0" y="10800"/>
                </a:lnTo>
                <a:lnTo>
                  <a:pt x="0" y="18097"/>
                </a:lnTo>
                <a:lnTo>
                  <a:pt x="1464" y="18097"/>
                </a:lnTo>
                <a:lnTo>
                  <a:pt x="1464" y="21600"/>
                </a:lnTo>
                <a:lnTo>
                  <a:pt x="10800" y="21600"/>
                </a:lnTo>
                <a:lnTo>
                  <a:pt x="19953" y="21600"/>
                </a:lnTo>
                <a:lnTo>
                  <a:pt x="19953" y="18097"/>
                </a:lnTo>
                <a:lnTo>
                  <a:pt x="21600" y="18097"/>
                </a:lnTo>
                <a:lnTo>
                  <a:pt x="21600" y="11092"/>
                </a:lnTo>
                <a:lnTo>
                  <a:pt x="21600" y="7589"/>
                </a:lnTo>
              </a:path>
              <a:path w="21600" h="21600" extrusionOk="0">
                <a:moveTo>
                  <a:pt x="1647" y="18097"/>
                </a:moveTo>
                <a:lnTo>
                  <a:pt x="6407" y="18097"/>
                </a:lnTo>
                <a:moveTo>
                  <a:pt x="19953" y="18097"/>
                </a:moveTo>
                <a:lnTo>
                  <a:pt x="15010" y="18097"/>
                </a:lnTo>
                <a:moveTo>
                  <a:pt x="0" y="7589"/>
                </a:moveTo>
                <a:lnTo>
                  <a:pt x="21417" y="7589"/>
                </a:lnTo>
                <a:lnTo>
                  <a:pt x="21600" y="7589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190" name="monitor"/>
          <p:cNvSpPr>
            <a:spLocks noEditPoints="1" noChangeArrowheads="1"/>
          </p:cNvSpPr>
          <p:nvPr/>
        </p:nvSpPr>
        <p:spPr bwMode="auto">
          <a:xfrm>
            <a:off x="2209800" y="5181600"/>
            <a:ext cx="1065213" cy="1143000"/>
          </a:xfrm>
          <a:custGeom>
            <a:avLst/>
            <a:gdLst>
              <a:gd name="T0" fmla="*/ 6837 w 21600"/>
              <a:gd name="T1" fmla="*/ 21600 h 21600"/>
              <a:gd name="T2" fmla="*/ 3108 w 21600"/>
              <a:gd name="T3" fmla="*/ 19849 h 21600"/>
              <a:gd name="T4" fmla="*/ 0 w 21600"/>
              <a:gd name="T5" fmla="*/ 15178 h 21600"/>
              <a:gd name="T6" fmla="*/ 0 w 21600"/>
              <a:gd name="T7" fmla="*/ 10508 h 21600"/>
              <a:gd name="T8" fmla="*/ 0 w 21600"/>
              <a:gd name="T9" fmla="*/ 3941 h 21600"/>
              <a:gd name="T10" fmla="*/ 8081 w 21600"/>
              <a:gd name="T11" fmla="*/ 1168 h 21600"/>
              <a:gd name="T12" fmla="*/ 17871 w 21600"/>
              <a:gd name="T13" fmla="*/ 0 h 21600"/>
              <a:gd name="T14" fmla="*/ 21600 w 21600"/>
              <a:gd name="T15" fmla="*/ 1751 h 21600"/>
              <a:gd name="T16" fmla="*/ 21600 w 21600"/>
              <a:gd name="T17" fmla="*/ 10508 h 21600"/>
              <a:gd name="T18" fmla="*/ 21600 w 21600"/>
              <a:gd name="T19" fmla="*/ 16346 h 21600"/>
              <a:gd name="T20" fmla="*/ 10722 w 21600"/>
              <a:gd name="T21" fmla="*/ 20286 h 21600"/>
              <a:gd name="T22" fmla="*/ 1204 w 21600"/>
              <a:gd name="T23" fmla="*/ 22548 h 21600"/>
              <a:gd name="T24" fmla="*/ 20706 w 21600"/>
              <a:gd name="T25" fmla="*/ 283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T22" t="T23" r="T24" b="T25"/>
            <a:pathLst>
              <a:path w="21600" h="21600" extrusionOk="0">
                <a:moveTo>
                  <a:pt x="6837" y="21600"/>
                </a:moveTo>
                <a:lnTo>
                  <a:pt x="3108" y="19849"/>
                </a:lnTo>
                <a:lnTo>
                  <a:pt x="3108" y="17659"/>
                </a:lnTo>
                <a:lnTo>
                  <a:pt x="0" y="15178"/>
                </a:lnTo>
                <a:lnTo>
                  <a:pt x="0" y="10508"/>
                </a:lnTo>
                <a:lnTo>
                  <a:pt x="0" y="3941"/>
                </a:lnTo>
                <a:lnTo>
                  <a:pt x="8081" y="1168"/>
                </a:lnTo>
                <a:lnTo>
                  <a:pt x="10722" y="1605"/>
                </a:lnTo>
                <a:lnTo>
                  <a:pt x="12587" y="1751"/>
                </a:lnTo>
                <a:lnTo>
                  <a:pt x="17871" y="0"/>
                </a:lnTo>
                <a:lnTo>
                  <a:pt x="21600" y="1751"/>
                </a:lnTo>
                <a:lnTo>
                  <a:pt x="21600" y="10508"/>
                </a:lnTo>
                <a:lnTo>
                  <a:pt x="21600" y="16346"/>
                </a:lnTo>
                <a:lnTo>
                  <a:pt x="10722" y="20286"/>
                </a:lnTo>
                <a:lnTo>
                  <a:pt x="6837" y="21600"/>
                </a:lnTo>
                <a:close/>
              </a:path>
              <a:path w="21600" h="21600" extrusionOk="0">
                <a:moveTo>
                  <a:pt x="3108" y="5254"/>
                </a:moveTo>
                <a:lnTo>
                  <a:pt x="2642" y="4962"/>
                </a:lnTo>
                <a:lnTo>
                  <a:pt x="777" y="4232"/>
                </a:lnTo>
                <a:lnTo>
                  <a:pt x="155" y="3941"/>
                </a:lnTo>
                <a:moveTo>
                  <a:pt x="6837" y="7005"/>
                </a:moveTo>
                <a:lnTo>
                  <a:pt x="6216" y="6714"/>
                </a:lnTo>
                <a:lnTo>
                  <a:pt x="3885" y="5546"/>
                </a:lnTo>
                <a:lnTo>
                  <a:pt x="3108" y="5254"/>
                </a:lnTo>
                <a:moveTo>
                  <a:pt x="19735" y="14595"/>
                </a:moveTo>
                <a:lnTo>
                  <a:pt x="19735" y="4816"/>
                </a:lnTo>
                <a:lnTo>
                  <a:pt x="9790" y="8319"/>
                </a:lnTo>
                <a:lnTo>
                  <a:pt x="9790" y="18243"/>
                </a:lnTo>
                <a:lnTo>
                  <a:pt x="19735" y="14595"/>
                </a:lnTo>
                <a:moveTo>
                  <a:pt x="3108" y="17659"/>
                </a:moveTo>
                <a:lnTo>
                  <a:pt x="3108" y="5254"/>
                </a:lnTo>
                <a:lnTo>
                  <a:pt x="12742" y="1751"/>
                </a:lnTo>
                <a:moveTo>
                  <a:pt x="21600" y="1751"/>
                </a:moveTo>
                <a:lnTo>
                  <a:pt x="6837" y="7005"/>
                </a:lnTo>
                <a:lnTo>
                  <a:pt x="6837" y="21600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191" name="printer2"/>
          <p:cNvSpPr>
            <a:spLocks noEditPoints="1" noChangeArrowheads="1"/>
          </p:cNvSpPr>
          <p:nvPr/>
        </p:nvSpPr>
        <p:spPr bwMode="auto">
          <a:xfrm>
            <a:off x="3429000" y="5791200"/>
            <a:ext cx="1250950" cy="533400"/>
          </a:xfrm>
          <a:custGeom>
            <a:avLst/>
            <a:gdLst>
              <a:gd name="T0" fmla="*/ 10673 w 21600"/>
              <a:gd name="T1" fmla="*/ 0 h 21600"/>
              <a:gd name="T2" fmla="*/ 19186 w 21600"/>
              <a:gd name="T3" fmla="*/ 0 h 21600"/>
              <a:gd name="T4" fmla="*/ 21600 w 21600"/>
              <a:gd name="T5" fmla="*/ 4703 h 21600"/>
              <a:gd name="T6" fmla="*/ 21600 w 21600"/>
              <a:gd name="T7" fmla="*/ 10800 h 21600"/>
              <a:gd name="T8" fmla="*/ 21600 w 21600"/>
              <a:gd name="T9" fmla="*/ 16548 h 21600"/>
              <a:gd name="T10" fmla="*/ 18042 w 21600"/>
              <a:gd name="T11" fmla="*/ 21600 h 21600"/>
              <a:gd name="T12" fmla="*/ 10673 w 21600"/>
              <a:gd name="T13" fmla="*/ 21600 h 21600"/>
              <a:gd name="T14" fmla="*/ 3176 w 21600"/>
              <a:gd name="T15" fmla="*/ 21600 h 21600"/>
              <a:gd name="T16" fmla="*/ 0 w 21600"/>
              <a:gd name="T17" fmla="*/ 16548 h 21600"/>
              <a:gd name="T18" fmla="*/ 0 w 21600"/>
              <a:gd name="T19" fmla="*/ 10800 h 21600"/>
              <a:gd name="T20" fmla="*/ 0 w 21600"/>
              <a:gd name="T21" fmla="*/ 4703 h 21600"/>
              <a:gd name="T22" fmla="*/ 2414 w 21600"/>
              <a:gd name="T23" fmla="*/ 0 h 21600"/>
              <a:gd name="T24" fmla="*/ 1397 w 21600"/>
              <a:gd name="T25" fmla="*/ 23298 h 21600"/>
              <a:gd name="T26" fmla="*/ 20266 w 21600"/>
              <a:gd name="T27" fmla="*/ 311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10673" y="0"/>
                </a:moveTo>
                <a:lnTo>
                  <a:pt x="19186" y="0"/>
                </a:lnTo>
                <a:lnTo>
                  <a:pt x="21600" y="4703"/>
                </a:lnTo>
                <a:lnTo>
                  <a:pt x="21600" y="10800"/>
                </a:lnTo>
                <a:lnTo>
                  <a:pt x="21600" y="16548"/>
                </a:lnTo>
                <a:lnTo>
                  <a:pt x="18042" y="16548"/>
                </a:lnTo>
                <a:lnTo>
                  <a:pt x="18042" y="21600"/>
                </a:lnTo>
                <a:lnTo>
                  <a:pt x="10673" y="21600"/>
                </a:lnTo>
                <a:lnTo>
                  <a:pt x="3176" y="21600"/>
                </a:lnTo>
                <a:lnTo>
                  <a:pt x="3176" y="16548"/>
                </a:lnTo>
                <a:lnTo>
                  <a:pt x="0" y="16548"/>
                </a:lnTo>
                <a:lnTo>
                  <a:pt x="0" y="10800"/>
                </a:lnTo>
                <a:lnTo>
                  <a:pt x="0" y="4703"/>
                </a:lnTo>
                <a:lnTo>
                  <a:pt x="2414" y="0"/>
                </a:lnTo>
                <a:lnTo>
                  <a:pt x="10673" y="0"/>
                </a:lnTo>
                <a:close/>
              </a:path>
              <a:path w="21600" h="21600" extrusionOk="0">
                <a:moveTo>
                  <a:pt x="0" y="4703"/>
                </a:moveTo>
                <a:lnTo>
                  <a:pt x="3558" y="4703"/>
                </a:lnTo>
                <a:lnTo>
                  <a:pt x="17026" y="4703"/>
                </a:lnTo>
                <a:lnTo>
                  <a:pt x="21600" y="4703"/>
                </a:lnTo>
                <a:lnTo>
                  <a:pt x="0" y="4703"/>
                </a:lnTo>
                <a:moveTo>
                  <a:pt x="16518" y="4703"/>
                </a:moveTo>
                <a:lnTo>
                  <a:pt x="16518" y="10452"/>
                </a:lnTo>
                <a:lnTo>
                  <a:pt x="0" y="10452"/>
                </a:lnTo>
                <a:moveTo>
                  <a:pt x="4320" y="16548"/>
                </a:moveTo>
                <a:lnTo>
                  <a:pt x="4320" y="17419"/>
                </a:lnTo>
                <a:lnTo>
                  <a:pt x="4320" y="20555"/>
                </a:lnTo>
                <a:lnTo>
                  <a:pt x="4320" y="21600"/>
                </a:lnTo>
                <a:lnTo>
                  <a:pt x="4320" y="16548"/>
                </a:lnTo>
                <a:moveTo>
                  <a:pt x="16899" y="16548"/>
                </a:moveTo>
                <a:lnTo>
                  <a:pt x="16899" y="17419"/>
                </a:lnTo>
                <a:lnTo>
                  <a:pt x="16899" y="20555"/>
                </a:lnTo>
                <a:lnTo>
                  <a:pt x="16899" y="21600"/>
                </a:lnTo>
                <a:lnTo>
                  <a:pt x="16899" y="16548"/>
                </a:lnTo>
                <a:moveTo>
                  <a:pt x="15247" y="14981"/>
                </a:moveTo>
                <a:lnTo>
                  <a:pt x="15247" y="10452"/>
                </a:lnTo>
                <a:lnTo>
                  <a:pt x="16899" y="16548"/>
                </a:lnTo>
                <a:lnTo>
                  <a:pt x="18042" y="16548"/>
                </a:lnTo>
                <a:lnTo>
                  <a:pt x="16518" y="10452"/>
                </a:lnTo>
                <a:moveTo>
                  <a:pt x="15247" y="14981"/>
                </a:moveTo>
                <a:lnTo>
                  <a:pt x="15247" y="14981"/>
                </a:lnTo>
                <a:lnTo>
                  <a:pt x="16772" y="17942"/>
                </a:lnTo>
                <a:lnTo>
                  <a:pt x="4447" y="17942"/>
                </a:lnTo>
                <a:lnTo>
                  <a:pt x="5972" y="14981"/>
                </a:lnTo>
                <a:lnTo>
                  <a:pt x="5972" y="10452"/>
                </a:lnTo>
                <a:lnTo>
                  <a:pt x="4320" y="16548"/>
                </a:lnTo>
                <a:lnTo>
                  <a:pt x="3176" y="16548"/>
                </a:lnTo>
                <a:lnTo>
                  <a:pt x="4701" y="10452"/>
                </a:lnTo>
                <a:moveTo>
                  <a:pt x="20202" y="5574"/>
                </a:moveTo>
                <a:lnTo>
                  <a:pt x="20711" y="5574"/>
                </a:lnTo>
                <a:lnTo>
                  <a:pt x="20711" y="7839"/>
                </a:lnTo>
                <a:lnTo>
                  <a:pt x="20202" y="7839"/>
                </a:lnTo>
                <a:lnTo>
                  <a:pt x="20202" y="5574"/>
                </a:lnTo>
                <a:moveTo>
                  <a:pt x="5972" y="14981"/>
                </a:moveTo>
                <a:lnTo>
                  <a:pt x="7496" y="14981"/>
                </a:lnTo>
                <a:lnTo>
                  <a:pt x="13341" y="14981"/>
                </a:lnTo>
                <a:lnTo>
                  <a:pt x="15247" y="1498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192" name="tower"/>
          <p:cNvSpPr>
            <a:spLocks noEditPoints="1" noChangeArrowheads="1"/>
          </p:cNvSpPr>
          <p:nvPr/>
        </p:nvSpPr>
        <p:spPr bwMode="auto">
          <a:xfrm>
            <a:off x="4953000" y="5181600"/>
            <a:ext cx="604838" cy="111760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193" name="Line 17"/>
          <p:cNvSpPr>
            <a:spLocks noChangeShapeType="1"/>
          </p:cNvSpPr>
          <p:nvPr/>
        </p:nvSpPr>
        <p:spPr bwMode="auto">
          <a:xfrm flipH="1">
            <a:off x="914400" y="3200400"/>
            <a:ext cx="2286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194" name="Line 18"/>
          <p:cNvSpPr>
            <a:spLocks noChangeShapeType="1"/>
          </p:cNvSpPr>
          <p:nvPr/>
        </p:nvSpPr>
        <p:spPr bwMode="auto">
          <a:xfrm>
            <a:off x="1295400" y="3200400"/>
            <a:ext cx="838200" cy="2209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195" name="Line 19"/>
          <p:cNvSpPr>
            <a:spLocks noChangeShapeType="1"/>
          </p:cNvSpPr>
          <p:nvPr/>
        </p:nvSpPr>
        <p:spPr bwMode="auto">
          <a:xfrm>
            <a:off x="1524000" y="3200400"/>
            <a:ext cx="25146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196" name="Line 20"/>
          <p:cNvSpPr>
            <a:spLocks noChangeShapeType="1"/>
          </p:cNvSpPr>
          <p:nvPr/>
        </p:nvSpPr>
        <p:spPr bwMode="auto">
          <a:xfrm>
            <a:off x="1752600" y="3200400"/>
            <a:ext cx="3048000" cy="2209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198" name="Text Box 22"/>
          <p:cNvSpPr txBox="1">
            <a:spLocks noChangeArrowheads="1"/>
          </p:cNvSpPr>
          <p:nvPr/>
        </p:nvSpPr>
        <p:spPr bwMode="auto">
          <a:xfrm rot="3925596">
            <a:off x="1463675" y="4152900"/>
            <a:ext cx="94138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</a:rPr>
              <a:t>Display</a:t>
            </a:r>
          </a:p>
        </p:txBody>
      </p:sp>
      <p:sp>
        <p:nvSpPr>
          <p:cNvPr id="178199" name="Text Box 23"/>
          <p:cNvSpPr txBox="1">
            <a:spLocks noChangeArrowheads="1"/>
          </p:cNvSpPr>
          <p:nvPr/>
        </p:nvSpPr>
        <p:spPr bwMode="auto">
          <a:xfrm rot="2382975">
            <a:off x="2662238" y="4265613"/>
            <a:ext cx="6588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Print</a:t>
            </a:r>
          </a:p>
        </p:txBody>
      </p:sp>
      <p:sp>
        <p:nvSpPr>
          <p:cNvPr id="178200" name="Text Box 24"/>
          <p:cNvSpPr txBox="1">
            <a:spLocks noChangeArrowheads="1"/>
          </p:cNvSpPr>
          <p:nvPr/>
        </p:nvSpPr>
        <p:spPr bwMode="auto">
          <a:xfrm rot="2004995">
            <a:off x="3036888" y="3960813"/>
            <a:ext cx="7366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Store</a:t>
            </a:r>
          </a:p>
        </p:txBody>
      </p:sp>
      <p:sp>
        <p:nvSpPr>
          <p:cNvPr id="178201" name="Line 25"/>
          <p:cNvSpPr>
            <a:spLocks noChangeShapeType="1"/>
          </p:cNvSpPr>
          <p:nvPr/>
        </p:nvSpPr>
        <p:spPr bwMode="auto">
          <a:xfrm flipH="1">
            <a:off x="1066800" y="3200400"/>
            <a:ext cx="18288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02" name="Line 26"/>
          <p:cNvSpPr>
            <a:spLocks noChangeShapeType="1"/>
          </p:cNvSpPr>
          <p:nvPr/>
        </p:nvSpPr>
        <p:spPr bwMode="auto">
          <a:xfrm flipH="1">
            <a:off x="2895600" y="3200400"/>
            <a:ext cx="228600" cy="1981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03" name="Line 27"/>
          <p:cNvSpPr>
            <a:spLocks noChangeShapeType="1"/>
          </p:cNvSpPr>
          <p:nvPr/>
        </p:nvSpPr>
        <p:spPr bwMode="auto">
          <a:xfrm>
            <a:off x="3352800" y="3200400"/>
            <a:ext cx="762000" cy="24384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04" name="Line 28"/>
          <p:cNvSpPr>
            <a:spLocks noChangeShapeType="1"/>
          </p:cNvSpPr>
          <p:nvPr/>
        </p:nvSpPr>
        <p:spPr bwMode="auto">
          <a:xfrm>
            <a:off x="3657600" y="3200400"/>
            <a:ext cx="1676400" cy="1905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06" name="Text Box 30"/>
          <p:cNvSpPr txBox="1">
            <a:spLocks noChangeArrowheads="1"/>
          </p:cNvSpPr>
          <p:nvPr/>
        </p:nvSpPr>
        <p:spPr bwMode="auto">
          <a:xfrm rot="16787155">
            <a:off x="2379663" y="3544888"/>
            <a:ext cx="9413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Display</a:t>
            </a:r>
          </a:p>
        </p:txBody>
      </p:sp>
      <p:sp>
        <p:nvSpPr>
          <p:cNvPr id="178207" name="Text Box 31"/>
          <p:cNvSpPr txBox="1">
            <a:spLocks noChangeArrowheads="1"/>
          </p:cNvSpPr>
          <p:nvPr/>
        </p:nvSpPr>
        <p:spPr bwMode="auto">
          <a:xfrm rot="3976878">
            <a:off x="3433762" y="3643313"/>
            <a:ext cx="6588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Print</a:t>
            </a:r>
          </a:p>
        </p:txBody>
      </p:sp>
      <p:sp>
        <p:nvSpPr>
          <p:cNvPr id="178208" name="Text Box 32"/>
          <p:cNvSpPr txBox="1">
            <a:spLocks noChangeArrowheads="1"/>
          </p:cNvSpPr>
          <p:nvPr/>
        </p:nvSpPr>
        <p:spPr bwMode="auto">
          <a:xfrm rot="3101637">
            <a:off x="3944144" y="3448844"/>
            <a:ext cx="736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Store</a:t>
            </a:r>
          </a:p>
        </p:txBody>
      </p:sp>
      <p:sp>
        <p:nvSpPr>
          <p:cNvPr id="178209" name="Line 33"/>
          <p:cNvSpPr>
            <a:spLocks noChangeShapeType="1"/>
          </p:cNvSpPr>
          <p:nvPr/>
        </p:nvSpPr>
        <p:spPr bwMode="auto">
          <a:xfrm>
            <a:off x="2057400" y="3200400"/>
            <a:ext cx="4800600" cy="1905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10" name="Text Box 34"/>
          <p:cNvSpPr txBox="1">
            <a:spLocks noChangeArrowheads="1"/>
          </p:cNvSpPr>
          <p:nvPr/>
        </p:nvSpPr>
        <p:spPr bwMode="auto">
          <a:xfrm rot="1276622">
            <a:off x="5083175" y="4341813"/>
            <a:ext cx="15319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Send/receive</a:t>
            </a:r>
          </a:p>
        </p:txBody>
      </p:sp>
      <p:sp>
        <p:nvSpPr>
          <p:cNvPr id="178211" name="Line 35"/>
          <p:cNvSpPr>
            <a:spLocks noChangeShapeType="1"/>
          </p:cNvSpPr>
          <p:nvPr/>
        </p:nvSpPr>
        <p:spPr bwMode="auto">
          <a:xfrm>
            <a:off x="3886200" y="3200400"/>
            <a:ext cx="3200400" cy="1905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12" name="Text Box 36"/>
          <p:cNvSpPr txBox="1">
            <a:spLocks noChangeArrowheads="1"/>
          </p:cNvSpPr>
          <p:nvPr/>
        </p:nvSpPr>
        <p:spPr bwMode="auto">
          <a:xfrm rot="1839513">
            <a:off x="5768975" y="4340225"/>
            <a:ext cx="15319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</a:rPr>
              <a:t>Send/receive</a:t>
            </a:r>
          </a:p>
        </p:txBody>
      </p:sp>
      <p:sp>
        <p:nvSpPr>
          <p:cNvPr id="178213" name="Line 37"/>
          <p:cNvSpPr>
            <a:spLocks noChangeShapeType="1"/>
          </p:cNvSpPr>
          <p:nvPr/>
        </p:nvSpPr>
        <p:spPr bwMode="auto">
          <a:xfrm flipH="1">
            <a:off x="1295400" y="3276600"/>
            <a:ext cx="3657600" cy="24384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15" name="Line 39"/>
          <p:cNvSpPr>
            <a:spLocks noChangeShapeType="1"/>
          </p:cNvSpPr>
          <p:nvPr/>
        </p:nvSpPr>
        <p:spPr bwMode="auto">
          <a:xfrm flipH="1">
            <a:off x="3200400" y="3276600"/>
            <a:ext cx="1981200" cy="1981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16" name="Line 40"/>
          <p:cNvSpPr>
            <a:spLocks noChangeShapeType="1"/>
          </p:cNvSpPr>
          <p:nvPr/>
        </p:nvSpPr>
        <p:spPr bwMode="auto">
          <a:xfrm flipH="1">
            <a:off x="4267200" y="3276600"/>
            <a:ext cx="1143000" cy="2362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17" name="Line 41"/>
          <p:cNvSpPr>
            <a:spLocks noChangeShapeType="1"/>
          </p:cNvSpPr>
          <p:nvPr/>
        </p:nvSpPr>
        <p:spPr bwMode="auto">
          <a:xfrm flipH="1">
            <a:off x="5486400" y="3276600"/>
            <a:ext cx="228600" cy="1828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18" name="Line 42"/>
          <p:cNvSpPr>
            <a:spLocks noChangeShapeType="1"/>
          </p:cNvSpPr>
          <p:nvPr/>
        </p:nvSpPr>
        <p:spPr bwMode="auto">
          <a:xfrm>
            <a:off x="5867400" y="3276600"/>
            <a:ext cx="1600200" cy="18288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19" name="Text Box 43"/>
          <p:cNvSpPr txBox="1">
            <a:spLocks noChangeArrowheads="1"/>
          </p:cNvSpPr>
          <p:nvPr/>
        </p:nvSpPr>
        <p:spPr bwMode="auto">
          <a:xfrm rot="19260462">
            <a:off x="3792538" y="4267200"/>
            <a:ext cx="94138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Display</a:t>
            </a:r>
          </a:p>
        </p:txBody>
      </p:sp>
      <p:sp>
        <p:nvSpPr>
          <p:cNvPr id="178220" name="Text Box 44"/>
          <p:cNvSpPr txBox="1">
            <a:spLocks noChangeArrowheads="1"/>
          </p:cNvSpPr>
          <p:nvPr/>
        </p:nvSpPr>
        <p:spPr bwMode="auto">
          <a:xfrm rot="17982495">
            <a:off x="5113338" y="3489325"/>
            <a:ext cx="658812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Print</a:t>
            </a:r>
          </a:p>
        </p:txBody>
      </p:sp>
      <p:sp>
        <p:nvSpPr>
          <p:cNvPr id="178221" name="Text Box 45"/>
          <p:cNvSpPr txBox="1">
            <a:spLocks noChangeArrowheads="1"/>
          </p:cNvSpPr>
          <p:nvPr/>
        </p:nvSpPr>
        <p:spPr bwMode="auto">
          <a:xfrm rot="16478936">
            <a:off x="5453857" y="3601244"/>
            <a:ext cx="7366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Store</a:t>
            </a:r>
          </a:p>
        </p:txBody>
      </p:sp>
      <p:sp>
        <p:nvSpPr>
          <p:cNvPr id="178222" name="Text Box 46"/>
          <p:cNvSpPr txBox="1">
            <a:spLocks noChangeArrowheads="1"/>
          </p:cNvSpPr>
          <p:nvPr/>
        </p:nvSpPr>
        <p:spPr bwMode="auto">
          <a:xfrm rot="2911272">
            <a:off x="6043613" y="3913188"/>
            <a:ext cx="153193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Send/receive</a:t>
            </a:r>
          </a:p>
        </p:txBody>
      </p:sp>
      <p:sp>
        <p:nvSpPr>
          <p:cNvPr id="178223" name="Line 47"/>
          <p:cNvSpPr>
            <a:spLocks noChangeShapeType="1"/>
          </p:cNvSpPr>
          <p:nvPr/>
        </p:nvSpPr>
        <p:spPr bwMode="auto">
          <a:xfrm flipH="1">
            <a:off x="1600200" y="3276600"/>
            <a:ext cx="5181600" cy="2362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24" name="Line 48"/>
          <p:cNvSpPr>
            <a:spLocks noChangeShapeType="1"/>
          </p:cNvSpPr>
          <p:nvPr/>
        </p:nvSpPr>
        <p:spPr bwMode="auto">
          <a:xfrm flipH="1">
            <a:off x="3352800" y="3200400"/>
            <a:ext cx="3733800" cy="2362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25" name="Line 49"/>
          <p:cNvSpPr>
            <a:spLocks noChangeShapeType="1"/>
          </p:cNvSpPr>
          <p:nvPr/>
        </p:nvSpPr>
        <p:spPr bwMode="auto">
          <a:xfrm flipH="1">
            <a:off x="4495800" y="3200400"/>
            <a:ext cx="2819400" cy="2514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26" name="Line 50"/>
          <p:cNvSpPr>
            <a:spLocks noChangeShapeType="1"/>
          </p:cNvSpPr>
          <p:nvPr/>
        </p:nvSpPr>
        <p:spPr bwMode="auto">
          <a:xfrm>
            <a:off x="7696200" y="3200400"/>
            <a:ext cx="76200" cy="1905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27" name="Text Box 51"/>
          <p:cNvSpPr txBox="1">
            <a:spLocks noChangeArrowheads="1"/>
          </p:cNvSpPr>
          <p:nvPr/>
        </p:nvSpPr>
        <p:spPr bwMode="auto">
          <a:xfrm rot="5100108">
            <a:off x="7188200" y="3986213"/>
            <a:ext cx="1531937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</a:rPr>
              <a:t>Send/receive</a:t>
            </a:r>
          </a:p>
        </p:txBody>
      </p:sp>
      <p:sp>
        <p:nvSpPr>
          <p:cNvPr id="178228" name="Text Box 52"/>
          <p:cNvSpPr txBox="1">
            <a:spLocks noChangeArrowheads="1"/>
          </p:cNvSpPr>
          <p:nvPr/>
        </p:nvSpPr>
        <p:spPr bwMode="auto">
          <a:xfrm rot="19832218">
            <a:off x="4024313" y="4494213"/>
            <a:ext cx="941387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Display</a:t>
            </a:r>
          </a:p>
        </p:txBody>
      </p:sp>
      <p:sp>
        <p:nvSpPr>
          <p:cNvPr id="178229" name="Text Box 53"/>
          <p:cNvSpPr txBox="1">
            <a:spLocks noChangeArrowheads="1"/>
          </p:cNvSpPr>
          <p:nvPr/>
        </p:nvSpPr>
        <p:spPr bwMode="auto">
          <a:xfrm rot="18668371">
            <a:off x="6922294" y="3504406"/>
            <a:ext cx="736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Store</a:t>
            </a:r>
          </a:p>
        </p:txBody>
      </p:sp>
      <p:sp>
        <p:nvSpPr>
          <p:cNvPr id="178230" name="Line 54"/>
          <p:cNvSpPr>
            <a:spLocks noChangeShapeType="1"/>
          </p:cNvSpPr>
          <p:nvPr/>
        </p:nvSpPr>
        <p:spPr bwMode="auto">
          <a:xfrm flipH="1">
            <a:off x="5486400" y="3200400"/>
            <a:ext cx="1981200" cy="2133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8231" name="Text Box 55"/>
          <p:cNvSpPr txBox="1">
            <a:spLocks noChangeArrowheads="1"/>
          </p:cNvSpPr>
          <p:nvPr/>
        </p:nvSpPr>
        <p:spPr bwMode="auto">
          <a:xfrm rot="19219314">
            <a:off x="4491038" y="4951413"/>
            <a:ext cx="658812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Print</a:t>
            </a:r>
          </a:p>
        </p:txBody>
      </p:sp>
      <p:pic>
        <p:nvPicPr>
          <p:cNvPr id="31799" name="Picture 4" descr="C:\Users\rhk\AppData\Local\Microsoft\Windows\Temporary Internet Files\Content.IE5\P0TC36KP\MCj03984470000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791200"/>
            <a:ext cx="8382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800" name="Picture 5" descr="C:\Users\rhk\AppData\Local\Microsoft\Windows\Temporary Internet Files\Content.IE5\6WDTZ2I7\MCj03984450000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715000"/>
            <a:ext cx="725488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Rectangle 60"/>
          <p:cNvSpPr>
            <a:spLocks noChangeArrowheads="1"/>
          </p:cNvSpPr>
          <p:nvPr/>
        </p:nvSpPr>
        <p:spPr bwMode="auto">
          <a:xfrm>
            <a:off x="457200" y="5791200"/>
            <a:ext cx="990600" cy="5334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178197" name="Text Box 21"/>
          <p:cNvSpPr txBox="1">
            <a:spLocks noChangeArrowheads="1"/>
          </p:cNvSpPr>
          <p:nvPr/>
        </p:nvSpPr>
        <p:spPr bwMode="auto">
          <a:xfrm rot="19614327">
            <a:off x="1600200" y="4649788"/>
            <a:ext cx="1281113" cy="36671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Read/write</a:t>
            </a:r>
          </a:p>
        </p:txBody>
      </p:sp>
      <p:sp>
        <p:nvSpPr>
          <p:cNvPr id="178205" name="Text Box 29"/>
          <p:cNvSpPr txBox="1">
            <a:spLocks noChangeArrowheads="1"/>
          </p:cNvSpPr>
          <p:nvPr/>
        </p:nvSpPr>
        <p:spPr bwMode="auto">
          <a:xfrm rot="18502192">
            <a:off x="1677987" y="3505201"/>
            <a:ext cx="1281113" cy="366712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Read/write</a:t>
            </a:r>
          </a:p>
        </p:txBody>
      </p:sp>
      <p:sp>
        <p:nvSpPr>
          <p:cNvPr id="178214" name="Text Box 38"/>
          <p:cNvSpPr txBox="1">
            <a:spLocks noChangeArrowheads="1"/>
          </p:cNvSpPr>
          <p:nvPr/>
        </p:nvSpPr>
        <p:spPr bwMode="auto">
          <a:xfrm rot="16497151">
            <a:off x="304800" y="4191000"/>
            <a:ext cx="1281113" cy="36671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</a:rPr>
              <a:t>Read/write</a:t>
            </a:r>
          </a:p>
        </p:txBody>
      </p:sp>
      <p:sp>
        <p:nvSpPr>
          <p:cNvPr id="178232" name="Text Box 56"/>
          <p:cNvSpPr txBox="1">
            <a:spLocks noChangeArrowheads="1"/>
          </p:cNvSpPr>
          <p:nvPr/>
        </p:nvSpPr>
        <p:spPr bwMode="auto">
          <a:xfrm rot="20252305">
            <a:off x="2514600" y="4572000"/>
            <a:ext cx="1281113" cy="366713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</a:rPr>
              <a:t>Read/write</a:t>
            </a:r>
          </a:p>
        </p:txBody>
      </p:sp>
      <p:sp>
        <p:nvSpPr>
          <p:cNvPr id="66" name="Text Box 21"/>
          <p:cNvSpPr txBox="1">
            <a:spLocks noChangeArrowheads="1"/>
          </p:cNvSpPr>
          <p:nvPr/>
        </p:nvSpPr>
        <p:spPr bwMode="auto">
          <a:xfrm rot="19614327">
            <a:off x="1601788" y="4651375"/>
            <a:ext cx="12811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Read/write</a:t>
            </a:r>
          </a:p>
        </p:txBody>
      </p:sp>
      <p:sp>
        <p:nvSpPr>
          <p:cNvPr id="67" name="Text Box 29"/>
          <p:cNvSpPr txBox="1">
            <a:spLocks noChangeArrowheads="1"/>
          </p:cNvSpPr>
          <p:nvPr/>
        </p:nvSpPr>
        <p:spPr bwMode="auto">
          <a:xfrm rot="18502192">
            <a:off x="1679576" y="3506787"/>
            <a:ext cx="1281112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Read/write</a:t>
            </a:r>
          </a:p>
        </p:txBody>
      </p:sp>
      <p:sp>
        <p:nvSpPr>
          <p:cNvPr id="68" name="Text Box 38"/>
          <p:cNvSpPr txBox="1">
            <a:spLocks noChangeArrowheads="1"/>
          </p:cNvSpPr>
          <p:nvPr/>
        </p:nvSpPr>
        <p:spPr bwMode="auto">
          <a:xfrm rot="16497151">
            <a:off x="306388" y="4192588"/>
            <a:ext cx="12811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dirty="0">
                <a:latin typeface="+mn-lt"/>
                <a:ea typeface="+mn-ea"/>
              </a:rPr>
              <a:t>Read/write</a:t>
            </a:r>
          </a:p>
        </p:txBody>
      </p:sp>
      <p:sp>
        <p:nvSpPr>
          <p:cNvPr id="69" name="Text Box 56"/>
          <p:cNvSpPr txBox="1">
            <a:spLocks noChangeArrowheads="1"/>
          </p:cNvSpPr>
          <p:nvPr/>
        </p:nvSpPr>
        <p:spPr bwMode="auto">
          <a:xfrm rot="20252305">
            <a:off x="2516188" y="4573588"/>
            <a:ext cx="1281112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>
                <a:latin typeface="+mn-lt"/>
                <a:ea typeface="+mn-ea"/>
              </a:rPr>
              <a:t>Read/write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178197" grpId="0" animBg="1"/>
      <p:bldP spid="178205" grpId="0" animBg="1"/>
      <p:bldP spid="178214" grpId="0" animBg="1"/>
      <p:bldP spid="1782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Delegate Common Functions</a:t>
            </a:r>
          </a:p>
        </p:txBody>
      </p:sp>
      <p:sp>
        <p:nvSpPr>
          <p:cNvPr id="327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27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0F99E939-65A4-6E45-977B-8671619E7711}" type="slidenum">
              <a:rPr lang="en-US"/>
              <a:pPr/>
              <a:t>23</a:t>
            </a:fld>
            <a:endParaRPr lang="en-US"/>
          </a:p>
        </p:txBody>
      </p:sp>
      <p:sp>
        <p:nvSpPr>
          <p:cNvPr id="171010" name="Rectangle 2"/>
          <p:cNvSpPr>
            <a:spLocks noChangeArrowheads="1"/>
          </p:cNvSpPr>
          <p:nvPr/>
        </p:nvSpPr>
        <p:spPr bwMode="auto">
          <a:xfrm>
            <a:off x="381000" y="1828800"/>
            <a:ext cx="8229600" cy="1600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12" name="Rectangle 4"/>
          <p:cNvSpPr>
            <a:spLocks noChangeArrowheads="1"/>
          </p:cNvSpPr>
          <p:nvPr/>
        </p:nvSpPr>
        <p:spPr bwMode="auto">
          <a:xfrm>
            <a:off x="5334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Firefox</a:t>
            </a:r>
            <a:endParaRPr lang="en-US" sz="2400" dirty="0">
              <a:latin typeface="+mn-lt"/>
              <a:ea typeface="+mn-ea"/>
            </a:endParaRPr>
          </a:p>
        </p:txBody>
      </p:sp>
      <p:sp>
        <p:nvSpPr>
          <p:cNvPr id="171013" name="Rectangle 5"/>
          <p:cNvSpPr>
            <a:spLocks noChangeArrowheads="1"/>
          </p:cNvSpPr>
          <p:nvPr/>
        </p:nvSpPr>
        <p:spPr bwMode="auto">
          <a:xfrm>
            <a:off x="25146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Second Life</a:t>
            </a:r>
          </a:p>
        </p:txBody>
      </p:sp>
      <p:sp>
        <p:nvSpPr>
          <p:cNvPr id="171014" name="Rectangle 6"/>
          <p:cNvSpPr>
            <a:spLocks noChangeArrowheads="1"/>
          </p:cNvSpPr>
          <p:nvPr/>
        </p:nvSpPr>
        <p:spPr bwMode="auto">
          <a:xfrm>
            <a:off x="45720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Yahoo</a:t>
            </a:r>
          </a:p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Chat</a:t>
            </a:r>
          </a:p>
        </p:txBody>
      </p:sp>
      <p:sp>
        <p:nvSpPr>
          <p:cNvPr id="171015" name="Rectangle 7"/>
          <p:cNvSpPr>
            <a:spLocks noChangeArrowheads="1"/>
          </p:cNvSpPr>
          <p:nvPr/>
        </p:nvSpPr>
        <p:spPr bwMode="auto">
          <a:xfrm>
            <a:off x="6553200" y="25146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 err="1">
                <a:latin typeface="+mn-lt"/>
                <a:ea typeface="Tahoma" pitchFamily="34" charset="0"/>
                <a:cs typeface="Tahoma" pitchFamily="34" charset="0"/>
              </a:rPr>
              <a:t>GMail</a:t>
            </a:r>
            <a:endParaRPr lang="en-US" sz="2400" dirty="0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71016" name="Text Box 8"/>
          <p:cNvSpPr txBox="1">
            <a:spLocks noChangeArrowheads="1"/>
          </p:cNvSpPr>
          <p:nvPr/>
        </p:nvSpPr>
        <p:spPr bwMode="auto">
          <a:xfrm>
            <a:off x="381000" y="1905000"/>
            <a:ext cx="3387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Application Software</a:t>
            </a:r>
          </a:p>
        </p:txBody>
      </p:sp>
      <p:sp>
        <p:nvSpPr>
          <p:cNvPr id="171017" name="Rectangle 9"/>
          <p:cNvSpPr>
            <a:spLocks noChangeArrowheads="1"/>
          </p:cNvSpPr>
          <p:nvPr/>
        </p:nvSpPr>
        <p:spPr bwMode="auto">
          <a:xfrm>
            <a:off x="381000" y="3657600"/>
            <a:ext cx="8229600" cy="1219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20" name="Text Box 12"/>
          <p:cNvSpPr txBox="1">
            <a:spLocks noChangeArrowheads="1"/>
          </p:cNvSpPr>
          <p:nvPr/>
        </p:nvSpPr>
        <p:spPr bwMode="auto">
          <a:xfrm>
            <a:off x="381000" y="3657600"/>
            <a:ext cx="2924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Operating System</a:t>
            </a:r>
          </a:p>
        </p:txBody>
      </p:sp>
      <p:sp>
        <p:nvSpPr>
          <p:cNvPr id="171021" name="Rectangle 13"/>
          <p:cNvSpPr>
            <a:spLocks noChangeArrowheads="1"/>
          </p:cNvSpPr>
          <p:nvPr/>
        </p:nvSpPr>
        <p:spPr bwMode="auto">
          <a:xfrm>
            <a:off x="5867400" y="5105400"/>
            <a:ext cx="27432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22" name="Text Box 14"/>
          <p:cNvSpPr txBox="1">
            <a:spLocks noChangeArrowheads="1"/>
          </p:cNvSpPr>
          <p:nvPr/>
        </p:nvSpPr>
        <p:spPr bwMode="auto">
          <a:xfrm>
            <a:off x="5867400" y="5105400"/>
            <a:ext cx="1400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Network</a:t>
            </a:r>
          </a:p>
        </p:txBody>
      </p:sp>
      <p:sp>
        <p:nvSpPr>
          <p:cNvPr id="171023" name="Rectangle 15"/>
          <p:cNvSpPr>
            <a:spLocks noChangeArrowheads="1"/>
          </p:cNvSpPr>
          <p:nvPr/>
        </p:nvSpPr>
        <p:spPr bwMode="auto">
          <a:xfrm>
            <a:off x="381000" y="5105400"/>
            <a:ext cx="52578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24" name="Text Box 16"/>
          <p:cNvSpPr txBox="1">
            <a:spLocks noChangeArrowheads="1"/>
          </p:cNvSpPr>
          <p:nvPr/>
        </p:nvSpPr>
        <p:spPr bwMode="auto">
          <a:xfrm>
            <a:off x="381000" y="5105400"/>
            <a:ext cx="15890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Hardware</a:t>
            </a:r>
          </a:p>
        </p:txBody>
      </p:sp>
      <p:sp>
        <p:nvSpPr>
          <p:cNvPr id="171025" name="cddrive"/>
          <p:cNvSpPr>
            <a:spLocks noEditPoints="1" noChangeArrowheads="1"/>
          </p:cNvSpPr>
          <p:nvPr/>
        </p:nvSpPr>
        <p:spPr bwMode="auto">
          <a:xfrm>
            <a:off x="533400" y="5867400"/>
            <a:ext cx="762000" cy="3810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10800 h 21600"/>
              <a:gd name="T4" fmla="*/ 10800 w 21600"/>
              <a:gd name="T5" fmla="*/ 21600 h 21600"/>
              <a:gd name="T6" fmla="*/ 0 w 21600"/>
              <a:gd name="T7" fmla="*/ 10800 h 21600"/>
              <a:gd name="T8" fmla="*/ 686 w 21600"/>
              <a:gd name="T9" fmla="*/ 23059 h 21600"/>
              <a:gd name="T10" fmla="*/ 21005 w 21600"/>
              <a:gd name="T11" fmla="*/ 3050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2563" y="12259"/>
                </a:moveTo>
                <a:lnTo>
                  <a:pt x="2563" y="12843"/>
                </a:lnTo>
                <a:lnTo>
                  <a:pt x="2746" y="13427"/>
                </a:lnTo>
                <a:lnTo>
                  <a:pt x="2929" y="14303"/>
                </a:lnTo>
                <a:lnTo>
                  <a:pt x="3112" y="14886"/>
                </a:lnTo>
                <a:lnTo>
                  <a:pt x="3478" y="15470"/>
                </a:lnTo>
                <a:lnTo>
                  <a:pt x="3844" y="16054"/>
                </a:lnTo>
                <a:lnTo>
                  <a:pt x="4393" y="16638"/>
                </a:lnTo>
                <a:lnTo>
                  <a:pt x="4942" y="17222"/>
                </a:lnTo>
                <a:lnTo>
                  <a:pt x="5492" y="17514"/>
                </a:lnTo>
                <a:lnTo>
                  <a:pt x="6224" y="18097"/>
                </a:lnTo>
                <a:lnTo>
                  <a:pt x="6773" y="18389"/>
                </a:lnTo>
                <a:lnTo>
                  <a:pt x="7505" y="18681"/>
                </a:lnTo>
                <a:lnTo>
                  <a:pt x="8237" y="18973"/>
                </a:lnTo>
                <a:lnTo>
                  <a:pt x="9153" y="18973"/>
                </a:lnTo>
                <a:lnTo>
                  <a:pt x="9885" y="19265"/>
                </a:lnTo>
                <a:lnTo>
                  <a:pt x="10800" y="19265"/>
                </a:lnTo>
                <a:lnTo>
                  <a:pt x="11532" y="19265"/>
                </a:lnTo>
                <a:lnTo>
                  <a:pt x="12447" y="18973"/>
                </a:lnTo>
                <a:lnTo>
                  <a:pt x="13180" y="18973"/>
                </a:lnTo>
                <a:lnTo>
                  <a:pt x="13912" y="18681"/>
                </a:lnTo>
                <a:lnTo>
                  <a:pt x="14644" y="18389"/>
                </a:lnTo>
                <a:lnTo>
                  <a:pt x="15376" y="18097"/>
                </a:lnTo>
                <a:lnTo>
                  <a:pt x="16108" y="17514"/>
                </a:lnTo>
                <a:lnTo>
                  <a:pt x="16658" y="17222"/>
                </a:lnTo>
                <a:lnTo>
                  <a:pt x="17207" y="16638"/>
                </a:lnTo>
                <a:lnTo>
                  <a:pt x="17573" y="16054"/>
                </a:lnTo>
                <a:lnTo>
                  <a:pt x="18122" y="15470"/>
                </a:lnTo>
                <a:lnTo>
                  <a:pt x="18305" y="14886"/>
                </a:lnTo>
                <a:lnTo>
                  <a:pt x="18671" y="14303"/>
                </a:lnTo>
                <a:lnTo>
                  <a:pt x="18854" y="13427"/>
                </a:lnTo>
                <a:lnTo>
                  <a:pt x="19037" y="12843"/>
                </a:lnTo>
                <a:lnTo>
                  <a:pt x="19037" y="12259"/>
                </a:lnTo>
                <a:lnTo>
                  <a:pt x="2563" y="12259"/>
                </a:lnTo>
                <a:close/>
              </a:path>
              <a:path w="21600" h="21600" extrusionOk="0">
                <a:moveTo>
                  <a:pt x="2563" y="12259"/>
                </a:moveTo>
                <a:lnTo>
                  <a:pt x="9153" y="12259"/>
                </a:lnTo>
                <a:lnTo>
                  <a:pt x="9153" y="12551"/>
                </a:lnTo>
                <a:lnTo>
                  <a:pt x="9336" y="12843"/>
                </a:lnTo>
                <a:lnTo>
                  <a:pt x="9519" y="13135"/>
                </a:lnTo>
                <a:lnTo>
                  <a:pt x="9702" y="13135"/>
                </a:lnTo>
                <a:lnTo>
                  <a:pt x="9885" y="13427"/>
                </a:lnTo>
                <a:lnTo>
                  <a:pt x="10068" y="13719"/>
                </a:lnTo>
                <a:lnTo>
                  <a:pt x="10434" y="13719"/>
                </a:lnTo>
                <a:lnTo>
                  <a:pt x="10800" y="13719"/>
                </a:lnTo>
                <a:lnTo>
                  <a:pt x="10983" y="13719"/>
                </a:lnTo>
                <a:lnTo>
                  <a:pt x="11349" y="13719"/>
                </a:lnTo>
                <a:lnTo>
                  <a:pt x="11715" y="13427"/>
                </a:lnTo>
                <a:lnTo>
                  <a:pt x="11898" y="13135"/>
                </a:lnTo>
                <a:lnTo>
                  <a:pt x="12081" y="13135"/>
                </a:lnTo>
                <a:lnTo>
                  <a:pt x="12264" y="12843"/>
                </a:lnTo>
                <a:lnTo>
                  <a:pt x="12264" y="12551"/>
                </a:lnTo>
                <a:lnTo>
                  <a:pt x="12264" y="12259"/>
                </a:lnTo>
                <a:lnTo>
                  <a:pt x="9153" y="12259"/>
                </a:lnTo>
                <a:close/>
              </a:path>
              <a:path w="21600" h="21600" extrusionOk="0">
                <a:moveTo>
                  <a:pt x="21600" y="7589"/>
                </a:moveTo>
                <a:lnTo>
                  <a:pt x="17756" y="0"/>
                </a:lnTo>
                <a:lnTo>
                  <a:pt x="10800" y="0"/>
                </a:lnTo>
                <a:lnTo>
                  <a:pt x="3844" y="0"/>
                </a:lnTo>
                <a:lnTo>
                  <a:pt x="0" y="7589"/>
                </a:lnTo>
                <a:lnTo>
                  <a:pt x="0" y="10800"/>
                </a:lnTo>
                <a:lnTo>
                  <a:pt x="0" y="18097"/>
                </a:lnTo>
                <a:lnTo>
                  <a:pt x="1464" y="18097"/>
                </a:lnTo>
                <a:lnTo>
                  <a:pt x="1464" y="21600"/>
                </a:lnTo>
                <a:lnTo>
                  <a:pt x="10800" y="21600"/>
                </a:lnTo>
                <a:lnTo>
                  <a:pt x="19953" y="21600"/>
                </a:lnTo>
                <a:lnTo>
                  <a:pt x="19953" y="18097"/>
                </a:lnTo>
                <a:lnTo>
                  <a:pt x="21600" y="18097"/>
                </a:lnTo>
                <a:lnTo>
                  <a:pt x="21600" y="11092"/>
                </a:lnTo>
                <a:lnTo>
                  <a:pt x="21600" y="7589"/>
                </a:lnTo>
              </a:path>
              <a:path w="21600" h="21600" extrusionOk="0">
                <a:moveTo>
                  <a:pt x="1647" y="18097"/>
                </a:moveTo>
                <a:lnTo>
                  <a:pt x="6407" y="18097"/>
                </a:lnTo>
                <a:moveTo>
                  <a:pt x="19953" y="18097"/>
                </a:moveTo>
                <a:lnTo>
                  <a:pt x="15010" y="18097"/>
                </a:lnTo>
                <a:moveTo>
                  <a:pt x="0" y="7589"/>
                </a:moveTo>
                <a:lnTo>
                  <a:pt x="21417" y="7589"/>
                </a:lnTo>
                <a:lnTo>
                  <a:pt x="21600" y="7589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26" name="monitor"/>
          <p:cNvSpPr>
            <a:spLocks noEditPoints="1" noChangeArrowheads="1"/>
          </p:cNvSpPr>
          <p:nvPr/>
        </p:nvSpPr>
        <p:spPr bwMode="auto">
          <a:xfrm>
            <a:off x="2209800" y="5181600"/>
            <a:ext cx="1065213" cy="1143000"/>
          </a:xfrm>
          <a:custGeom>
            <a:avLst/>
            <a:gdLst>
              <a:gd name="T0" fmla="*/ 6837 w 21600"/>
              <a:gd name="T1" fmla="*/ 21600 h 21600"/>
              <a:gd name="T2" fmla="*/ 3108 w 21600"/>
              <a:gd name="T3" fmla="*/ 19849 h 21600"/>
              <a:gd name="T4" fmla="*/ 0 w 21600"/>
              <a:gd name="T5" fmla="*/ 15178 h 21600"/>
              <a:gd name="T6" fmla="*/ 0 w 21600"/>
              <a:gd name="T7" fmla="*/ 10508 h 21600"/>
              <a:gd name="T8" fmla="*/ 0 w 21600"/>
              <a:gd name="T9" fmla="*/ 3941 h 21600"/>
              <a:gd name="T10" fmla="*/ 8081 w 21600"/>
              <a:gd name="T11" fmla="*/ 1168 h 21600"/>
              <a:gd name="T12" fmla="*/ 17871 w 21600"/>
              <a:gd name="T13" fmla="*/ 0 h 21600"/>
              <a:gd name="T14" fmla="*/ 21600 w 21600"/>
              <a:gd name="T15" fmla="*/ 1751 h 21600"/>
              <a:gd name="T16" fmla="*/ 21600 w 21600"/>
              <a:gd name="T17" fmla="*/ 10508 h 21600"/>
              <a:gd name="T18" fmla="*/ 21600 w 21600"/>
              <a:gd name="T19" fmla="*/ 16346 h 21600"/>
              <a:gd name="T20" fmla="*/ 10722 w 21600"/>
              <a:gd name="T21" fmla="*/ 20286 h 21600"/>
              <a:gd name="T22" fmla="*/ 1204 w 21600"/>
              <a:gd name="T23" fmla="*/ 22548 h 21600"/>
              <a:gd name="T24" fmla="*/ 20706 w 21600"/>
              <a:gd name="T25" fmla="*/ 283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T22" t="T23" r="T24" b="T25"/>
            <a:pathLst>
              <a:path w="21600" h="21600" extrusionOk="0">
                <a:moveTo>
                  <a:pt x="6837" y="21600"/>
                </a:moveTo>
                <a:lnTo>
                  <a:pt x="3108" y="19849"/>
                </a:lnTo>
                <a:lnTo>
                  <a:pt x="3108" y="17659"/>
                </a:lnTo>
                <a:lnTo>
                  <a:pt x="0" y="15178"/>
                </a:lnTo>
                <a:lnTo>
                  <a:pt x="0" y="10508"/>
                </a:lnTo>
                <a:lnTo>
                  <a:pt x="0" y="3941"/>
                </a:lnTo>
                <a:lnTo>
                  <a:pt x="8081" y="1168"/>
                </a:lnTo>
                <a:lnTo>
                  <a:pt x="10722" y="1605"/>
                </a:lnTo>
                <a:lnTo>
                  <a:pt x="12587" y="1751"/>
                </a:lnTo>
                <a:lnTo>
                  <a:pt x="17871" y="0"/>
                </a:lnTo>
                <a:lnTo>
                  <a:pt x="21600" y="1751"/>
                </a:lnTo>
                <a:lnTo>
                  <a:pt x="21600" y="10508"/>
                </a:lnTo>
                <a:lnTo>
                  <a:pt x="21600" y="16346"/>
                </a:lnTo>
                <a:lnTo>
                  <a:pt x="10722" y="20286"/>
                </a:lnTo>
                <a:lnTo>
                  <a:pt x="6837" y="21600"/>
                </a:lnTo>
                <a:close/>
              </a:path>
              <a:path w="21600" h="21600" extrusionOk="0">
                <a:moveTo>
                  <a:pt x="3108" y="5254"/>
                </a:moveTo>
                <a:lnTo>
                  <a:pt x="2642" y="4962"/>
                </a:lnTo>
                <a:lnTo>
                  <a:pt x="777" y="4232"/>
                </a:lnTo>
                <a:lnTo>
                  <a:pt x="155" y="3941"/>
                </a:lnTo>
                <a:moveTo>
                  <a:pt x="6837" y="7005"/>
                </a:moveTo>
                <a:lnTo>
                  <a:pt x="6216" y="6714"/>
                </a:lnTo>
                <a:lnTo>
                  <a:pt x="3885" y="5546"/>
                </a:lnTo>
                <a:lnTo>
                  <a:pt x="3108" y="5254"/>
                </a:lnTo>
                <a:moveTo>
                  <a:pt x="19735" y="14595"/>
                </a:moveTo>
                <a:lnTo>
                  <a:pt x="19735" y="4816"/>
                </a:lnTo>
                <a:lnTo>
                  <a:pt x="9790" y="8319"/>
                </a:lnTo>
                <a:lnTo>
                  <a:pt x="9790" y="18243"/>
                </a:lnTo>
                <a:lnTo>
                  <a:pt x="19735" y="14595"/>
                </a:lnTo>
                <a:moveTo>
                  <a:pt x="3108" y="17659"/>
                </a:moveTo>
                <a:lnTo>
                  <a:pt x="3108" y="5254"/>
                </a:lnTo>
                <a:lnTo>
                  <a:pt x="12742" y="1751"/>
                </a:lnTo>
                <a:moveTo>
                  <a:pt x="21600" y="1751"/>
                </a:moveTo>
                <a:lnTo>
                  <a:pt x="6837" y="7005"/>
                </a:lnTo>
                <a:lnTo>
                  <a:pt x="6837" y="21600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27" name="printer2"/>
          <p:cNvSpPr>
            <a:spLocks noEditPoints="1" noChangeArrowheads="1"/>
          </p:cNvSpPr>
          <p:nvPr/>
        </p:nvSpPr>
        <p:spPr bwMode="auto">
          <a:xfrm>
            <a:off x="3429000" y="5791200"/>
            <a:ext cx="1250950" cy="533400"/>
          </a:xfrm>
          <a:custGeom>
            <a:avLst/>
            <a:gdLst>
              <a:gd name="T0" fmla="*/ 10673 w 21600"/>
              <a:gd name="T1" fmla="*/ 0 h 21600"/>
              <a:gd name="T2" fmla="*/ 19186 w 21600"/>
              <a:gd name="T3" fmla="*/ 0 h 21600"/>
              <a:gd name="T4" fmla="*/ 21600 w 21600"/>
              <a:gd name="T5" fmla="*/ 4703 h 21600"/>
              <a:gd name="T6" fmla="*/ 21600 w 21600"/>
              <a:gd name="T7" fmla="*/ 10800 h 21600"/>
              <a:gd name="T8" fmla="*/ 21600 w 21600"/>
              <a:gd name="T9" fmla="*/ 16548 h 21600"/>
              <a:gd name="T10" fmla="*/ 18042 w 21600"/>
              <a:gd name="T11" fmla="*/ 21600 h 21600"/>
              <a:gd name="T12" fmla="*/ 10673 w 21600"/>
              <a:gd name="T13" fmla="*/ 21600 h 21600"/>
              <a:gd name="T14" fmla="*/ 3176 w 21600"/>
              <a:gd name="T15" fmla="*/ 21600 h 21600"/>
              <a:gd name="T16" fmla="*/ 0 w 21600"/>
              <a:gd name="T17" fmla="*/ 16548 h 21600"/>
              <a:gd name="T18" fmla="*/ 0 w 21600"/>
              <a:gd name="T19" fmla="*/ 10800 h 21600"/>
              <a:gd name="T20" fmla="*/ 0 w 21600"/>
              <a:gd name="T21" fmla="*/ 4703 h 21600"/>
              <a:gd name="T22" fmla="*/ 2414 w 21600"/>
              <a:gd name="T23" fmla="*/ 0 h 21600"/>
              <a:gd name="T24" fmla="*/ 1397 w 21600"/>
              <a:gd name="T25" fmla="*/ 23298 h 21600"/>
              <a:gd name="T26" fmla="*/ 20266 w 21600"/>
              <a:gd name="T27" fmla="*/ 311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10673" y="0"/>
                </a:moveTo>
                <a:lnTo>
                  <a:pt x="19186" y="0"/>
                </a:lnTo>
                <a:lnTo>
                  <a:pt x="21600" y="4703"/>
                </a:lnTo>
                <a:lnTo>
                  <a:pt x="21600" y="10800"/>
                </a:lnTo>
                <a:lnTo>
                  <a:pt x="21600" y="16548"/>
                </a:lnTo>
                <a:lnTo>
                  <a:pt x="18042" y="16548"/>
                </a:lnTo>
                <a:lnTo>
                  <a:pt x="18042" y="21600"/>
                </a:lnTo>
                <a:lnTo>
                  <a:pt x="10673" y="21600"/>
                </a:lnTo>
                <a:lnTo>
                  <a:pt x="3176" y="21600"/>
                </a:lnTo>
                <a:lnTo>
                  <a:pt x="3176" y="16548"/>
                </a:lnTo>
                <a:lnTo>
                  <a:pt x="0" y="16548"/>
                </a:lnTo>
                <a:lnTo>
                  <a:pt x="0" y="10800"/>
                </a:lnTo>
                <a:lnTo>
                  <a:pt x="0" y="4703"/>
                </a:lnTo>
                <a:lnTo>
                  <a:pt x="2414" y="0"/>
                </a:lnTo>
                <a:lnTo>
                  <a:pt x="10673" y="0"/>
                </a:lnTo>
                <a:close/>
              </a:path>
              <a:path w="21600" h="21600" extrusionOk="0">
                <a:moveTo>
                  <a:pt x="0" y="4703"/>
                </a:moveTo>
                <a:lnTo>
                  <a:pt x="3558" y="4703"/>
                </a:lnTo>
                <a:lnTo>
                  <a:pt x="17026" y="4703"/>
                </a:lnTo>
                <a:lnTo>
                  <a:pt x="21600" y="4703"/>
                </a:lnTo>
                <a:lnTo>
                  <a:pt x="0" y="4703"/>
                </a:lnTo>
                <a:moveTo>
                  <a:pt x="16518" y="4703"/>
                </a:moveTo>
                <a:lnTo>
                  <a:pt x="16518" y="10452"/>
                </a:lnTo>
                <a:lnTo>
                  <a:pt x="0" y="10452"/>
                </a:lnTo>
                <a:moveTo>
                  <a:pt x="4320" y="16548"/>
                </a:moveTo>
                <a:lnTo>
                  <a:pt x="4320" y="17419"/>
                </a:lnTo>
                <a:lnTo>
                  <a:pt x="4320" y="20555"/>
                </a:lnTo>
                <a:lnTo>
                  <a:pt x="4320" y="21600"/>
                </a:lnTo>
                <a:lnTo>
                  <a:pt x="4320" y="16548"/>
                </a:lnTo>
                <a:moveTo>
                  <a:pt x="16899" y="16548"/>
                </a:moveTo>
                <a:lnTo>
                  <a:pt x="16899" y="17419"/>
                </a:lnTo>
                <a:lnTo>
                  <a:pt x="16899" y="20555"/>
                </a:lnTo>
                <a:lnTo>
                  <a:pt x="16899" y="21600"/>
                </a:lnTo>
                <a:lnTo>
                  <a:pt x="16899" y="16548"/>
                </a:lnTo>
                <a:moveTo>
                  <a:pt x="15247" y="14981"/>
                </a:moveTo>
                <a:lnTo>
                  <a:pt x="15247" y="10452"/>
                </a:lnTo>
                <a:lnTo>
                  <a:pt x="16899" y="16548"/>
                </a:lnTo>
                <a:lnTo>
                  <a:pt x="18042" y="16548"/>
                </a:lnTo>
                <a:lnTo>
                  <a:pt x="16518" y="10452"/>
                </a:lnTo>
                <a:moveTo>
                  <a:pt x="15247" y="14981"/>
                </a:moveTo>
                <a:lnTo>
                  <a:pt x="15247" y="14981"/>
                </a:lnTo>
                <a:lnTo>
                  <a:pt x="16772" y="17942"/>
                </a:lnTo>
                <a:lnTo>
                  <a:pt x="4447" y="17942"/>
                </a:lnTo>
                <a:lnTo>
                  <a:pt x="5972" y="14981"/>
                </a:lnTo>
                <a:lnTo>
                  <a:pt x="5972" y="10452"/>
                </a:lnTo>
                <a:lnTo>
                  <a:pt x="4320" y="16548"/>
                </a:lnTo>
                <a:lnTo>
                  <a:pt x="3176" y="16548"/>
                </a:lnTo>
                <a:lnTo>
                  <a:pt x="4701" y="10452"/>
                </a:lnTo>
                <a:moveTo>
                  <a:pt x="20202" y="5574"/>
                </a:moveTo>
                <a:lnTo>
                  <a:pt x="20711" y="5574"/>
                </a:lnTo>
                <a:lnTo>
                  <a:pt x="20711" y="7839"/>
                </a:lnTo>
                <a:lnTo>
                  <a:pt x="20202" y="7839"/>
                </a:lnTo>
                <a:lnTo>
                  <a:pt x="20202" y="5574"/>
                </a:lnTo>
                <a:moveTo>
                  <a:pt x="5972" y="14981"/>
                </a:moveTo>
                <a:lnTo>
                  <a:pt x="7496" y="14981"/>
                </a:lnTo>
                <a:lnTo>
                  <a:pt x="13341" y="14981"/>
                </a:lnTo>
                <a:lnTo>
                  <a:pt x="15247" y="1498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28" name="tower"/>
          <p:cNvSpPr>
            <a:spLocks noEditPoints="1" noChangeArrowheads="1"/>
          </p:cNvSpPr>
          <p:nvPr/>
        </p:nvSpPr>
        <p:spPr bwMode="auto">
          <a:xfrm>
            <a:off x="4953000" y="5181600"/>
            <a:ext cx="604838" cy="111760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29" name="Rectangle 21"/>
          <p:cNvSpPr>
            <a:spLocks noChangeArrowheads="1"/>
          </p:cNvSpPr>
          <p:nvPr/>
        </p:nvSpPr>
        <p:spPr bwMode="auto">
          <a:xfrm>
            <a:off x="533400" y="4114800"/>
            <a:ext cx="1447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Read/Write</a:t>
            </a:r>
          </a:p>
        </p:txBody>
      </p:sp>
      <p:sp>
        <p:nvSpPr>
          <p:cNvPr id="171030" name="Line 22"/>
          <p:cNvSpPr>
            <a:spLocks noChangeShapeType="1"/>
          </p:cNvSpPr>
          <p:nvPr/>
        </p:nvSpPr>
        <p:spPr bwMode="auto">
          <a:xfrm flipH="1">
            <a:off x="914400" y="4724400"/>
            <a:ext cx="0" cy="990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32" name="Rectangle 24"/>
          <p:cNvSpPr>
            <a:spLocks noChangeArrowheads="1"/>
          </p:cNvSpPr>
          <p:nvPr/>
        </p:nvSpPr>
        <p:spPr bwMode="auto">
          <a:xfrm>
            <a:off x="2133600" y="4114800"/>
            <a:ext cx="1066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Standard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Output</a:t>
            </a:r>
          </a:p>
        </p:txBody>
      </p:sp>
      <p:sp>
        <p:nvSpPr>
          <p:cNvPr id="171033" name="Line 25"/>
          <p:cNvSpPr>
            <a:spLocks noChangeShapeType="1"/>
          </p:cNvSpPr>
          <p:nvPr/>
        </p:nvSpPr>
        <p:spPr bwMode="auto">
          <a:xfrm flipH="1">
            <a:off x="2514600" y="4648200"/>
            <a:ext cx="0" cy="609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34" name="Rectangle 26"/>
          <p:cNvSpPr>
            <a:spLocks noChangeArrowheads="1"/>
          </p:cNvSpPr>
          <p:nvPr/>
        </p:nvSpPr>
        <p:spPr bwMode="auto">
          <a:xfrm>
            <a:off x="3429000" y="4114800"/>
            <a:ext cx="1066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Device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Control</a:t>
            </a:r>
          </a:p>
        </p:txBody>
      </p:sp>
      <p:sp>
        <p:nvSpPr>
          <p:cNvPr id="171035" name="Line 27"/>
          <p:cNvSpPr>
            <a:spLocks noChangeShapeType="1"/>
          </p:cNvSpPr>
          <p:nvPr/>
        </p:nvSpPr>
        <p:spPr bwMode="auto">
          <a:xfrm flipH="1">
            <a:off x="3962400" y="4724400"/>
            <a:ext cx="0" cy="990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37" name="Rectangle 29"/>
          <p:cNvSpPr>
            <a:spLocks noChangeArrowheads="1"/>
          </p:cNvSpPr>
          <p:nvPr/>
        </p:nvSpPr>
        <p:spPr bwMode="auto">
          <a:xfrm>
            <a:off x="4724400" y="4114800"/>
            <a:ext cx="11430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File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System</a:t>
            </a:r>
          </a:p>
        </p:txBody>
      </p:sp>
      <p:sp>
        <p:nvSpPr>
          <p:cNvPr id="171038" name="Line 30"/>
          <p:cNvSpPr>
            <a:spLocks noChangeShapeType="1"/>
          </p:cNvSpPr>
          <p:nvPr/>
        </p:nvSpPr>
        <p:spPr bwMode="auto">
          <a:xfrm flipH="1">
            <a:off x="5257800" y="4724400"/>
            <a:ext cx="0" cy="609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39" name="Rectangle 31"/>
          <p:cNvSpPr>
            <a:spLocks noChangeArrowheads="1"/>
          </p:cNvSpPr>
          <p:nvPr/>
        </p:nvSpPr>
        <p:spPr bwMode="auto">
          <a:xfrm>
            <a:off x="6019800" y="4114800"/>
            <a:ext cx="19812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Communication</a:t>
            </a:r>
          </a:p>
        </p:txBody>
      </p:sp>
      <p:sp>
        <p:nvSpPr>
          <p:cNvPr id="171040" name="Line 32"/>
          <p:cNvSpPr>
            <a:spLocks noChangeShapeType="1"/>
          </p:cNvSpPr>
          <p:nvPr/>
        </p:nvSpPr>
        <p:spPr bwMode="auto">
          <a:xfrm flipH="1">
            <a:off x="7315200" y="4724400"/>
            <a:ext cx="0" cy="609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41" name="Line 33"/>
          <p:cNvSpPr>
            <a:spLocks noChangeShapeType="1"/>
          </p:cNvSpPr>
          <p:nvPr/>
        </p:nvSpPr>
        <p:spPr bwMode="auto">
          <a:xfrm flipH="1">
            <a:off x="1371600" y="32766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42" name="Line 34"/>
          <p:cNvSpPr>
            <a:spLocks noChangeShapeType="1"/>
          </p:cNvSpPr>
          <p:nvPr/>
        </p:nvSpPr>
        <p:spPr bwMode="auto">
          <a:xfrm flipH="1">
            <a:off x="3429000" y="32766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43" name="Line 35"/>
          <p:cNvSpPr>
            <a:spLocks noChangeShapeType="1"/>
          </p:cNvSpPr>
          <p:nvPr/>
        </p:nvSpPr>
        <p:spPr bwMode="auto">
          <a:xfrm flipH="1">
            <a:off x="5486400" y="32766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71044" name="Line 36"/>
          <p:cNvSpPr>
            <a:spLocks noChangeShapeType="1"/>
          </p:cNvSpPr>
          <p:nvPr/>
        </p:nvSpPr>
        <p:spPr bwMode="auto">
          <a:xfrm flipH="1">
            <a:off x="7391400" y="32766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pic>
        <p:nvPicPr>
          <p:cNvPr id="32803" name="Picture 4" descr="C:\Users\rhk\AppData\Local\Microsoft\Windows\Temporary Internet Files\Content.IE5\P0TC36KP\MCj03984470000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791200"/>
            <a:ext cx="8382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804" name="Picture 5" descr="C:\Users\rhk\AppData\Local\Microsoft\Windows\Temporary Internet Files\Content.IE5\6WDTZ2I7\MCj03984450000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715000"/>
            <a:ext cx="725488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0" grpId="0" animBg="1"/>
      <p:bldP spid="171012" grpId="0" animBg="1"/>
      <p:bldP spid="171013" grpId="0" animBg="1"/>
      <p:bldP spid="171014" grpId="0" animBg="1"/>
      <p:bldP spid="171015" grpId="0" animBg="1"/>
      <p:bldP spid="171016" grpId="0"/>
      <p:bldP spid="171017" grpId="0" animBg="1"/>
      <p:bldP spid="17102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Export a Standard Interface</a:t>
            </a:r>
          </a:p>
        </p:txBody>
      </p:sp>
      <p:sp>
        <p:nvSpPr>
          <p:cNvPr id="337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6E71D3CA-93AF-954B-BD31-BA9E90302526}" type="slidenum">
              <a:rPr lang="en-US"/>
              <a:pPr/>
              <a:t>24</a:t>
            </a:fld>
            <a:endParaRPr lang="en-US"/>
          </a:p>
        </p:txBody>
      </p:sp>
      <p:sp>
        <p:nvSpPr>
          <p:cNvPr id="181250" name="Rectangle 2"/>
          <p:cNvSpPr>
            <a:spLocks noChangeArrowheads="1"/>
          </p:cNvSpPr>
          <p:nvPr/>
        </p:nvSpPr>
        <p:spPr bwMode="auto">
          <a:xfrm>
            <a:off x="381000" y="1828800"/>
            <a:ext cx="82296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5334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Firefox</a:t>
            </a:r>
            <a:endParaRPr lang="en-US" sz="2400" dirty="0">
              <a:latin typeface="+mn-lt"/>
              <a:ea typeface="+mn-ea"/>
            </a:endParaRPr>
          </a:p>
        </p:txBody>
      </p:sp>
      <p:sp>
        <p:nvSpPr>
          <p:cNvPr id="181253" name="Rectangle 5"/>
          <p:cNvSpPr>
            <a:spLocks noChangeArrowheads="1"/>
          </p:cNvSpPr>
          <p:nvPr/>
        </p:nvSpPr>
        <p:spPr bwMode="auto">
          <a:xfrm>
            <a:off x="25146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Second Life</a:t>
            </a:r>
          </a:p>
        </p:txBody>
      </p:sp>
      <p:sp>
        <p:nvSpPr>
          <p:cNvPr id="181254" name="Rectangle 6"/>
          <p:cNvSpPr>
            <a:spLocks noChangeArrowheads="1"/>
          </p:cNvSpPr>
          <p:nvPr/>
        </p:nvSpPr>
        <p:spPr bwMode="auto">
          <a:xfrm>
            <a:off x="45720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Yahoo</a:t>
            </a:r>
          </a:p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Chat</a:t>
            </a:r>
          </a:p>
        </p:txBody>
      </p:sp>
      <p:sp>
        <p:nvSpPr>
          <p:cNvPr id="181255" name="Rectangle 7"/>
          <p:cNvSpPr>
            <a:spLocks noChangeArrowheads="1"/>
          </p:cNvSpPr>
          <p:nvPr/>
        </p:nvSpPr>
        <p:spPr bwMode="auto">
          <a:xfrm>
            <a:off x="65532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 err="1">
                <a:latin typeface="+mn-lt"/>
                <a:ea typeface="Tahoma" pitchFamily="34" charset="0"/>
                <a:cs typeface="Tahoma" pitchFamily="34" charset="0"/>
              </a:rPr>
              <a:t>GMail</a:t>
            </a:r>
            <a:endParaRPr lang="en-US" sz="2400" dirty="0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81256" name="Text Box 8"/>
          <p:cNvSpPr txBox="1">
            <a:spLocks noChangeArrowheads="1"/>
          </p:cNvSpPr>
          <p:nvPr/>
        </p:nvSpPr>
        <p:spPr bwMode="auto">
          <a:xfrm>
            <a:off x="381000" y="1828800"/>
            <a:ext cx="3387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Application Software</a:t>
            </a:r>
          </a:p>
        </p:txBody>
      </p:sp>
      <p:sp>
        <p:nvSpPr>
          <p:cNvPr id="181257" name="Rectangle 9"/>
          <p:cNvSpPr>
            <a:spLocks noChangeArrowheads="1"/>
          </p:cNvSpPr>
          <p:nvPr/>
        </p:nvSpPr>
        <p:spPr bwMode="auto">
          <a:xfrm>
            <a:off x="381000" y="3810000"/>
            <a:ext cx="82296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58" name="Text Box 10"/>
          <p:cNvSpPr txBox="1">
            <a:spLocks noChangeArrowheads="1"/>
          </p:cNvSpPr>
          <p:nvPr/>
        </p:nvSpPr>
        <p:spPr bwMode="auto">
          <a:xfrm>
            <a:off x="381000" y="3733800"/>
            <a:ext cx="29241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Operating System</a:t>
            </a:r>
          </a:p>
        </p:txBody>
      </p:sp>
      <p:sp>
        <p:nvSpPr>
          <p:cNvPr id="181259" name="Rectangle 11"/>
          <p:cNvSpPr>
            <a:spLocks noChangeArrowheads="1"/>
          </p:cNvSpPr>
          <p:nvPr/>
        </p:nvSpPr>
        <p:spPr bwMode="auto">
          <a:xfrm>
            <a:off x="5867400" y="5181600"/>
            <a:ext cx="27432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60" name="Text Box 12"/>
          <p:cNvSpPr txBox="1">
            <a:spLocks noChangeArrowheads="1"/>
          </p:cNvSpPr>
          <p:nvPr/>
        </p:nvSpPr>
        <p:spPr bwMode="auto">
          <a:xfrm>
            <a:off x="5867400" y="5181600"/>
            <a:ext cx="14001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Network</a:t>
            </a:r>
          </a:p>
        </p:txBody>
      </p:sp>
      <p:sp>
        <p:nvSpPr>
          <p:cNvPr id="181261" name="Rectangle 13"/>
          <p:cNvSpPr>
            <a:spLocks noChangeArrowheads="1"/>
          </p:cNvSpPr>
          <p:nvPr/>
        </p:nvSpPr>
        <p:spPr bwMode="auto">
          <a:xfrm>
            <a:off x="381000" y="5181600"/>
            <a:ext cx="52578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62" name="Text Box 14"/>
          <p:cNvSpPr txBox="1">
            <a:spLocks noChangeArrowheads="1"/>
          </p:cNvSpPr>
          <p:nvPr/>
        </p:nvSpPr>
        <p:spPr bwMode="auto">
          <a:xfrm>
            <a:off x="381000" y="5181600"/>
            <a:ext cx="15890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Hardware</a:t>
            </a:r>
          </a:p>
        </p:txBody>
      </p:sp>
      <p:sp>
        <p:nvSpPr>
          <p:cNvPr id="181263" name="cddrive"/>
          <p:cNvSpPr>
            <a:spLocks noEditPoints="1" noChangeArrowheads="1"/>
          </p:cNvSpPr>
          <p:nvPr/>
        </p:nvSpPr>
        <p:spPr bwMode="auto">
          <a:xfrm>
            <a:off x="533400" y="5943600"/>
            <a:ext cx="762000" cy="3810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10800 h 21600"/>
              <a:gd name="T4" fmla="*/ 10800 w 21600"/>
              <a:gd name="T5" fmla="*/ 21600 h 21600"/>
              <a:gd name="T6" fmla="*/ 0 w 21600"/>
              <a:gd name="T7" fmla="*/ 10800 h 21600"/>
              <a:gd name="T8" fmla="*/ 686 w 21600"/>
              <a:gd name="T9" fmla="*/ 23059 h 21600"/>
              <a:gd name="T10" fmla="*/ 21005 w 21600"/>
              <a:gd name="T11" fmla="*/ 3050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2563" y="12259"/>
                </a:moveTo>
                <a:lnTo>
                  <a:pt x="2563" y="12843"/>
                </a:lnTo>
                <a:lnTo>
                  <a:pt x="2746" y="13427"/>
                </a:lnTo>
                <a:lnTo>
                  <a:pt x="2929" y="14303"/>
                </a:lnTo>
                <a:lnTo>
                  <a:pt x="3112" y="14886"/>
                </a:lnTo>
                <a:lnTo>
                  <a:pt x="3478" y="15470"/>
                </a:lnTo>
                <a:lnTo>
                  <a:pt x="3844" y="16054"/>
                </a:lnTo>
                <a:lnTo>
                  <a:pt x="4393" y="16638"/>
                </a:lnTo>
                <a:lnTo>
                  <a:pt x="4942" y="17222"/>
                </a:lnTo>
                <a:lnTo>
                  <a:pt x="5492" y="17514"/>
                </a:lnTo>
                <a:lnTo>
                  <a:pt x="6224" y="18097"/>
                </a:lnTo>
                <a:lnTo>
                  <a:pt x="6773" y="18389"/>
                </a:lnTo>
                <a:lnTo>
                  <a:pt x="7505" y="18681"/>
                </a:lnTo>
                <a:lnTo>
                  <a:pt x="8237" y="18973"/>
                </a:lnTo>
                <a:lnTo>
                  <a:pt x="9153" y="18973"/>
                </a:lnTo>
                <a:lnTo>
                  <a:pt x="9885" y="19265"/>
                </a:lnTo>
                <a:lnTo>
                  <a:pt x="10800" y="19265"/>
                </a:lnTo>
                <a:lnTo>
                  <a:pt x="11532" y="19265"/>
                </a:lnTo>
                <a:lnTo>
                  <a:pt x="12447" y="18973"/>
                </a:lnTo>
                <a:lnTo>
                  <a:pt x="13180" y="18973"/>
                </a:lnTo>
                <a:lnTo>
                  <a:pt x="13912" y="18681"/>
                </a:lnTo>
                <a:lnTo>
                  <a:pt x="14644" y="18389"/>
                </a:lnTo>
                <a:lnTo>
                  <a:pt x="15376" y="18097"/>
                </a:lnTo>
                <a:lnTo>
                  <a:pt x="16108" y="17514"/>
                </a:lnTo>
                <a:lnTo>
                  <a:pt x="16658" y="17222"/>
                </a:lnTo>
                <a:lnTo>
                  <a:pt x="17207" y="16638"/>
                </a:lnTo>
                <a:lnTo>
                  <a:pt x="17573" y="16054"/>
                </a:lnTo>
                <a:lnTo>
                  <a:pt x="18122" y="15470"/>
                </a:lnTo>
                <a:lnTo>
                  <a:pt x="18305" y="14886"/>
                </a:lnTo>
                <a:lnTo>
                  <a:pt x="18671" y="14303"/>
                </a:lnTo>
                <a:lnTo>
                  <a:pt x="18854" y="13427"/>
                </a:lnTo>
                <a:lnTo>
                  <a:pt x="19037" y="12843"/>
                </a:lnTo>
                <a:lnTo>
                  <a:pt x="19037" y="12259"/>
                </a:lnTo>
                <a:lnTo>
                  <a:pt x="2563" y="12259"/>
                </a:lnTo>
                <a:close/>
              </a:path>
              <a:path w="21600" h="21600" extrusionOk="0">
                <a:moveTo>
                  <a:pt x="2563" y="12259"/>
                </a:moveTo>
                <a:lnTo>
                  <a:pt x="9153" y="12259"/>
                </a:lnTo>
                <a:lnTo>
                  <a:pt x="9153" y="12551"/>
                </a:lnTo>
                <a:lnTo>
                  <a:pt x="9336" y="12843"/>
                </a:lnTo>
                <a:lnTo>
                  <a:pt x="9519" y="13135"/>
                </a:lnTo>
                <a:lnTo>
                  <a:pt x="9702" y="13135"/>
                </a:lnTo>
                <a:lnTo>
                  <a:pt x="9885" y="13427"/>
                </a:lnTo>
                <a:lnTo>
                  <a:pt x="10068" y="13719"/>
                </a:lnTo>
                <a:lnTo>
                  <a:pt x="10434" y="13719"/>
                </a:lnTo>
                <a:lnTo>
                  <a:pt x="10800" y="13719"/>
                </a:lnTo>
                <a:lnTo>
                  <a:pt x="10983" y="13719"/>
                </a:lnTo>
                <a:lnTo>
                  <a:pt x="11349" y="13719"/>
                </a:lnTo>
                <a:lnTo>
                  <a:pt x="11715" y="13427"/>
                </a:lnTo>
                <a:lnTo>
                  <a:pt x="11898" y="13135"/>
                </a:lnTo>
                <a:lnTo>
                  <a:pt x="12081" y="13135"/>
                </a:lnTo>
                <a:lnTo>
                  <a:pt x="12264" y="12843"/>
                </a:lnTo>
                <a:lnTo>
                  <a:pt x="12264" y="12551"/>
                </a:lnTo>
                <a:lnTo>
                  <a:pt x="12264" y="12259"/>
                </a:lnTo>
                <a:lnTo>
                  <a:pt x="9153" y="12259"/>
                </a:lnTo>
                <a:close/>
              </a:path>
              <a:path w="21600" h="21600" extrusionOk="0">
                <a:moveTo>
                  <a:pt x="21600" y="7589"/>
                </a:moveTo>
                <a:lnTo>
                  <a:pt x="17756" y="0"/>
                </a:lnTo>
                <a:lnTo>
                  <a:pt x="10800" y="0"/>
                </a:lnTo>
                <a:lnTo>
                  <a:pt x="3844" y="0"/>
                </a:lnTo>
                <a:lnTo>
                  <a:pt x="0" y="7589"/>
                </a:lnTo>
                <a:lnTo>
                  <a:pt x="0" y="10800"/>
                </a:lnTo>
                <a:lnTo>
                  <a:pt x="0" y="18097"/>
                </a:lnTo>
                <a:lnTo>
                  <a:pt x="1464" y="18097"/>
                </a:lnTo>
                <a:lnTo>
                  <a:pt x="1464" y="21600"/>
                </a:lnTo>
                <a:lnTo>
                  <a:pt x="10800" y="21600"/>
                </a:lnTo>
                <a:lnTo>
                  <a:pt x="19953" y="21600"/>
                </a:lnTo>
                <a:lnTo>
                  <a:pt x="19953" y="18097"/>
                </a:lnTo>
                <a:lnTo>
                  <a:pt x="21600" y="18097"/>
                </a:lnTo>
                <a:lnTo>
                  <a:pt x="21600" y="11092"/>
                </a:lnTo>
                <a:lnTo>
                  <a:pt x="21600" y="7589"/>
                </a:lnTo>
              </a:path>
              <a:path w="21600" h="21600" extrusionOk="0">
                <a:moveTo>
                  <a:pt x="1647" y="18097"/>
                </a:moveTo>
                <a:lnTo>
                  <a:pt x="6407" y="18097"/>
                </a:lnTo>
                <a:moveTo>
                  <a:pt x="19953" y="18097"/>
                </a:moveTo>
                <a:lnTo>
                  <a:pt x="15010" y="18097"/>
                </a:lnTo>
                <a:moveTo>
                  <a:pt x="0" y="7589"/>
                </a:moveTo>
                <a:lnTo>
                  <a:pt x="21417" y="7589"/>
                </a:lnTo>
                <a:lnTo>
                  <a:pt x="21600" y="7589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64" name="monitor"/>
          <p:cNvSpPr>
            <a:spLocks noEditPoints="1" noChangeArrowheads="1"/>
          </p:cNvSpPr>
          <p:nvPr/>
        </p:nvSpPr>
        <p:spPr bwMode="auto">
          <a:xfrm>
            <a:off x="2209800" y="5257800"/>
            <a:ext cx="1065213" cy="1143000"/>
          </a:xfrm>
          <a:custGeom>
            <a:avLst/>
            <a:gdLst>
              <a:gd name="T0" fmla="*/ 6837 w 21600"/>
              <a:gd name="T1" fmla="*/ 21600 h 21600"/>
              <a:gd name="T2" fmla="*/ 3108 w 21600"/>
              <a:gd name="T3" fmla="*/ 19849 h 21600"/>
              <a:gd name="T4" fmla="*/ 0 w 21600"/>
              <a:gd name="T5" fmla="*/ 15178 h 21600"/>
              <a:gd name="T6" fmla="*/ 0 w 21600"/>
              <a:gd name="T7" fmla="*/ 10508 h 21600"/>
              <a:gd name="T8" fmla="*/ 0 w 21600"/>
              <a:gd name="T9" fmla="*/ 3941 h 21600"/>
              <a:gd name="T10" fmla="*/ 8081 w 21600"/>
              <a:gd name="T11" fmla="*/ 1168 h 21600"/>
              <a:gd name="T12" fmla="*/ 17871 w 21600"/>
              <a:gd name="T13" fmla="*/ 0 h 21600"/>
              <a:gd name="T14" fmla="*/ 21600 w 21600"/>
              <a:gd name="T15" fmla="*/ 1751 h 21600"/>
              <a:gd name="T16" fmla="*/ 21600 w 21600"/>
              <a:gd name="T17" fmla="*/ 10508 h 21600"/>
              <a:gd name="T18" fmla="*/ 21600 w 21600"/>
              <a:gd name="T19" fmla="*/ 16346 h 21600"/>
              <a:gd name="T20" fmla="*/ 10722 w 21600"/>
              <a:gd name="T21" fmla="*/ 20286 h 21600"/>
              <a:gd name="T22" fmla="*/ 1204 w 21600"/>
              <a:gd name="T23" fmla="*/ 22548 h 21600"/>
              <a:gd name="T24" fmla="*/ 20706 w 21600"/>
              <a:gd name="T25" fmla="*/ 283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T22" t="T23" r="T24" b="T25"/>
            <a:pathLst>
              <a:path w="21600" h="21600" extrusionOk="0">
                <a:moveTo>
                  <a:pt x="6837" y="21600"/>
                </a:moveTo>
                <a:lnTo>
                  <a:pt x="3108" y="19849"/>
                </a:lnTo>
                <a:lnTo>
                  <a:pt x="3108" y="17659"/>
                </a:lnTo>
                <a:lnTo>
                  <a:pt x="0" y="15178"/>
                </a:lnTo>
                <a:lnTo>
                  <a:pt x="0" y="10508"/>
                </a:lnTo>
                <a:lnTo>
                  <a:pt x="0" y="3941"/>
                </a:lnTo>
                <a:lnTo>
                  <a:pt x="8081" y="1168"/>
                </a:lnTo>
                <a:lnTo>
                  <a:pt x="10722" y="1605"/>
                </a:lnTo>
                <a:lnTo>
                  <a:pt x="12587" y="1751"/>
                </a:lnTo>
                <a:lnTo>
                  <a:pt x="17871" y="0"/>
                </a:lnTo>
                <a:lnTo>
                  <a:pt x="21600" y="1751"/>
                </a:lnTo>
                <a:lnTo>
                  <a:pt x="21600" y="10508"/>
                </a:lnTo>
                <a:lnTo>
                  <a:pt x="21600" y="16346"/>
                </a:lnTo>
                <a:lnTo>
                  <a:pt x="10722" y="20286"/>
                </a:lnTo>
                <a:lnTo>
                  <a:pt x="6837" y="21600"/>
                </a:lnTo>
                <a:close/>
              </a:path>
              <a:path w="21600" h="21600" extrusionOk="0">
                <a:moveTo>
                  <a:pt x="3108" y="5254"/>
                </a:moveTo>
                <a:lnTo>
                  <a:pt x="2642" y="4962"/>
                </a:lnTo>
                <a:lnTo>
                  <a:pt x="777" y="4232"/>
                </a:lnTo>
                <a:lnTo>
                  <a:pt x="155" y="3941"/>
                </a:lnTo>
                <a:moveTo>
                  <a:pt x="6837" y="7005"/>
                </a:moveTo>
                <a:lnTo>
                  <a:pt x="6216" y="6714"/>
                </a:lnTo>
                <a:lnTo>
                  <a:pt x="3885" y="5546"/>
                </a:lnTo>
                <a:lnTo>
                  <a:pt x="3108" y="5254"/>
                </a:lnTo>
                <a:moveTo>
                  <a:pt x="19735" y="14595"/>
                </a:moveTo>
                <a:lnTo>
                  <a:pt x="19735" y="4816"/>
                </a:lnTo>
                <a:lnTo>
                  <a:pt x="9790" y="8319"/>
                </a:lnTo>
                <a:lnTo>
                  <a:pt x="9790" y="18243"/>
                </a:lnTo>
                <a:lnTo>
                  <a:pt x="19735" y="14595"/>
                </a:lnTo>
                <a:moveTo>
                  <a:pt x="3108" y="17659"/>
                </a:moveTo>
                <a:lnTo>
                  <a:pt x="3108" y="5254"/>
                </a:lnTo>
                <a:lnTo>
                  <a:pt x="12742" y="1751"/>
                </a:lnTo>
                <a:moveTo>
                  <a:pt x="21600" y="1751"/>
                </a:moveTo>
                <a:lnTo>
                  <a:pt x="6837" y="7005"/>
                </a:lnTo>
                <a:lnTo>
                  <a:pt x="6837" y="21600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65" name="printer2"/>
          <p:cNvSpPr>
            <a:spLocks noEditPoints="1" noChangeArrowheads="1"/>
          </p:cNvSpPr>
          <p:nvPr/>
        </p:nvSpPr>
        <p:spPr bwMode="auto">
          <a:xfrm>
            <a:off x="3429000" y="5867400"/>
            <a:ext cx="1250950" cy="533400"/>
          </a:xfrm>
          <a:custGeom>
            <a:avLst/>
            <a:gdLst>
              <a:gd name="T0" fmla="*/ 10673 w 21600"/>
              <a:gd name="T1" fmla="*/ 0 h 21600"/>
              <a:gd name="T2" fmla="*/ 19186 w 21600"/>
              <a:gd name="T3" fmla="*/ 0 h 21600"/>
              <a:gd name="T4" fmla="*/ 21600 w 21600"/>
              <a:gd name="T5" fmla="*/ 4703 h 21600"/>
              <a:gd name="T6" fmla="*/ 21600 w 21600"/>
              <a:gd name="T7" fmla="*/ 10800 h 21600"/>
              <a:gd name="T8" fmla="*/ 21600 w 21600"/>
              <a:gd name="T9" fmla="*/ 16548 h 21600"/>
              <a:gd name="T10" fmla="*/ 18042 w 21600"/>
              <a:gd name="T11" fmla="*/ 21600 h 21600"/>
              <a:gd name="T12" fmla="*/ 10673 w 21600"/>
              <a:gd name="T13" fmla="*/ 21600 h 21600"/>
              <a:gd name="T14" fmla="*/ 3176 w 21600"/>
              <a:gd name="T15" fmla="*/ 21600 h 21600"/>
              <a:gd name="T16" fmla="*/ 0 w 21600"/>
              <a:gd name="T17" fmla="*/ 16548 h 21600"/>
              <a:gd name="T18" fmla="*/ 0 w 21600"/>
              <a:gd name="T19" fmla="*/ 10800 h 21600"/>
              <a:gd name="T20" fmla="*/ 0 w 21600"/>
              <a:gd name="T21" fmla="*/ 4703 h 21600"/>
              <a:gd name="T22" fmla="*/ 2414 w 21600"/>
              <a:gd name="T23" fmla="*/ 0 h 21600"/>
              <a:gd name="T24" fmla="*/ 1397 w 21600"/>
              <a:gd name="T25" fmla="*/ 23298 h 21600"/>
              <a:gd name="T26" fmla="*/ 20266 w 21600"/>
              <a:gd name="T27" fmla="*/ 311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10673" y="0"/>
                </a:moveTo>
                <a:lnTo>
                  <a:pt x="19186" y="0"/>
                </a:lnTo>
                <a:lnTo>
                  <a:pt x="21600" y="4703"/>
                </a:lnTo>
                <a:lnTo>
                  <a:pt x="21600" y="10800"/>
                </a:lnTo>
                <a:lnTo>
                  <a:pt x="21600" y="16548"/>
                </a:lnTo>
                <a:lnTo>
                  <a:pt x="18042" y="16548"/>
                </a:lnTo>
                <a:lnTo>
                  <a:pt x="18042" y="21600"/>
                </a:lnTo>
                <a:lnTo>
                  <a:pt x="10673" y="21600"/>
                </a:lnTo>
                <a:lnTo>
                  <a:pt x="3176" y="21600"/>
                </a:lnTo>
                <a:lnTo>
                  <a:pt x="3176" y="16548"/>
                </a:lnTo>
                <a:lnTo>
                  <a:pt x="0" y="16548"/>
                </a:lnTo>
                <a:lnTo>
                  <a:pt x="0" y="10800"/>
                </a:lnTo>
                <a:lnTo>
                  <a:pt x="0" y="4703"/>
                </a:lnTo>
                <a:lnTo>
                  <a:pt x="2414" y="0"/>
                </a:lnTo>
                <a:lnTo>
                  <a:pt x="10673" y="0"/>
                </a:lnTo>
                <a:close/>
              </a:path>
              <a:path w="21600" h="21600" extrusionOk="0">
                <a:moveTo>
                  <a:pt x="0" y="4703"/>
                </a:moveTo>
                <a:lnTo>
                  <a:pt x="3558" y="4703"/>
                </a:lnTo>
                <a:lnTo>
                  <a:pt x="17026" y="4703"/>
                </a:lnTo>
                <a:lnTo>
                  <a:pt x="21600" y="4703"/>
                </a:lnTo>
                <a:lnTo>
                  <a:pt x="0" y="4703"/>
                </a:lnTo>
                <a:moveTo>
                  <a:pt x="16518" y="4703"/>
                </a:moveTo>
                <a:lnTo>
                  <a:pt x="16518" y="10452"/>
                </a:lnTo>
                <a:lnTo>
                  <a:pt x="0" y="10452"/>
                </a:lnTo>
                <a:moveTo>
                  <a:pt x="4320" y="16548"/>
                </a:moveTo>
                <a:lnTo>
                  <a:pt x="4320" y="17419"/>
                </a:lnTo>
                <a:lnTo>
                  <a:pt x="4320" y="20555"/>
                </a:lnTo>
                <a:lnTo>
                  <a:pt x="4320" y="21600"/>
                </a:lnTo>
                <a:lnTo>
                  <a:pt x="4320" y="16548"/>
                </a:lnTo>
                <a:moveTo>
                  <a:pt x="16899" y="16548"/>
                </a:moveTo>
                <a:lnTo>
                  <a:pt x="16899" y="17419"/>
                </a:lnTo>
                <a:lnTo>
                  <a:pt x="16899" y="20555"/>
                </a:lnTo>
                <a:lnTo>
                  <a:pt x="16899" y="21600"/>
                </a:lnTo>
                <a:lnTo>
                  <a:pt x="16899" y="16548"/>
                </a:lnTo>
                <a:moveTo>
                  <a:pt x="15247" y="14981"/>
                </a:moveTo>
                <a:lnTo>
                  <a:pt x="15247" y="10452"/>
                </a:lnTo>
                <a:lnTo>
                  <a:pt x="16899" y="16548"/>
                </a:lnTo>
                <a:lnTo>
                  <a:pt x="18042" y="16548"/>
                </a:lnTo>
                <a:lnTo>
                  <a:pt x="16518" y="10452"/>
                </a:lnTo>
                <a:moveTo>
                  <a:pt x="15247" y="14981"/>
                </a:moveTo>
                <a:lnTo>
                  <a:pt x="15247" y="14981"/>
                </a:lnTo>
                <a:lnTo>
                  <a:pt x="16772" y="17942"/>
                </a:lnTo>
                <a:lnTo>
                  <a:pt x="4447" y="17942"/>
                </a:lnTo>
                <a:lnTo>
                  <a:pt x="5972" y="14981"/>
                </a:lnTo>
                <a:lnTo>
                  <a:pt x="5972" y="10452"/>
                </a:lnTo>
                <a:lnTo>
                  <a:pt x="4320" y="16548"/>
                </a:lnTo>
                <a:lnTo>
                  <a:pt x="3176" y="16548"/>
                </a:lnTo>
                <a:lnTo>
                  <a:pt x="4701" y="10452"/>
                </a:lnTo>
                <a:moveTo>
                  <a:pt x="20202" y="5574"/>
                </a:moveTo>
                <a:lnTo>
                  <a:pt x="20711" y="5574"/>
                </a:lnTo>
                <a:lnTo>
                  <a:pt x="20711" y="7839"/>
                </a:lnTo>
                <a:lnTo>
                  <a:pt x="20202" y="7839"/>
                </a:lnTo>
                <a:lnTo>
                  <a:pt x="20202" y="5574"/>
                </a:lnTo>
                <a:moveTo>
                  <a:pt x="5972" y="14981"/>
                </a:moveTo>
                <a:lnTo>
                  <a:pt x="7496" y="14981"/>
                </a:lnTo>
                <a:lnTo>
                  <a:pt x="13341" y="14981"/>
                </a:lnTo>
                <a:lnTo>
                  <a:pt x="15247" y="1498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66" name="tower"/>
          <p:cNvSpPr>
            <a:spLocks noEditPoints="1" noChangeArrowheads="1"/>
          </p:cNvSpPr>
          <p:nvPr/>
        </p:nvSpPr>
        <p:spPr bwMode="auto">
          <a:xfrm>
            <a:off x="4953000" y="5257800"/>
            <a:ext cx="604838" cy="111760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67" name="Rectangle 19"/>
          <p:cNvSpPr>
            <a:spLocks noChangeArrowheads="1"/>
          </p:cNvSpPr>
          <p:nvPr/>
        </p:nvSpPr>
        <p:spPr bwMode="auto">
          <a:xfrm>
            <a:off x="533400" y="4191000"/>
            <a:ext cx="1447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Read/Write</a:t>
            </a:r>
          </a:p>
        </p:txBody>
      </p:sp>
      <p:sp>
        <p:nvSpPr>
          <p:cNvPr id="181268" name="Line 20"/>
          <p:cNvSpPr>
            <a:spLocks noChangeShapeType="1"/>
          </p:cNvSpPr>
          <p:nvPr/>
        </p:nvSpPr>
        <p:spPr bwMode="auto">
          <a:xfrm flipH="1">
            <a:off x="914400" y="4800600"/>
            <a:ext cx="0" cy="990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69" name="Rectangle 21"/>
          <p:cNvSpPr>
            <a:spLocks noChangeArrowheads="1"/>
          </p:cNvSpPr>
          <p:nvPr/>
        </p:nvSpPr>
        <p:spPr bwMode="auto">
          <a:xfrm>
            <a:off x="2133600" y="4191000"/>
            <a:ext cx="1066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Standard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Output</a:t>
            </a:r>
          </a:p>
        </p:txBody>
      </p:sp>
      <p:sp>
        <p:nvSpPr>
          <p:cNvPr id="181270" name="Line 22"/>
          <p:cNvSpPr>
            <a:spLocks noChangeShapeType="1"/>
          </p:cNvSpPr>
          <p:nvPr/>
        </p:nvSpPr>
        <p:spPr bwMode="auto">
          <a:xfrm flipH="1">
            <a:off x="2514600" y="4724400"/>
            <a:ext cx="0" cy="609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71" name="Rectangle 23"/>
          <p:cNvSpPr>
            <a:spLocks noChangeArrowheads="1"/>
          </p:cNvSpPr>
          <p:nvPr/>
        </p:nvSpPr>
        <p:spPr bwMode="auto">
          <a:xfrm>
            <a:off x="3429000" y="4191000"/>
            <a:ext cx="1066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Device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Control</a:t>
            </a:r>
          </a:p>
        </p:txBody>
      </p:sp>
      <p:sp>
        <p:nvSpPr>
          <p:cNvPr id="181272" name="Line 24"/>
          <p:cNvSpPr>
            <a:spLocks noChangeShapeType="1"/>
          </p:cNvSpPr>
          <p:nvPr/>
        </p:nvSpPr>
        <p:spPr bwMode="auto">
          <a:xfrm flipH="1">
            <a:off x="3962400" y="4800600"/>
            <a:ext cx="0" cy="990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73" name="Rectangle 25"/>
          <p:cNvSpPr>
            <a:spLocks noChangeArrowheads="1"/>
          </p:cNvSpPr>
          <p:nvPr/>
        </p:nvSpPr>
        <p:spPr bwMode="auto">
          <a:xfrm>
            <a:off x="4724400" y="4191000"/>
            <a:ext cx="11430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File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System</a:t>
            </a:r>
          </a:p>
        </p:txBody>
      </p:sp>
      <p:sp>
        <p:nvSpPr>
          <p:cNvPr id="181274" name="Line 26"/>
          <p:cNvSpPr>
            <a:spLocks noChangeShapeType="1"/>
          </p:cNvSpPr>
          <p:nvPr/>
        </p:nvSpPr>
        <p:spPr bwMode="auto">
          <a:xfrm flipH="1">
            <a:off x="5257800" y="4800600"/>
            <a:ext cx="0" cy="609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75" name="Rectangle 27"/>
          <p:cNvSpPr>
            <a:spLocks noChangeArrowheads="1"/>
          </p:cNvSpPr>
          <p:nvPr/>
        </p:nvSpPr>
        <p:spPr bwMode="auto">
          <a:xfrm>
            <a:off x="6019800" y="4191000"/>
            <a:ext cx="19812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Communication</a:t>
            </a:r>
          </a:p>
        </p:txBody>
      </p:sp>
      <p:sp>
        <p:nvSpPr>
          <p:cNvPr id="181276" name="Line 28"/>
          <p:cNvSpPr>
            <a:spLocks noChangeShapeType="1"/>
          </p:cNvSpPr>
          <p:nvPr/>
        </p:nvSpPr>
        <p:spPr bwMode="auto">
          <a:xfrm flipH="1">
            <a:off x="7315200" y="4800600"/>
            <a:ext cx="0" cy="609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77" name="Line 29"/>
          <p:cNvSpPr>
            <a:spLocks noChangeShapeType="1"/>
          </p:cNvSpPr>
          <p:nvPr/>
        </p:nvSpPr>
        <p:spPr bwMode="auto">
          <a:xfrm flipH="1">
            <a:off x="13716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78" name="Line 30"/>
          <p:cNvSpPr>
            <a:spLocks noChangeShapeType="1"/>
          </p:cNvSpPr>
          <p:nvPr/>
        </p:nvSpPr>
        <p:spPr bwMode="auto">
          <a:xfrm flipH="1">
            <a:off x="34290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79" name="Line 31"/>
          <p:cNvSpPr>
            <a:spLocks noChangeShapeType="1"/>
          </p:cNvSpPr>
          <p:nvPr/>
        </p:nvSpPr>
        <p:spPr bwMode="auto">
          <a:xfrm flipH="1">
            <a:off x="54864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80" name="Line 32"/>
          <p:cNvSpPr>
            <a:spLocks noChangeShapeType="1"/>
          </p:cNvSpPr>
          <p:nvPr/>
        </p:nvSpPr>
        <p:spPr bwMode="auto">
          <a:xfrm flipH="1">
            <a:off x="73914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1281" name="AutoShape 33"/>
          <p:cNvSpPr>
            <a:spLocks noChangeArrowheads="1"/>
          </p:cNvSpPr>
          <p:nvPr/>
        </p:nvSpPr>
        <p:spPr bwMode="auto">
          <a:xfrm>
            <a:off x="381000" y="3429000"/>
            <a:ext cx="8229600" cy="3810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381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 b="1" dirty="0">
                <a:latin typeface="+mn-lt"/>
                <a:ea typeface="+mn-ea"/>
              </a:rPr>
              <a:t>Standard Operating System Interface</a:t>
            </a:r>
          </a:p>
        </p:txBody>
      </p:sp>
      <p:pic>
        <p:nvPicPr>
          <p:cNvPr id="33828" name="Picture 4" descr="C:\Users\rhk\AppData\Local\Microsoft\Windows\Temporary Internet Files\Content.IE5\P0TC36KP\MCj03984470000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5894388"/>
            <a:ext cx="838200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829" name="Picture 5" descr="C:\Users\rhk\AppData\Local\Microsoft\Windows\Temporary Internet Files\Content.IE5\6WDTZ2I7\MCj03984450000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818188"/>
            <a:ext cx="725488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One goal: </a:t>
            </a:r>
            <a:r>
              <a:rPr lang="en-US" dirty="0">
                <a:latin typeface="Arial" charset="0"/>
              </a:rPr>
              <a:t>Increase </a:t>
            </a:r>
            <a:r>
              <a:rPr lang="en-US" dirty="0" smtClean="0">
                <a:latin typeface="Arial" charset="0"/>
              </a:rPr>
              <a:t>portability</a:t>
            </a:r>
            <a:endParaRPr lang="en-US" dirty="0">
              <a:latin typeface="Arial" charset="0"/>
            </a:endParaRPr>
          </a:p>
        </p:txBody>
      </p:sp>
      <p:sp>
        <p:nvSpPr>
          <p:cNvPr id="3481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E5C805E-AF42-774F-B4A2-6BA7CE77DC1F}" type="slidenum">
              <a:rPr lang="en-US"/>
              <a:pPr/>
              <a:t>25</a:t>
            </a:fld>
            <a:endParaRPr lang="en-US"/>
          </a:p>
        </p:txBody>
      </p:sp>
      <p:sp>
        <p:nvSpPr>
          <p:cNvPr id="182274" name="Rectangle 2"/>
          <p:cNvSpPr>
            <a:spLocks noChangeArrowheads="1"/>
          </p:cNvSpPr>
          <p:nvPr/>
        </p:nvSpPr>
        <p:spPr bwMode="auto">
          <a:xfrm>
            <a:off x="381000" y="1828800"/>
            <a:ext cx="82296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276" name="Rectangle 4"/>
          <p:cNvSpPr>
            <a:spLocks noChangeArrowheads="1"/>
          </p:cNvSpPr>
          <p:nvPr/>
        </p:nvSpPr>
        <p:spPr bwMode="auto">
          <a:xfrm>
            <a:off x="5334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Firefox</a:t>
            </a:r>
            <a:endParaRPr lang="en-US" sz="2400" dirty="0">
              <a:latin typeface="+mn-lt"/>
              <a:ea typeface="+mn-ea"/>
            </a:endParaRPr>
          </a:p>
        </p:txBody>
      </p:sp>
      <p:sp>
        <p:nvSpPr>
          <p:cNvPr id="182277" name="Rectangle 5"/>
          <p:cNvSpPr>
            <a:spLocks noChangeArrowheads="1"/>
          </p:cNvSpPr>
          <p:nvPr/>
        </p:nvSpPr>
        <p:spPr bwMode="auto">
          <a:xfrm>
            <a:off x="25146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Second Life</a:t>
            </a:r>
          </a:p>
        </p:txBody>
      </p:sp>
      <p:sp>
        <p:nvSpPr>
          <p:cNvPr id="182278" name="Rectangle 6"/>
          <p:cNvSpPr>
            <a:spLocks noChangeArrowheads="1"/>
          </p:cNvSpPr>
          <p:nvPr/>
        </p:nvSpPr>
        <p:spPr bwMode="auto">
          <a:xfrm>
            <a:off x="45720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Yahoo</a:t>
            </a:r>
          </a:p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Chat</a:t>
            </a:r>
          </a:p>
        </p:txBody>
      </p:sp>
      <p:sp>
        <p:nvSpPr>
          <p:cNvPr id="182279" name="Rectangle 7"/>
          <p:cNvSpPr>
            <a:spLocks noChangeArrowheads="1"/>
          </p:cNvSpPr>
          <p:nvPr/>
        </p:nvSpPr>
        <p:spPr bwMode="auto">
          <a:xfrm>
            <a:off x="65532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 err="1">
                <a:latin typeface="+mn-lt"/>
                <a:ea typeface="Tahoma" pitchFamily="34" charset="0"/>
                <a:cs typeface="Tahoma" pitchFamily="34" charset="0"/>
              </a:rPr>
              <a:t>GMail</a:t>
            </a:r>
            <a:endParaRPr lang="en-US" sz="2400" dirty="0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82280" name="Text Box 8"/>
          <p:cNvSpPr txBox="1">
            <a:spLocks noChangeArrowheads="1"/>
          </p:cNvSpPr>
          <p:nvPr/>
        </p:nvSpPr>
        <p:spPr bwMode="auto">
          <a:xfrm>
            <a:off x="381000" y="1828800"/>
            <a:ext cx="3387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Application Software</a:t>
            </a:r>
          </a:p>
        </p:txBody>
      </p:sp>
      <p:sp>
        <p:nvSpPr>
          <p:cNvPr id="182281" name="Rectangle 9"/>
          <p:cNvSpPr>
            <a:spLocks noChangeArrowheads="1"/>
          </p:cNvSpPr>
          <p:nvPr/>
        </p:nvSpPr>
        <p:spPr bwMode="auto">
          <a:xfrm>
            <a:off x="381000" y="3810000"/>
            <a:ext cx="8229600" cy="1600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283" name="Rectangle 11"/>
          <p:cNvSpPr>
            <a:spLocks noChangeArrowheads="1"/>
          </p:cNvSpPr>
          <p:nvPr/>
        </p:nvSpPr>
        <p:spPr bwMode="auto">
          <a:xfrm>
            <a:off x="6115050" y="5613400"/>
            <a:ext cx="2495550" cy="863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284" name="Text Box 12"/>
          <p:cNvSpPr txBox="1">
            <a:spLocks noChangeArrowheads="1"/>
          </p:cNvSpPr>
          <p:nvPr/>
        </p:nvSpPr>
        <p:spPr bwMode="auto">
          <a:xfrm>
            <a:off x="6096000" y="5562600"/>
            <a:ext cx="11953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>
                <a:latin typeface="+mn-lt"/>
                <a:ea typeface="+mn-ea"/>
              </a:rPr>
              <a:t>Network</a:t>
            </a:r>
          </a:p>
        </p:txBody>
      </p:sp>
      <p:sp>
        <p:nvSpPr>
          <p:cNvPr id="182285" name="Rectangle 13"/>
          <p:cNvSpPr>
            <a:spLocks noChangeArrowheads="1"/>
          </p:cNvSpPr>
          <p:nvPr/>
        </p:nvSpPr>
        <p:spPr bwMode="auto">
          <a:xfrm>
            <a:off x="381000" y="5638800"/>
            <a:ext cx="4554538" cy="863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286" name="Text Box 14"/>
          <p:cNvSpPr txBox="1">
            <a:spLocks noChangeArrowheads="1"/>
          </p:cNvSpPr>
          <p:nvPr/>
        </p:nvSpPr>
        <p:spPr bwMode="auto">
          <a:xfrm>
            <a:off x="515938" y="5588000"/>
            <a:ext cx="13525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>
                <a:latin typeface="+mn-lt"/>
                <a:ea typeface="+mn-ea"/>
              </a:rPr>
              <a:t>Hardware</a:t>
            </a:r>
          </a:p>
        </p:txBody>
      </p:sp>
      <p:sp>
        <p:nvSpPr>
          <p:cNvPr id="182287" name="cddrive"/>
          <p:cNvSpPr>
            <a:spLocks noEditPoints="1" noChangeArrowheads="1"/>
          </p:cNvSpPr>
          <p:nvPr/>
        </p:nvSpPr>
        <p:spPr bwMode="auto">
          <a:xfrm>
            <a:off x="668338" y="6121400"/>
            <a:ext cx="638175" cy="2540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10800 h 21600"/>
              <a:gd name="T4" fmla="*/ 10800 w 21600"/>
              <a:gd name="T5" fmla="*/ 21600 h 21600"/>
              <a:gd name="T6" fmla="*/ 0 w 21600"/>
              <a:gd name="T7" fmla="*/ 10800 h 21600"/>
              <a:gd name="T8" fmla="*/ 686 w 21600"/>
              <a:gd name="T9" fmla="*/ 23059 h 21600"/>
              <a:gd name="T10" fmla="*/ 21005 w 21600"/>
              <a:gd name="T11" fmla="*/ 3050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2563" y="12259"/>
                </a:moveTo>
                <a:lnTo>
                  <a:pt x="2563" y="12843"/>
                </a:lnTo>
                <a:lnTo>
                  <a:pt x="2746" y="13427"/>
                </a:lnTo>
                <a:lnTo>
                  <a:pt x="2929" y="14303"/>
                </a:lnTo>
                <a:lnTo>
                  <a:pt x="3112" y="14886"/>
                </a:lnTo>
                <a:lnTo>
                  <a:pt x="3478" y="15470"/>
                </a:lnTo>
                <a:lnTo>
                  <a:pt x="3844" y="16054"/>
                </a:lnTo>
                <a:lnTo>
                  <a:pt x="4393" y="16638"/>
                </a:lnTo>
                <a:lnTo>
                  <a:pt x="4942" y="17222"/>
                </a:lnTo>
                <a:lnTo>
                  <a:pt x="5492" y="17514"/>
                </a:lnTo>
                <a:lnTo>
                  <a:pt x="6224" y="18097"/>
                </a:lnTo>
                <a:lnTo>
                  <a:pt x="6773" y="18389"/>
                </a:lnTo>
                <a:lnTo>
                  <a:pt x="7505" y="18681"/>
                </a:lnTo>
                <a:lnTo>
                  <a:pt x="8237" y="18973"/>
                </a:lnTo>
                <a:lnTo>
                  <a:pt x="9153" y="18973"/>
                </a:lnTo>
                <a:lnTo>
                  <a:pt x="9885" y="19265"/>
                </a:lnTo>
                <a:lnTo>
                  <a:pt x="10800" y="19265"/>
                </a:lnTo>
                <a:lnTo>
                  <a:pt x="11532" y="19265"/>
                </a:lnTo>
                <a:lnTo>
                  <a:pt x="12447" y="18973"/>
                </a:lnTo>
                <a:lnTo>
                  <a:pt x="13180" y="18973"/>
                </a:lnTo>
                <a:lnTo>
                  <a:pt x="13912" y="18681"/>
                </a:lnTo>
                <a:lnTo>
                  <a:pt x="14644" y="18389"/>
                </a:lnTo>
                <a:lnTo>
                  <a:pt x="15376" y="18097"/>
                </a:lnTo>
                <a:lnTo>
                  <a:pt x="16108" y="17514"/>
                </a:lnTo>
                <a:lnTo>
                  <a:pt x="16658" y="17222"/>
                </a:lnTo>
                <a:lnTo>
                  <a:pt x="17207" y="16638"/>
                </a:lnTo>
                <a:lnTo>
                  <a:pt x="17573" y="16054"/>
                </a:lnTo>
                <a:lnTo>
                  <a:pt x="18122" y="15470"/>
                </a:lnTo>
                <a:lnTo>
                  <a:pt x="18305" y="14886"/>
                </a:lnTo>
                <a:lnTo>
                  <a:pt x="18671" y="14303"/>
                </a:lnTo>
                <a:lnTo>
                  <a:pt x="18854" y="13427"/>
                </a:lnTo>
                <a:lnTo>
                  <a:pt x="19037" y="12843"/>
                </a:lnTo>
                <a:lnTo>
                  <a:pt x="19037" y="12259"/>
                </a:lnTo>
                <a:lnTo>
                  <a:pt x="2563" y="12259"/>
                </a:lnTo>
                <a:close/>
              </a:path>
              <a:path w="21600" h="21600" extrusionOk="0">
                <a:moveTo>
                  <a:pt x="2563" y="12259"/>
                </a:moveTo>
                <a:lnTo>
                  <a:pt x="9153" y="12259"/>
                </a:lnTo>
                <a:lnTo>
                  <a:pt x="9153" y="12551"/>
                </a:lnTo>
                <a:lnTo>
                  <a:pt x="9336" y="12843"/>
                </a:lnTo>
                <a:lnTo>
                  <a:pt x="9519" y="13135"/>
                </a:lnTo>
                <a:lnTo>
                  <a:pt x="9702" y="13135"/>
                </a:lnTo>
                <a:lnTo>
                  <a:pt x="9885" y="13427"/>
                </a:lnTo>
                <a:lnTo>
                  <a:pt x="10068" y="13719"/>
                </a:lnTo>
                <a:lnTo>
                  <a:pt x="10434" y="13719"/>
                </a:lnTo>
                <a:lnTo>
                  <a:pt x="10800" y="13719"/>
                </a:lnTo>
                <a:lnTo>
                  <a:pt x="10983" y="13719"/>
                </a:lnTo>
                <a:lnTo>
                  <a:pt x="11349" y="13719"/>
                </a:lnTo>
                <a:lnTo>
                  <a:pt x="11715" y="13427"/>
                </a:lnTo>
                <a:lnTo>
                  <a:pt x="11898" y="13135"/>
                </a:lnTo>
                <a:lnTo>
                  <a:pt x="12081" y="13135"/>
                </a:lnTo>
                <a:lnTo>
                  <a:pt x="12264" y="12843"/>
                </a:lnTo>
                <a:lnTo>
                  <a:pt x="12264" y="12551"/>
                </a:lnTo>
                <a:lnTo>
                  <a:pt x="12264" y="12259"/>
                </a:lnTo>
                <a:lnTo>
                  <a:pt x="9153" y="12259"/>
                </a:lnTo>
                <a:close/>
              </a:path>
              <a:path w="21600" h="21600" extrusionOk="0">
                <a:moveTo>
                  <a:pt x="21600" y="7589"/>
                </a:moveTo>
                <a:lnTo>
                  <a:pt x="17756" y="0"/>
                </a:lnTo>
                <a:lnTo>
                  <a:pt x="10800" y="0"/>
                </a:lnTo>
                <a:lnTo>
                  <a:pt x="3844" y="0"/>
                </a:lnTo>
                <a:lnTo>
                  <a:pt x="0" y="7589"/>
                </a:lnTo>
                <a:lnTo>
                  <a:pt x="0" y="10800"/>
                </a:lnTo>
                <a:lnTo>
                  <a:pt x="0" y="18097"/>
                </a:lnTo>
                <a:lnTo>
                  <a:pt x="1464" y="18097"/>
                </a:lnTo>
                <a:lnTo>
                  <a:pt x="1464" y="21600"/>
                </a:lnTo>
                <a:lnTo>
                  <a:pt x="10800" y="21600"/>
                </a:lnTo>
                <a:lnTo>
                  <a:pt x="19953" y="21600"/>
                </a:lnTo>
                <a:lnTo>
                  <a:pt x="19953" y="18097"/>
                </a:lnTo>
                <a:lnTo>
                  <a:pt x="21600" y="18097"/>
                </a:lnTo>
                <a:lnTo>
                  <a:pt x="21600" y="11092"/>
                </a:lnTo>
                <a:lnTo>
                  <a:pt x="21600" y="7589"/>
                </a:lnTo>
              </a:path>
              <a:path w="21600" h="21600" extrusionOk="0">
                <a:moveTo>
                  <a:pt x="1647" y="18097"/>
                </a:moveTo>
                <a:lnTo>
                  <a:pt x="6407" y="18097"/>
                </a:lnTo>
                <a:moveTo>
                  <a:pt x="19953" y="18097"/>
                </a:moveTo>
                <a:lnTo>
                  <a:pt x="15010" y="18097"/>
                </a:lnTo>
                <a:moveTo>
                  <a:pt x="0" y="7589"/>
                </a:moveTo>
                <a:lnTo>
                  <a:pt x="21417" y="7589"/>
                </a:lnTo>
                <a:lnTo>
                  <a:pt x="21600" y="7589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288" name="monitor"/>
          <p:cNvSpPr>
            <a:spLocks noEditPoints="1" noChangeArrowheads="1"/>
          </p:cNvSpPr>
          <p:nvPr/>
        </p:nvSpPr>
        <p:spPr bwMode="auto">
          <a:xfrm>
            <a:off x="1982788" y="5664200"/>
            <a:ext cx="892175" cy="762000"/>
          </a:xfrm>
          <a:custGeom>
            <a:avLst/>
            <a:gdLst>
              <a:gd name="T0" fmla="*/ 6837 w 21600"/>
              <a:gd name="T1" fmla="*/ 21600 h 21600"/>
              <a:gd name="T2" fmla="*/ 3108 w 21600"/>
              <a:gd name="T3" fmla="*/ 19849 h 21600"/>
              <a:gd name="T4" fmla="*/ 0 w 21600"/>
              <a:gd name="T5" fmla="*/ 15178 h 21600"/>
              <a:gd name="T6" fmla="*/ 0 w 21600"/>
              <a:gd name="T7" fmla="*/ 10508 h 21600"/>
              <a:gd name="T8" fmla="*/ 0 w 21600"/>
              <a:gd name="T9" fmla="*/ 3941 h 21600"/>
              <a:gd name="T10" fmla="*/ 8081 w 21600"/>
              <a:gd name="T11" fmla="*/ 1168 h 21600"/>
              <a:gd name="T12" fmla="*/ 17871 w 21600"/>
              <a:gd name="T13" fmla="*/ 0 h 21600"/>
              <a:gd name="T14" fmla="*/ 21600 w 21600"/>
              <a:gd name="T15" fmla="*/ 1751 h 21600"/>
              <a:gd name="T16" fmla="*/ 21600 w 21600"/>
              <a:gd name="T17" fmla="*/ 10508 h 21600"/>
              <a:gd name="T18" fmla="*/ 21600 w 21600"/>
              <a:gd name="T19" fmla="*/ 16346 h 21600"/>
              <a:gd name="T20" fmla="*/ 10722 w 21600"/>
              <a:gd name="T21" fmla="*/ 20286 h 21600"/>
              <a:gd name="T22" fmla="*/ 1204 w 21600"/>
              <a:gd name="T23" fmla="*/ 22548 h 21600"/>
              <a:gd name="T24" fmla="*/ 20706 w 21600"/>
              <a:gd name="T25" fmla="*/ 283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T22" t="T23" r="T24" b="T25"/>
            <a:pathLst>
              <a:path w="21600" h="21600" extrusionOk="0">
                <a:moveTo>
                  <a:pt x="6837" y="21600"/>
                </a:moveTo>
                <a:lnTo>
                  <a:pt x="3108" y="19849"/>
                </a:lnTo>
                <a:lnTo>
                  <a:pt x="3108" y="17659"/>
                </a:lnTo>
                <a:lnTo>
                  <a:pt x="0" y="15178"/>
                </a:lnTo>
                <a:lnTo>
                  <a:pt x="0" y="10508"/>
                </a:lnTo>
                <a:lnTo>
                  <a:pt x="0" y="3941"/>
                </a:lnTo>
                <a:lnTo>
                  <a:pt x="8081" y="1168"/>
                </a:lnTo>
                <a:lnTo>
                  <a:pt x="10722" y="1605"/>
                </a:lnTo>
                <a:lnTo>
                  <a:pt x="12587" y="1751"/>
                </a:lnTo>
                <a:lnTo>
                  <a:pt x="17871" y="0"/>
                </a:lnTo>
                <a:lnTo>
                  <a:pt x="21600" y="1751"/>
                </a:lnTo>
                <a:lnTo>
                  <a:pt x="21600" y="10508"/>
                </a:lnTo>
                <a:lnTo>
                  <a:pt x="21600" y="16346"/>
                </a:lnTo>
                <a:lnTo>
                  <a:pt x="10722" y="20286"/>
                </a:lnTo>
                <a:lnTo>
                  <a:pt x="6837" y="21600"/>
                </a:lnTo>
                <a:close/>
              </a:path>
              <a:path w="21600" h="21600" extrusionOk="0">
                <a:moveTo>
                  <a:pt x="3108" y="5254"/>
                </a:moveTo>
                <a:lnTo>
                  <a:pt x="2642" y="4962"/>
                </a:lnTo>
                <a:lnTo>
                  <a:pt x="777" y="4232"/>
                </a:lnTo>
                <a:lnTo>
                  <a:pt x="155" y="3941"/>
                </a:lnTo>
                <a:moveTo>
                  <a:pt x="6837" y="7005"/>
                </a:moveTo>
                <a:lnTo>
                  <a:pt x="6216" y="6714"/>
                </a:lnTo>
                <a:lnTo>
                  <a:pt x="3885" y="5546"/>
                </a:lnTo>
                <a:lnTo>
                  <a:pt x="3108" y="5254"/>
                </a:lnTo>
                <a:moveTo>
                  <a:pt x="19735" y="14595"/>
                </a:moveTo>
                <a:lnTo>
                  <a:pt x="19735" y="4816"/>
                </a:lnTo>
                <a:lnTo>
                  <a:pt x="9790" y="8319"/>
                </a:lnTo>
                <a:lnTo>
                  <a:pt x="9790" y="18243"/>
                </a:lnTo>
                <a:lnTo>
                  <a:pt x="19735" y="14595"/>
                </a:lnTo>
                <a:moveTo>
                  <a:pt x="3108" y="17659"/>
                </a:moveTo>
                <a:lnTo>
                  <a:pt x="3108" y="5254"/>
                </a:lnTo>
                <a:lnTo>
                  <a:pt x="12742" y="1751"/>
                </a:lnTo>
                <a:moveTo>
                  <a:pt x="21600" y="1751"/>
                </a:moveTo>
                <a:lnTo>
                  <a:pt x="6837" y="7005"/>
                </a:lnTo>
                <a:lnTo>
                  <a:pt x="6837" y="21600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289" name="printer2"/>
          <p:cNvSpPr>
            <a:spLocks noEditPoints="1" noChangeArrowheads="1"/>
          </p:cNvSpPr>
          <p:nvPr/>
        </p:nvSpPr>
        <p:spPr bwMode="auto">
          <a:xfrm>
            <a:off x="3219450" y="6070600"/>
            <a:ext cx="1047750" cy="355600"/>
          </a:xfrm>
          <a:custGeom>
            <a:avLst/>
            <a:gdLst>
              <a:gd name="T0" fmla="*/ 10673 w 21600"/>
              <a:gd name="T1" fmla="*/ 0 h 21600"/>
              <a:gd name="T2" fmla="*/ 19186 w 21600"/>
              <a:gd name="T3" fmla="*/ 0 h 21600"/>
              <a:gd name="T4" fmla="*/ 21600 w 21600"/>
              <a:gd name="T5" fmla="*/ 4703 h 21600"/>
              <a:gd name="T6" fmla="*/ 21600 w 21600"/>
              <a:gd name="T7" fmla="*/ 10800 h 21600"/>
              <a:gd name="T8" fmla="*/ 21600 w 21600"/>
              <a:gd name="T9" fmla="*/ 16548 h 21600"/>
              <a:gd name="T10" fmla="*/ 18042 w 21600"/>
              <a:gd name="T11" fmla="*/ 21600 h 21600"/>
              <a:gd name="T12" fmla="*/ 10673 w 21600"/>
              <a:gd name="T13" fmla="*/ 21600 h 21600"/>
              <a:gd name="T14" fmla="*/ 3176 w 21600"/>
              <a:gd name="T15" fmla="*/ 21600 h 21600"/>
              <a:gd name="T16" fmla="*/ 0 w 21600"/>
              <a:gd name="T17" fmla="*/ 16548 h 21600"/>
              <a:gd name="T18" fmla="*/ 0 w 21600"/>
              <a:gd name="T19" fmla="*/ 10800 h 21600"/>
              <a:gd name="T20" fmla="*/ 0 w 21600"/>
              <a:gd name="T21" fmla="*/ 4703 h 21600"/>
              <a:gd name="T22" fmla="*/ 2414 w 21600"/>
              <a:gd name="T23" fmla="*/ 0 h 21600"/>
              <a:gd name="T24" fmla="*/ 1397 w 21600"/>
              <a:gd name="T25" fmla="*/ 23298 h 21600"/>
              <a:gd name="T26" fmla="*/ 20266 w 21600"/>
              <a:gd name="T27" fmla="*/ 311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10673" y="0"/>
                </a:moveTo>
                <a:lnTo>
                  <a:pt x="19186" y="0"/>
                </a:lnTo>
                <a:lnTo>
                  <a:pt x="21600" y="4703"/>
                </a:lnTo>
                <a:lnTo>
                  <a:pt x="21600" y="10800"/>
                </a:lnTo>
                <a:lnTo>
                  <a:pt x="21600" y="16548"/>
                </a:lnTo>
                <a:lnTo>
                  <a:pt x="18042" y="16548"/>
                </a:lnTo>
                <a:lnTo>
                  <a:pt x="18042" y="21600"/>
                </a:lnTo>
                <a:lnTo>
                  <a:pt x="10673" y="21600"/>
                </a:lnTo>
                <a:lnTo>
                  <a:pt x="3176" y="21600"/>
                </a:lnTo>
                <a:lnTo>
                  <a:pt x="3176" y="16548"/>
                </a:lnTo>
                <a:lnTo>
                  <a:pt x="0" y="16548"/>
                </a:lnTo>
                <a:lnTo>
                  <a:pt x="0" y="10800"/>
                </a:lnTo>
                <a:lnTo>
                  <a:pt x="0" y="4703"/>
                </a:lnTo>
                <a:lnTo>
                  <a:pt x="2414" y="0"/>
                </a:lnTo>
                <a:lnTo>
                  <a:pt x="10673" y="0"/>
                </a:lnTo>
                <a:close/>
              </a:path>
              <a:path w="21600" h="21600" extrusionOk="0">
                <a:moveTo>
                  <a:pt x="0" y="4703"/>
                </a:moveTo>
                <a:lnTo>
                  <a:pt x="3558" y="4703"/>
                </a:lnTo>
                <a:lnTo>
                  <a:pt x="17026" y="4703"/>
                </a:lnTo>
                <a:lnTo>
                  <a:pt x="21600" y="4703"/>
                </a:lnTo>
                <a:lnTo>
                  <a:pt x="0" y="4703"/>
                </a:lnTo>
                <a:moveTo>
                  <a:pt x="16518" y="4703"/>
                </a:moveTo>
                <a:lnTo>
                  <a:pt x="16518" y="10452"/>
                </a:lnTo>
                <a:lnTo>
                  <a:pt x="0" y="10452"/>
                </a:lnTo>
                <a:moveTo>
                  <a:pt x="4320" y="16548"/>
                </a:moveTo>
                <a:lnTo>
                  <a:pt x="4320" y="17419"/>
                </a:lnTo>
                <a:lnTo>
                  <a:pt x="4320" y="20555"/>
                </a:lnTo>
                <a:lnTo>
                  <a:pt x="4320" y="21600"/>
                </a:lnTo>
                <a:lnTo>
                  <a:pt x="4320" y="16548"/>
                </a:lnTo>
                <a:moveTo>
                  <a:pt x="16899" y="16548"/>
                </a:moveTo>
                <a:lnTo>
                  <a:pt x="16899" y="17419"/>
                </a:lnTo>
                <a:lnTo>
                  <a:pt x="16899" y="20555"/>
                </a:lnTo>
                <a:lnTo>
                  <a:pt x="16899" y="21600"/>
                </a:lnTo>
                <a:lnTo>
                  <a:pt x="16899" y="16548"/>
                </a:lnTo>
                <a:moveTo>
                  <a:pt x="15247" y="14981"/>
                </a:moveTo>
                <a:lnTo>
                  <a:pt x="15247" y="10452"/>
                </a:lnTo>
                <a:lnTo>
                  <a:pt x="16899" y="16548"/>
                </a:lnTo>
                <a:lnTo>
                  <a:pt x="18042" y="16548"/>
                </a:lnTo>
                <a:lnTo>
                  <a:pt x="16518" y="10452"/>
                </a:lnTo>
                <a:moveTo>
                  <a:pt x="15247" y="14981"/>
                </a:moveTo>
                <a:lnTo>
                  <a:pt x="15247" y="14981"/>
                </a:lnTo>
                <a:lnTo>
                  <a:pt x="16772" y="17942"/>
                </a:lnTo>
                <a:lnTo>
                  <a:pt x="4447" y="17942"/>
                </a:lnTo>
                <a:lnTo>
                  <a:pt x="5972" y="14981"/>
                </a:lnTo>
                <a:lnTo>
                  <a:pt x="5972" y="10452"/>
                </a:lnTo>
                <a:lnTo>
                  <a:pt x="4320" y="16548"/>
                </a:lnTo>
                <a:lnTo>
                  <a:pt x="3176" y="16548"/>
                </a:lnTo>
                <a:lnTo>
                  <a:pt x="4701" y="10452"/>
                </a:lnTo>
                <a:moveTo>
                  <a:pt x="20202" y="5574"/>
                </a:moveTo>
                <a:lnTo>
                  <a:pt x="20711" y="5574"/>
                </a:lnTo>
                <a:lnTo>
                  <a:pt x="20711" y="7839"/>
                </a:lnTo>
                <a:lnTo>
                  <a:pt x="20202" y="7839"/>
                </a:lnTo>
                <a:lnTo>
                  <a:pt x="20202" y="5574"/>
                </a:lnTo>
                <a:moveTo>
                  <a:pt x="5972" y="14981"/>
                </a:moveTo>
                <a:lnTo>
                  <a:pt x="7496" y="14981"/>
                </a:lnTo>
                <a:lnTo>
                  <a:pt x="13341" y="14981"/>
                </a:lnTo>
                <a:lnTo>
                  <a:pt x="15247" y="1498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290" name="tower"/>
          <p:cNvSpPr>
            <a:spLocks noEditPoints="1" noChangeArrowheads="1"/>
          </p:cNvSpPr>
          <p:nvPr/>
        </p:nvSpPr>
        <p:spPr bwMode="auto">
          <a:xfrm>
            <a:off x="4402138" y="5740400"/>
            <a:ext cx="381000" cy="68580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292" name="Line 20"/>
          <p:cNvSpPr>
            <a:spLocks noChangeShapeType="1"/>
          </p:cNvSpPr>
          <p:nvPr/>
        </p:nvSpPr>
        <p:spPr bwMode="auto">
          <a:xfrm flipH="1">
            <a:off x="914400" y="4800600"/>
            <a:ext cx="0" cy="990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294" name="Line 22"/>
          <p:cNvSpPr>
            <a:spLocks noChangeShapeType="1"/>
          </p:cNvSpPr>
          <p:nvPr/>
        </p:nvSpPr>
        <p:spPr bwMode="auto">
          <a:xfrm flipH="1">
            <a:off x="2514600" y="4724400"/>
            <a:ext cx="0" cy="9144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296" name="Line 24"/>
          <p:cNvSpPr>
            <a:spLocks noChangeShapeType="1"/>
          </p:cNvSpPr>
          <p:nvPr/>
        </p:nvSpPr>
        <p:spPr bwMode="auto">
          <a:xfrm flipH="1">
            <a:off x="3810000" y="4800600"/>
            <a:ext cx="0" cy="990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298" name="Line 26"/>
          <p:cNvSpPr>
            <a:spLocks noChangeShapeType="1"/>
          </p:cNvSpPr>
          <p:nvPr/>
        </p:nvSpPr>
        <p:spPr bwMode="auto">
          <a:xfrm flipH="1">
            <a:off x="4800600" y="4800600"/>
            <a:ext cx="0" cy="838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300" name="Line 28"/>
          <p:cNvSpPr>
            <a:spLocks noChangeShapeType="1"/>
          </p:cNvSpPr>
          <p:nvPr/>
        </p:nvSpPr>
        <p:spPr bwMode="auto">
          <a:xfrm flipH="1">
            <a:off x="7315200" y="4800600"/>
            <a:ext cx="0" cy="838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301" name="Line 29"/>
          <p:cNvSpPr>
            <a:spLocks noChangeShapeType="1"/>
          </p:cNvSpPr>
          <p:nvPr/>
        </p:nvSpPr>
        <p:spPr bwMode="auto">
          <a:xfrm flipH="1">
            <a:off x="13716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302" name="Line 30"/>
          <p:cNvSpPr>
            <a:spLocks noChangeShapeType="1"/>
          </p:cNvSpPr>
          <p:nvPr/>
        </p:nvSpPr>
        <p:spPr bwMode="auto">
          <a:xfrm flipH="1">
            <a:off x="34290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303" name="Line 31"/>
          <p:cNvSpPr>
            <a:spLocks noChangeShapeType="1"/>
          </p:cNvSpPr>
          <p:nvPr/>
        </p:nvSpPr>
        <p:spPr bwMode="auto">
          <a:xfrm flipH="1">
            <a:off x="54864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304" name="Line 32"/>
          <p:cNvSpPr>
            <a:spLocks noChangeShapeType="1"/>
          </p:cNvSpPr>
          <p:nvPr/>
        </p:nvSpPr>
        <p:spPr bwMode="auto">
          <a:xfrm flipH="1">
            <a:off x="73914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308" name="Line 36"/>
          <p:cNvSpPr>
            <a:spLocks noChangeShapeType="1"/>
          </p:cNvSpPr>
          <p:nvPr/>
        </p:nvSpPr>
        <p:spPr bwMode="auto">
          <a:xfrm>
            <a:off x="381000" y="4800600"/>
            <a:ext cx="822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309" name="Rectangle 37"/>
          <p:cNvSpPr>
            <a:spLocks noChangeArrowheads="1"/>
          </p:cNvSpPr>
          <p:nvPr/>
        </p:nvSpPr>
        <p:spPr bwMode="auto">
          <a:xfrm>
            <a:off x="533400" y="4800600"/>
            <a:ext cx="1447800" cy="304800"/>
          </a:xfrm>
          <a:prstGeom prst="rect">
            <a:avLst/>
          </a:prstGeom>
          <a:solidFill>
            <a:srgbClr val="FBD7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310" name="Rectangle 38"/>
          <p:cNvSpPr>
            <a:spLocks noChangeArrowheads="1"/>
          </p:cNvSpPr>
          <p:nvPr/>
        </p:nvSpPr>
        <p:spPr bwMode="auto">
          <a:xfrm>
            <a:off x="2133600" y="4800600"/>
            <a:ext cx="1066800" cy="304800"/>
          </a:xfrm>
          <a:prstGeom prst="rect">
            <a:avLst/>
          </a:prstGeom>
          <a:solidFill>
            <a:srgbClr val="FBD7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311" name="Rectangle 39"/>
          <p:cNvSpPr>
            <a:spLocks noChangeArrowheads="1"/>
          </p:cNvSpPr>
          <p:nvPr/>
        </p:nvSpPr>
        <p:spPr bwMode="auto">
          <a:xfrm>
            <a:off x="3429000" y="4800600"/>
            <a:ext cx="1066800" cy="304800"/>
          </a:xfrm>
          <a:prstGeom prst="rect">
            <a:avLst/>
          </a:prstGeom>
          <a:solidFill>
            <a:srgbClr val="FBD7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312" name="Rectangle 40"/>
          <p:cNvSpPr>
            <a:spLocks noChangeArrowheads="1"/>
          </p:cNvSpPr>
          <p:nvPr/>
        </p:nvSpPr>
        <p:spPr bwMode="auto">
          <a:xfrm>
            <a:off x="4724400" y="4800600"/>
            <a:ext cx="1143000" cy="304800"/>
          </a:xfrm>
          <a:prstGeom prst="rect">
            <a:avLst/>
          </a:prstGeom>
          <a:solidFill>
            <a:srgbClr val="FBD7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314" name="Rectangle 42"/>
          <p:cNvSpPr>
            <a:spLocks noChangeArrowheads="1"/>
          </p:cNvSpPr>
          <p:nvPr/>
        </p:nvSpPr>
        <p:spPr bwMode="auto">
          <a:xfrm>
            <a:off x="6019800" y="4800600"/>
            <a:ext cx="1981200" cy="304800"/>
          </a:xfrm>
          <a:prstGeom prst="rect">
            <a:avLst/>
          </a:prstGeom>
          <a:solidFill>
            <a:srgbClr val="FBD7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316" name="Rectangle 44"/>
          <p:cNvSpPr>
            <a:spLocks noChangeArrowheads="1"/>
          </p:cNvSpPr>
          <p:nvPr/>
        </p:nvSpPr>
        <p:spPr bwMode="auto">
          <a:xfrm>
            <a:off x="381000" y="3810000"/>
            <a:ext cx="8229600" cy="990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2291" name="Rectangle 19"/>
          <p:cNvSpPr>
            <a:spLocks noChangeArrowheads="1"/>
          </p:cNvSpPr>
          <p:nvPr/>
        </p:nvSpPr>
        <p:spPr bwMode="auto">
          <a:xfrm>
            <a:off x="533400" y="4191000"/>
            <a:ext cx="1447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Read/Write</a:t>
            </a:r>
          </a:p>
        </p:txBody>
      </p:sp>
      <p:sp>
        <p:nvSpPr>
          <p:cNvPr id="182293" name="Rectangle 21"/>
          <p:cNvSpPr>
            <a:spLocks noChangeArrowheads="1"/>
          </p:cNvSpPr>
          <p:nvPr/>
        </p:nvSpPr>
        <p:spPr bwMode="auto">
          <a:xfrm>
            <a:off x="2133600" y="4191000"/>
            <a:ext cx="1066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Standard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Output</a:t>
            </a:r>
          </a:p>
        </p:txBody>
      </p:sp>
      <p:sp>
        <p:nvSpPr>
          <p:cNvPr id="182295" name="Rectangle 23"/>
          <p:cNvSpPr>
            <a:spLocks noChangeArrowheads="1"/>
          </p:cNvSpPr>
          <p:nvPr/>
        </p:nvSpPr>
        <p:spPr bwMode="auto">
          <a:xfrm>
            <a:off x="3429000" y="4191000"/>
            <a:ext cx="1066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Device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Control</a:t>
            </a:r>
          </a:p>
        </p:txBody>
      </p:sp>
      <p:sp>
        <p:nvSpPr>
          <p:cNvPr id="182297" name="Rectangle 25"/>
          <p:cNvSpPr>
            <a:spLocks noChangeArrowheads="1"/>
          </p:cNvSpPr>
          <p:nvPr/>
        </p:nvSpPr>
        <p:spPr bwMode="auto">
          <a:xfrm>
            <a:off x="4724400" y="4191000"/>
            <a:ext cx="11430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File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System</a:t>
            </a:r>
          </a:p>
        </p:txBody>
      </p:sp>
      <p:sp>
        <p:nvSpPr>
          <p:cNvPr id="182299" name="Rectangle 27"/>
          <p:cNvSpPr>
            <a:spLocks noChangeArrowheads="1"/>
          </p:cNvSpPr>
          <p:nvPr/>
        </p:nvSpPr>
        <p:spPr bwMode="auto">
          <a:xfrm>
            <a:off x="6019800" y="4191000"/>
            <a:ext cx="19812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Communication</a:t>
            </a:r>
          </a:p>
        </p:txBody>
      </p:sp>
      <p:sp>
        <p:nvSpPr>
          <p:cNvPr id="182282" name="Text Box 10"/>
          <p:cNvSpPr txBox="1">
            <a:spLocks noChangeArrowheads="1"/>
          </p:cNvSpPr>
          <p:nvPr/>
        </p:nvSpPr>
        <p:spPr bwMode="auto">
          <a:xfrm>
            <a:off x="381000" y="3733800"/>
            <a:ext cx="28178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latin typeface="+mn-lt"/>
                <a:ea typeface="+mn-ea"/>
              </a:rPr>
              <a:t>Operating System</a:t>
            </a:r>
            <a:endParaRPr lang="en-US" sz="1600" dirty="0">
              <a:latin typeface="+mn-lt"/>
              <a:ea typeface="+mn-ea"/>
            </a:endParaRPr>
          </a:p>
        </p:txBody>
      </p:sp>
      <p:sp>
        <p:nvSpPr>
          <p:cNvPr id="182305" name="AutoShape 33"/>
          <p:cNvSpPr>
            <a:spLocks noChangeArrowheads="1"/>
          </p:cNvSpPr>
          <p:nvPr/>
        </p:nvSpPr>
        <p:spPr bwMode="auto">
          <a:xfrm>
            <a:off x="381000" y="3429000"/>
            <a:ext cx="8229600" cy="3810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381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 b="1" dirty="0">
                <a:latin typeface="+mn-lt"/>
                <a:ea typeface="+mn-ea"/>
              </a:rPr>
              <a:t>Standard Operating System Interface</a:t>
            </a:r>
          </a:p>
        </p:txBody>
      </p:sp>
      <p:pic>
        <p:nvPicPr>
          <p:cNvPr id="34859" name="Picture 4" descr="C:\Users\rhk\AppData\Local\Microsoft\Windows\Temporary Internet Files\Content.IE5\P0TC36KP\MCj03984470000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5943600"/>
            <a:ext cx="8382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60" name="Picture 5" descr="C:\Users\rhk\AppData\Local\Microsoft\Windows\Temporary Internet Files\Content.IE5\6WDTZ2I7\MCj03984450000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818188"/>
            <a:ext cx="725488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228600" y="3276600"/>
            <a:ext cx="8610600" cy="15240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228600" y="4835525"/>
            <a:ext cx="8610600" cy="1793875"/>
          </a:xfrm>
          <a:prstGeom prst="rect">
            <a:avLst/>
          </a:prstGeom>
          <a:noFill/>
          <a:ln w="38100">
            <a:solidFill>
              <a:srgbClr val="00206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51" name="Rectangle 50"/>
          <p:cNvSpPr/>
          <p:nvPr/>
        </p:nvSpPr>
        <p:spPr>
          <a:xfrm rot="21159112">
            <a:off x="2362200" y="3733800"/>
            <a:ext cx="3617913" cy="523875"/>
          </a:xfrm>
          <a:prstGeom prst="rect">
            <a:avLst/>
          </a:prstGeom>
          <a:solidFill>
            <a:schemeClr val="bg1"/>
          </a:solidFill>
          <a:ln w="57150">
            <a:solidFill>
              <a:srgbClr val="003300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800" dirty="0">
                <a:latin typeface="+mn-lt"/>
                <a:ea typeface="+mn-ea"/>
              </a:rPr>
              <a:t>Machine Independent</a:t>
            </a:r>
          </a:p>
        </p:txBody>
      </p:sp>
      <p:sp>
        <p:nvSpPr>
          <p:cNvPr id="52" name="Rectangle 51"/>
          <p:cNvSpPr/>
          <p:nvPr/>
        </p:nvSpPr>
        <p:spPr>
          <a:xfrm rot="21159112">
            <a:off x="2967038" y="5410200"/>
            <a:ext cx="2903537" cy="523875"/>
          </a:xfrm>
          <a:prstGeom prst="rect">
            <a:avLst/>
          </a:prstGeom>
          <a:solidFill>
            <a:schemeClr val="bg1"/>
          </a:solidFill>
          <a:ln w="57150">
            <a:solidFill>
              <a:srgbClr val="0033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dirty="0">
                <a:latin typeface="+mn-lt"/>
                <a:ea typeface="+mn-ea"/>
              </a:rPr>
              <a:t>Machine Specific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50" grpId="0" animBg="1"/>
      <p:bldP spid="51" grpId="0" animBg="1"/>
      <p:bldP spid="5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>
                <a:latin typeface="Arial" charset="0"/>
              </a:rPr>
              <a:t>Machine Independent = Portable</a:t>
            </a:r>
          </a:p>
        </p:txBody>
      </p:sp>
      <p:sp>
        <p:nvSpPr>
          <p:cNvPr id="3584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584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D9FBEBF3-18A8-F048-B916-269B2DE7A4BD}" type="slidenum">
              <a:rPr lang="en-US"/>
              <a:pPr/>
              <a:t>26</a:t>
            </a:fld>
            <a:endParaRPr lang="en-US"/>
          </a:p>
        </p:txBody>
      </p:sp>
      <p:sp>
        <p:nvSpPr>
          <p:cNvPr id="185346" name="Rectangle 2"/>
          <p:cNvSpPr>
            <a:spLocks noChangeArrowheads="1"/>
          </p:cNvSpPr>
          <p:nvPr/>
        </p:nvSpPr>
        <p:spPr bwMode="auto">
          <a:xfrm>
            <a:off x="381000" y="1828800"/>
            <a:ext cx="82296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5348" name="Rectangle 4"/>
          <p:cNvSpPr>
            <a:spLocks noChangeArrowheads="1"/>
          </p:cNvSpPr>
          <p:nvPr/>
        </p:nvSpPr>
        <p:spPr bwMode="auto">
          <a:xfrm>
            <a:off x="5334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Firefox</a:t>
            </a:r>
            <a:endParaRPr lang="en-US" sz="2400" dirty="0">
              <a:latin typeface="+mn-lt"/>
              <a:ea typeface="+mn-ea"/>
            </a:endParaRPr>
          </a:p>
        </p:txBody>
      </p:sp>
      <p:sp>
        <p:nvSpPr>
          <p:cNvPr id="185349" name="Rectangle 5"/>
          <p:cNvSpPr>
            <a:spLocks noChangeArrowheads="1"/>
          </p:cNvSpPr>
          <p:nvPr/>
        </p:nvSpPr>
        <p:spPr bwMode="auto">
          <a:xfrm>
            <a:off x="25146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Second Life</a:t>
            </a:r>
          </a:p>
        </p:txBody>
      </p:sp>
      <p:sp>
        <p:nvSpPr>
          <p:cNvPr id="185350" name="Rectangle 6"/>
          <p:cNvSpPr>
            <a:spLocks noChangeArrowheads="1"/>
          </p:cNvSpPr>
          <p:nvPr/>
        </p:nvSpPr>
        <p:spPr bwMode="auto">
          <a:xfrm>
            <a:off x="45720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Yahoo</a:t>
            </a:r>
          </a:p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Chat</a:t>
            </a:r>
          </a:p>
        </p:txBody>
      </p:sp>
      <p:sp>
        <p:nvSpPr>
          <p:cNvPr id="185351" name="Rectangle 7"/>
          <p:cNvSpPr>
            <a:spLocks noChangeArrowheads="1"/>
          </p:cNvSpPr>
          <p:nvPr/>
        </p:nvSpPr>
        <p:spPr bwMode="auto">
          <a:xfrm>
            <a:off x="65532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 err="1">
                <a:latin typeface="+mn-lt"/>
                <a:ea typeface="Tahoma" pitchFamily="34" charset="0"/>
                <a:cs typeface="Tahoma" pitchFamily="34" charset="0"/>
              </a:rPr>
              <a:t>GMail</a:t>
            </a:r>
            <a:endParaRPr lang="en-US" sz="2400" dirty="0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85352" name="Text Box 8"/>
          <p:cNvSpPr txBox="1">
            <a:spLocks noChangeArrowheads="1"/>
          </p:cNvSpPr>
          <p:nvPr/>
        </p:nvSpPr>
        <p:spPr bwMode="auto">
          <a:xfrm>
            <a:off x="381000" y="1828800"/>
            <a:ext cx="3387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n-lt"/>
                <a:ea typeface="+mn-ea"/>
              </a:rPr>
              <a:t>Application Software</a:t>
            </a:r>
          </a:p>
        </p:txBody>
      </p:sp>
      <p:sp>
        <p:nvSpPr>
          <p:cNvPr id="185353" name="Rectangle 9"/>
          <p:cNvSpPr>
            <a:spLocks noChangeArrowheads="1"/>
          </p:cNvSpPr>
          <p:nvPr/>
        </p:nvSpPr>
        <p:spPr bwMode="auto">
          <a:xfrm>
            <a:off x="381000" y="3810000"/>
            <a:ext cx="7848600" cy="990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5367" name="Line 23"/>
          <p:cNvSpPr>
            <a:spLocks noChangeShapeType="1"/>
          </p:cNvSpPr>
          <p:nvPr/>
        </p:nvSpPr>
        <p:spPr bwMode="auto">
          <a:xfrm flipH="1">
            <a:off x="13716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5368" name="Line 24"/>
          <p:cNvSpPr>
            <a:spLocks noChangeShapeType="1"/>
          </p:cNvSpPr>
          <p:nvPr/>
        </p:nvSpPr>
        <p:spPr bwMode="auto">
          <a:xfrm flipH="1">
            <a:off x="34290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5369" name="Line 25"/>
          <p:cNvSpPr>
            <a:spLocks noChangeShapeType="1"/>
          </p:cNvSpPr>
          <p:nvPr/>
        </p:nvSpPr>
        <p:spPr bwMode="auto">
          <a:xfrm flipH="1">
            <a:off x="54864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5370" name="Line 26"/>
          <p:cNvSpPr>
            <a:spLocks noChangeShapeType="1"/>
          </p:cNvSpPr>
          <p:nvPr/>
        </p:nvSpPr>
        <p:spPr bwMode="auto">
          <a:xfrm flipH="1">
            <a:off x="73914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5378" name="Rectangle 34"/>
          <p:cNvSpPr>
            <a:spLocks noChangeArrowheads="1"/>
          </p:cNvSpPr>
          <p:nvPr/>
        </p:nvSpPr>
        <p:spPr bwMode="auto">
          <a:xfrm>
            <a:off x="381000" y="3810000"/>
            <a:ext cx="8229600" cy="990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5379" name="Rectangle 35"/>
          <p:cNvSpPr>
            <a:spLocks noChangeArrowheads="1"/>
          </p:cNvSpPr>
          <p:nvPr/>
        </p:nvSpPr>
        <p:spPr bwMode="auto">
          <a:xfrm>
            <a:off x="533400" y="4191000"/>
            <a:ext cx="1447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Read/Write</a:t>
            </a:r>
          </a:p>
        </p:txBody>
      </p:sp>
      <p:sp>
        <p:nvSpPr>
          <p:cNvPr id="185380" name="Rectangle 36"/>
          <p:cNvSpPr>
            <a:spLocks noChangeArrowheads="1"/>
          </p:cNvSpPr>
          <p:nvPr/>
        </p:nvSpPr>
        <p:spPr bwMode="auto">
          <a:xfrm>
            <a:off x="2133600" y="4191000"/>
            <a:ext cx="1066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Standard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Output</a:t>
            </a:r>
          </a:p>
        </p:txBody>
      </p:sp>
      <p:sp>
        <p:nvSpPr>
          <p:cNvPr id="185381" name="Rectangle 37"/>
          <p:cNvSpPr>
            <a:spLocks noChangeArrowheads="1"/>
          </p:cNvSpPr>
          <p:nvPr/>
        </p:nvSpPr>
        <p:spPr bwMode="auto">
          <a:xfrm>
            <a:off x="3429000" y="4191000"/>
            <a:ext cx="1066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Device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Control</a:t>
            </a:r>
          </a:p>
        </p:txBody>
      </p:sp>
      <p:sp>
        <p:nvSpPr>
          <p:cNvPr id="185382" name="Rectangle 38"/>
          <p:cNvSpPr>
            <a:spLocks noChangeArrowheads="1"/>
          </p:cNvSpPr>
          <p:nvPr/>
        </p:nvSpPr>
        <p:spPr bwMode="auto">
          <a:xfrm>
            <a:off x="4724400" y="4191000"/>
            <a:ext cx="11430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File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System</a:t>
            </a:r>
          </a:p>
        </p:txBody>
      </p:sp>
      <p:sp>
        <p:nvSpPr>
          <p:cNvPr id="185383" name="Rectangle 39"/>
          <p:cNvSpPr>
            <a:spLocks noChangeArrowheads="1"/>
          </p:cNvSpPr>
          <p:nvPr/>
        </p:nvSpPr>
        <p:spPr bwMode="auto">
          <a:xfrm>
            <a:off x="6019800" y="4191000"/>
            <a:ext cx="19812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Communication</a:t>
            </a:r>
          </a:p>
        </p:txBody>
      </p:sp>
      <p:sp>
        <p:nvSpPr>
          <p:cNvPr id="185384" name="Text Box 40"/>
          <p:cNvSpPr txBox="1">
            <a:spLocks noChangeArrowheads="1"/>
          </p:cNvSpPr>
          <p:nvPr/>
        </p:nvSpPr>
        <p:spPr bwMode="auto">
          <a:xfrm>
            <a:off x="381000" y="3733800"/>
            <a:ext cx="28178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latin typeface="+mn-lt"/>
                <a:ea typeface="+mn-ea"/>
              </a:rPr>
              <a:t>Operating System</a:t>
            </a:r>
            <a:endParaRPr lang="en-US" sz="1600" dirty="0">
              <a:latin typeface="+mn-lt"/>
              <a:ea typeface="+mn-ea"/>
            </a:endParaRPr>
          </a:p>
        </p:txBody>
      </p:sp>
      <p:sp>
        <p:nvSpPr>
          <p:cNvPr id="185385" name="AutoShape 41"/>
          <p:cNvSpPr>
            <a:spLocks noChangeArrowheads="1"/>
          </p:cNvSpPr>
          <p:nvPr/>
        </p:nvSpPr>
        <p:spPr bwMode="auto">
          <a:xfrm>
            <a:off x="381000" y="3429000"/>
            <a:ext cx="8229600" cy="3810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381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 b="1" dirty="0">
                <a:latin typeface="+mn-lt"/>
                <a:ea typeface="+mn-ea"/>
              </a:rPr>
              <a:t>Standard Operating System Interface</a:t>
            </a:r>
          </a:p>
        </p:txBody>
      </p:sp>
      <p:sp>
        <p:nvSpPr>
          <p:cNvPr id="185386" name="AutoShape 42"/>
          <p:cNvSpPr>
            <a:spLocks/>
          </p:cNvSpPr>
          <p:nvPr/>
        </p:nvSpPr>
        <p:spPr bwMode="auto">
          <a:xfrm>
            <a:off x="8659813" y="3429000"/>
            <a:ext cx="152400" cy="1295400"/>
          </a:xfrm>
          <a:prstGeom prst="rightBrace">
            <a:avLst>
              <a:gd name="adj1" fmla="val 70833"/>
              <a:gd name="adj2" fmla="val 50000"/>
            </a:avLst>
          </a:prstGeom>
          <a:noFill/>
          <a:ln w="381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5387" name="Text Box 43"/>
          <p:cNvSpPr txBox="1">
            <a:spLocks noChangeArrowheads="1"/>
          </p:cNvSpPr>
          <p:nvPr/>
        </p:nvSpPr>
        <p:spPr bwMode="auto">
          <a:xfrm rot="16200000">
            <a:off x="8283576" y="3871912"/>
            <a:ext cx="141605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Portable</a:t>
            </a:r>
          </a:p>
        </p:txBody>
      </p:sp>
      <p:sp>
        <p:nvSpPr>
          <p:cNvPr id="28" name="Rectangle 27"/>
          <p:cNvSpPr/>
          <p:nvPr/>
        </p:nvSpPr>
        <p:spPr>
          <a:xfrm rot="16200000">
            <a:off x="-601663" y="3852863"/>
            <a:ext cx="1558925" cy="25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3300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050" b="1" dirty="0">
                <a:latin typeface="+mn-lt"/>
                <a:ea typeface="+mn-ea"/>
              </a:rPr>
              <a:t>Machine Independent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45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3600">
                <a:latin typeface="Arial" charset="0"/>
              </a:rPr>
              <a:t>OS Runs on Multiple Platforms</a:t>
            </a:r>
          </a:p>
        </p:txBody>
      </p:sp>
      <p:sp>
        <p:nvSpPr>
          <p:cNvPr id="3686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68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EAAF60D-F37D-284F-9FF5-B5007E7002B7}" type="slidenum">
              <a:rPr lang="en-US"/>
              <a:pPr/>
              <a:t>27</a:t>
            </a:fld>
            <a:endParaRPr lang="en-US"/>
          </a:p>
        </p:txBody>
      </p:sp>
      <p:sp>
        <p:nvSpPr>
          <p:cNvPr id="183298" name="Rectangle 2"/>
          <p:cNvSpPr>
            <a:spLocks noChangeArrowheads="1"/>
          </p:cNvSpPr>
          <p:nvPr/>
        </p:nvSpPr>
        <p:spPr bwMode="auto">
          <a:xfrm>
            <a:off x="381000" y="1828800"/>
            <a:ext cx="82296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00" name="Rectangle 4"/>
          <p:cNvSpPr>
            <a:spLocks noChangeArrowheads="1"/>
          </p:cNvSpPr>
          <p:nvPr/>
        </p:nvSpPr>
        <p:spPr bwMode="auto">
          <a:xfrm>
            <a:off x="5334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Firefox</a:t>
            </a:r>
            <a:endParaRPr lang="en-US" sz="2400" dirty="0">
              <a:latin typeface="+mn-lt"/>
              <a:ea typeface="+mn-ea"/>
            </a:endParaRPr>
          </a:p>
        </p:txBody>
      </p:sp>
      <p:sp>
        <p:nvSpPr>
          <p:cNvPr id="183301" name="Rectangle 5"/>
          <p:cNvSpPr>
            <a:spLocks noChangeArrowheads="1"/>
          </p:cNvSpPr>
          <p:nvPr/>
        </p:nvSpPr>
        <p:spPr bwMode="auto">
          <a:xfrm>
            <a:off x="25146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Second Life</a:t>
            </a:r>
          </a:p>
        </p:txBody>
      </p:sp>
      <p:sp>
        <p:nvSpPr>
          <p:cNvPr id="183302" name="Rectangle 6"/>
          <p:cNvSpPr>
            <a:spLocks noChangeArrowheads="1"/>
          </p:cNvSpPr>
          <p:nvPr/>
        </p:nvSpPr>
        <p:spPr bwMode="auto">
          <a:xfrm>
            <a:off x="45720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Yahoo</a:t>
            </a:r>
          </a:p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Chat</a:t>
            </a:r>
          </a:p>
        </p:txBody>
      </p:sp>
      <p:sp>
        <p:nvSpPr>
          <p:cNvPr id="183303" name="Rectangle 7"/>
          <p:cNvSpPr>
            <a:spLocks noChangeArrowheads="1"/>
          </p:cNvSpPr>
          <p:nvPr/>
        </p:nvSpPr>
        <p:spPr bwMode="auto">
          <a:xfrm>
            <a:off x="65532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 err="1">
                <a:latin typeface="+mn-lt"/>
                <a:ea typeface="Tahoma" pitchFamily="34" charset="0"/>
                <a:cs typeface="Tahoma" pitchFamily="34" charset="0"/>
              </a:rPr>
              <a:t>GMail</a:t>
            </a:r>
            <a:endParaRPr lang="en-US" sz="2400" dirty="0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83304" name="Text Box 8"/>
          <p:cNvSpPr txBox="1">
            <a:spLocks noChangeArrowheads="1"/>
          </p:cNvSpPr>
          <p:nvPr/>
        </p:nvSpPr>
        <p:spPr bwMode="auto">
          <a:xfrm>
            <a:off x="381000" y="1828800"/>
            <a:ext cx="3387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n-lt"/>
                <a:ea typeface="+mn-ea"/>
              </a:rPr>
              <a:t>Application Software</a:t>
            </a:r>
          </a:p>
        </p:txBody>
      </p:sp>
      <p:sp>
        <p:nvSpPr>
          <p:cNvPr id="183305" name="Rectangle 9"/>
          <p:cNvSpPr>
            <a:spLocks noChangeArrowheads="1"/>
          </p:cNvSpPr>
          <p:nvPr/>
        </p:nvSpPr>
        <p:spPr bwMode="auto">
          <a:xfrm>
            <a:off x="381000" y="3810000"/>
            <a:ext cx="8229600" cy="1600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06" name="Rectangle 10"/>
          <p:cNvSpPr>
            <a:spLocks noChangeArrowheads="1"/>
          </p:cNvSpPr>
          <p:nvPr/>
        </p:nvSpPr>
        <p:spPr bwMode="auto">
          <a:xfrm>
            <a:off x="6115050" y="5613400"/>
            <a:ext cx="2495550" cy="863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07" name="Text Box 11"/>
          <p:cNvSpPr txBox="1">
            <a:spLocks noChangeArrowheads="1"/>
          </p:cNvSpPr>
          <p:nvPr/>
        </p:nvSpPr>
        <p:spPr bwMode="auto">
          <a:xfrm>
            <a:off x="6096000" y="5562600"/>
            <a:ext cx="11953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>
                <a:latin typeface="+mn-lt"/>
                <a:ea typeface="+mn-ea"/>
              </a:rPr>
              <a:t>Network</a:t>
            </a:r>
          </a:p>
        </p:txBody>
      </p:sp>
      <p:sp>
        <p:nvSpPr>
          <p:cNvPr id="183308" name="Rectangle 12"/>
          <p:cNvSpPr>
            <a:spLocks noChangeArrowheads="1"/>
          </p:cNvSpPr>
          <p:nvPr/>
        </p:nvSpPr>
        <p:spPr bwMode="auto">
          <a:xfrm>
            <a:off x="381000" y="5638800"/>
            <a:ext cx="4554538" cy="8636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09" name="Text Box 13"/>
          <p:cNvSpPr txBox="1">
            <a:spLocks noChangeArrowheads="1"/>
          </p:cNvSpPr>
          <p:nvPr/>
        </p:nvSpPr>
        <p:spPr bwMode="auto">
          <a:xfrm>
            <a:off x="515938" y="5588000"/>
            <a:ext cx="13525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>
                <a:latin typeface="+mn-lt"/>
                <a:ea typeface="+mn-ea"/>
              </a:rPr>
              <a:t>Hardware</a:t>
            </a:r>
          </a:p>
        </p:txBody>
      </p:sp>
      <p:sp>
        <p:nvSpPr>
          <p:cNvPr id="183310" name="cddrive"/>
          <p:cNvSpPr>
            <a:spLocks noEditPoints="1" noChangeArrowheads="1"/>
          </p:cNvSpPr>
          <p:nvPr/>
        </p:nvSpPr>
        <p:spPr bwMode="auto">
          <a:xfrm>
            <a:off x="668338" y="6121400"/>
            <a:ext cx="638175" cy="254000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10800 h 21600"/>
              <a:gd name="T4" fmla="*/ 10800 w 21600"/>
              <a:gd name="T5" fmla="*/ 21600 h 21600"/>
              <a:gd name="T6" fmla="*/ 0 w 21600"/>
              <a:gd name="T7" fmla="*/ 10800 h 21600"/>
              <a:gd name="T8" fmla="*/ 686 w 21600"/>
              <a:gd name="T9" fmla="*/ 23059 h 21600"/>
              <a:gd name="T10" fmla="*/ 21005 w 21600"/>
              <a:gd name="T11" fmla="*/ 30503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2563" y="12259"/>
                </a:moveTo>
                <a:lnTo>
                  <a:pt x="2563" y="12843"/>
                </a:lnTo>
                <a:lnTo>
                  <a:pt x="2746" y="13427"/>
                </a:lnTo>
                <a:lnTo>
                  <a:pt x="2929" y="14303"/>
                </a:lnTo>
                <a:lnTo>
                  <a:pt x="3112" y="14886"/>
                </a:lnTo>
                <a:lnTo>
                  <a:pt x="3478" y="15470"/>
                </a:lnTo>
                <a:lnTo>
                  <a:pt x="3844" y="16054"/>
                </a:lnTo>
                <a:lnTo>
                  <a:pt x="4393" y="16638"/>
                </a:lnTo>
                <a:lnTo>
                  <a:pt x="4942" y="17222"/>
                </a:lnTo>
                <a:lnTo>
                  <a:pt x="5492" y="17514"/>
                </a:lnTo>
                <a:lnTo>
                  <a:pt x="6224" y="18097"/>
                </a:lnTo>
                <a:lnTo>
                  <a:pt x="6773" y="18389"/>
                </a:lnTo>
                <a:lnTo>
                  <a:pt x="7505" y="18681"/>
                </a:lnTo>
                <a:lnTo>
                  <a:pt x="8237" y="18973"/>
                </a:lnTo>
                <a:lnTo>
                  <a:pt x="9153" y="18973"/>
                </a:lnTo>
                <a:lnTo>
                  <a:pt x="9885" y="19265"/>
                </a:lnTo>
                <a:lnTo>
                  <a:pt x="10800" y="19265"/>
                </a:lnTo>
                <a:lnTo>
                  <a:pt x="11532" y="19265"/>
                </a:lnTo>
                <a:lnTo>
                  <a:pt x="12447" y="18973"/>
                </a:lnTo>
                <a:lnTo>
                  <a:pt x="13180" y="18973"/>
                </a:lnTo>
                <a:lnTo>
                  <a:pt x="13912" y="18681"/>
                </a:lnTo>
                <a:lnTo>
                  <a:pt x="14644" y="18389"/>
                </a:lnTo>
                <a:lnTo>
                  <a:pt x="15376" y="18097"/>
                </a:lnTo>
                <a:lnTo>
                  <a:pt x="16108" y="17514"/>
                </a:lnTo>
                <a:lnTo>
                  <a:pt x="16658" y="17222"/>
                </a:lnTo>
                <a:lnTo>
                  <a:pt x="17207" y="16638"/>
                </a:lnTo>
                <a:lnTo>
                  <a:pt x="17573" y="16054"/>
                </a:lnTo>
                <a:lnTo>
                  <a:pt x="18122" y="15470"/>
                </a:lnTo>
                <a:lnTo>
                  <a:pt x="18305" y="14886"/>
                </a:lnTo>
                <a:lnTo>
                  <a:pt x="18671" y="14303"/>
                </a:lnTo>
                <a:lnTo>
                  <a:pt x="18854" y="13427"/>
                </a:lnTo>
                <a:lnTo>
                  <a:pt x="19037" y="12843"/>
                </a:lnTo>
                <a:lnTo>
                  <a:pt x="19037" y="12259"/>
                </a:lnTo>
                <a:lnTo>
                  <a:pt x="2563" y="12259"/>
                </a:lnTo>
                <a:close/>
              </a:path>
              <a:path w="21600" h="21600" extrusionOk="0">
                <a:moveTo>
                  <a:pt x="2563" y="12259"/>
                </a:moveTo>
                <a:lnTo>
                  <a:pt x="9153" y="12259"/>
                </a:lnTo>
                <a:lnTo>
                  <a:pt x="9153" y="12551"/>
                </a:lnTo>
                <a:lnTo>
                  <a:pt x="9336" y="12843"/>
                </a:lnTo>
                <a:lnTo>
                  <a:pt x="9519" y="13135"/>
                </a:lnTo>
                <a:lnTo>
                  <a:pt x="9702" y="13135"/>
                </a:lnTo>
                <a:lnTo>
                  <a:pt x="9885" y="13427"/>
                </a:lnTo>
                <a:lnTo>
                  <a:pt x="10068" y="13719"/>
                </a:lnTo>
                <a:lnTo>
                  <a:pt x="10434" y="13719"/>
                </a:lnTo>
                <a:lnTo>
                  <a:pt x="10800" y="13719"/>
                </a:lnTo>
                <a:lnTo>
                  <a:pt x="10983" y="13719"/>
                </a:lnTo>
                <a:lnTo>
                  <a:pt x="11349" y="13719"/>
                </a:lnTo>
                <a:lnTo>
                  <a:pt x="11715" y="13427"/>
                </a:lnTo>
                <a:lnTo>
                  <a:pt x="11898" y="13135"/>
                </a:lnTo>
                <a:lnTo>
                  <a:pt x="12081" y="13135"/>
                </a:lnTo>
                <a:lnTo>
                  <a:pt x="12264" y="12843"/>
                </a:lnTo>
                <a:lnTo>
                  <a:pt x="12264" y="12551"/>
                </a:lnTo>
                <a:lnTo>
                  <a:pt x="12264" y="12259"/>
                </a:lnTo>
                <a:lnTo>
                  <a:pt x="9153" y="12259"/>
                </a:lnTo>
                <a:close/>
              </a:path>
              <a:path w="21600" h="21600" extrusionOk="0">
                <a:moveTo>
                  <a:pt x="21600" y="7589"/>
                </a:moveTo>
                <a:lnTo>
                  <a:pt x="17756" y="0"/>
                </a:lnTo>
                <a:lnTo>
                  <a:pt x="10800" y="0"/>
                </a:lnTo>
                <a:lnTo>
                  <a:pt x="3844" y="0"/>
                </a:lnTo>
                <a:lnTo>
                  <a:pt x="0" y="7589"/>
                </a:lnTo>
                <a:lnTo>
                  <a:pt x="0" y="10800"/>
                </a:lnTo>
                <a:lnTo>
                  <a:pt x="0" y="18097"/>
                </a:lnTo>
                <a:lnTo>
                  <a:pt x="1464" y="18097"/>
                </a:lnTo>
                <a:lnTo>
                  <a:pt x="1464" y="21600"/>
                </a:lnTo>
                <a:lnTo>
                  <a:pt x="10800" y="21600"/>
                </a:lnTo>
                <a:lnTo>
                  <a:pt x="19953" y="21600"/>
                </a:lnTo>
                <a:lnTo>
                  <a:pt x="19953" y="18097"/>
                </a:lnTo>
                <a:lnTo>
                  <a:pt x="21600" y="18097"/>
                </a:lnTo>
                <a:lnTo>
                  <a:pt x="21600" y="11092"/>
                </a:lnTo>
                <a:lnTo>
                  <a:pt x="21600" y="7589"/>
                </a:lnTo>
              </a:path>
              <a:path w="21600" h="21600" extrusionOk="0">
                <a:moveTo>
                  <a:pt x="1647" y="18097"/>
                </a:moveTo>
                <a:lnTo>
                  <a:pt x="6407" y="18097"/>
                </a:lnTo>
                <a:moveTo>
                  <a:pt x="19953" y="18097"/>
                </a:moveTo>
                <a:lnTo>
                  <a:pt x="15010" y="18097"/>
                </a:lnTo>
                <a:moveTo>
                  <a:pt x="0" y="7589"/>
                </a:moveTo>
                <a:lnTo>
                  <a:pt x="21417" y="7589"/>
                </a:lnTo>
                <a:lnTo>
                  <a:pt x="21600" y="7589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11" name="monitor"/>
          <p:cNvSpPr>
            <a:spLocks noEditPoints="1" noChangeArrowheads="1"/>
          </p:cNvSpPr>
          <p:nvPr/>
        </p:nvSpPr>
        <p:spPr bwMode="auto">
          <a:xfrm>
            <a:off x="1982788" y="5664200"/>
            <a:ext cx="892175" cy="762000"/>
          </a:xfrm>
          <a:custGeom>
            <a:avLst/>
            <a:gdLst>
              <a:gd name="T0" fmla="*/ 6837 w 21600"/>
              <a:gd name="T1" fmla="*/ 21600 h 21600"/>
              <a:gd name="T2" fmla="*/ 3108 w 21600"/>
              <a:gd name="T3" fmla="*/ 19849 h 21600"/>
              <a:gd name="T4" fmla="*/ 0 w 21600"/>
              <a:gd name="T5" fmla="*/ 15178 h 21600"/>
              <a:gd name="T6" fmla="*/ 0 w 21600"/>
              <a:gd name="T7" fmla="*/ 10508 h 21600"/>
              <a:gd name="T8" fmla="*/ 0 w 21600"/>
              <a:gd name="T9" fmla="*/ 3941 h 21600"/>
              <a:gd name="T10" fmla="*/ 8081 w 21600"/>
              <a:gd name="T11" fmla="*/ 1168 h 21600"/>
              <a:gd name="T12" fmla="*/ 17871 w 21600"/>
              <a:gd name="T13" fmla="*/ 0 h 21600"/>
              <a:gd name="T14" fmla="*/ 21600 w 21600"/>
              <a:gd name="T15" fmla="*/ 1751 h 21600"/>
              <a:gd name="T16" fmla="*/ 21600 w 21600"/>
              <a:gd name="T17" fmla="*/ 10508 h 21600"/>
              <a:gd name="T18" fmla="*/ 21600 w 21600"/>
              <a:gd name="T19" fmla="*/ 16346 h 21600"/>
              <a:gd name="T20" fmla="*/ 10722 w 21600"/>
              <a:gd name="T21" fmla="*/ 20286 h 21600"/>
              <a:gd name="T22" fmla="*/ 1204 w 21600"/>
              <a:gd name="T23" fmla="*/ 22548 h 21600"/>
              <a:gd name="T24" fmla="*/ 20706 w 21600"/>
              <a:gd name="T25" fmla="*/ 28386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T22" t="T23" r="T24" b="T25"/>
            <a:pathLst>
              <a:path w="21600" h="21600" extrusionOk="0">
                <a:moveTo>
                  <a:pt x="6837" y="21600"/>
                </a:moveTo>
                <a:lnTo>
                  <a:pt x="3108" y="19849"/>
                </a:lnTo>
                <a:lnTo>
                  <a:pt x="3108" y="17659"/>
                </a:lnTo>
                <a:lnTo>
                  <a:pt x="0" y="15178"/>
                </a:lnTo>
                <a:lnTo>
                  <a:pt x="0" y="10508"/>
                </a:lnTo>
                <a:lnTo>
                  <a:pt x="0" y="3941"/>
                </a:lnTo>
                <a:lnTo>
                  <a:pt x="8081" y="1168"/>
                </a:lnTo>
                <a:lnTo>
                  <a:pt x="10722" y="1605"/>
                </a:lnTo>
                <a:lnTo>
                  <a:pt x="12587" y="1751"/>
                </a:lnTo>
                <a:lnTo>
                  <a:pt x="17871" y="0"/>
                </a:lnTo>
                <a:lnTo>
                  <a:pt x="21600" y="1751"/>
                </a:lnTo>
                <a:lnTo>
                  <a:pt x="21600" y="10508"/>
                </a:lnTo>
                <a:lnTo>
                  <a:pt x="21600" y="16346"/>
                </a:lnTo>
                <a:lnTo>
                  <a:pt x="10722" y="20286"/>
                </a:lnTo>
                <a:lnTo>
                  <a:pt x="6837" y="21600"/>
                </a:lnTo>
                <a:close/>
              </a:path>
              <a:path w="21600" h="21600" extrusionOk="0">
                <a:moveTo>
                  <a:pt x="3108" y="5254"/>
                </a:moveTo>
                <a:lnTo>
                  <a:pt x="2642" y="4962"/>
                </a:lnTo>
                <a:lnTo>
                  <a:pt x="777" y="4232"/>
                </a:lnTo>
                <a:lnTo>
                  <a:pt x="155" y="3941"/>
                </a:lnTo>
                <a:moveTo>
                  <a:pt x="6837" y="7005"/>
                </a:moveTo>
                <a:lnTo>
                  <a:pt x="6216" y="6714"/>
                </a:lnTo>
                <a:lnTo>
                  <a:pt x="3885" y="5546"/>
                </a:lnTo>
                <a:lnTo>
                  <a:pt x="3108" y="5254"/>
                </a:lnTo>
                <a:moveTo>
                  <a:pt x="19735" y="14595"/>
                </a:moveTo>
                <a:lnTo>
                  <a:pt x="19735" y="4816"/>
                </a:lnTo>
                <a:lnTo>
                  <a:pt x="9790" y="8319"/>
                </a:lnTo>
                <a:lnTo>
                  <a:pt x="9790" y="18243"/>
                </a:lnTo>
                <a:lnTo>
                  <a:pt x="19735" y="14595"/>
                </a:lnTo>
                <a:moveTo>
                  <a:pt x="3108" y="17659"/>
                </a:moveTo>
                <a:lnTo>
                  <a:pt x="3108" y="5254"/>
                </a:lnTo>
                <a:lnTo>
                  <a:pt x="12742" y="1751"/>
                </a:lnTo>
                <a:moveTo>
                  <a:pt x="21600" y="1751"/>
                </a:moveTo>
                <a:lnTo>
                  <a:pt x="6837" y="7005"/>
                </a:lnTo>
                <a:lnTo>
                  <a:pt x="6837" y="21600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12" name="printer2"/>
          <p:cNvSpPr>
            <a:spLocks noEditPoints="1" noChangeArrowheads="1"/>
          </p:cNvSpPr>
          <p:nvPr/>
        </p:nvSpPr>
        <p:spPr bwMode="auto">
          <a:xfrm>
            <a:off x="3219450" y="6070600"/>
            <a:ext cx="1047750" cy="355600"/>
          </a:xfrm>
          <a:custGeom>
            <a:avLst/>
            <a:gdLst>
              <a:gd name="T0" fmla="*/ 10673 w 21600"/>
              <a:gd name="T1" fmla="*/ 0 h 21600"/>
              <a:gd name="T2" fmla="*/ 19186 w 21600"/>
              <a:gd name="T3" fmla="*/ 0 h 21600"/>
              <a:gd name="T4" fmla="*/ 21600 w 21600"/>
              <a:gd name="T5" fmla="*/ 4703 h 21600"/>
              <a:gd name="T6" fmla="*/ 21600 w 21600"/>
              <a:gd name="T7" fmla="*/ 10800 h 21600"/>
              <a:gd name="T8" fmla="*/ 21600 w 21600"/>
              <a:gd name="T9" fmla="*/ 16548 h 21600"/>
              <a:gd name="T10" fmla="*/ 18042 w 21600"/>
              <a:gd name="T11" fmla="*/ 21600 h 21600"/>
              <a:gd name="T12" fmla="*/ 10673 w 21600"/>
              <a:gd name="T13" fmla="*/ 21600 h 21600"/>
              <a:gd name="T14" fmla="*/ 3176 w 21600"/>
              <a:gd name="T15" fmla="*/ 21600 h 21600"/>
              <a:gd name="T16" fmla="*/ 0 w 21600"/>
              <a:gd name="T17" fmla="*/ 16548 h 21600"/>
              <a:gd name="T18" fmla="*/ 0 w 21600"/>
              <a:gd name="T19" fmla="*/ 10800 h 21600"/>
              <a:gd name="T20" fmla="*/ 0 w 21600"/>
              <a:gd name="T21" fmla="*/ 4703 h 21600"/>
              <a:gd name="T22" fmla="*/ 2414 w 21600"/>
              <a:gd name="T23" fmla="*/ 0 h 21600"/>
              <a:gd name="T24" fmla="*/ 1397 w 21600"/>
              <a:gd name="T25" fmla="*/ 23298 h 21600"/>
              <a:gd name="T26" fmla="*/ 20266 w 21600"/>
              <a:gd name="T27" fmla="*/ 311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T24" t="T25" r="T26" b="T27"/>
            <a:pathLst>
              <a:path w="21600" h="21600" extrusionOk="0">
                <a:moveTo>
                  <a:pt x="10673" y="0"/>
                </a:moveTo>
                <a:lnTo>
                  <a:pt x="19186" y="0"/>
                </a:lnTo>
                <a:lnTo>
                  <a:pt x="21600" y="4703"/>
                </a:lnTo>
                <a:lnTo>
                  <a:pt x="21600" y="10800"/>
                </a:lnTo>
                <a:lnTo>
                  <a:pt x="21600" y="16548"/>
                </a:lnTo>
                <a:lnTo>
                  <a:pt x="18042" y="16548"/>
                </a:lnTo>
                <a:lnTo>
                  <a:pt x="18042" y="21600"/>
                </a:lnTo>
                <a:lnTo>
                  <a:pt x="10673" y="21600"/>
                </a:lnTo>
                <a:lnTo>
                  <a:pt x="3176" y="21600"/>
                </a:lnTo>
                <a:lnTo>
                  <a:pt x="3176" y="16548"/>
                </a:lnTo>
                <a:lnTo>
                  <a:pt x="0" y="16548"/>
                </a:lnTo>
                <a:lnTo>
                  <a:pt x="0" y="10800"/>
                </a:lnTo>
                <a:lnTo>
                  <a:pt x="0" y="4703"/>
                </a:lnTo>
                <a:lnTo>
                  <a:pt x="2414" y="0"/>
                </a:lnTo>
                <a:lnTo>
                  <a:pt x="10673" y="0"/>
                </a:lnTo>
                <a:close/>
              </a:path>
              <a:path w="21600" h="21600" extrusionOk="0">
                <a:moveTo>
                  <a:pt x="0" y="4703"/>
                </a:moveTo>
                <a:lnTo>
                  <a:pt x="3558" y="4703"/>
                </a:lnTo>
                <a:lnTo>
                  <a:pt x="17026" y="4703"/>
                </a:lnTo>
                <a:lnTo>
                  <a:pt x="21600" y="4703"/>
                </a:lnTo>
                <a:lnTo>
                  <a:pt x="0" y="4703"/>
                </a:lnTo>
                <a:moveTo>
                  <a:pt x="16518" y="4703"/>
                </a:moveTo>
                <a:lnTo>
                  <a:pt x="16518" y="10452"/>
                </a:lnTo>
                <a:lnTo>
                  <a:pt x="0" y="10452"/>
                </a:lnTo>
                <a:moveTo>
                  <a:pt x="4320" y="16548"/>
                </a:moveTo>
                <a:lnTo>
                  <a:pt x="4320" y="17419"/>
                </a:lnTo>
                <a:lnTo>
                  <a:pt x="4320" y="20555"/>
                </a:lnTo>
                <a:lnTo>
                  <a:pt x="4320" y="21600"/>
                </a:lnTo>
                <a:lnTo>
                  <a:pt x="4320" y="16548"/>
                </a:lnTo>
                <a:moveTo>
                  <a:pt x="16899" y="16548"/>
                </a:moveTo>
                <a:lnTo>
                  <a:pt x="16899" y="17419"/>
                </a:lnTo>
                <a:lnTo>
                  <a:pt x="16899" y="20555"/>
                </a:lnTo>
                <a:lnTo>
                  <a:pt x="16899" y="21600"/>
                </a:lnTo>
                <a:lnTo>
                  <a:pt x="16899" y="16548"/>
                </a:lnTo>
                <a:moveTo>
                  <a:pt x="15247" y="14981"/>
                </a:moveTo>
                <a:lnTo>
                  <a:pt x="15247" y="10452"/>
                </a:lnTo>
                <a:lnTo>
                  <a:pt x="16899" y="16548"/>
                </a:lnTo>
                <a:lnTo>
                  <a:pt x="18042" y="16548"/>
                </a:lnTo>
                <a:lnTo>
                  <a:pt x="16518" y="10452"/>
                </a:lnTo>
                <a:moveTo>
                  <a:pt x="15247" y="14981"/>
                </a:moveTo>
                <a:lnTo>
                  <a:pt x="15247" y="14981"/>
                </a:lnTo>
                <a:lnTo>
                  <a:pt x="16772" y="17942"/>
                </a:lnTo>
                <a:lnTo>
                  <a:pt x="4447" y="17942"/>
                </a:lnTo>
                <a:lnTo>
                  <a:pt x="5972" y="14981"/>
                </a:lnTo>
                <a:lnTo>
                  <a:pt x="5972" y="10452"/>
                </a:lnTo>
                <a:lnTo>
                  <a:pt x="4320" y="16548"/>
                </a:lnTo>
                <a:lnTo>
                  <a:pt x="3176" y="16548"/>
                </a:lnTo>
                <a:lnTo>
                  <a:pt x="4701" y="10452"/>
                </a:lnTo>
                <a:moveTo>
                  <a:pt x="20202" y="5574"/>
                </a:moveTo>
                <a:lnTo>
                  <a:pt x="20711" y="5574"/>
                </a:lnTo>
                <a:lnTo>
                  <a:pt x="20711" y="7839"/>
                </a:lnTo>
                <a:lnTo>
                  <a:pt x="20202" y="7839"/>
                </a:lnTo>
                <a:lnTo>
                  <a:pt x="20202" y="5574"/>
                </a:lnTo>
                <a:moveTo>
                  <a:pt x="5972" y="14981"/>
                </a:moveTo>
                <a:lnTo>
                  <a:pt x="7496" y="14981"/>
                </a:lnTo>
                <a:lnTo>
                  <a:pt x="13341" y="14981"/>
                </a:lnTo>
                <a:lnTo>
                  <a:pt x="15247" y="14981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13" name="tower"/>
          <p:cNvSpPr>
            <a:spLocks noEditPoints="1" noChangeArrowheads="1"/>
          </p:cNvSpPr>
          <p:nvPr/>
        </p:nvSpPr>
        <p:spPr bwMode="auto">
          <a:xfrm>
            <a:off x="4402138" y="5740400"/>
            <a:ext cx="381000" cy="685800"/>
          </a:xfrm>
          <a:custGeom>
            <a:avLst/>
            <a:gdLst>
              <a:gd name="T0" fmla="*/ 0 w 21600"/>
              <a:gd name="T1" fmla="*/ 2184 h 21600"/>
              <a:gd name="T2" fmla="*/ 6664 w 21600"/>
              <a:gd name="T3" fmla="*/ 0 h 21600"/>
              <a:gd name="T4" fmla="*/ 10800 w 21600"/>
              <a:gd name="T5" fmla="*/ 0 h 21600"/>
              <a:gd name="T6" fmla="*/ 21600 w 21600"/>
              <a:gd name="T7" fmla="*/ 0 h 21600"/>
              <a:gd name="T8" fmla="*/ 21600 w 21600"/>
              <a:gd name="T9" fmla="*/ 11649 h 21600"/>
              <a:gd name="T10" fmla="*/ 21600 w 21600"/>
              <a:gd name="T11" fmla="*/ 19416 h 21600"/>
              <a:gd name="T12" fmla="*/ 15166 w 21600"/>
              <a:gd name="T13" fmla="*/ 21600 h 21600"/>
              <a:gd name="T14" fmla="*/ 10570 w 21600"/>
              <a:gd name="T15" fmla="*/ 21600 h 21600"/>
              <a:gd name="T16" fmla="*/ 0 w 21600"/>
              <a:gd name="T17" fmla="*/ 21600 h 21600"/>
              <a:gd name="T18" fmla="*/ 0 w 21600"/>
              <a:gd name="T19" fmla="*/ 11528 h 21600"/>
              <a:gd name="T20" fmla="*/ 459 w 21600"/>
              <a:gd name="T21" fmla="*/ 22540 h 21600"/>
              <a:gd name="T22" fmla="*/ 21485 w 21600"/>
              <a:gd name="T23" fmla="*/ 27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2184"/>
                </a:moveTo>
                <a:lnTo>
                  <a:pt x="6664" y="0"/>
                </a:lnTo>
                <a:lnTo>
                  <a:pt x="10800" y="0"/>
                </a:lnTo>
                <a:lnTo>
                  <a:pt x="21600" y="0"/>
                </a:lnTo>
                <a:lnTo>
                  <a:pt x="21600" y="11649"/>
                </a:lnTo>
                <a:lnTo>
                  <a:pt x="21600" y="19416"/>
                </a:lnTo>
                <a:lnTo>
                  <a:pt x="15166" y="21600"/>
                </a:lnTo>
                <a:lnTo>
                  <a:pt x="10570" y="21600"/>
                </a:lnTo>
                <a:lnTo>
                  <a:pt x="0" y="21600"/>
                </a:lnTo>
                <a:lnTo>
                  <a:pt x="0" y="11528"/>
                </a:lnTo>
                <a:lnTo>
                  <a:pt x="0" y="2184"/>
                </a:lnTo>
                <a:close/>
              </a:path>
              <a:path w="21600" h="21600" extrusionOk="0">
                <a:moveTo>
                  <a:pt x="0" y="2184"/>
                </a:moveTo>
                <a:lnTo>
                  <a:pt x="0" y="2184"/>
                </a:lnTo>
                <a:lnTo>
                  <a:pt x="14706" y="2184"/>
                </a:lnTo>
                <a:lnTo>
                  <a:pt x="21600" y="0"/>
                </a:lnTo>
                <a:moveTo>
                  <a:pt x="0" y="2184"/>
                </a:moveTo>
                <a:lnTo>
                  <a:pt x="14706" y="2184"/>
                </a:lnTo>
                <a:lnTo>
                  <a:pt x="14706" y="5339"/>
                </a:lnTo>
                <a:lnTo>
                  <a:pt x="14706" y="17474"/>
                </a:lnTo>
                <a:lnTo>
                  <a:pt x="14706" y="21600"/>
                </a:lnTo>
                <a:moveTo>
                  <a:pt x="1149" y="3034"/>
                </a:moveTo>
                <a:lnTo>
                  <a:pt x="13328" y="3034"/>
                </a:lnTo>
                <a:lnTo>
                  <a:pt x="13328" y="3519"/>
                </a:lnTo>
                <a:lnTo>
                  <a:pt x="1149" y="3519"/>
                </a:lnTo>
                <a:lnTo>
                  <a:pt x="1149" y="3034"/>
                </a:lnTo>
                <a:moveTo>
                  <a:pt x="1149" y="4490"/>
                </a:moveTo>
                <a:lnTo>
                  <a:pt x="13328" y="4490"/>
                </a:lnTo>
                <a:lnTo>
                  <a:pt x="13328" y="4854"/>
                </a:lnTo>
                <a:lnTo>
                  <a:pt x="1149" y="4854"/>
                </a:lnTo>
                <a:lnTo>
                  <a:pt x="1149" y="4490"/>
                </a:lnTo>
                <a:moveTo>
                  <a:pt x="1149" y="5946"/>
                </a:moveTo>
                <a:lnTo>
                  <a:pt x="13328" y="5946"/>
                </a:lnTo>
                <a:lnTo>
                  <a:pt x="13328" y="6310"/>
                </a:lnTo>
                <a:lnTo>
                  <a:pt x="1149" y="6310"/>
                </a:lnTo>
                <a:lnTo>
                  <a:pt x="1149" y="5946"/>
                </a:lnTo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14" name="Line 18"/>
          <p:cNvSpPr>
            <a:spLocks noChangeShapeType="1"/>
          </p:cNvSpPr>
          <p:nvPr/>
        </p:nvSpPr>
        <p:spPr bwMode="auto">
          <a:xfrm flipH="1">
            <a:off x="914400" y="4800600"/>
            <a:ext cx="0" cy="990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15" name="Line 19"/>
          <p:cNvSpPr>
            <a:spLocks noChangeShapeType="1"/>
          </p:cNvSpPr>
          <p:nvPr/>
        </p:nvSpPr>
        <p:spPr bwMode="auto">
          <a:xfrm flipH="1">
            <a:off x="2514600" y="4724400"/>
            <a:ext cx="0" cy="9144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16" name="Line 20"/>
          <p:cNvSpPr>
            <a:spLocks noChangeShapeType="1"/>
          </p:cNvSpPr>
          <p:nvPr/>
        </p:nvSpPr>
        <p:spPr bwMode="auto">
          <a:xfrm flipH="1">
            <a:off x="3810000" y="4800600"/>
            <a:ext cx="0" cy="990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17" name="Line 21"/>
          <p:cNvSpPr>
            <a:spLocks noChangeShapeType="1"/>
          </p:cNvSpPr>
          <p:nvPr/>
        </p:nvSpPr>
        <p:spPr bwMode="auto">
          <a:xfrm flipH="1">
            <a:off x="4800600" y="4800600"/>
            <a:ext cx="0" cy="838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18" name="Line 22"/>
          <p:cNvSpPr>
            <a:spLocks noChangeShapeType="1"/>
          </p:cNvSpPr>
          <p:nvPr/>
        </p:nvSpPr>
        <p:spPr bwMode="auto">
          <a:xfrm flipH="1">
            <a:off x="7315200" y="4800600"/>
            <a:ext cx="0" cy="838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19" name="Line 23"/>
          <p:cNvSpPr>
            <a:spLocks noChangeShapeType="1"/>
          </p:cNvSpPr>
          <p:nvPr/>
        </p:nvSpPr>
        <p:spPr bwMode="auto">
          <a:xfrm flipH="1">
            <a:off x="13716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20" name="Line 24"/>
          <p:cNvSpPr>
            <a:spLocks noChangeShapeType="1"/>
          </p:cNvSpPr>
          <p:nvPr/>
        </p:nvSpPr>
        <p:spPr bwMode="auto">
          <a:xfrm flipH="1">
            <a:off x="34290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21" name="Line 25"/>
          <p:cNvSpPr>
            <a:spLocks noChangeShapeType="1"/>
          </p:cNvSpPr>
          <p:nvPr/>
        </p:nvSpPr>
        <p:spPr bwMode="auto">
          <a:xfrm flipH="1">
            <a:off x="54864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22" name="Line 26"/>
          <p:cNvSpPr>
            <a:spLocks noChangeShapeType="1"/>
          </p:cNvSpPr>
          <p:nvPr/>
        </p:nvSpPr>
        <p:spPr bwMode="auto">
          <a:xfrm flipH="1">
            <a:off x="73914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23" name="Line 27"/>
          <p:cNvSpPr>
            <a:spLocks noChangeShapeType="1"/>
          </p:cNvSpPr>
          <p:nvPr/>
        </p:nvSpPr>
        <p:spPr bwMode="auto">
          <a:xfrm>
            <a:off x="381000" y="48006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24" name="Rectangle 28"/>
          <p:cNvSpPr>
            <a:spLocks noChangeArrowheads="1"/>
          </p:cNvSpPr>
          <p:nvPr/>
        </p:nvSpPr>
        <p:spPr bwMode="auto">
          <a:xfrm>
            <a:off x="533400" y="4800600"/>
            <a:ext cx="1447800" cy="304800"/>
          </a:xfrm>
          <a:prstGeom prst="rect">
            <a:avLst/>
          </a:prstGeom>
          <a:solidFill>
            <a:srgbClr val="FBD7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25" name="Rectangle 29"/>
          <p:cNvSpPr>
            <a:spLocks noChangeArrowheads="1"/>
          </p:cNvSpPr>
          <p:nvPr/>
        </p:nvSpPr>
        <p:spPr bwMode="auto">
          <a:xfrm>
            <a:off x="2133600" y="4800600"/>
            <a:ext cx="1066800" cy="304800"/>
          </a:xfrm>
          <a:prstGeom prst="rect">
            <a:avLst/>
          </a:prstGeom>
          <a:solidFill>
            <a:srgbClr val="FBD7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26" name="Rectangle 30"/>
          <p:cNvSpPr>
            <a:spLocks noChangeArrowheads="1"/>
          </p:cNvSpPr>
          <p:nvPr/>
        </p:nvSpPr>
        <p:spPr bwMode="auto">
          <a:xfrm>
            <a:off x="3429000" y="4800600"/>
            <a:ext cx="1066800" cy="304800"/>
          </a:xfrm>
          <a:prstGeom prst="rect">
            <a:avLst/>
          </a:prstGeom>
          <a:solidFill>
            <a:srgbClr val="FBD7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27" name="Rectangle 31"/>
          <p:cNvSpPr>
            <a:spLocks noChangeArrowheads="1"/>
          </p:cNvSpPr>
          <p:nvPr/>
        </p:nvSpPr>
        <p:spPr bwMode="auto">
          <a:xfrm>
            <a:off x="4724400" y="4800600"/>
            <a:ext cx="1143000" cy="304800"/>
          </a:xfrm>
          <a:prstGeom prst="rect">
            <a:avLst/>
          </a:prstGeom>
          <a:solidFill>
            <a:srgbClr val="FBD7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28" name="Rectangle 32"/>
          <p:cNvSpPr>
            <a:spLocks noChangeArrowheads="1"/>
          </p:cNvSpPr>
          <p:nvPr/>
        </p:nvSpPr>
        <p:spPr bwMode="auto">
          <a:xfrm>
            <a:off x="6019800" y="4800600"/>
            <a:ext cx="1981200" cy="304800"/>
          </a:xfrm>
          <a:prstGeom prst="rect">
            <a:avLst/>
          </a:prstGeom>
          <a:solidFill>
            <a:srgbClr val="FBD7A3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30" name="Rectangle 34"/>
          <p:cNvSpPr>
            <a:spLocks noChangeArrowheads="1"/>
          </p:cNvSpPr>
          <p:nvPr/>
        </p:nvSpPr>
        <p:spPr bwMode="auto">
          <a:xfrm>
            <a:off x="381000" y="3810000"/>
            <a:ext cx="8229600" cy="990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3331" name="Rectangle 35"/>
          <p:cNvSpPr>
            <a:spLocks noChangeArrowheads="1"/>
          </p:cNvSpPr>
          <p:nvPr/>
        </p:nvSpPr>
        <p:spPr bwMode="auto">
          <a:xfrm>
            <a:off x="533400" y="4191000"/>
            <a:ext cx="1447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Read/Write</a:t>
            </a:r>
          </a:p>
        </p:txBody>
      </p:sp>
      <p:sp>
        <p:nvSpPr>
          <p:cNvPr id="183332" name="Rectangle 36"/>
          <p:cNvSpPr>
            <a:spLocks noChangeArrowheads="1"/>
          </p:cNvSpPr>
          <p:nvPr/>
        </p:nvSpPr>
        <p:spPr bwMode="auto">
          <a:xfrm>
            <a:off x="2133600" y="4191000"/>
            <a:ext cx="1066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Standard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Output</a:t>
            </a:r>
          </a:p>
        </p:txBody>
      </p:sp>
      <p:sp>
        <p:nvSpPr>
          <p:cNvPr id="183333" name="Rectangle 37"/>
          <p:cNvSpPr>
            <a:spLocks noChangeArrowheads="1"/>
          </p:cNvSpPr>
          <p:nvPr/>
        </p:nvSpPr>
        <p:spPr bwMode="auto">
          <a:xfrm>
            <a:off x="3429000" y="4191000"/>
            <a:ext cx="1066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Device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Control</a:t>
            </a:r>
          </a:p>
        </p:txBody>
      </p:sp>
      <p:sp>
        <p:nvSpPr>
          <p:cNvPr id="183334" name="Rectangle 38"/>
          <p:cNvSpPr>
            <a:spLocks noChangeArrowheads="1"/>
          </p:cNvSpPr>
          <p:nvPr/>
        </p:nvSpPr>
        <p:spPr bwMode="auto">
          <a:xfrm>
            <a:off x="4724400" y="4191000"/>
            <a:ext cx="11430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File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System</a:t>
            </a:r>
          </a:p>
        </p:txBody>
      </p:sp>
      <p:sp>
        <p:nvSpPr>
          <p:cNvPr id="183335" name="Rectangle 39"/>
          <p:cNvSpPr>
            <a:spLocks noChangeArrowheads="1"/>
          </p:cNvSpPr>
          <p:nvPr/>
        </p:nvSpPr>
        <p:spPr bwMode="auto">
          <a:xfrm>
            <a:off x="6019800" y="4191000"/>
            <a:ext cx="19812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Communication</a:t>
            </a:r>
          </a:p>
        </p:txBody>
      </p:sp>
      <p:sp>
        <p:nvSpPr>
          <p:cNvPr id="183336" name="Text Box 40"/>
          <p:cNvSpPr txBox="1">
            <a:spLocks noChangeArrowheads="1"/>
          </p:cNvSpPr>
          <p:nvPr/>
        </p:nvSpPr>
        <p:spPr bwMode="auto">
          <a:xfrm>
            <a:off x="381000" y="3733800"/>
            <a:ext cx="28178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latin typeface="+mn-lt"/>
                <a:ea typeface="+mn-ea"/>
              </a:rPr>
              <a:t>Operating System</a:t>
            </a:r>
            <a:endParaRPr lang="en-US" sz="1600" dirty="0">
              <a:latin typeface="+mn-lt"/>
              <a:ea typeface="+mn-ea"/>
            </a:endParaRPr>
          </a:p>
        </p:txBody>
      </p:sp>
      <p:sp>
        <p:nvSpPr>
          <p:cNvPr id="183337" name="AutoShape 41"/>
          <p:cNvSpPr>
            <a:spLocks noChangeArrowheads="1"/>
          </p:cNvSpPr>
          <p:nvPr/>
        </p:nvSpPr>
        <p:spPr bwMode="auto">
          <a:xfrm>
            <a:off x="381000" y="3429000"/>
            <a:ext cx="8229600" cy="3810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381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 b="1" dirty="0">
                <a:latin typeface="+mn-lt"/>
                <a:ea typeface="+mn-ea"/>
              </a:rPr>
              <a:t>Standard Operating System Interface</a:t>
            </a:r>
          </a:p>
        </p:txBody>
      </p:sp>
      <p:pic>
        <p:nvPicPr>
          <p:cNvPr id="36907" name="Picture 4" descr="C:\Users\rhk\AppData\Local\Microsoft\Windows\Temporary Internet Files\Content.IE5\P0TC36KP\MCj03984470000[1].wm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5943600"/>
            <a:ext cx="83820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908" name="Picture 5" descr="C:\Users\rhk\AppData\Local\Microsoft\Windows\Temporary Internet Files\Content.IE5\6WDTZ2I7\MCj03984450000[1].wm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5818188"/>
            <a:ext cx="725488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6909" name="Straight Connector 48"/>
          <p:cNvCxnSpPr>
            <a:cxnSpLocks noChangeShapeType="1"/>
          </p:cNvCxnSpPr>
          <p:nvPr/>
        </p:nvCxnSpPr>
        <p:spPr bwMode="auto">
          <a:xfrm>
            <a:off x="228600" y="4800600"/>
            <a:ext cx="86106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Rectangle 49"/>
          <p:cNvSpPr/>
          <p:nvPr/>
        </p:nvSpPr>
        <p:spPr>
          <a:xfrm rot="16200000">
            <a:off x="-601663" y="3852863"/>
            <a:ext cx="1558925" cy="25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3300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050" b="1" dirty="0">
                <a:latin typeface="+mn-lt"/>
                <a:ea typeface="+mn-ea"/>
              </a:rPr>
              <a:t>Machine Independent</a:t>
            </a:r>
          </a:p>
        </p:txBody>
      </p:sp>
      <p:sp>
        <p:nvSpPr>
          <p:cNvPr id="51" name="Rectangle 50"/>
          <p:cNvSpPr/>
          <p:nvPr/>
        </p:nvSpPr>
        <p:spPr>
          <a:xfrm rot="16200000">
            <a:off x="-460375" y="5616575"/>
            <a:ext cx="1276350" cy="25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33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50" b="1" dirty="0">
                <a:latin typeface="+mn-lt"/>
                <a:ea typeface="+mn-ea"/>
              </a:rPr>
              <a:t>Machine Specific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 rot="16200000">
            <a:off x="-601663" y="3852863"/>
            <a:ext cx="1558925" cy="25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3300"/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050" b="1" dirty="0">
                <a:latin typeface="+mn-lt"/>
                <a:ea typeface="+mn-ea"/>
              </a:rPr>
              <a:t>Machine Independent</a:t>
            </a:r>
          </a:p>
        </p:txBody>
      </p:sp>
      <p:sp>
        <p:nvSpPr>
          <p:cNvPr id="56" name="Rectangle 55"/>
          <p:cNvSpPr/>
          <p:nvPr/>
        </p:nvSpPr>
        <p:spPr>
          <a:xfrm rot="16200000">
            <a:off x="-460375" y="5616575"/>
            <a:ext cx="1276350" cy="254000"/>
          </a:xfrm>
          <a:prstGeom prst="rect">
            <a:avLst/>
          </a:prstGeom>
          <a:solidFill>
            <a:schemeClr val="bg1"/>
          </a:solidFill>
          <a:ln w="19050">
            <a:solidFill>
              <a:srgbClr val="0033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1050" b="1" dirty="0">
                <a:latin typeface="+mn-lt"/>
                <a:ea typeface="+mn-ea"/>
              </a:rPr>
              <a:t>Machine Specific</a:t>
            </a:r>
          </a:p>
        </p:txBody>
      </p:sp>
      <p:sp>
        <p:nvSpPr>
          <p:cNvPr id="37892" name="Rectangle 49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sz="3600">
                <a:latin typeface="Arial" charset="0"/>
              </a:rPr>
              <a:t>OS Runs on Multiple Platforms</a:t>
            </a:r>
          </a:p>
        </p:txBody>
      </p:sp>
      <p:sp>
        <p:nvSpPr>
          <p:cNvPr id="3789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78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AB6EC849-C150-EB4F-A0D9-1EF977399A58}" type="slidenum">
              <a:rPr lang="en-US"/>
              <a:pPr/>
              <a:t>28</a:t>
            </a:fld>
            <a:endParaRPr lang="en-US"/>
          </a:p>
        </p:txBody>
      </p:sp>
      <p:sp>
        <p:nvSpPr>
          <p:cNvPr id="186370" name="Rectangle 2"/>
          <p:cNvSpPr>
            <a:spLocks noChangeArrowheads="1"/>
          </p:cNvSpPr>
          <p:nvPr/>
        </p:nvSpPr>
        <p:spPr bwMode="auto">
          <a:xfrm>
            <a:off x="381000" y="1828800"/>
            <a:ext cx="82296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72" name="Rectangle 4"/>
          <p:cNvSpPr>
            <a:spLocks noChangeArrowheads="1"/>
          </p:cNvSpPr>
          <p:nvPr/>
        </p:nvSpPr>
        <p:spPr bwMode="auto">
          <a:xfrm>
            <a:off x="5334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Firefox</a:t>
            </a:r>
            <a:endParaRPr lang="en-US" sz="2400" dirty="0">
              <a:latin typeface="+mn-lt"/>
              <a:ea typeface="+mn-ea"/>
            </a:endParaRPr>
          </a:p>
        </p:txBody>
      </p:sp>
      <p:sp>
        <p:nvSpPr>
          <p:cNvPr id="186373" name="Rectangle 5"/>
          <p:cNvSpPr>
            <a:spLocks noChangeArrowheads="1"/>
          </p:cNvSpPr>
          <p:nvPr/>
        </p:nvSpPr>
        <p:spPr bwMode="auto">
          <a:xfrm>
            <a:off x="25146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Second Life</a:t>
            </a:r>
          </a:p>
        </p:txBody>
      </p:sp>
      <p:sp>
        <p:nvSpPr>
          <p:cNvPr id="186374" name="Rectangle 6"/>
          <p:cNvSpPr>
            <a:spLocks noChangeArrowheads="1"/>
          </p:cNvSpPr>
          <p:nvPr/>
        </p:nvSpPr>
        <p:spPr bwMode="auto">
          <a:xfrm>
            <a:off x="45720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Yahoo</a:t>
            </a:r>
          </a:p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Chat</a:t>
            </a:r>
          </a:p>
        </p:txBody>
      </p:sp>
      <p:sp>
        <p:nvSpPr>
          <p:cNvPr id="186375" name="Rectangle 7"/>
          <p:cNvSpPr>
            <a:spLocks noChangeArrowheads="1"/>
          </p:cNvSpPr>
          <p:nvPr/>
        </p:nvSpPr>
        <p:spPr bwMode="auto">
          <a:xfrm>
            <a:off x="65532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 err="1">
                <a:latin typeface="+mn-lt"/>
                <a:ea typeface="Tahoma" pitchFamily="34" charset="0"/>
                <a:cs typeface="Tahoma" pitchFamily="34" charset="0"/>
              </a:rPr>
              <a:t>GMail</a:t>
            </a:r>
            <a:endParaRPr lang="en-US" sz="2400" dirty="0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86376" name="Text Box 8"/>
          <p:cNvSpPr txBox="1">
            <a:spLocks noChangeArrowheads="1"/>
          </p:cNvSpPr>
          <p:nvPr/>
        </p:nvSpPr>
        <p:spPr bwMode="auto">
          <a:xfrm>
            <a:off x="381000" y="1828800"/>
            <a:ext cx="3387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Application Software</a:t>
            </a:r>
          </a:p>
        </p:txBody>
      </p:sp>
      <p:sp>
        <p:nvSpPr>
          <p:cNvPr id="186377" name="Rectangle 9"/>
          <p:cNvSpPr>
            <a:spLocks noChangeArrowheads="1"/>
          </p:cNvSpPr>
          <p:nvPr/>
        </p:nvSpPr>
        <p:spPr bwMode="auto">
          <a:xfrm>
            <a:off x="381000" y="3810000"/>
            <a:ext cx="8229600" cy="15240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78" name="Rectangle 10"/>
          <p:cNvSpPr>
            <a:spLocks noChangeArrowheads="1"/>
          </p:cNvSpPr>
          <p:nvPr/>
        </p:nvSpPr>
        <p:spPr bwMode="auto">
          <a:xfrm>
            <a:off x="6096000" y="5562600"/>
            <a:ext cx="2514600" cy="8636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79" name="Text Box 11"/>
          <p:cNvSpPr txBox="1">
            <a:spLocks noChangeArrowheads="1"/>
          </p:cNvSpPr>
          <p:nvPr/>
        </p:nvSpPr>
        <p:spPr bwMode="auto">
          <a:xfrm>
            <a:off x="6076950" y="5511800"/>
            <a:ext cx="11953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>
                <a:latin typeface="+mn-lt"/>
                <a:ea typeface="+mn-ea"/>
              </a:rPr>
              <a:t>Network</a:t>
            </a:r>
          </a:p>
        </p:txBody>
      </p:sp>
      <p:sp>
        <p:nvSpPr>
          <p:cNvPr id="186380" name="Rectangle 12"/>
          <p:cNvSpPr>
            <a:spLocks noChangeArrowheads="1"/>
          </p:cNvSpPr>
          <p:nvPr/>
        </p:nvSpPr>
        <p:spPr bwMode="auto">
          <a:xfrm>
            <a:off x="381000" y="5588000"/>
            <a:ext cx="4629150" cy="863600"/>
          </a:xfrm>
          <a:prstGeom prst="rect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81" name="Text Box 13"/>
          <p:cNvSpPr txBox="1">
            <a:spLocks noChangeArrowheads="1"/>
          </p:cNvSpPr>
          <p:nvPr/>
        </p:nvSpPr>
        <p:spPr bwMode="auto">
          <a:xfrm>
            <a:off x="496888" y="5537200"/>
            <a:ext cx="13525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000" b="1">
                <a:latin typeface="+mn-lt"/>
                <a:ea typeface="+mn-ea"/>
              </a:rPr>
              <a:t>Hardware</a:t>
            </a:r>
          </a:p>
        </p:txBody>
      </p:sp>
      <p:sp>
        <p:nvSpPr>
          <p:cNvPr id="186386" name="Line 18"/>
          <p:cNvSpPr>
            <a:spLocks noChangeShapeType="1"/>
          </p:cNvSpPr>
          <p:nvPr/>
        </p:nvSpPr>
        <p:spPr bwMode="auto">
          <a:xfrm flipH="1">
            <a:off x="914400" y="4800600"/>
            <a:ext cx="0" cy="990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87" name="Line 19"/>
          <p:cNvSpPr>
            <a:spLocks noChangeShapeType="1"/>
          </p:cNvSpPr>
          <p:nvPr/>
        </p:nvSpPr>
        <p:spPr bwMode="auto">
          <a:xfrm flipH="1">
            <a:off x="2514600" y="4724400"/>
            <a:ext cx="0" cy="9144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88" name="Line 20"/>
          <p:cNvSpPr>
            <a:spLocks noChangeShapeType="1"/>
          </p:cNvSpPr>
          <p:nvPr/>
        </p:nvSpPr>
        <p:spPr bwMode="auto">
          <a:xfrm flipH="1">
            <a:off x="3657600" y="4800600"/>
            <a:ext cx="0" cy="9906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89" name="Line 21"/>
          <p:cNvSpPr>
            <a:spLocks noChangeShapeType="1"/>
          </p:cNvSpPr>
          <p:nvPr/>
        </p:nvSpPr>
        <p:spPr bwMode="auto">
          <a:xfrm flipH="1">
            <a:off x="4800600" y="4800600"/>
            <a:ext cx="0" cy="838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90" name="Line 22"/>
          <p:cNvSpPr>
            <a:spLocks noChangeShapeType="1"/>
          </p:cNvSpPr>
          <p:nvPr/>
        </p:nvSpPr>
        <p:spPr bwMode="auto">
          <a:xfrm flipH="1">
            <a:off x="7315200" y="4800600"/>
            <a:ext cx="0" cy="8382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91" name="Line 23"/>
          <p:cNvSpPr>
            <a:spLocks noChangeShapeType="1"/>
          </p:cNvSpPr>
          <p:nvPr/>
        </p:nvSpPr>
        <p:spPr bwMode="auto">
          <a:xfrm flipH="1">
            <a:off x="13716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92" name="Line 24"/>
          <p:cNvSpPr>
            <a:spLocks noChangeShapeType="1"/>
          </p:cNvSpPr>
          <p:nvPr/>
        </p:nvSpPr>
        <p:spPr bwMode="auto">
          <a:xfrm flipH="1">
            <a:off x="34290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93" name="Line 25"/>
          <p:cNvSpPr>
            <a:spLocks noChangeShapeType="1"/>
          </p:cNvSpPr>
          <p:nvPr/>
        </p:nvSpPr>
        <p:spPr bwMode="auto">
          <a:xfrm flipH="1">
            <a:off x="54864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94" name="Line 26"/>
          <p:cNvSpPr>
            <a:spLocks noChangeShapeType="1"/>
          </p:cNvSpPr>
          <p:nvPr/>
        </p:nvSpPr>
        <p:spPr bwMode="auto">
          <a:xfrm flipH="1">
            <a:off x="73914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95" name="Line 27"/>
          <p:cNvSpPr>
            <a:spLocks noChangeShapeType="1"/>
          </p:cNvSpPr>
          <p:nvPr/>
        </p:nvSpPr>
        <p:spPr bwMode="auto">
          <a:xfrm>
            <a:off x="381000" y="4800600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96" name="Rectangle 28"/>
          <p:cNvSpPr>
            <a:spLocks noChangeArrowheads="1"/>
          </p:cNvSpPr>
          <p:nvPr/>
        </p:nvSpPr>
        <p:spPr bwMode="auto">
          <a:xfrm>
            <a:off x="533400" y="4800600"/>
            <a:ext cx="1447800" cy="2286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97" name="Rectangle 29"/>
          <p:cNvSpPr>
            <a:spLocks noChangeArrowheads="1"/>
          </p:cNvSpPr>
          <p:nvPr/>
        </p:nvSpPr>
        <p:spPr bwMode="auto">
          <a:xfrm>
            <a:off x="2133600" y="4800600"/>
            <a:ext cx="1066800" cy="2286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98" name="Rectangle 30"/>
          <p:cNvSpPr>
            <a:spLocks noChangeArrowheads="1"/>
          </p:cNvSpPr>
          <p:nvPr/>
        </p:nvSpPr>
        <p:spPr bwMode="auto">
          <a:xfrm>
            <a:off x="3429000" y="4800600"/>
            <a:ext cx="1066800" cy="2286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399" name="Rectangle 31"/>
          <p:cNvSpPr>
            <a:spLocks noChangeArrowheads="1"/>
          </p:cNvSpPr>
          <p:nvPr/>
        </p:nvSpPr>
        <p:spPr bwMode="auto">
          <a:xfrm>
            <a:off x="4724400" y="4800600"/>
            <a:ext cx="1143000" cy="2286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400" name="Rectangle 32"/>
          <p:cNvSpPr>
            <a:spLocks noChangeArrowheads="1"/>
          </p:cNvSpPr>
          <p:nvPr/>
        </p:nvSpPr>
        <p:spPr bwMode="auto">
          <a:xfrm>
            <a:off x="6019800" y="4800600"/>
            <a:ext cx="1981200" cy="228600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402" name="Rectangle 34"/>
          <p:cNvSpPr>
            <a:spLocks noChangeArrowheads="1"/>
          </p:cNvSpPr>
          <p:nvPr/>
        </p:nvSpPr>
        <p:spPr bwMode="auto">
          <a:xfrm>
            <a:off x="381000" y="3810000"/>
            <a:ext cx="8229600" cy="990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403" name="Rectangle 35"/>
          <p:cNvSpPr>
            <a:spLocks noChangeArrowheads="1"/>
          </p:cNvSpPr>
          <p:nvPr/>
        </p:nvSpPr>
        <p:spPr bwMode="auto">
          <a:xfrm>
            <a:off x="533400" y="4191000"/>
            <a:ext cx="1447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Read/Write</a:t>
            </a:r>
          </a:p>
        </p:txBody>
      </p:sp>
      <p:sp>
        <p:nvSpPr>
          <p:cNvPr id="186404" name="Rectangle 36"/>
          <p:cNvSpPr>
            <a:spLocks noChangeArrowheads="1"/>
          </p:cNvSpPr>
          <p:nvPr/>
        </p:nvSpPr>
        <p:spPr bwMode="auto">
          <a:xfrm>
            <a:off x="2133600" y="4191000"/>
            <a:ext cx="1066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Standard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Output</a:t>
            </a:r>
          </a:p>
        </p:txBody>
      </p:sp>
      <p:sp>
        <p:nvSpPr>
          <p:cNvPr id="186405" name="Rectangle 37"/>
          <p:cNvSpPr>
            <a:spLocks noChangeArrowheads="1"/>
          </p:cNvSpPr>
          <p:nvPr/>
        </p:nvSpPr>
        <p:spPr bwMode="auto">
          <a:xfrm>
            <a:off x="3429000" y="4191000"/>
            <a:ext cx="1066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Device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Control</a:t>
            </a:r>
          </a:p>
        </p:txBody>
      </p:sp>
      <p:sp>
        <p:nvSpPr>
          <p:cNvPr id="186406" name="Rectangle 38"/>
          <p:cNvSpPr>
            <a:spLocks noChangeArrowheads="1"/>
          </p:cNvSpPr>
          <p:nvPr/>
        </p:nvSpPr>
        <p:spPr bwMode="auto">
          <a:xfrm>
            <a:off x="4724400" y="4191000"/>
            <a:ext cx="11430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File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System</a:t>
            </a:r>
          </a:p>
        </p:txBody>
      </p:sp>
      <p:sp>
        <p:nvSpPr>
          <p:cNvPr id="186407" name="Rectangle 39"/>
          <p:cNvSpPr>
            <a:spLocks noChangeArrowheads="1"/>
          </p:cNvSpPr>
          <p:nvPr/>
        </p:nvSpPr>
        <p:spPr bwMode="auto">
          <a:xfrm>
            <a:off x="6019800" y="4191000"/>
            <a:ext cx="19812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Communication</a:t>
            </a:r>
          </a:p>
        </p:txBody>
      </p:sp>
      <p:sp>
        <p:nvSpPr>
          <p:cNvPr id="186408" name="Text Box 40"/>
          <p:cNvSpPr txBox="1">
            <a:spLocks noChangeArrowheads="1"/>
          </p:cNvSpPr>
          <p:nvPr/>
        </p:nvSpPr>
        <p:spPr bwMode="auto">
          <a:xfrm>
            <a:off x="381000" y="3733800"/>
            <a:ext cx="28178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latin typeface="+mn-lt"/>
                <a:ea typeface="+mn-ea"/>
              </a:rPr>
              <a:t>Operating System</a:t>
            </a:r>
            <a:endParaRPr lang="en-US" sz="1600" dirty="0">
              <a:latin typeface="+mn-lt"/>
              <a:ea typeface="+mn-ea"/>
            </a:endParaRPr>
          </a:p>
        </p:txBody>
      </p:sp>
      <p:sp>
        <p:nvSpPr>
          <p:cNvPr id="186409" name="AutoShape 41"/>
          <p:cNvSpPr>
            <a:spLocks noChangeArrowheads="1"/>
          </p:cNvSpPr>
          <p:nvPr/>
        </p:nvSpPr>
        <p:spPr bwMode="auto">
          <a:xfrm>
            <a:off x="381000" y="3429000"/>
            <a:ext cx="8229600" cy="381000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38100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 b="1" dirty="0">
                <a:latin typeface="+mn-lt"/>
                <a:ea typeface="+mn-ea"/>
              </a:rPr>
              <a:t>Standard Operating System Interface</a:t>
            </a:r>
          </a:p>
        </p:txBody>
      </p:sp>
      <p:pic>
        <p:nvPicPr>
          <p:cNvPr id="37929" name="Picture 44" descr="j01964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" y="5892800"/>
            <a:ext cx="4984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30" name="Picture 45" descr="j020558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950" y="5588000"/>
            <a:ext cx="914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6414" name="chair1"/>
          <p:cNvSpPr>
            <a:spLocks noEditPoints="1" noChangeArrowheads="1"/>
          </p:cNvSpPr>
          <p:nvPr/>
        </p:nvSpPr>
        <p:spPr bwMode="auto">
          <a:xfrm>
            <a:off x="3257550" y="5816600"/>
            <a:ext cx="600075" cy="523875"/>
          </a:xfrm>
          <a:custGeom>
            <a:avLst/>
            <a:gdLst>
              <a:gd name="T0" fmla="*/ 10800 w 21600"/>
              <a:gd name="T1" fmla="*/ 0 h 21600"/>
              <a:gd name="T2" fmla="*/ 21600 w 21600"/>
              <a:gd name="T3" fmla="*/ 10800 h 21600"/>
              <a:gd name="T4" fmla="*/ 10800 w 21600"/>
              <a:gd name="T5" fmla="*/ 21600 h 21600"/>
              <a:gd name="T6" fmla="*/ 0 w 21600"/>
              <a:gd name="T7" fmla="*/ 10800 h 21600"/>
              <a:gd name="T8" fmla="*/ 1593 w 21600"/>
              <a:gd name="T9" fmla="*/ 7848 h 21600"/>
              <a:gd name="T10" fmla="*/ 20317 w 21600"/>
              <a:gd name="T11" fmla="*/ 17575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7752" y="5993"/>
                </a:moveTo>
                <a:lnTo>
                  <a:pt x="13862" y="5993"/>
                </a:lnTo>
                <a:lnTo>
                  <a:pt x="13862" y="3443"/>
                </a:lnTo>
                <a:lnTo>
                  <a:pt x="18455" y="3443"/>
                </a:lnTo>
                <a:lnTo>
                  <a:pt x="18952" y="3443"/>
                </a:lnTo>
                <a:lnTo>
                  <a:pt x="19448" y="3354"/>
                </a:lnTo>
                <a:lnTo>
                  <a:pt x="19697" y="3220"/>
                </a:lnTo>
                <a:lnTo>
                  <a:pt x="20234" y="3041"/>
                </a:lnTo>
                <a:lnTo>
                  <a:pt x="20566" y="2817"/>
                </a:lnTo>
                <a:lnTo>
                  <a:pt x="20731" y="2460"/>
                </a:lnTo>
                <a:lnTo>
                  <a:pt x="20897" y="2102"/>
                </a:lnTo>
                <a:lnTo>
                  <a:pt x="20897" y="1744"/>
                </a:lnTo>
                <a:lnTo>
                  <a:pt x="20897" y="1431"/>
                </a:lnTo>
                <a:lnTo>
                  <a:pt x="20731" y="1073"/>
                </a:lnTo>
                <a:lnTo>
                  <a:pt x="20566" y="716"/>
                </a:lnTo>
                <a:lnTo>
                  <a:pt x="20234" y="492"/>
                </a:lnTo>
                <a:lnTo>
                  <a:pt x="19697" y="224"/>
                </a:lnTo>
                <a:lnTo>
                  <a:pt x="19448" y="134"/>
                </a:lnTo>
                <a:lnTo>
                  <a:pt x="18952" y="0"/>
                </a:lnTo>
                <a:lnTo>
                  <a:pt x="18455" y="0"/>
                </a:lnTo>
                <a:lnTo>
                  <a:pt x="10966" y="0"/>
                </a:lnTo>
                <a:lnTo>
                  <a:pt x="3641" y="0"/>
                </a:lnTo>
                <a:lnTo>
                  <a:pt x="3145" y="0"/>
                </a:lnTo>
                <a:lnTo>
                  <a:pt x="2648" y="134"/>
                </a:lnTo>
                <a:lnTo>
                  <a:pt x="2276" y="224"/>
                </a:lnTo>
                <a:lnTo>
                  <a:pt x="1945" y="492"/>
                </a:lnTo>
                <a:lnTo>
                  <a:pt x="1697" y="716"/>
                </a:lnTo>
                <a:lnTo>
                  <a:pt x="1366" y="1073"/>
                </a:lnTo>
                <a:lnTo>
                  <a:pt x="1200" y="1431"/>
                </a:lnTo>
                <a:lnTo>
                  <a:pt x="1200" y="1744"/>
                </a:lnTo>
                <a:lnTo>
                  <a:pt x="1200" y="2102"/>
                </a:lnTo>
                <a:lnTo>
                  <a:pt x="1366" y="2460"/>
                </a:lnTo>
                <a:lnTo>
                  <a:pt x="1697" y="2817"/>
                </a:lnTo>
                <a:lnTo>
                  <a:pt x="1945" y="3041"/>
                </a:lnTo>
                <a:lnTo>
                  <a:pt x="2276" y="3220"/>
                </a:lnTo>
                <a:lnTo>
                  <a:pt x="2648" y="3354"/>
                </a:lnTo>
                <a:lnTo>
                  <a:pt x="3145" y="3443"/>
                </a:lnTo>
                <a:lnTo>
                  <a:pt x="3641" y="3443"/>
                </a:lnTo>
                <a:lnTo>
                  <a:pt x="8152" y="3443"/>
                </a:lnTo>
                <a:lnTo>
                  <a:pt x="8152" y="5993"/>
                </a:lnTo>
                <a:lnTo>
                  <a:pt x="3890" y="5993"/>
                </a:lnTo>
                <a:lnTo>
                  <a:pt x="3145" y="6127"/>
                </a:lnTo>
                <a:lnTo>
                  <a:pt x="2276" y="6306"/>
                </a:lnTo>
                <a:lnTo>
                  <a:pt x="1697" y="6663"/>
                </a:lnTo>
                <a:lnTo>
                  <a:pt x="1200" y="7155"/>
                </a:lnTo>
                <a:lnTo>
                  <a:pt x="662" y="7737"/>
                </a:lnTo>
                <a:lnTo>
                  <a:pt x="166" y="8273"/>
                </a:lnTo>
                <a:lnTo>
                  <a:pt x="0" y="8989"/>
                </a:lnTo>
                <a:lnTo>
                  <a:pt x="0" y="9525"/>
                </a:lnTo>
                <a:lnTo>
                  <a:pt x="0" y="10822"/>
                </a:lnTo>
                <a:lnTo>
                  <a:pt x="0" y="15831"/>
                </a:lnTo>
                <a:lnTo>
                  <a:pt x="166" y="16547"/>
                </a:lnTo>
                <a:lnTo>
                  <a:pt x="662" y="17307"/>
                </a:lnTo>
                <a:lnTo>
                  <a:pt x="1697" y="18380"/>
                </a:lnTo>
                <a:lnTo>
                  <a:pt x="2814" y="19275"/>
                </a:lnTo>
                <a:lnTo>
                  <a:pt x="3641" y="19766"/>
                </a:lnTo>
                <a:lnTo>
                  <a:pt x="4428" y="20169"/>
                </a:lnTo>
                <a:lnTo>
                  <a:pt x="5421" y="20527"/>
                </a:lnTo>
                <a:lnTo>
                  <a:pt x="6372" y="20884"/>
                </a:lnTo>
                <a:lnTo>
                  <a:pt x="7572" y="21242"/>
                </a:lnTo>
                <a:lnTo>
                  <a:pt x="8648" y="21466"/>
                </a:lnTo>
                <a:lnTo>
                  <a:pt x="9766" y="21600"/>
                </a:lnTo>
                <a:lnTo>
                  <a:pt x="11131" y="21600"/>
                </a:lnTo>
                <a:lnTo>
                  <a:pt x="12414" y="21600"/>
                </a:lnTo>
                <a:lnTo>
                  <a:pt x="13779" y="21466"/>
                </a:lnTo>
                <a:lnTo>
                  <a:pt x="14855" y="21242"/>
                </a:lnTo>
                <a:lnTo>
                  <a:pt x="15807" y="20884"/>
                </a:lnTo>
                <a:lnTo>
                  <a:pt x="16841" y="20527"/>
                </a:lnTo>
                <a:lnTo>
                  <a:pt x="17669" y="20169"/>
                </a:lnTo>
                <a:lnTo>
                  <a:pt x="18455" y="19766"/>
                </a:lnTo>
                <a:lnTo>
                  <a:pt x="19117" y="19275"/>
                </a:lnTo>
                <a:lnTo>
                  <a:pt x="20234" y="18380"/>
                </a:lnTo>
                <a:lnTo>
                  <a:pt x="21062" y="17307"/>
                </a:lnTo>
                <a:lnTo>
                  <a:pt x="21600" y="16547"/>
                </a:lnTo>
                <a:lnTo>
                  <a:pt x="21600" y="15831"/>
                </a:lnTo>
                <a:lnTo>
                  <a:pt x="21600" y="10733"/>
                </a:lnTo>
                <a:lnTo>
                  <a:pt x="21600" y="9525"/>
                </a:lnTo>
                <a:lnTo>
                  <a:pt x="21600" y="8989"/>
                </a:lnTo>
                <a:lnTo>
                  <a:pt x="21434" y="8273"/>
                </a:lnTo>
                <a:lnTo>
                  <a:pt x="21062" y="7737"/>
                </a:lnTo>
                <a:lnTo>
                  <a:pt x="20566" y="7155"/>
                </a:lnTo>
                <a:lnTo>
                  <a:pt x="19903" y="6663"/>
                </a:lnTo>
                <a:lnTo>
                  <a:pt x="19283" y="6306"/>
                </a:lnTo>
                <a:lnTo>
                  <a:pt x="18621" y="6127"/>
                </a:lnTo>
                <a:lnTo>
                  <a:pt x="17752" y="5993"/>
                </a:lnTo>
                <a:close/>
              </a:path>
              <a:path w="21600" h="21600" extrusionOk="0">
                <a:moveTo>
                  <a:pt x="8152" y="3443"/>
                </a:moveTo>
                <a:lnTo>
                  <a:pt x="13862" y="3443"/>
                </a:lnTo>
              </a:path>
              <a:path w="21600" h="21600" extrusionOk="0">
                <a:moveTo>
                  <a:pt x="8152" y="5993"/>
                </a:moveTo>
                <a:lnTo>
                  <a:pt x="13862" y="5993"/>
                </a:lnTo>
              </a:path>
            </a:pathLst>
          </a:custGeom>
          <a:solidFill>
            <a:srgbClr val="CCCC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6415" name="modem"/>
          <p:cNvSpPr>
            <a:spLocks noEditPoints="1" noChangeArrowheads="1"/>
          </p:cNvSpPr>
          <p:nvPr/>
        </p:nvSpPr>
        <p:spPr bwMode="auto">
          <a:xfrm>
            <a:off x="4062413" y="5892800"/>
            <a:ext cx="828675" cy="304800"/>
          </a:xfrm>
          <a:custGeom>
            <a:avLst/>
            <a:gdLst>
              <a:gd name="T0" fmla="*/ 0 w 21600"/>
              <a:gd name="T1" fmla="*/ 5152 h 21600"/>
              <a:gd name="T2" fmla="*/ 2941 w 21600"/>
              <a:gd name="T3" fmla="*/ 0 h 21600"/>
              <a:gd name="T4" fmla="*/ 18625 w 21600"/>
              <a:gd name="T5" fmla="*/ 0 h 21600"/>
              <a:gd name="T6" fmla="*/ 21600 w 21600"/>
              <a:gd name="T7" fmla="*/ 5152 h 21600"/>
              <a:gd name="T8" fmla="*/ 21600 w 21600"/>
              <a:gd name="T9" fmla="*/ 21600 h 21600"/>
              <a:gd name="T10" fmla="*/ 0 w 21600"/>
              <a:gd name="T11" fmla="*/ 21600 h 21600"/>
              <a:gd name="T12" fmla="*/ 10800 w 21600"/>
              <a:gd name="T13" fmla="*/ 0 h 21600"/>
              <a:gd name="T14" fmla="*/ 10800 w 21600"/>
              <a:gd name="T15" fmla="*/ 21600 h 21600"/>
              <a:gd name="T16" fmla="*/ 0 w 21600"/>
              <a:gd name="T17" fmla="*/ 13376 h 21600"/>
              <a:gd name="T18" fmla="*/ 21600 w 21600"/>
              <a:gd name="T19" fmla="*/ 13376 h 21600"/>
              <a:gd name="T20" fmla="*/ 400 w 21600"/>
              <a:gd name="T21" fmla="*/ 22400 h 21600"/>
              <a:gd name="T22" fmla="*/ 21200 w 21600"/>
              <a:gd name="T23" fmla="*/ 300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 extrusionOk="0">
                <a:moveTo>
                  <a:pt x="0" y="5152"/>
                </a:moveTo>
                <a:lnTo>
                  <a:pt x="2941" y="0"/>
                </a:lnTo>
                <a:lnTo>
                  <a:pt x="18625" y="0"/>
                </a:lnTo>
                <a:lnTo>
                  <a:pt x="21600" y="5152"/>
                </a:lnTo>
                <a:lnTo>
                  <a:pt x="21600" y="21600"/>
                </a:lnTo>
                <a:lnTo>
                  <a:pt x="0" y="21600"/>
                </a:lnTo>
                <a:lnTo>
                  <a:pt x="0" y="5152"/>
                </a:lnTo>
                <a:close/>
              </a:path>
              <a:path w="21600" h="21600" extrusionOk="0">
                <a:moveTo>
                  <a:pt x="0" y="5251"/>
                </a:moveTo>
                <a:lnTo>
                  <a:pt x="21600" y="5251"/>
                </a:lnTo>
                <a:moveTo>
                  <a:pt x="1961" y="11791"/>
                </a:moveTo>
                <a:lnTo>
                  <a:pt x="1961" y="14268"/>
                </a:lnTo>
                <a:lnTo>
                  <a:pt x="2806" y="14268"/>
                </a:lnTo>
                <a:lnTo>
                  <a:pt x="2806" y="11791"/>
                </a:lnTo>
                <a:lnTo>
                  <a:pt x="1961" y="11791"/>
                </a:lnTo>
                <a:close/>
              </a:path>
              <a:path w="21600" h="21600" extrusionOk="0">
                <a:moveTo>
                  <a:pt x="3685" y="11791"/>
                </a:moveTo>
                <a:lnTo>
                  <a:pt x="3685" y="14268"/>
                </a:lnTo>
                <a:lnTo>
                  <a:pt x="4530" y="14268"/>
                </a:lnTo>
                <a:lnTo>
                  <a:pt x="4530" y="11791"/>
                </a:lnTo>
                <a:lnTo>
                  <a:pt x="3685" y="11791"/>
                </a:lnTo>
                <a:close/>
              </a:path>
              <a:path w="21600" h="21600" extrusionOk="0">
                <a:moveTo>
                  <a:pt x="5408" y="11791"/>
                </a:moveTo>
                <a:lnTo>
                  <a:pt x="5408" y="14268"/>
                </a:lnTo>
                <a:lnTo>
                  <a:pt x="6254" y="14268"/>
                </a:lnTo>
                <a:lnTo>
                  <a:pt x="6254" y="11791"/>
                </a:lnTo>
                <a:lnTo>
                  <a:pt x="5408" y="11791"/>
                </a:lnTo>
                <a:close/>
              </a:path>
              <a:path w="21600" h="21600" extrusionOk="0">
                <a:moveTo>
                  <a:pt x="7132" y="11791"/>
                </a:moveTo>
                <a:lnTo>
                  <a:pt x="7132" y="14268"/>
                </a:lnTo>
                <a:lnTo>
                  <a:pt x="7977" y="14268"/>
                </a:lnTo>
                <a:lnTo>
                  <a:pt x="7977" y="11791"/>
                </a:lnTo>
                <a:lnTo>
                  <a:pt x="7132" y="11791"/>
                </a:lnTo>
                <a:close/>
              </a:path>
            </a:pathLst>
          </a:custGeom>
          <a:solidFill>
            <a:srgbClr val="C0C0C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pic>
        <p:nvPicPr>
          <p:cNvPr id="37933" name="Picture 2" descr="C:\Users\rhk\AppData\Local\Microsoft\Windows\Temporary Internet Files\Content.IE5\ZH981N7S\MCj03984990000[1].wm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5715000"/>
            <a:ext cx="609600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934" name="Picture 3" descr="C:\Users\rhk\AppData\Local\Microsoft\Windows\Temporary Internet Files\Content.IE5\ZH981N7S\MCj04348450000[1]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5867400"/>
            <a:ext cx="5524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7935" name="Straight Connector 49"/>
          <p:cNvCxnSpPr>
            <a:cxnSpLocks noChangeShapeType="1"/>
          </p:cNvCxnSpPr>
          <p:nvPr/>
        </p:nvCxnSpPr>
        <p:spPr bwMode="auto">
          <a:xfrm>
            <a:off x="228600" y="4800600"/>
            <a:ext cx="86106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228600" y="3276600"/>
            <a:ext cx="8610600" cy="1524000"/>
          </a:xfrm>
          <a:prstGeom prst="rect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>
              <a:latin typeface="Arial" charset="0"/>
            </a:endParaRPr>
          </a:p>
        </p:txBody>
      </p:sp>
      <p:sp>
        <p:nvSpPr>
          <p:cNvPr id="52" name="Rectangle 51"/>
          <p:cNvSpPr/>
          <p:nvPr/>
        </p:nvSpPr>
        <p:spPr>
          <a:xfrm rot="21159112">
            <a:off x="2811463" y="3733800"/>
            <a:ext cx="2720975" cy="523875"/>
          </a:xfrm>
          <a:prstGeom prst="rect">
            <a:avLst/>
          </a:prstGeom>
          <a:solidFill>
            <a:schemeClr val="bg1"/>
          </a:solidFill>
          <a:ln w="57150">
            <a:solidFill>
              <a:srgbClr val="003300"/>
            </a:solidFill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800" dirty="0">
                <a:latin typeface="+mn-lt"/>
                <a:ea typeface="+mn-ea"/>
              </a:rPr>
              <a:t>Same Interface!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>
                <a:latin typeface="Arial" charset="0"/>
              </a:rPr>
              <a:t>POSIX </a:t>
            </a:r>
            <a:br>
              <a:rPr lang="en-US">
                <a:latin typeface="Arial" charset="0"/>
              </a:rPr>
            </a:br>
            <a:r>
              <a:rPr lang="en-US">
                <a:latin typeface="Arial" charset="0"/>
              </a:rPr>
              <a:t>The UNIX Interface Standard</a:t>
            </a:r>
          </a:p>
        </p:txBody>
      </p:sp>
      <p:sp>
        <p:nvSpPr>
          <p:cNvPr id="3891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389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BB47B47-F469-D148-B198-713A0913F798}" type="slidenum">
              <a:rPr lang="en-US"/>
              <a:pPr/>
              <a:t>29</a:t>
            </a:fld>
            <a:endParaRPr lang="en-US"/>
          </a:p>
        </p:txBody>
      </p:sp>
      <p:sp>
        <p:nvSpPr>
          <p:cNvPr id="184322" name="Rectangle 2"/>
          <p:cNvSpPr>
            <a:spLocks noChangeArrowheads="1"/>
          </p:cNvSpPr>
          <p:nvPr/>
        </p:nvSpPr>
        <p:spPr bwMode="auto">
          <a:xfrm>
            <a:off x="381000" y="1828800"/>
            <a:ext cx="8229600" cy="12954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4324" name="Rectangle 4"/>
          <p:cNvSpPr>
            <a:spLocks noChangeArrowheads="1"/>
          </p:cNvSpPr>
          <p:nvPr/>
        </p:nvSpPr>
        <p:spPr bwMode="auto">
          <a:xfrm>
            <a:off x="5334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>
                <a:latin typeface="+mn-lt"/>
                <a:ea typeface="Tahoma" pitchFamily="34" charset="0"/>
                <a:cs typeface="Tahoma" pitchFamily="34" charset="0"/>
              </a:rPr>
              <a:t>Firefox</a:t>
            </a:r>
            <a:endParaRPr lang="en-US" sz="2400" dirty="0">
              <a:latin typeface="+mn-lt"/>
              <a:ea typeface="+mn-ea"/>
            </a:endParaRPr>
          </a:p>
        </p:txBody>
      </p:sp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25146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Second Life</a:t>
            </a:r>
          </a:p>
        </p:txBody>
      </p:sp>
      <p:sp>
        <p:nvSpPr>
          <p:cNvPr id="184326" name="Rectangle 6"/>
          <p:cNvSpPr>
            <a:spLocks noChangeArrowheads="1"/>
          </p:cNvSpPr>
          <p:nvPr/>
        </p:nvSpPr>
        <p:spPr bwMode="auto">
          <a:xfrm>
            <a:off x="45720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Yahoo</a:t>
            </a:r>
          </a:p>
          <a:p>
            <a:pPr algn="ctr">
              <a:defRPr/>
            </a:pPr>
            <a:r>
              <a:rPr lang="en-US" sz="2400">
                <a:latin typeface="+mn-lt"/>
                <a:ea typeface="+mn-ea"/>
              </a:rPr>
              <a:t>Chat</a:t>
            </a:r>
          </a:p>
        </p:txBody>
      </p:sp>
      <p:sp>
        <p:nvSpPr>
          <p:cNvPr id="184327" name="Rectangle 7"/>
          <p:cNvSpPr>
            <a:spLocks noChangeArrowheads="1"/>
          </p:cNvSpPr>
          <p:nvPr/>
        </p:nvSpPr>
        <p:spPr bwMode="auto">
          <a:xfrm>
            <a:off x="6553200" y="2286000"/>
            <a:ext cx="17526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dirty="0" err="1">
                <a:latin typeface="+mn-lt"/>
                <a:ea typeface="Tahoma" pitchFamily="34" charset="0"/>
                <a:cs typeface="Tahoma" pitchFamily="34" charset="0"/>
              </a:rPr>
              <a:t>GMail</a:t>
            </a:r>
            <a:endParaRPr lang="en-US" sz="2400" dirty="0">
              <a:latin typeface="+mn-lt"/>
              <a:ea typeface="Tahoma" pitchFamily="34" charset="0"/>
              <a:cs typeface="Tahoma" pitchFamily="34" charset="0"/>
            </a:endParaRPr>
          </a:p>
        </p:txBody>
      </p:sp>
      <p:sp>
        <p:nvSpPr>
          <p:cNvPr id="184328" name="Text Box 8"/>
          <p:cNvSpPr txBox="1">
            <a:spLocks noChangeArrowheads="1"/>
          </p:cNvSpPr>
          <p:nvPr/>
        </p:nvSpPr>
        <p:spPr bwMode="auto">
          <a:xfrm>
            <a:off x="381000" y="1828800"/>
            <a:ext cx="33877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>
                <a:latin typeface="+mn-lt"/>
                <a:ea typeface="+mn-ea"/>
              </a:rPr>
              <a:t>Application Software</a:t>
            </a:r>
          </a:p>
        </p:txBody>
      </p:sp>
      <p:sp>
        <p:nvSpPr>
          <p:cNvPr id="184354" name="Rectangle 34"/>
          <p:cNvSpPr>
            <a:spLocks noChangeArrowheads="1"/>
          </p:cNvSpPr>
          <p:nvPr/>
        </p:nvSpPr>
        <p:spPr bwMode="auto">
          <a:xfrm>
            <a:off x="381000" y="3810000"/>
            <a:ext cx="8229600" cy="990600"/>
          </a:xfrm>
          <a:prstGeom prst="rect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184355" name="Rectangle 35"/>
          <p:cNvSpPr>
            <a:spLocks noChangeArrowheads="1"/>
          </p:cNvSpPr>
          <p:nvPr/>
        </p:nvSpPr>
        <p:spPr bwMode="auto">
          <a:xfrm>
            <a:off x="533400" y="4191000"/>
            <a:ext cx="1447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Read/Write</a:t>
            </a:r>
          </a:p>
        </p:txBody>
      </p:sp>
      <p:sp>
        <p:nvSpPr>
          <p:cNvPr id="184356" name="Rectangle 36"/>
          <p:cNvSpPr>
            <a:spLocks noChangeArrowheads="1"/>
          </p:cNvSpPr>
          <p:nvPr/>
        </p:nvSpPr>
        <p:spPr bwMode="auto">
          <a:xfrm>
            <a:off x="2133600" y="4191000"/>
            <a:ext cx="1066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Standard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Output</a:t>
            </a:r>
          </a:p>
        </p:txBody>
      </p:sp>
      <p:sp>
        <p:nvSpPr>
          <p:cNvPr id="184357" name="Rectangle 37"/>
          <p:cNvSpPr>
            <a:spLocks noChangeArrowheads="1"/>
          </p:cNvSpPr>
          <p:nvPr/>
        </p:nvSpPr>
        <p:spPr bwMode="auto">
          <a:xfrm>
            <a:off x="3429000" y="4191000"/>
            <a:ext cx="10668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Device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Control</a:t>
            </a:r>
          </a:p>
        </p:txBody>
      </p:sp>
      <p:sp>
        <p:nvSpPr>
          <p:cNvPr id="184358" name="Rectangle 38"/>
          <p:cNvSpPr>
            <a:spLocks noChangeArrowheads="1"/>
          </p:cNvSpPr>
          <p:nvPr/>
        </p:nvSpPr>
        <p:spPr bwMode="auto">
          <a:xfrm>
            <a:off x="4724400" y="4191000"/>
            <a:ext cx="11430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File</a:t>
            </a:r>
          </a:p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System</a:t>
            </a:r>
          </a:p>
        </p:txBody>
      </p:sp>
      <p:sp>
        <p:nvSpPr>
          <p:cNvPr id="184359" name="Rectangle 39"/>
          <p:cNvSpPr>
            <a:spLocks noChangeArrowheads="1"/>
          </p:cNvSpPr>
          <p:nvPr/>
        </p:nvSpPr>
        <p:spPr bwMode="auto">
          <a:xfrm>
            <a:off x="6019800" y="4191000"/>
            <a:ext cx="1981200" cy="6096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>
                <a:latin typeface="+mn-lt"/>
                <a:ea typeface="+mn-ea"/>
              </a:rPr>
              <a:t>Communication</a:t>
            </a:r>
          </a:p>
        </p:txBody>
      </p:sp>
      <p:sp>
        <p:nvSpPr>
          <p:cNvPr id="184360" name="Text Box 40"/>
          <p:cNvSpPr txBox="1">
            <a:spLocks noChangeArrowheads="1"/>
          </p:cNvSpPr>
          <p:nvPr/>
        </p:nvSpPr>
        <p:spPr bwMode="auto">
          <a:xfrm>
            <a:off x="381000" y="3733800"/>
            <a:ext cx="850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b="1" dirty="0">
                <a:latin typeface="+mn-lt"/>
                <a:ea typeface="+mn-ea"/>
              </a:rPr>
              <a:t>Unix</a:t>
            </a:r>
            <a:endParaRPr lang="en-US" sz="1600" dirty="0">
              <a:latin typeface="+mn-lt"/>
              <a:ea typeface="+mn-ea"/>
            </a:endParaRPr>
          </a:p>
        </p:txBody>
      </p:sp>
      <p:sp>
        <p:nvSpPr>
          <p:cNvPr id="184361" name="AutoShape 41"/>
          <p:cNvSpPr>
            <a:spLocks noChangeArrowheads="1"/>
          </p:cNvSpPr>
          <p:nvPr/>
        </p:nvSpPr>
        <p:spPr bwMode="auto">
          <a:xfrm>
            <a:off x="381000" y="3429000"/>
            <a:ext cx="8229600" cy="381000"/>
          </a:xfrm>
          <a:prstGeom prst="roundRect">
            <a:avLst>
              <a:gd name="adj" fmla="val 16667"/>
            </a:avLst>
          </a:prstGeom>
          <a:solidFill>
            <a:srgbClr val="99FF99"/>
          </a:solidFill>
          <a:ln w="57150">
            <a:solidFill>
              <a:srgbClr val="0033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000" b="1" dirty="0">
                <a:latin typeface="+mn-lt"/>
                <a:ea typeface="+mn-ea"/>
              </a:rPr>
              <a:t>POSIX Standard Interface</a:t>
            </a:r>
          </a:p>
        </p:txBody>
      </p:sp>
      <p:sp>
        <p:nvSpPr>
          <p:cNvPr id="50" name="Line 23"/>
          <p:cNvSpPr>
            <a:spLocks noChangeShapeType="1"/>
          </p:cNvSpPr>
          <p:nvPr/>
        </p:nvSpPr>
        <p:spPr bwMode="auto">
          <a:xfrm flipH="1">
            <a:off x="13716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51" name="Line 24"/>
          <p:cNvSpPr>
            <a:spLocks noChangeShapeType="1"/>
          </p:cNvSpPr>
          <p:nvPr/>
        </p:nvSpPr>
        <p:spPr bwMode="auto">
          <a:xfrm flipH="1">
            <a:off x="34290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52" name="Line 25"/>
          <p:cNvSpPr>
            <a:spLocks noChangeShapeType="1"/>
          </p:cNvSpPr>
          <p:nvPr/>
        </p:nvSpPr>
        <p:spPr bwMode="auto">
          <a:xfrm flipH="1">
            <a:off x="54864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  <p:sp>
        <p:nvSpPr>
          <p:cNvPr id="53" name="Line 26"/>
          <p:cNvSpPr>
            <a:spLocks noChangeShapeType="1"/>
          </p:cNvSpPr>
          <p:nvPr/>
        </p:nvSpPr>
        <p:spPr bwMode="auto">
          <a:xfrm flipH="1">
            <a:off x="7391400" y="3048000"/>
            <a:ext cx="0" cy="38100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Arial" charset="0"/>
              </a:rPr>
              <a:t>Big goal: modularity</a:t>
            </a:r>
            <a:endParaRPr lang="en-US" dirty="0">
              <a:latin typeface="Arial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b="1" dirty="0" smtClean="0">
                <a:solidFill>
                  <a:srgbClr val="FF6600"/>
                </a:solidFill>
                <a:latin typeface="Arial" charset="0"/>
              </a:rPr>
              <a:t>Modularity: </a:t>
            </a:r>
            <a:r>
              <a:rPr lang="en-US" sz="2400" dirty="0" smtClean="0">
                <a:latin typeface="Arial" charset="0"/>
              </a:rPr>
              <a:t>Decomposition of a large task into smaller reusable components with well-known interfaces between them</a:t>
            </a:r>
          </a:p>
          <a:p>
            <a:pPr eaLnBrk="1" hangingPunct="1"/>
            <a:r>
              <a:rPr lang="en-US" sz="2400" dirty="0" smtClean="0">
                <a:latin typeface="Arial" charset="0"/>
              </a:rPr>
              <a:t>Advantages</a:t>
            </a:r>
          </a:p>
          <a:p>
            <a:pPr lvl="1" eaLnBrk="1" hangingPunct="1"/>
            <a:r>
              <a:rPr lang="en-US" sz="2400" dirty="0" smtClean="0">
                <a:latin typeface="Arial" charset="0"/>
              </a:rPr>
              <a:t>Simplicity</a:t>
            </a:r>
          </a:p>
          <a:p>
            <a:pPr lvl="1" eaLnBrk="1" hangingPunct="1"/>
            <a:r>
              <a:rPr lang="en-US" sz="2400" dirty="0" smtClean="0">
                <a:latin typeface="Arial" charset="0"/>
              </a:rPr>
              <a:t>Portability</a:t>
            </a:r>
          </a:p>
          <a:p>
            <a:pPr lvl="1" eaLnBrk="1" hangingPunct="1"/>
            <a:r>
              <a:rPr lang="en-US" sz="2400" dirty="0">
                <a:latin typeface="Arial" charset="0"/>
              </a:rPr>
              <a:t>R</a:t>
            </a:r>
            <a:r>
              <a:rPr lang="en-US" sz="2400" dirty="0" smtClean="0">
                <a:latin typeface="Arial" charset="0"/>
              </a:rPr>
              <a:t>e-use common functions</a:t>
            </a:r>
          </a:p>
          <a:p>
            <a:pPr lvl="1" eaLnBrk="1" hangingPunct="1"/>
            <a:r>
              <a:rPr lang="en-US" sz="2400" dirty="0" smtClean="0">
                <a:latin typeface="Arial" charset="0"/>
              </a:rPr>
              <a:t>Abstraction: hide details of implementation</a:t>
            </a:r>
            <a:endParaRPr lang="en-US" sz="2400" dirty="0">
              <a:latin typeface="Arial" charset="0"/>
            </a:endParaRP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890B036-E87C-7A4A-A02E-0C1DD147B866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820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</a:rPr>
              <a:t>Course Questions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>
                <a:latin typeface="Arial" charset="0"/>
              </a:rPr>
              <a:t>What are the right abstractions and interfaces to let pieces of a system work together smoothly?</a:t>
            </a:r>
          </a:p>
          <a:p>
            <a:pPr eaLnBrk="1" hangingPunct="1"/>
            <a:r>
              <a:rPr lang="en-US" sz="2400" dirty="0" smtClean="0">
                <a:latin typeface="Arial" charset="0"/>
              </a:rPr>
              <a:t>…and how do I use them?</a:t>
            </a:r>
          </a:p>
          <a:p>
            <a:pPr eaLnBrk="1" hangingPunct="1"/>
            <a:r>
              <a:rPr lang="en-US" sz="2400" dirty="0" smtClean="0">
                <a:latin typeface="Arial" charset="0"/>
              </a:rPr>
              <a:t>What goes on “behind the scenes” in interfaces I’ve been using?</a:t>
            </a:r>
          </a:p>
          <a:p>
            <a:pPr lvl="1" eaLnBrk="1" hangingPunct="1"/>
            <a:r>
              <a:rPr lang="en-US" sz="2000" dirty="0" smtClean="0">
                <a:latin typeface="Arial" charset="0"/>
              </a:rPr>
              <a:t>Memory, files, network, …</a:t>
            </a:r>
          </a:p>
          <a:p>
            <a:pPr eaLnBrk="1" hangingPunct="1"/>
            <a:r>
              <a:rPr lang="en-US" sz="2400" dirty="0" smtClean="0">
                <a:latin typeface="Arial" charset="0"/>
              </a:rPr>
              <a:t>How do we tame the complexity of a big system?</a:t>
            </a:r>
          </a:p>
          <a:p>
            <a:pPr lvl="1" eaLnBrk="1" hangingPunct="1"/>
            <a:r>
              <a:rPr lang="en-US" sz="2400" dirty="0" smtClean="0">
                <a:latin typeface="Arial" charset="0"/>
              </a:rPr>
              <a:t>“Systems programming” is a lot more than just programming!</a:t>
            </a:r>
            <a:endParaRPr lang="en-US" sz="2400" dirty="0">
              <a:latin typeface="Arial" charset="0"/>
            </a:endParaRP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FD7C952-25FB-2E42-8671-F39DDDC50B65}" type="slidenum">
              <a:rPr lang="en-US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</a:rPr>
              <a:t>Course </a:t>
            </a:r>
            <a:r>
              <a:rPr lang="en-US" dirty="0" smtClean="0">
                <a:latin typeface="Arial" charset="0"/>
              </a:rPr>
              <a:t>objectives</a:t>
            </a:r>
            <a:endParaRPr lang="en-US" dirty="0">
              <a:latin typeface="Arial" charset="0"/>
            </a:endParaRP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>
                <a:latin typeface="Arial" charset="0"/>
              </a:rPr>
              <a:t>By the end of this course, you should </a:t>
            </a:r>
            <a:r>
              <a:rPr lang="en-US" sz="2400" dirty="0" smtClean="0">
                <a:latin typeface="Arial" charset="0"/>
              </a:rPr>
              <a:t>be able to:</a:t>
            </a:r>
            <a:endParaRPr lang="en-US" sz="2400" dirty="0">
              <a:latin typeface="Arial" charset="0"/>
            </a:endParaRPr>
          </a:p>
          <a:p>
            <a:pPr lvl="1" eaLnBrk="1" hangingPunct="1"/>
            <a:r>
              <a:rPr lang="en-US" sz="2000" dirty="0">
                <a:latin typeface="Arial" charset="0"/>
              </a:rPr>
              <a:t>Identify the basic components of an operating system</a:t>
            </a:r>
          </a:p>
          <a:p>
            <a:pPr lvl="1" eaLnBrk="1" hangingPunct="1"/>
            <a:r>
              <a:rPr lang="en-US" sz="2000" dirty="0">
                <a:latin typeface="Arial" charset="0"/>
              </a:rPr>
              <a:t>Describe their purpose</a:t>
            </a:r>
          </a:p>
          <a:p>
            <a:pPr lvl="1" eaLnBrk="1" hangingPunct="1"/>
            <a:r>
              <a:rPr lang="en-US" sz="2000" dirty="0">
                <a:latin typeface="Arial" charset="0"/>
              </a:rPr>
              <a:t>Explain </a:t>
            </a:r>
            <a:r>
              <a:rPr lang="en-US" sz="2000" dirty="0" smtClean="0">
                <a:latin typeface="Arial" charset="0"/>
              </a:rPr>
              <a:t>the “black box” abstract interface and how they function “inside the box”</a:t>
            </a:r>
            <a:endParaRPr lang="en-US" sz="2000" dirty="0">
              <a:latin typeface="Arial" charset="0"/>
            </a:endParaRPr>
          </a:p>
          <a:p>
            <a:pPr eaLnBrk="1" hangingPunct="1"/>
            <a:r>
              <a:rPr lang="en-US" sz="2400" dirty="0">
                <a:latin typeface="Arial" charset="0"/>
              </a:rPr>
              <a:t>Use the system effectively</a:t>
            </a:r>
          </a:p>
          <a:p>
            <a:pPr lvl="1" eaLnBrk="1" hangingPunct="1"/>
            <a:r>
              <a:rPr lang="en-US" sz="2000" dirty="0">
                <a:latin typeface="Arial" charset="0"/>
              </a:rPr>
              <a:t>Write, compile, debug, and execute C programs </a:t>
            </a:r>
          </a:p>
          <a:p>
            <a:pPr lvl="1" eaLnBrk="1" hangingPunct="1"/>
            <a:r>
              <a:rPr lang="en-US" sz="2000" dirty="0">
                <a:latin typeface="Arial" charset="0"/>
              </a:rPr>
              <a:t>Correctly use system interfaces provided by UNIX (or a UNIX-like operating system</a:t>
            </a:r>
            <a:r>
              <a:rPr lang="en-US" sz="2000" dirty="0" smtClean="0">
                <a:latin typeface="Arial" charset="0"/>
              </a:rPr>
              <a:t>)</a:t>
            </a:r>
          </a:p>
          <a:p>
            <a:pPr eaLnBrk="1" hangingPunct="1"/>
            <a:r>
              <a:rPr lang="en-US" sz="2400" dirty="0" smtClean="0">
                <a:latin typeface="Arial" charset="0"/>
              </a:rPr>
              <a:t>Build your own large, multi-process, networked applications</a:t>
            </a:r>
            <a:endParaRPr lang="en-US" sz="2400" dirty="0">
              <a:latin typeface="Arial" charset="0"/>
            </a:endParaRP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890B036-E87C-7A4A-A02E-0C1DD147B866}" type="slidenum">
              <a:rPr lang="en-US"/>
              <a:pPr/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Week 1-2: </a:t>
            </a:r>
            <a:r>
              <a:rPr lang="en-US" sz="2400" b="1" dirty="0" smtClean="0">
                <a:solidFill>
                  <a:srgbClr val="FF6600"/>
                </a:solidFill>
              </a:rPr>
              <a:t>Nuts &amp; bolts</a:t>
            </a:r>
          </a:p>
          <a:p>
            <a:pPr lvl="1"/>
            <a:r>
              <a:rPr lang="en-US" sz="2400" dirty="0" smtClean="0"/>
              <a:t>Manipulate pointers and memory</a:t>
            </a:r>
          </a:p>
          <a:p>
            <a:pPr lvl="1"/>
            <a:r>
              <a:rPr lang="en-US" sz="2400" dirty="0" smtClean="0"/>
              <a:t>Use UNIX system calls from within C programs</a:t>
            </a:r>
          </a:p>
          <a:p>
            <a:pPr lvl="1"/>
            <a:r>
              <a:rPr lang="en-US" sz="2400" dirty="0" smtClean="0"/>
              <a:t>MP1: working with C pointers &amp; strings</a:t>
            </a:r>
          </a:p>
          <a:p>
            <a:r>
              <a:rPr lang="en-US" sz="2400" dirty="0" smtClean="0"/>
              <a:t>Week 3-4: </a:t>
            </a:r>
            <a:r>
              <a:rPr lang="en-US" sz="2400" b="1" dirty="0" smtClean="0">
                <a:solidFill>
                  <a:srgbClr val="FF6600"/>
                </a:solidFill>
              </a:rPr>
              <a:t>Memory</a:t>
            </a:r>
          </a:p>
          <a:p>
            <a:pPr lvl="1"/>
            <a:r>
              <a:rPr lang="en-US" sz="2400" dirty="0" smtClean="0"/>
              <a:t>Understand memory allocation and virtualization</a:t>
            </a:r>
          </a:p>
          <a:p>
            <a:pPr lvl="1"/>
            <a:r>
              <a:rPr lang="en-US" sz="2400" dirty="0" smtClean="0"/>
              <a:t>MP2: </a:t>
            </a:r>
            <a:r>
              <a:rPr lang="en-US" sz="2400" dirty="0" err="1" smtClean="0"/>
              <a:t>malloc</a:t>
            </a:r>
            <a:r>
              <a:rPr lang="en-US" sz="2400" dirty="0"/>
              <a:t> </a:t>
            </a:r>
            <a:r>
              <a:rPr lang="en-US" sz="2400" dirty="0" smtClean="0"/>
              <a:t>(+contest!)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5F6-332F-1844-845D-0A7B6B164852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616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Week 5-6: </a:t>
            </a:r>
            <a:r>
              <a:rPr lang="en-US" sz="2400" b="1" dirty="0" smtClean="0">
                <a:solidFill>
                  <a:srgbClr val="FF6600"/>
                </a:solidFill>
              </a:rPr>
              <a:t>Parallelism</a:t>
            </a:r>
          </a:p>
          <a:p>
            <a:pPr lvl="1"/>
            <a:r>
              <a:rPr lang="en-US" sz="2400" dirty="0" smtClean="0"/>
              <a:t>Create and manage processes and threads</a:t>
            </a:r>
          </a:p>
          <a:p>
            <a:pPr lvl="1"/>
            <a:r>
              <a:rPr lang="en-US" sz="2400" dirty="0" smtClean="0"/>
              <a:t>Control scheduling of proc./threads</a:t>
            </a:r>
          </a:p>
          <a:p>
            <a:pPr lvl="1"/>
            <a:r>
              <a:rPr lang="en-US" sz="2400" dirty="0" smtClean="0"/>
              <a:t>MP3: Shell</a:t>
            </a:r>
          </a:p>
          <a:p>
            <a:pPr lvl="1"/>
            <a:r>
              <a:rPr lang="en-US" sz="2400" dirty="0" smtClean="0"/>
              <a:t>MP4: Multithreaded sorting</a:t>
            </a:r>
          </a:p>
          <a:p>
            <a:pPr lvl="1"/>
            <a:r>
              <a:rPr lang="en-US" sz="2400" dirty="0" smtClean="0"/>
              <a:t>MP5: Scheduling algorithm simulator</a:t>
            </a:r>
          </a:p>
          <a:p>
            <a:r>
              <a:rPr lang="en-US" sz="2400" dirty="0" smtClean="0"/>
              <a:t>Week 7-11: </a:t>
            </a:r>
            <a:r>
              <a:rPr lang="en-US" sz="2400" b="1" dirty="0" smtClean="0">
                <a:solidFill>
                  <a:srgbClr val="FF6600"/>
                </a:solidFill>
              </a:rPr>
              <a:t>Cooperating parallelism</a:t>
            </a:r>
          </a:p>
          <a:p>
            <a:pPr lvl="1"/>
            <a:r>
              <a:rPr lang="en-US" sz="2400" dirty="0" smtClean="0"/>
              <a:t>Communicating &amp; sharing resources between proc./threads</a:t>
            </a:r>
          </a:p>
          <a:p>
            <a:pPr lvl="1"/>
            <a:r>
              <a:rPr lang="en-US" sz="2400" dirty="0" smtClean="0"/>
              <a:t>MP6: Parallel make</a:t>
            </a:r>
          </a:p>
          <a:p>
            <a:pPr lvl="1"/>
            <a:r>
              <a:rPr lang="en-US" sz="2400" dirty="0" smtClean="0"/>
              <a:t>MP7: </a:t>
            </a:r>
            <a:r>
              <a:rPr lang="en-US" sz="2400" dirty="0" err="1" smtClean="0"/>
              <a:t>MapReduce</a:t>
            </a:r>
            <a:endParaRPr lang="en-US" sz="24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5F6-332F-1844-845D-0A7B6B164852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5695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Week 12-13: </a:t>
            </a:r>
            <a:r>
              <a:rPr lang="en-US" sz="2400" b="1" dirty="0" smtClean="0">
                <a:solidFill>
                  <a:srgbClr val="FF6600"/>
                </a:solidFill>
              </a:rPr>
              <a:t>Networking</a:t>
            </a:r>
          </a:p>
          <a:p>
            <a:pPr lvl="1"/>
            <a:r>
              <a:rPr lang="en-US" sz="2400" dirty="0" smtClean="0"/>
              <a:t>Use communication protocols (TCP/IP) and interfaces (Sockets)</a:t>
            </a:r>
          </a:p>
          <a:p>
            <a:pPr lvl="1"/>
            <a:r>
              <a:rPr lang="en-US" sz="2400" dirty="0" smtClean="0"/>
              <a:t>Write distributed multi-threaded apps that talk across a network</a:t>
            </a:r>
          </a:p>
          <a:p>
            <a:pPr lvl="1"/>
            <a:r>
              <a:rPr lang="en-US" sz="2400" dirty="0" smtClean="0"/>
              <a:t>MP8: Web server (*)</a:t>
            </a:r>
          </a:p>
          <a:p>
            <a:r>
              <a:rPr lang="en-US" sz="2400" dirty="0" smtClean="0"/>
              <a:t>Week 14: </a:t>
            </a:r>
            <a:r>
              <a:rPr lang="en-US" sz="2400" b="1" dirty="0" smtClean="0">
                <a:solidFill>
                  <a:srgbClr val="FF6600"/>
                </a:solidFill>
              </a:rPr>
              <a:t>Additional OS concepts</a:t>
            </a:r>
          </a:p>
          <a:p>
            <a:pPr lvl="1"/>
            <a:r>
              <a:rPr lang="en-US" sz="2400" dirty="0" smtClean="0"/>
              <a:t>I/O and file systems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Copyright ©: University of Illinois CS 241 Staff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D0A5F6-332F-1844-845D-0A7B6B164852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683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</a:rPr>
              <a:t>Complete </a:t>
            </a:r>
            <a:r>
              <a:rPr lang="en-US" dirty="0" smtClean="0">
                <a:latin typeface="Arial" charset="0"/>
              </a:rPr>
              <a:t>schedule</a:t>
            </a:r>
            <a:endParaRPr lang="en-US" dirty="0">
              <a:latin typeface="Arial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latin typeface="Arial" charset="0"/>
              </a:rPr>
              <a:t>See class </a:t>
            </a:r>
            <a:r>
              <a:rPr lang="en-US" sz="2800" dirty="0" smtClean="0">
                <a:latin typeface="Arial" charset="0"/>
              </a:rPr>
              <a:t>webpage (tomorrow)</a:t>
            </a:r>
          </a:p>
          <a:p>
            <a:pPr eaLnBrk="1" hangingPunct="1"/>
            <a:r>
              <a:rPr lang="en-US" sz="2800" dirty="0" smtClean="0">
                <a:latin typeface="Arial" charset="0"/>
                <a:hlinkClick r:id="rId3"/>
              </a:rPr>
              <a:t>http://www.cs.illinois.edu/class/cs241</a:t>
            </a:r>
            <a:endParaRPr lang="en-US" sz="2800" dirty="0" smtClean="0">
              <a:latin typeface="Arial" charset="0"/>
            </a:endParaRPr>
          </a:p>
          <a:p>
            <a:pPr lvl="1" eaLnBrk="1" hangingPunct="1"/>
            <a:r>
              <a:rPr lang="en-US" sz="2400" dirty="0" smtClean="0">
                <a:latin typeface="Arial" charset="0"/>
              </a:rPr>
              <a:t>Schedule is dynamic</a:t>
            </a:r>
          </a:p>
          <a:p>
            <a:pPr lvl="1" eaLnBrk="1" hangingPunct="1"/>
            <a:r>
              <a:rPr lang="en-US" sz="2400" dirty="0" smtClean="0">
                <a:latin typeface="Arial" charset="0"/>
              </a:rPr>
              <a:t>Check </a:t>
            </a:r>
            <a:r>
              <a:rPr lang="en-US" sz="2400" dirty="0">
                <a:latin typeface="Arial" charset="0"/>
              </a:rPr>
              <a:t>regularly for updates</a:t>
            </a:r>
          </a:p>
          <a:p>
            <a:pPr eaLnBrk="1" hangingPunct="1"/>
            <a:r>
              <a:rPr lang="en-US" sz="2800" dirty="0" smtClean="0">
                <a:latin typeface="Arial" charset="0"/>
              </a:rPr>
              <a:t>Slides generally posted by morning of class</a:t>
            </a:r>
            <a:endParaRPr lang="en-US" sz="2400" dirty="0">
              <a:latin typeface="Arial" charset="0"/>
            </a:endParaRPr>
          </a:p>
          <a:p>
            <a:pPr lvl="1" eaLnBrk="1" hangingPunct="1"/>
            <a:r>
              <a:rPr lang="en-US" dirty="0" smtClean="0">
                <a:latin typeface="Arial" charset="0"/>
              </a:rPr>
              <a:t>But some </a:t>
            </a:r>
            <a:r>
              <a:rPr lang="en-US" dirty="0">
                <a:latin typeface="Arial" charset="0"/>
              </a:rPr>
              <a:t>class material </a:t>
            </a:r>
            <a:r>
              <a:rPr lang="en-US" dirty="0" smtClean="0">
                <a:latin typeface="Arial" charset="0"/>
              </a:rPr>
              <a:t>will </a:t>
            </a:r>
            <a:r>
              <a:rPr lang="en-US" dirty="0">
                <a:latin typeface="Arial" charset="0"/>
              </a:rPr>
              <a:t>not be in </a:t>
            </a:r>
            <a:r>
              <a:rPr lang="en-US" dirty="0" smtClean="0">
                <a:latin typeface="Arial" charset="0"/>
              </a:rPr>
              <a:t>slides</a:t>
            </a:r>
            <a:endParaRPr lang="en-US" dirty="0">
              <a:latin typeface="Arial" charset="0"/>
            </a:endParaRPr>
          </a:p>
        </p:txBody>
      </p:sp>
      <p:sp>
        <p:nvSpPr>
          <p:cNvPr id="1946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946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81CD39BA-3339-DF45-B1B7-4C491C3E2F38}" type="slidenum">
              <a:rPr lang="en-US"/>
              <a:pPr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>
                <a:latin typeface="Arial" charset="0"/>
              </a:rPr>
              <a:t>What comes next</a:t>
            </a:r>
            <a:endParaRPr lang="en-US" dirty="0">
              <a:latin typeface="Arial" charset="0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>
                <a:latin typeface="Arial" charset="0"/>
              </a:rPr>
              <a:t>Switch out of 11am discussion section</a:t>
            </a:r>
          </a:p>
          <a:p>
            <a:pPr eaLnBrk="1" hangingPunct="1"/>
            <a:r>
              <a:rPr lang="en-US" sz="2400" dirty="0" smtClean="0">
                <a:latin typeface="Arial" charset="0"/>
              </a:rPr>
              <a:t>Visit </a:t>
            </a:r>
            <a:r>
              <a:rPr lang="en-US" sz="2400" dirty="0">
                <a:latin typeface="Arial" charset="0"/>
              </a:rPr>
              <a:t>the class webpage </a:t>
            </a:r>
          </a:p>
          <a:p>
            <a:pPr lvl="1" eaLnBrk="1" hangingPunct="1"/>
            <a:r>
              <a:rPr lang="en-US" sz="2400" dirty="0" smtClean="0">
                <a:latin typeface="Arial" charset="0"/>
              </a:rPr>
              <a:t>Especially </a:t>
            </a:r>
            <a:r>
              <a:rPr lang="en-US" sz="2400" dirty="0">
                <a:latin typeface="Arial" charset="0"/>
              </a:rPr>
              <a:t>schedule, grading policy, homework &amp; MP hand-in instructions, and resources</a:t>
            </a:r>
          </a:p>
          <a:p>
            <a:pPr lvl="1" eaLnBrk="1" hangingPunct="1"/>
            <a:r>
              <a:rPr lang="en-US" sz="2400" dirty="0">
                <a:latin typeface="Arial" charset="0"/>
                <a:hlinkClick r:id="rId3"/>
              </a:rPr>
              <a:t>http://www.cs.illinois.edu/class/cs241</a:t>
            </a:r>
            <a:endParaRPr lang="en-US" sz="2400" dirty="0">
              <a:latin typeface="Arial" charset="0"/>
            </a:endParaRPr>
          </a:p>
          <a:p>
            <a:pPr eaLnBrk="1" hangingPunct="1"/>
            <a:r>
              <a:rPr lang="en-US" sz="2400" dirty="0">
                <a:latin typeface="Arial" charset="0"/>
              </a:rPr>
              <a:t>Familiarize yourself with </a:t>
            </a:r>
            <a:r>
              <a:rPr lang="en-US" sz="2400" dirty="0" smtClean="0">
                <a:latin typeface="Arial" charset="0"/>
              </a:rPr>
              <a:t>Piazza</a:t>
            </a:r>
            <a:endParaRPr lang="en-US" sz="2400" dirty="0">
              <a:latin typeface="Arial" charset="0"/>
            </a:endParaRPr>
          </a:p>
          <a:p>
            <a:pPr eaLnBrk="1" hangingPunct="1"/>
            <a:r>
              <a:rPr lang="en-US" sz="2400" dirty="0">
                <a:latin typeface="Arial" charset="0"/>
              </a:rPr>
              <a:t>R</a:t>
            </a:r>
            <a:r>
              <a:rPr lang="en-US" sz="2400" dirty="0" smtClean="0">
                <a:latin typeface="Arial" charset="0"/>
              </a:rPr>
              <a:t>efresh </a:t>
            </a:r>
            <a:r>
              <a:rPr lang="en-US" sz="2400" dirty="0">
                <a:latin typeface="Arial" charset="0"/>
              </a:rPr>
              <a:t>your C programming skills</a:t>
            </a:r>
          </a:p>
          <a:p>
            <a:pPr lvl="1" eaLnBrk="1" hangingPunct="1"/>
            <a:r>
              <a:rPr lang="en-US" sz="2400" dirty="0">
                <a:latin typeface="Arial" charset="0"/>
                <a:hlinkClick r:id="rId4"/>
              </a:rPr>
              <a:t>http://www.lysator.liu.se/c/bwk-</a:t>
            </a:r>
            <a:r>
              <a:rPr lang="en-US" sz="2400" dirty="0" smtClean="0">
                <a:latin typeface="Arial" charset="0"/>
                <a:hlinkClick r:id="rId4"/>
              </a:rPr>
              <a:t>tutor.html</a:t>
            </a:r>
            <a:endParaRPr lang="en-US" sz="2400" dirty="0" smtClean="0">
              <a:latin typeface="Arial" charset="0"/>
            </a:endParaRPr>
          </a:p>
          <a:p>
            <a:pPr eaLnBrk="1" hangingPunct="1"/>
            <a:r>
              <a:rPr lang="en-US" sz="2400" dirty="0" smtClean="0">
                <a:latin typeface="Arial" charset="0"/>
              </a:rPr>
              <a:t>Homework released tonight</a:t>
            </a:r>
          </a:p>
          <a:p>
            <a:pPr eaLnBrk="1" hangingPunct="1"/>
            <a:r>
              <a:rPr lang="en-US" sz="2400" dirty="0" smtClean="0">
                <a:latin typeface="Arial" charset="0"/>
              </a:rPr>
              <a:t>Next lecture: fun with C</a:t>
            </a:r>
            <a:endParaRPr lang="en-US" sz="2400" dirty="0">
              <a:latin typeface="Arial" charset="0"/>
            </a:endParaRP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77AE8F43-0E34-BE46-A223-0EC6337CF592}" type="slidenum">
              <a:rPr lang="en-US"/>
              <a:pPr/>
              <a:t>37</a:t>
            </a:fld>
            <a:endParaRPr lang="en-US" dirty="0"/>
          </a:p>
        </p:txBody>
      </p:sp>
    </p:spTree>
  </p:cSld>
  <p:clrMapOvr>
    <a:masterClrMapping/>
  </p:clrMapOvr>
  <p:transition xmlns:p14="http://schemas.microsoft.com/office/powerpoint/2010/main"/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charset="0"/>
              </a:rPr>
              <a:t>It’s </a:t>
            </a:r>
            <a:r>
              <a:rPr lang="en-US" dirty="0">
                <a:latin typeface="Arial" charset="0"/>
              </a:rPr>
              <a:t>all about the programming!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>
                <a:latin typeface="Arial" charset="0"/>
              </a:rPr>
              <a:t>MPs</a:t>
            </a:r>
          </a:p>
          <a:p>
            <a:pPr lvl="1"/>
            <a:r>
              <a:rPr lang="en-US" sz="2000">
                <a:latin typeface="Arial" charset="0"/>
              </a:rPr>
              <a:t>Goal</a:t>
            </a:r>
          </a:p>
          <a:p>
            <a:pPr lvl="2"/>
            <a:r>
              <a:rPr lang="en-US" sz="1800">
                <a:latin typeface="Arial" charset="0"/>
              </a:rPr>
              <a:t>Expose you to the concepts and APIs taught in class</a:t>
            </a:r>
          </a:p>
          <a:p>
            <a:pPr lvl="1"/>
            <a:r>
              <a:rPr lang="en-US" sz="2000">
                <a:latin typeface="Arial" charset="0"/>
              </a:rPr>
              <a:t>All individual</a:t>
            </a:r>
          </a:p>
          <a:p>
            <a:pPr lvl="2"/>
            <a:r>
              <a:rPr lang="en-US" sz="1800">
                <a:latin typeface="Arial" charset="0"/>
              </a:rPr>
              <a:t>You can</a:t>
            </a:r>
            <a:r>
              <a:rPr lang="ja-JP" altLang="en-US" sz="1800">
                <a:latin typeface="Arial" charset="0"/>
              </a:rPr>
              <a:t>’</a:t>
            </a:r>
            <a:r>
              <a:rPr lang="en-US" sz="1800">
                <a:latin typeface="Arial" charset="0"/>
              </a:rPr>
              <a:t>t learn it if you don</a:t>
            </a:r>
            <a:r>
              <a:rPr lang="ja-JP" altLang="en-US" sz="1800">
                <a:latin typeface="Arial" charset="0"/>
              </a:rPr>
              <a:t>’</a:t>
            </a:r>
            <a:r>
              <a:rPr lang="en-US" sz="1800">
                <a:latin typeface="Arial" charset="0"/>
              </a:rPr>
              <a:t>t do it yourself!</a:t>
            </a:r>
          </a:p>
          <a:p>
            <a:r>
              <a:rPr lang="en-US" sz="2400">
                <a:latin typeface="Arial" charset="0"/>
              </a:rPr>
              <a:t>MP Contest</a:t>
            </a:r>
          </a:p>
          <a:p>
            <a:pPr lvl="1"/>
            <a:r>
              <a:rPr lang="en-US" sz="1800">
                <a:latin typeface="Arial" charset="0"/>
              </a:rPr>
              <a:t>Memory (</a:t>
            </a:r>
            <a:r>
              <a:rPr lang="en-US" sz="1800" b="1">
                <a:latin typeface="Courier New" charset="0"/>
                <a:cs typeface="Courier New" charset="0"/>
              </a:rPr>
              <a:t>malloc</a:t>
            </a:r>
            <a:r>
              <a:rPr lang="en-US" sz="1800">
                <a:latin typeface="Arial" charset="0"/>
              </a:rPr>
              <a:t>)</a:t>
            </a:r>
          </a:p>
          <a:p>
            <a:pPr lvl="1"/>
            <a:r>
              <a:rPr lang="en-US" sz="1800">
                <a:latin typeface="Arial" charset="0"/>
              </a:rPr>
              <a:t>Prizes and bragging rights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856163" y="1981200"/>
            <a:ext cx="3983037" cy="4114800"/>
          </a:xfrm>
        </p:spPr>
        <p:txBody>
          <a:bodyPr/>
          <a:lstStyle/>
          <a:p>
            <a:pPr marL="447675" lvl="1" indent="-447675">
              <a:buClr>
                <a:schemeClr val="accent1"/>
              </a:buClr>
              <a:buSzPct val="70000"/>
              <a:buFont typeface="Wingdings" pitchFamily="2" charset="2"/>
              <a:buChar char="n"/>
              <a:defRPr/>
            </a:pPr>
            <a:r>
              <a:rPr lang="en-US" dirty="0" smtClean="0"/>
              <a:t>Components for grading</a:t>
            </a:r>
          </a:p>
          <a:p>
            <a:pPr lvl="1">
              <a:buFont typeface="Wingdings" pitchFamily="2" charset="2"/>
              <a:buChar char="¡"/>
              <a:defRPr/>
            </a:pPr>
            <a:r>
              <a:rPr lang="en-US" sz="2000" dirty="0" smtClean="0"/>
              <a:t>Correctness</a:t>
            </a:r>
          </a:p>
          <a:p>
            <a:pPr lvl="2">
              <a:buFont typeface="Wingdings" pitchFamily="2" charset="2"/>
              <a:buChar char="n"/>
              <a:defRPr/>
            </a:pPr>
            <a:r>
              <a:rPr lang="en-US" sz="1800" dirty="0" err="1" smtClean="0"/>
              <a:t>Autograder</a:t>
            </a:r>
            <a:endParaRPr lang="en-US" sz="1800" dirty="0" smtClean="0"/>
          </a:p>
          <a:p>
            <a:pPr lvl="2">
              <a:buFont typeface="Wingdings" pitchFamily="2" charset="2"/>
              <a:buChar char="n"/>
              <a:defRPr/>
            </a:pPr>
            <a:r>
              <a:rPr lang="en-US" sz="1800" dirty="0" smtClean="0"/>
              <a:t>Once a night to help you check correctness</a:t>
            </a:r>
          </a:p>
          <a:p>
            <a:pPr lvl="2">
              <a:buFont typeface="Wingdings" pitchFamily="2" charset="2"/>
              <a:buChar char="n"/>
              <a:defRPr/>
            </a:pPr>
            <a:r>
              <a:rPr lang="en-US" sz="1800" dirty="0" smtClean="0"/>
              <a:t>Does not reflect grade</a:t>
            </a:r>
          </a:p>
          <a:p>
            <a:pPr lvl="1">
              <a:buFont typeface="Wingdings" pitchFamily="2" charset="2"/>
              <a:buChar char="¡"/>
              <a:defRPr/>
            </a:pPr>
            <a:r>
              <a:rPr lang="en-US" sz="2000" dirty="0" smtClean="0"/>
              <a:t>Memory</a:t>
            </a:r>
          </a:p>
          <a:p>
            <a:pPr lvl="2">
              <a:buFont typeface="Wingdings" pitchFamily="2" charset="2"/>
              <a:buChar char="n"/>
              <a:defRPr/>
            </a:pPr>
            <a:r>
              <a:rPr lang="en-US" sz="1800" dirty="0" err="1" smtClean="0"/>
              <a:t>valgrind</a:t>
            </a:r>
            <a:endParaRPr lang="en-US" sz="1800" dirty="0" smtClean="0"/>
          </a:p>
          <a:p>
            <a:pPr lvl="1">
              <a:buFont typeface="Wingdings" pitchFamily="2" charset="2"/>
              <a:buChar char="¡"/>
              <a:defRPr/>
            </a:pPr>
            <a:r>
              <a:rPr lang="en-US" sz="2000" dirty="0" smtClean="0"/>
              <a:t>Debugging</a:t>
            </a:r>
          </a:p>
          <a:p>
            <a:pPr lvl="2">
              <a:buFont typeface="Wingdings" pitchFamily="2" charset="2"/>
              <a:buChar char="n"/>
              <a:defRPr/>
            </a:pPr>
            <a:r>
              <a:rPr lang="en-US" sz="1800" dirty="0" err="1" smtClean="0"/>
              <a:t>gdb</a:t>
            </a:r>
            <a:endParaRPr lang="en-US" sz="1800" dirty="0" smtClean="0"/>
          </a:p>
          <a:p>
            <a:pPr lvl="1">
              <a:buFont typeface="Wingdings" pitchFamily="2" charset="2"/>
              <a:buChar char="¡"/>
              <a:defRPr/>
            </a:pPr>
            <a:r>
              <a:rPr lang="en-US" sz="2000" dirty="0" smtClean="0"/>
              <a:t>Knowing your code</a:t>
            </a:r>
          </a:p>
          <a:p>
            <a:pPr lvl="2">
              <a:buFont typeface="Wingdings" pitchFamily="2" charset="2"/>
              <a:buChar char="n"/>
              <a:defRPr/>
            </a:pPr>
            <a:r>
              <a:rPr lang="en-US" sz="1600" dirty="0" smtClean="0"/>
              <a:t>1 page write-up (6 MPs)</a:t>
            </a:r>
          </a:p>
          <a:p>
            <a:pPr lvl="2">
              <a:buFont typeface="Wingdings" pitchFamily="2" charset="2"/>
              <a:buChar char="n"/>
              <a:defRPr/>
            </a:pPr>
            <a:r>
              <a:rPr lang="en-US" sz="1600" dirty="0" smtClean="0"/>
              <a:t>Oral description (1 MP)</a:t>
            </a:r>
          </a:p>
        </p:txBody>
      </p:sp>
      <p:sp>
        <p:nvSpPr>
          <p:cNvPr id="819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819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0B226A0-670A-0A45-81D7-7A84E446CA0A}" type="slidenum">
              <a:rPr lang="en-US"/>
              <a:pPr/>
              <a:t>38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Getting The Most Out Of Any Class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7204075" cy="4114800"/>
          </a:xfrm>
        </p:spPr>
        <p:txBody>
          <a:bodyPr/>
          <a:lstStyle/>
          <a:p>
            <a:r>
              <a:rPr lang="ja-JP" altLang="en-US" sz="2400">
                <a:latin typeface="Arial" charset="0"/>
              </a:rPr>
              <a:t>“</a:t>
            </a:r>
            <a:r>
              <a:rPr lang="en-US" sz="2400">
                <a:latin typeface="Arial" charset="0"/>
              </a:rPr>
              <a:t>Education is what survives when what has been learned has been forgotten.</a:t>
            </a:r>
            <a:r>
              <a:rPr lang="ja-JP" altLang="en-US" sz="2400">
                <a:latin typeface="Arial" charset="0"/>
              </a:rPr>
              <a:t>”</a:t>
            </a:r>
            <a:endParaRPr lang="en-US" sz="2400">
              <a:latin typeface="Arial" charset="0"/>
            </a:endParaRPr>
          </a:p>
          <a:p>
            <a:pPr lvl="1"/>
            <a:r>
              <a:rPr lang="en-US" sz="2000">
                <a:latin typeface="Arial" charset="0"/>
              </a:rPr>
              <a:t>B. F. Skinner, New Scientist, May 21, 1964.</a:t>
            </a:r>
          </a:p>
          <a:p>
            <a:pPr lvl="1"/>
            <a:endParaRPr lang="en-US" sz="2000">
              <a:latin typeface="Arial" charset="0"/>
            </a:endParaRPr>
          </a:p>
          <a:p>
            <a:r>
              <a:rPr lang="en-US" sz="1800">
                <a:latin typeface="Arial" charset="0"/>
              </a:rPr>
              <a:t>Get the big picture:</a:t>
            </a:r>
          </a:p>
          <a:p>
            <a:pPr lvl="1"/>
            <a:r>
              <a:rPr lang="en-US" sz="1600">
                <a:latin typeface="Arial" charset="0"/>
              </a:rPr>
              <a:t>Why are we doing this? </a:t>
            </a:r>
          </a:p>
          <a:p>
            <a:pPr lvl="1"/>
            <a:r>
              <a:rPr lang="en-US" sz="1600">
                <a:latin typeface="Arial" charset="0"/>
              </a:rPr>
              <a:t>Why is it important?</a:t>
            </a:r>
          </a:p>
          <a:p>
            <a:r>
              <a:rPr lang="en-US" sz="1800">
                <a:latin typeface="Arial" charset="0"/>
              </a:rPr>
              <a:t>Understand the basic </a:t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>principles:</a:t>
            </a:r>
          </a:p>
          <a:p>
            <a:pPr lvl="1"/>
            <a:r>
              <a:rPr lang="en-US" sz="1800">
                <a:latin typeface="Arial" charset="0"/>
              </a:rPr>
              <a:t>If you know how to </a:t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>apply them, you can </a:t>
            </a:r>
            <a:br>
              <a:rPr lang="en-US" sz="1800">
                <a:latin typeface="Arial" charset="0"/>
              </a:rPr>
            </a:br>
            <a:r>
              <a:rPr lang="en-US" sz="1800">
                <a:latin typeface="Arial" charset="0"/>
              </a:rPr>
              <a:t>work out the details</a:t>
            </a:r>
          </a:p>
        </p:txBody>
      </p:sp>
      <p:sp>
        <p:nvSpPr>
          <p:cNvPr id="13316" name="Content Placeholder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1"/>
            <a:endParaRPr lang="en-US" sz="2000">
              <a:latin typeface="Arial" charset="0"/>
            </a:endParaRPr>
          </a:p>
          <a:p>
            <a:pPr lvl="1"/>
            <a:endParaRPr lang="en-US" sz="2000">
              <a:latin typeface="Arial" charset="0"/>
            </a:endParaRPr>
          </a:p>
          <a:p>
            <a:pPr lvl="1"/>
            <a:endParaRPr lang="en-US" sz="2000">
              <a:latin typeface="Arial" charset="0"/>
            </a:endParaRPr>
          </a:p>
          <a:p>
            <a:pPr lvl="1"/>
            <a:endParaRPr lang="en-US" sz="2000">
              <a:latin typeface="Arial" charset="0"/>
            </a:endParaRPr>
          </a:p>
          <a:p>
            <a:r>
              <a:rPr lang="en-US" sz="1800">
                <a:latin typeface="Arial" charset="0"/>
              </a:rPr>
              <a:t>Learn why things work a certain way:</a:t>
            </a:r>
          </a:p>
          <a:p>
            <a:pPr lvl="1"/>
            <a:r>
              <a:rPr lang="en-US" sz="1600">
                <a:latin typeface="Arial" charset="0"/>
              </a:rPr>
              <a:t>Automatic vs. manual, elegant vs. ad hoc, </a:t>
            </a:r>
            <a:br>
              <a:rPr lang="en-US" sz="1600">
                <a:latin typeface="Arial" charset="0"/>
              </a:rPr>
            </a:br>
            <a:r>
              <a:rPr lang="en-US" sz="1600">
                <a:latin typeface="Arial" charset="0"/>
              </a:rPr>
              <a:t>solved problem vs. open</a:t>
            </a:r>
          </a:p>
          <a:p>
            <a:r>
              <a:rPr lang="en-US" sz="1800">
                <a:latin typeface="Arial" charset="0"/>
              </a:rPr>
              <a:t>Think about the cost-benefit trade-offs:</a:t>
            </a:r>
          </a:p>
          <a:p>
            <a:pPr lvl="1"/>
            <a:r>
              <a:rPr lang="en-US" sz="1600">
                <a:latin typeface="Arial" charset="0"/>
              </a:rPr>
              <a:t>Performance vs. correctness, development time vs. benefit</a:t>
            </a:r>
          </a:p>
          <a:p>
            <a:endParaRPr lang="en-US">
              <a:latin typeface="Arial" charset="0"/>
            </a:endParaRPr>
          </a:p>
        </p:txBody>
      </p:sp>
      <p:sp>
        <p:nvSpPr>
          <p:cNvPr id="1331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331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54C1CAEB-DCEE-B440-873D-D959C77C666C}" type="slidenum">
              <a:rPr lang="en-US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7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</a:rPr>
              <a:t>Getting The Most Out Of This Class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sz="half" idx="1"/>
          </p:nvPr>
        </p:nvSpPr>
        <p:spPr>
          <a:xfrm>
            <a:off x="949325" y="1981200"/>
            <a:ext cx="7204075" cy="4114800"/>
          </a:xfrm>
        </p:spPr>
        <p:txBody>
          <a:bodyPr/>
          <a:lstStyle/>
          <a:p>
            <a:r>
              <a:rPr lang="ja-JP" altLang="en-US" sz="2400">
                <a:latin typeface="Arial" charset="0"/>
              </a:rPr>
              <a:t>“</a:t>
            </a:r>
            <a:r>
              <a:rPr lang="en-US" sz="2400">
                <a:latin typeface="Arial" charset="0"/>
              </a:rPr>
              <a:t>Sir, I can give you an explanation but not an understanding!</a:t>
            </a:r>
            <a:r>
              <a:rPr lang="ja-JP" altLang="en-US" sz="2400">
                <a:latin typeface="Arial" charset="0"/>
              </a:rPr>
              <a:t>”</a:t>
            </a:r>
            <a:endParaRPr lang="en-US" sz="2400">
              <a:latin typeface="Arial" charset="0"/>
            </a:endParaRPr>
          </a:p>
          <a:p>
            <a:pPr lvl="1"/>
            <a:r>
              <a:rPr lang="en-US" sz="2000">
                <a:latin typeface="Arial" charset="0"/>
              </a:rPr>
              <a:t>British parliamentarian</a:t>
            </a:r>
          </a:p>
          <a:p>
            <a:pPr lvl="1"/>
            <a:endParaRPr lang="en-US" sz="2000">
              <a:latin typeface="Arial" charset="0"/>
            </a:endParaRPr>
          </a:p>
          <a:p>
            <a:r>
              <a:rPr lang="en-US" sz="1800">
                <a:latin typeface="Arial" charset="0"/>
              </a:rPr>
              <a:t>Do the exercises in class; read the text and notes</a:t>
            </a:r>
          </a:p>
          <a:p>
            <a:endParaRPr lang="en-US" sz="1800">
              <a:latin typeface="Arial" charset="0"/>
            </a:endParaRPr>
          </a:p>
          <a:p>
            <a:r>
              <a:rPr lang="en-US" sz="1800">
                <a:latin typeface="Arial" charset="0"/>
              </a:rPr>
              <a:t>Start the assignment the day it</a:t>
            </a:r>
            <a:r>
              <a:rPr lang="ja-JP" altLang="en-US" sz="1800">
                <a:latin typeface="Arial" charset="0"/>
              </a:rPr>
              <a:t>’</a:t>
            </a:r>
            <a:r>
              <a:rPr lang="en-US" sz="1800">
                <a:latin typeface="Arial" charset="0"/>
              </a:rPr>
              <a:t>s handed out, not the day it</a:t>
            </a:r>
            <a:r>
              <a:rPr lang="ja-JP" altLang="en-US" sz="1800">
                <a:latin typeface="Arial" charset="0"/>
              </a:rPr>
              <a:t>’</a:t>
            </a:r>
            <a:r>
              <a:rPr lang="en-US" sz="1800">
                <a:latin typeface="Arial" charset="0"/>
              </a:rPr>
              <a:t>s due</a:t>
            </a:r>
          </a:p>
          <a:p>
            <a:endParaRPr lang="en-US" sz="1800">
              <a:latin typeface="Arial" charset="0"/>
            </a:endParaRPr>
          </a:p>
          <a:p>
            <a:r>
              <a:rPr lang="en-US" sz="1800">
                <a:latin typeface="Arial" charset="0"/>
              </a:rPr>
              <a:t>Pay attention to the discussions</a:t>
            </a:r>
          </a:p>
          <a:p>
            <a:endParaRPr lang="en-US" sz="1800">
              <a:latin typeface="Arial" charset="0"/>
            </a:endParaRPr>
          </a:p>
          <a:p>
            <a:r>
              <a:rPr lang="en-US" sz="1800">
                <a:latin typeface="Arial" charset="0"/>
              </a:rPr>
              <a:t>Ask questions, and participate</a:t>
            </a:r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r>
              <a:rPr lang="en-US"/>
              <a:t>Copyright ©: University of Illinois CS 241 Staff</a:t>
            </a:r>
          </a:p>
        </p:txBody>
      </p:sp>
      <p:sp>
        <p:nvSpPr>
          <p:cNvPr id="143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1C64DECC-7283-2B4A-AE20-A8246FA8E17D}" type="slidenum">
              <a:rPr lang="en-US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2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heme1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Axi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381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Axis 1">
        <a:dk1>
          <a:srgbClr val="080808"/>
        </a:dk1>
        <a:lt1>
          <a:srgbClr val="F8F8F8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ADAAAA"/>
        </a:accent3>
        <a:accent4>
          <a:srgbClr val="D4D4D4"/>
        </a:accent4>
        <a:accent5>
          <a:srgbClr val="FFCAAA"/>
        </a:accent5>
        <a:accent6>
          <a:srgbClr val="B92D00"/>
        </a:accent6>
        <a:hlink>
          <a:srgbClr val="CC66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2">
        <a:dk1>
          <a:srgbClr val="333333"/>
        </a:dk1>
        <a:lt1>
          <a:srgbClr val="F8F8F8"/>
        </a:lt1>
        <a:dk2>
          <a:srgbClr val="800000"/>
        </a:dk2>
        <a:lt2>
          <a:srgbClr val="FFFFFF"/>
        </a:lt2>
        <a:accent1>
          <a:srgbClr val="CC9900"/>
        </a:accent1>
        <a:accent2>
          <a:srgbClr val="666666"/>
        </a:accent2>
        <a:accent3>
          <a:srgbClr val="C0AAAA"/>
        </a:accent3>
        <a:accent4>
          <a:srgbClr val="D4D4D4"/>
        </a:accent4>
        <a:accent5>
          <a:srgbClr val="E2CAAA"/>
        </a:accent5>
        <a:accent6>
          <a:srgbClr val="5C5C5C"/>
        </a:accent6>
        <a:hlink>
          <a:srgbClr val="CC6600"/>
        </a:hlink>
        <a:folHlink>
          <a:srgbClr val="95A58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3">
        <a:dk1>
          <a:srgbClr val="5F5F5F"/>
        </a:dk1>
        <a:lt1>
          <a:srgbClr val="A4BEE0"/>
        </a:lt1>
        <a:dk2>
          <a:srgbClr val="013253"/>
        </a:dk2>
        <a:lt2>
          <a:srgbClr val="FFFFFF"/>
        </a:lt2>
        <a:accent1>
          <a:srgbClr val="588480"/>
        </a:accent1>
        <a:accent2>
          <a:srgbClr val="6600FF"/>
        </a:accent2>
        <a:accent3>
          <a:srgbClr val="AAADB3"/>
        </a:accent3>
        <a:accent4>
          <a:srgbClr val="8BA2BF"/>
        </a:accent4>
        <a:accent5>
          <a:srgbClr val="B4C2C0"/>
        </a:accent5>
        <a:accent6>
          <a:srgbClr val="5C00E7"/>
        </a:accent6>
        <a:hlink>
          <a:srgbClr val="CCCC00"/>
        </a:hlink>
        <a:folHlink>
          <a:srgbClr val="5F5F5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4">
        <a:dk1>
          <a:srgbClr val="003300"/>
        </a:dk1>
        <a:lt1>
          <a:srgbClr val="F8F8F8"/>
        </a:lt1>
        <a:dk2>
          <a:srgbClr val="3D4A1C"/>
        </a:dk2>
        <a:lt2>
          <a:srgbClr val="FFFFFF"/>
        </a:lt2>
        <a:accent1>
          <a:srgbClr val="99CC00"/>
        </a:accent1>
        <a:accent2>
          <a:srgbClr val="669900"/>
        </a:accent2>
        <a:accent3>
          <a:srgbClr val="AFB1AB"/>
        </a:accent3>
        <a:accent4>
          <a:srgbClr val="D4D4D4"/>
        </a:accent4>
        <a:accent5>
          <a:srgbClr val="CAE2AA"/>
        </a:accent5>
        <a:accent6>
          <a:srgbClr val="5C8A00"/>
        </a:accent6>
        <a:hlink>
          <a:srgbClr val="CC9900"/>
        </a:hlink>
        <a:folHlink>
          <a:srgbClr val="B2B28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5">
        <a:dk1>
          <a:srgbClr val="333333"/>
        </a:dk1>
        <a:lt1>
          <a:srgbClr val="F8F8F8"/>
        </a:lt1>
        <a:dk2>
          <a:srgbClr val="005D8C"/>
        </a:dk2>
        <a:lt2>
          <a:srgbClr val="FFFFFF"/>
        </a:lt2>
        <a:accent1>
          <a:srgbClr val="00CC99"/>
        </a:accent1>
        <a:accent2>
          <a:srgbClr val="0099CC"/>
        </a:accent2>
        <a:accent3>
          <a:srgbClr val="AAB6C5"/>
        </a:accent3>
        <a:accent4>
          <a:srgbClr val="D4D4D4"/>
        </a:accent4>
        <a:accent5>
          <a:srgbClr val="AAE2CA"/>
        </a:accent5>
        <a:accent6>
          <a:srgbClr val="008AB9"/>
        </a:accent6>
        <a:hlink>
          <a:srgbClr val="FFCC00"/>
        </a:hlink>
        <a:folHlink>
          <a:srgbClr val="D8D48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xis 6">
        <a:dk1>
          <a:srgbClr val="000000"/>
        </a:dk1>
        <a:lt1>
          <a:srgbClr val="ECAE00"/>
        </a:lt1>
        <a:dk2>
          <a:srgbClr val="FFFFFF"/>
        </a:dk2>
        <a:lt2>
          <a:srgbClr val="333333"/>
        </a:lt2>
        <a:accent1>
          <a:srgbClr val="CC6600"/>
        </a:accent1>
        <a:accent2>
          <a:srgbClr val="BA6D10"/>
        </a:accent2>
        <a:accent3>
          <a:srgbClr val="F4D3AA"/>
        </a:accent3>
        <a:accent4>
          <a:srgbClr val="000000"/>
        </a:accent4>
        <a:accent5>
          <a:srgbClr val="E2B8AA"/>
        </a:accent5>
        <a:accent6>
          <a:srgbClr val="A8620D"/>
        </a:accent6>
        <a:hlink>
          <a:srgbClr val="666633"/>
        </a:hlink>
        <a:folHlink>
          <a:srgbClr val="8D996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7">
        <a:dk1>
          <a:srgbClr val="000000"/>
        </a:dk1>
        <a:lt1>
          <a:srgbClr val="FFFFFF"/>
        </a:lt1>
        <a:dk2>
          <a:srgbClr val="372221"/>
        </a:dk2>
        <a:lt2>
          <a:srgbClr val="808080"/>
        </a:lt2>
        <a:accent1>
          <a:srgbClr val="009999"/>
        </a:accent1>
        <a:accent2>
          <a:srgbClr val="9AAC98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8B9B89"/>
        </a:accent6>
        <a:hlink>
          <a:srgbClr val="6666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xis 8">
        <a:dk1>
          <a:srgbClr val="292929"/>
        </a:dk1>
        <a:lt1>
          <a:srgbClr val="FFFFFF"/>
        </a:lt1>
        <a:dk2>
          <a:srgbClr val="000000"/>
        </a:dk2>
        <a:lt2>
          <a:srgbClr val="808080"/>
        </a:lt2>
        <a:accent1>
          <a:srgbClr val="CC9900"/>
        </a:accent1>
        <a:accent2>
          <a:srgbClr val="CCCC99"/>
        </a:accent2>
        <a:accent3>
          <a:srgbClr val="FFFFFF"/>
        </a:accent3>
        <a:accent4>
          <a:srgbClr val="212121"/>
        </a:accent4>
        <a:accent5>
          <a:srgbClr val="E2CAAA"/>
        </a:accent5>
        <a:accent6>
          <a:srgbClr val="B9B98A"/>
        </a:accent6>
        <a:hlink>
          <a:srgbClr val="999933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3408</TotalTime>
  <Words>2321</Words>
  <Application>Microsoft Macintosh PowerPoint</Application>
  <PresentationFormat>On-screen Show (4:3)</PresentationFormat>
  <Paragraphs>594</Paragraphs>
  <Slides>40</Slides>
  <Notes>17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Theme1</vt:lpstr>
      <vt:lpstr>Welcome to CS 241 Systems Programming at Illinois </vt:lpstr>
      <vt:lpstr>The Team</vt:lpstr>
      <vt:lpstr>News and Email</vt:lpstr>
      <vt:lpstr>The Textbook</vt:lpstr>
      <vt:lpstr>Course components</vt:lpstr>
      <vt:lpstr>Deadlines</vt:lpstr>
      <vt:lpstr>Regrades</vt:lpstr>
      <vt:lpstr>Academic Honesty</vt:lpstr>
      <vt:lpstr>Cheating vs. collaborating</vt:lpstr>
      <vt:lpstr>What is systems programming?</vt:lpstr>
      <vt:lpstr>What is a system?</vt:lpstr>
      <vt:lpstr>Challenges in building computer systems</vt:lpstr>
      <vt:lpstr>What does this do?</vt:lpstr>
      <vt:lpstr>Interactions</vt:lpstr>
      <vt:lpstr>What is an operating system and why do I need one?</vt:lpstr>
      <vt:lpstr>What is an operating system and why do I need one?</vt:lpstr>
      <vt:lpstr>What is an operating system and why do I need one?</vt:lpstr>
      <vt:lpstr>Application Requirements</vt:lpstr>
      <vt:lpstr>Two Applications?</vt:lpstr>
      <vt:lpstr>Managing More Applications?</vt:lpstr>
      <vt:lpstr>We need help!</vt:lpstr>
      <vt:lpstr>Approach: Find Common Functions</vt:lpstr>
      <vt:lpstr>Delegate Common Functions</vt:lpstr>
      <vt:lpstr>Export a Standard Interface</vt:lpstr>
      <vt:lpstr>One goal: Increase portability</vt:lpstr>
      <vt:lpstr>Machine Independent = Portable</vt:lpstr>
      <vt:lpstr>OS Runs on Multiple Platforms</vt:lpstr>
      <vt:lpstr>OS Runs on Multiple Platforms</vt:lpstr>
      <vt:lpstr>POSIX  The UNIX Interface Standard</vt:lpstr>
      <vt:lpstr>Big goal: modularity</vt:lpstr>
      <vt:lpstr>Course Questions</vt:lpstr>
      <vt:lpstr>Course objectives</vt:lpstr>
      <vt:lpstr>Course outline</vt:lpstr>
      <vt:lpstr>Course outline</vt:lpstr>
      <vt:lpstr>Course outline</vt:lpstr>
      <vt:lpstr>Complete schedule</vt:lpstr>
      <vt:lpstr>What comes next</vt:lpstr>
      <vt:lpstr>It’s all about the programming!</vt:lpstr>
      <vt:lpstr>Getting The Most Out Of Any Class</vt:lpstr>
      <vt:lpstr>Getting The Most Out Of This Class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rhk</dc:creator>
  <cp:lastModifiedBy>Philip Godfrey</cp:lastModifiedBy>
  <cp:revision>165</cp:revision>
  <cp:lastPrinted>2009-04-22T19:24:48Z</cp:lastPrinted>
  <dcterms:created xsi:type="dcterms:W3CDTF">2009-04-22T19:24:48Z</dcterms:created>
  <dcterms:modified xsi:type="dcterms:W3CDTF">2012-01-18T17:03:30Z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