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6"/>
  </p:notesMasterIdLst>
  <p:handoutMasterIdLst>
    <p:handoutMasterId r:id="rId47"/>
  </p:handoutMasterIdLst>
  <p:sldIdLst>
    <p:sldId id="1247" r:id="rId2"/>
    <p:sldId id="1283" r:id="rId3"/>
    <p:sldId id="1290" r:id="rId4"/>
    <p:sldId id="1292" r:id="rId5"/>
    <p:sldId id="1293" r:id="rId6"/>
    <p:sldId id="1330" r:id="rId7"/>
    <p:sldId id="1331" r:id="rId8"/>
    <p:sldId id="1294" r:id="rId9"/>
    <p:sldId id="1295" r:id="rId10"/>
    <p:sldId id="1315" r:id="rId11"/>
    <p:sldId id="1316" r:id="rId12"/>
    <p:sldId id="1317" r:id="rId13"/>
    <p:sldId id="1296" r:id="rId14"/>
    <p:sldId id="1301" r:id="rId15"/>
    <p:sldId id="1297" r:id="rId16"/>
    <p:sldId id="1298" r:id="rId17"/>
    <p:sldId id="1302" r:id="rId18"/>
    <p:sldId id="1318" r:id="rId19"/>
    <p:sldId id="1319" r:id="rId20"/>
    <p:sldId id="1320" r:id="rId21"/>
    <p:sldId id="1321" r:id="rId22"/>
    <p:sldId id="1322" r:id="rId23"/>
    <p:sldId id="1332" r:id="rId24"/>
    <p:sldId id="1333" r:id="rId25"/>
    <p:sldId id="1334" r:id="rId26"/>
    <p:sldId id="1323" r:id="rId27"/>
    <p:sldId id="1299" r:id="rId28"/>
    <p:sldId id="1303" r:id="rId29"/>
    <p:sldId id="1304" r:id="rId30"/>
    <p:sldId id="1305" r:id="rId31"/>
    <p:sldId id="1306" r:id="rId32"/>
    <p:sldId id="1312" r:id="rId33"/>
    <p:sldId id="1307" r:id="rId34"/>
    <p:sldId id="1308" r:id="rId35"/>
    <p:sldId id="1309" r:id="rId36"/>
    <p:sldId id="1310" r:id="rId37"/>
    <p:sldId id="1311" r:id="rId38"/>
    <p:sldId id="1313" r:id="rId39"/>
    <p:sldId id="1324" r:id="rId40"/>
    <p:sldId id="1325" r:id="rId41"/>
    <p:sldId id="1326" r:id="rId42"/>
    <p:sldId id="1327" r:id="rId43"/>
    <p:sldId id="1328" r:id="rId44"/>
    <p:sldId id="1329" r:id="rId4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0000CC"/>
    <a:srgbClr val="FBD7A3"/>
    <a:srgbClr val="C1F3FF"/>
    <a:srgbClr val="FFFFCC"/>
    <a:srgbClr val="CCFFCC"/>
    <a:srgbClr val="FF0000"/>
    <a:srgbClr val="FFCC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7" autoAdjust="0"/>
    <p:restoredTop sz="77957" autoAdjust="0"/>
  </p:normalViewPr>
  <p:slideViewPr>
    <p:cSldViewPr>
      <p:cViewPr>
        <p:scale>
          <a:sx n="114" d="100"/>
          <a:sy n="114" d="100"/>
        </p:scale>
        <p:origin x="-80" y="-80"/>
      </p:cViewPr>
      <p:guideLst>
        <p:guide orient="horz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329B3EEB-63FB-B746-AD6F-6F5827C69C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36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7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fld id="{6EE68FDD-2FBB-844D-AE16-DE8F854E88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536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2DB2BB6-69D3-F242-99CB-0B0A353ACB35}" type="slidenum">
              <a:rPr lang="en-US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68FDD-2FBB-844D-AE16-DE8F854E885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06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68FDD-2FBB-844D-AE16-DE8F854E885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26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While</a:t>
            </a:r>
            <a:r>
              <a:rPr lang="en-US" baseline="0" dirty="0" smtClean="0"/>
              <a:t> there are various considerations in each of these types of caches, there’s one key goal common to all caches:  minimize the cache miss rate.</a:t>
            </a:r>
          </a:p>
          <a:p>
            <a:endParaRPr lang="en-US" baseline="0" dirty="0" smtClean="0"/>
          </a:p>
          <a:p>
            <a:r>
              <a:rPr lang="en-US" baseline="0" dirty="0" smtClean="0"/>
              <a:t>Google servers remember your searches: Try searching for something once, then hit reload.  Google tells you how much time the search takes – note that it drops from maybe 0.2 sec to 0.1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68FDD-2FBB-844D-AE16-DE8F854E885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2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László</a:t>
            </a:r>
            <a:r>
              <a:rPr lang="en-US" dirty="0" smtClean="0"/>
              <a:t> </a:t>
            </a:r>
            <a:r>
              <a:rPr lang="en-US" dirty="0" err="1" smtClean="0"/>
              <a:t>Bélády</a:t>
            </a:r>
            <a:r>
              <a:rPr lang="en-US" baseline="0" dirty="0" smtClean="0"/>
              <a:t> – he has an ANOMALY named after him!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68FDD-2FBB-844D-AE16-DE8F854E885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51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What about overflow todo? You don</a:t>
            </a:r>
            <a:r>
              <a:rPr lang="ja-JP" altLang="en-US">
                <a:ea typeface="ＭＳ Ｐゴシック" charset="0"/>
                <a:cs typeface="ＭＳ Ｐゴシック" charset="0"/>
              </a:rPr>
              <a:t>’</a:t>
            </a:r>
            <a:r>
              <a:rPr lang="en-US">
                <a:ea typeface="ＭＳ Ｐゴシック" charset="0"/>
                <a:cs typeface="ＭＳ Ｐゴシック" charset="0"/>
              </a:rPr>
              <a:t>t increment past overflow</a:t>
            </a:r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63DE033-13AB-B941-BD39-557951E07170}" type="slidenum">
              <a:rPr lang="en-US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80" charset="0"/>
                <a:ea typeface="+mn-ea"/>
                <a:cs typeface="+mn-cs"/>
              </a:endParaRPr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97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477000"/>
            <a:ext cx="3962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72647E51-9798-7946-8FC1-3F13638A4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9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5" b="72980"/>
          <a:stretch>
            <a:fillRect/>
          </a:stretch>
        </p:blipFill>
        <p:spPr bwMode="auto">
          <a:xfrm>
            <a:off x="0" y="0"/>
            <a:ext cx="91979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2583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-228600"/>
            <a:ext cx="7678737" cy="1031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949656"/>
            <a:ext cx="8610600" cy="533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54793F-A9F4-CF43-9B42-499752CA26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16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37A7D5-FCE1-4241-AE55-8E456EE374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9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F43A1-0127-BA46-8456-A91A1AE956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2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C03F72-2401-844A-B60A-7811D068F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9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73FDE-FB81-5645-9471-4EB28E3D3F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9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C9E6D-729E-5B4F-8810-06EA83CE73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1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A729BB-9C73-674E-8014-6168FF8AA6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25AFD-BAA0-E840-BAD2-845F098A34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2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4B2726-D138-AB44-B567-84D9E6A435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0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CD929-5B00-E945-ADBF-E5AB2DDD19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87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BC8CD3CC-96F5-DF48-A211-249EEA59340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58729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80" charset="0"/>
              <a:ea typeface="+mn-ea"/>
              <a:cs typeface="+mn-cs"/>
            </a:endParaRPr>
          </a:p>
        </p:txBody>
      </p:sp>
      <p:sp>
        <p:nvSpPr>
          <p:cNvPr id="158730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80" charset="0"/>
              <a:ea typeface="+mn-ea"/>
              <a:cs typeface="+mn-cs"/>
            </a:endParaRPr>
          </a:p>
        </p:txBody>
      </p:sp>
      <p:pic>
        <p:nvPicPr>
          <p:cNvPr id="1035" name="Picture 11" descr="uiuc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CS 241</a:t>
            </a:r>
          </a:p>
          <a:p>
            <a:pPr eaLnBrk="1" hangingPunct="1">
              <a:buFont typeface="Wingdings" charset="0"/>
              <a:buNone/>
            </a:pP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February </a:t>
            </a: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10, </a:t>
            </a:r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2012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10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2E53574-690D-204C-ACDD-D259EDC7C9E0}" type="slidenum">
              <a:rPr lang="en-US"/>
              <a:pPr/>
              <a:t>1</a:t>
            </a:fld>
            <a:endParaRPr 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dirty="0" smtClean="0">
                <a:latin typeface="Arial" charset="0"/>
                <a:ea typeface="ＭＳ Ｐゴシック" charset="0"/>
                <a:cs typeface="ＭＳ Ｐゴシック" charset="0"/>
              </a:rPr>
              <a:t>Paging algorithms</a:t>
            </a:r>
            <a:endParaRPr lang="en-GB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Announcements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MP2 due Tuesday</a:t>
            </a:r>
          </a:p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Fabulous Prizes Wednesday!</a:t>
            </a:r>
            <a:endParaRPr lang="en-US" dirty="0" smtClean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6D430C6-95B6-CE46-84DC-48083FEDA053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Paging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On heavily-loaded systems, memory can fill up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Need to make room for newly-accessed pages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Heuristic: try to move 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</a:rPr>
              <a:t>inactive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”</a:t>
            </a:r>
            <a:r>
              <a:rPr lang="en-US" sz="2400" dirty="0">
                <a:latin typeface="Arial" charset="0"/>
                <a:ea typeface="ＭＳ Ｐゴシック" charset="0"/>
              </a:rPr>
              <a:t> pages out to disk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</a:rPr>
              <a:t>What constitutes an </a:t>
            </a:r>
            <a:r>
              <a:rPr lang="ja-JP" altLang="en-US" sz="2000" dirty="0">
                <a:latin typeface="Arial" charset="0"/>
                <a:ea typeface="ＭＳ Ｐゴシック" charset="0"/>
              </a:rPr>
              <a:t>“</a:t>
            </a:r>
            <a:r>
              <a:rPr lang="en-US" sz="2000" dirty="0">
                <a:latin typeface="Arial" charset="0"/>
                <a:ea typeface="ＭＳ Ｐゴシック" charset="0"/>
              </a:rPr>
              <a:t>inactive</a:t>
            </a:r>
            <a:r>
              <a:rPr lang="ja-JP" altLang="en-US" sz="2000" dirty="0">
                <a:latin typeface="Arial" charset="0"/>
                <a:ea typeface="ＭＳ Ｐゴシック" charset="0"/>
              </a:rPr>
              <a:t>”</a:t>
            </a:r>
            <a:r>
              <a:rPr lang="en-US" sz="2000" dirty="0">
                <a:latin typeface="Arial" charset="0"/>
                <a:ea typeface="ＭＳ Ｐゴシック" charset="0"/>
              </a:rPr>
              <a:t> page?</a:t>
            </a:r>
          </a:p>
          <a:p>
            <a:r>
              <a:rPr lang="en-US" sz="2800" dirty="0">
                <a:solidFill>
                  <a:srgbClr val="C00000"/>
                </a:solidFill>
                <a:latin typeface="Arial" charset="0"/>
                <a:ea typeface="ＭＳ Ｐゴシック" charset="0"/>
                <a:cs typeface="ＭＳ Ｐゴシック" charset="0"/>
              </a:rPr>
              <a:t>Paging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Refers to moving individual pages out to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disk, and back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We often use the terms 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</a:rPr>
              <a:t>paging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”</a:t>
            </a:r>
            <a:r>
              <a:rPr lang="en-US" sz="2400" dirty="0">
                <a:latin typeface="Arial" charset="0"/>
                <a:ea typeface="ＭＳ Ｐゴシック" charset="0"/>
              </a:rPr>
              <a:t> and 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</a:rPr>
              <a:t>swapping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”</a:t>
            </a:r>
            <a:r>
              <a:rPr lang="en-US" sz="2400" dirty="0">
                <a:latin typeface="Arial" charset="0"/>
                <a:ea typeface="ＭＳ Ｐゴシック" charset="0"/>
              </a:rPr>
              <a:t> interchangeably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Different from context switching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</a:rPr>
              <a:t>Background processes often have their pages remain resident in 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memory</a:t>
            </a:r>
          </a:p>
          <a:p>
            <a:pPr lvl="2"/>
            <a:r>
              <a:rPr lang="en-US" sz="2000" dirty="0" smtClean="0">
                <a:latin typeface="Arial" charset="0"/>
                <a:ea typeface="ＭＳ Ｐゴシック" charset="0"/>
              </a:rPr>
              <a:t>Paging could occur even with only one process running</a:t>
            </a:r>
            <a:endParaRPr lang="en-US" sz="2000" dirty="0">
              <a:latin typeface="Arial" charset="0"/>
              <a:ea typeface="ＭＳ Ｐゴシック" charset="0"/>
            </a:endParaRPr>
          </a:p>
          <a:p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C2750B-FEF7-024D-9AB7-4E5B6675F061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Basic Page Replacement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 dirty="0" smtClean="0">
                <a:latin typeface="Arial" charset="0"/>
                <a:ea typeface="ＭＳ Ｐゴシック" charset="0"/>
              </a:rPr>
              <a:t>Find </a:t>
            </a:r>
            <a:r>
              <a:rPr lang="en-US" sz="2400" dirty="0">
                <a:latin typeface="Arial" charset="0"/>
                <a:ea typeface="ＭＳ Ｐゴシック" charset="0"/>
              </a:rPr>
              <a:t>the location of the desired page on disk</a:t>
            </a:r>
          </a:p>
          <a:p>
            <a:r>
              <a:rPr lang="en-US" sz="2400" dirty="0">
                <a:latin typeface="Arial" charset="0"/>
                <a:ea typeface="ＭＳ Ｐゴシック" charset="0"/>
              </a:rPr>
              <a:t>Find a free frame</a:t>
            </a:r>
          </a:p>
          <a:p>
            <a:pPr lvl="1"/>
            <a:r>
              <a:rPr lang="en-US" sz="2400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If there is a free frame, use it</a:t>
            </a:r>
          </a:p>
          <a:p>
            <a:pPr lvl="1"/>
            <a:r>
              <a:rPr lang="en-US" sz="2400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If there is no free frame, use a page replacement algorithm to select a </a:t>
            </a:r>
            <a:r>
              <a:rPr lang="en-US" sz="2400" i="1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victim</a:t>
            </a:r>
            <a:r>
              <a:rPr lang="en-US" sz="2400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 frame</a:t>
            </a:r>
          </a:p>
          <a:p>
            <a:r>
              <a:rPr lang="en-US" sz="2400" dirty="0">
                <a:latin typeface="Arial" charset="0"/>
                <a:ea typeface="ＭＳ Ｐゴシック" charset="0"/>
              </a:rPr>
              <a:t>Read the desired page into the (newly) free frame. Update the page and frame tables.</a:t>
            </a:r>
          </a:p>
          <a:p>
            <a:endParaRPr lang="en-US" sz="2400" dirty="0" smtClean="0">
              <a:latin typeface="Arial" charset="0"/>
              <a:ea typeface="ＭＳ Ｐゴシック" charset="0"/>
            </a:endParaRPr>
          </a:p>
          <a:p>
            <a:r>
              <a:rPr lang="en-US" sz="2400" dirty="0" smtClean="0">
                <a:latin typeface="Arial" charset="0"/>
                <a:ea typeface="ＭＳ Ｐゴシック" charset="0"/>
              </a:rPr>
              <a:t>Note: can also evict in advance</a:t>
            </a:r>
          </a:p>
          <a:p>
            <a:pPr lvl="1"/>
            <a:r>
              <a:rPr lang="en-US" sz="2400" dirty="0">
                <a:ea typeface="ＭＳ Ｐゴシック" charset="0"/>
                <a:cs typeface="Arial"/>
              </a:rPr>
              <a:t>OS keeps </a:t>
            </a:r>
            <a:r>
              <a:rPr lang="en-US" sz="2400" dirty="0" smtClean="0">
                <a:ea typeface="ＭＳ Ｐゴシック" charset="0"/>
                <a:cs typeface="Arial"/>
              </a:rPr>
              <a:t>pool </a:t>
            </a:r>
            <a:r>
              <a:rPr lang="en-US" sz="2400" dirty="0">
                <a:ea typeface="ＭＳ Ｐゴシック" charset="0"/>
                <a:cs typeface="Arial"/>
              </a:rPr>
              <a:t>of </a:t>
            </a:r>
            <a:r>
              <a:rPr lang="ja-JP" altLang="en-US" sz="2400" dirty="0">
                <a:ea typeface="ＭＳ Ｐゴシック" charset="0"/>
                <a:cs typeface="Arial"/>
              </a:rPr>
              <a:t>“</a:t>
            </a:r>
            <a:r>
              <a:rPr lang="en-US" sz="2400" dirty="0">
                <a:ea typeface="ＭＳ Ｐゴシック" charset="0"/>
                <a:cs typeface="Arial"/>
              </a:rPr>
              <a:t>free pages</a:t>
            </a:r>
            <a:r>
              <a:rPr lang="ja-JP" altLang="en-US" sz="2400" dirty="0">
                <a:ea typeface="ＭＳ Ｐゴシック" charset="0"/>
                <a:cs typeface="Arial"/>
              </a:rPr>
              <a:t>”</a:t>
            </a:r>
            <a:r>
              <a:rPr lang="en-US" sz="2400" dirty="0">
                <a:ea typeface="ＭＳ Ｐゴシック" charset="0"/>
                <a:cs typeface="Arial"/>
              </a:rPr>
              <a:t> around, even when memory is tight</a:t>
            </a:r>
          </a:p>
          <a:p>
            <a:pPr lvl="1"/>
            <a:r>
              <a:rPr lang="en-US" sz="2400" dirty="0">
                <a:ea typeface="ＭＳ Ｐゴシック" charset="0"/>
                <a:cs typeface="Arial"/>
              </a:rPr>
              <a:t>Makes allocating a new page fast</a:t>
            </a:r>
          </a:p>
          <a:p>
            <a:pPr lvl="1"/>
            <a:r>
              <a:rPr lang="en-US" sz="2400" dirty="0">
                <a:ea typeface="ＭＳ Ｐゴシック" charset="0"/>
                <a:cs typeface="Arial"/>
              </a:rPr>
              <a:t>The process of evicting pages to disk is then performed in the background</a:t>
            </a:r>
          </a:p>
          <a:p>
            <a:endParaRPr lang="en-US" sz="2400" dirty="0">
              <a:latin typeface="Arial" charset="0"/>
              <a:ea typeface="ＭＳ Ｐゴシック" charset="0"/>
            </a:endParaRPr>
          </a:p>
          <a:p>
            <a:endParaRPr lang="en-US" sz="2400" dirty="0">
              <a:latin typeface="Arial" charset="0"/>
              <a:ea typeface="ＭＳ Ｐゴシック" charset="0"/>
            </a:endParaRPr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1AA0664-5BE2-7545-AD53-ADE163828790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Exploiting Locality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Exploiting locality</a:t>
            </a:r>
          </a:p>
          <a:p>
            <a:pPr lvl="1"/>
            <a:r>
              <a:rPr lang="en-US" sz="23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Temporal locality:</a:t>
            </a:r>
            <a:r>
              <a:rPr lang="en-US" sz="2300" dirty="0">
                <a:latin typeface="Arial" charset="0"/>
                <a:ea typeface="ＭＳ Ｐゴシック" charset="0"/>
              </a:rPr>
              <a:t> Memory accessed recently tends to be accessed again soon</a:t>
            </a:r>
          </a:p>
          <a:p>
            <a:pPr lvl="1"/>
            <a:r>
              <a:rPr lang="en-US" sz="23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Spatial locality:</a:t>
            </a:r>
            <a:r>
              <a:rPr lang="en-US" sz="2300" dirty="0">
                <a:latin typeface="Arial" charset="0"/>
                <a:ea typeface="ＭＳ Ｐゴシック" charset="0"/>
              </a:rPr>
              <a:t> Memory locations near recently-accessed memory is likely to be referenced soon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Locality helps to reduce the frequency of paging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Once something is in memory, it should be used many times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This depends on many things: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The amount of locality and reference patterns in a program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The </a:t>
            </a:r>
            <a:r>
              <a:rPr lang="en-US" sz="2300" i="1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page replacement </a:t>
            </a:r>
            <a:r>
              <a:rPr lang="en-US" sz="2300" i="1" dirty="0" smtClean="0">
                <a:solidFill>
                  <a:srgbClr val="C00000"/>
                </a:solidFill>
                <a:latin typeface="Arial" charset="0"/>
                <a:ea typeface="ＭＳ Ｐゴシック" charset="0"/>
              </a:rPr>
              <a:t>algorithm</a:t>
            </a:r>
            <a:endParaRPr lang="en-US" sz="2300" i="1" dirty="0">
              <a:solidFill>
                <a:srgbClr val="C00000"/>
              </a:solidFill>
              <a:latin typeface="Arial" charset="0"/>
              <a:ea typeface="ＭＳ Ｐゴシック" charset="0"/>
            </a:endParaRP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The amount of physical memory and the </a:t>
            </a:r>
            <a:r>
              <a:rPr lang="en-US" sz="2300" i="1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application footprint</a:t>
            </a:r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12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6BB382-B35D-E44F-94C6-43481FC7FB0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Fundamental technique: caching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FF6600"/>
                </a:solidFill>
              </a:rPr>
              <a:t>cache</a:t>
            </a:r>
            <a:r>
              <a:rPr lang="en-US" sz="2400" dirty="0" smtClean="0">
                <a:solidFill>
                  <a:srgbClr val="FF6600"/>
                </a:solidFill>
              </a:rPr>
              <a:t> </a:t>
            </a:r>
            <a:r>
              <a:rPr lang="en-US" sz="2400" dirty="0" smtClean="0"/>
              <a:t>keeps a subset of a data set in a more accessible but space-limited location</a:t>
            </a:r>
          </a:p>
          <a:p>
            <a:endParaRPr lang="en-US" sz="2400" dirty="0" smtClean="0"/>
          </a:p>
          <a:p>
            <a:r>
              <a:rPr lang="en-US" sz="2400" dirty="0" smtClean="0"/>
              <a:t>Caches are </a:t>
            </a:r>
            <a:r>
              <a:rPr lang="en-US" sz="2400" b="1" dirty="0" smtClean="0">
                <a:solidFill>
                  <a:srgbClr val="FF6600"/>
                </a:solidFill>
              </a:rPr>
              <a:t>everywhere</a:t>
            </a:r>
            <a:r>
              <a:rPr lang="en-US" sz="2400" dirty="0" smtClean="0">
                <a:solidFill>
                  <a:srgbClr val="FF6600"/>
                </a:solidFill>
              </a:rPr>
              <a:t> </a:t>
            </a:r>
            <a:r>
              <a:rPr lang="en-US" sz="2400" dirty="0" smtClean="0"/>
              <a:t>in systems</a:t>
            </a:r>
          </a:p>
          <a:p>
            <a:pPr lvl="1"/>
            <a:r>
              <a:rPr lang="en-US" sz="2000" dirty="0" smtClean="0"/>
              <a:t>Such as…?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793F-A9F4-CF43-9B42-499752CA26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95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Fundamental technique: caching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FF6600"/>
                </a:solidFill>
              </a:rPr>
              <a:t>cache</a:t>
            </a:r>
            <a:r>
              <a:rPr lang="en-US" sz="2400" dirty="0" smtClean="0">
                <a:solidFill>
                  <a:srgbClr val="FF6600"/>
                </a:solidFill>
              </a:rPr>
              <a:t> </a:t>
            </a:r>
            <a:r>
              <a:rPr lang="en-US" sz="2400" dirty="0" smtClean="0"/>
              <a:t>keeps a subset of a data set in a more accessible but space-limited location</a:t>
            </a:r>
          </a:p>
          <a:p>
            <a:endParaRPr lang="en-US" sz="2400" dirty="0" smtClean="0"/>
          </a:p>
          <a:p>
            <a:r>
              <a:rPr lang="en-US" sz="2400" dirty="0" smtClean="0"/>
              <a:t>Caches are </a:t>
            </a:r>
            <a:r>
              <a:rPr lang="en-US" sz="2400" b="1" dirty="0" smtClean="0">
                <a:solidFill>
                  <a:srgbClr val="FF6600"/>
                </a:solidFill>
              </a:rPr>
              <a:t>everywhere</a:t>
            </a:r>
            <a:r>
              <a:rPr lang="en-US" sz="2400" dirty="0" smtClean="0">
                <a:solidFill>
                  <a:srgbClr val="FF6600"/>
                </a:solidFill>
              </a:rPr>
              <a:t> </a:t>
            </a:r>
            <a:r>
              <a:rPr lang="en-US" sz="2400" dirty="0" smtClean="0"/>
              <a:t>in systems</a:t>
            </a:r>
          </a:p>
          <a:p>
            <a:pPr lvl="1"/>
            <a:r>
              <a:rPr lang="en-US" sz="2000" b="1" dirty="0" smtClean="0"/>
              <a:t>Registers</a:t>
            </a:r>
            <a:r>
              <a:rPr lang="en-US" sz="2000" dirty="0" smtClean="0"/>
              <a:t> are a cache for </a:t>
            </a:r>
            <a:r>
              <a:rPr lang="en-US" sz="2000" b="1" dirty="0" smtClean="0"/>
              <a:t>L1 cache </a:t>
            </a:r>
            <a:r>
              <a:rPr lang="en-US" sz="2000" dirty="0" smtClean="0"/>
              <a:t>which is a cache for </a:t>
            </a:r>
            <a:r>
              <a:rPr lang="en-US" sz="2000" b="1" dirty="0" smtClean="0"/>
              <a:t>L2 cache </a:t>
            </a:r>
            <a:r>
              <a:rPr lang="en-US" sz="2000" dirty="0" smtClean="0"/>
              <a:t>which is a cache for </a:t>
            </a:r>
            <a:r>
              <a:rPr lang="en-US" sz="2000" b="1" dirty="0" smtClean="0"/>
              <a:t>memory</a:t>
            </a:r>
            <a:r>
              <a:rPr lang="en-US" sz="2000" dirty="0" smtClean="0"/>
              <a:t> which is a cache for </a:t>
            </a:r>
            <a:r>
              <a:rPr lang="en-US" sz="2000" b="1" dirty="0" smtClean="0"/>
              <a:t>disk</a:t>
            </a:r>
            <a:r>
              <a:rPr lang="en-US" sz="2000" dirty="0" smtClean="0"/>
              <a:t> which might be a cache for a </a:t>
            </a:r>
            <a:r>
              <a:rPr lang="en-US" sz="2000" b="1" dirty="0" smtClean="0"/>
              <a:t>remote file server</a:t>
            </a:r>
          </a:p>
          <a:p>
            <a:pPr lvl="1"/>
            <a:r>
              <a:rPr lang="en-US" sz="2000" dirty="0" smtClean="0"/>
              <a:t>Web proxy servers make downloads faster &amp; cheaper</a:t>
            </a:r>
          </a:p>
          <a:p>
            <a:pPr lvl="1"/>
            <a:r>
              <a:rPr lang="en-US" sz="2000" dirty="0" smtClean="0"/>
              <a:t>Web browser stores downloaded files</a:t>
            </a:r>
          </a:p>
          <a:p>
            <a:pPr lvl="1"/>
            <a:r>
              <a:rPr lang="en-US" sz="2000" dirty="0" smtClean="0"/>
              <a:t>Local DNS servers remember recently-resolved DNS names</a:t>
            </a:r>
          </a:p>
          <a:p>
            <a:pPr lvl="1"/>
            <a:r>
              <a:rPr lang="en-US" sz="2000" dirty="0" smtClean="0"/>
              <a:t>Google servers remember your searches</a:t>
            </a:r>
          </a:p>
          <a:p>
            <a:endParaRPr lang="en-US" sz="2400" dirty="0" smtClean="0"/>
          </a:p>
          <a:p>
            <a:r>
              <a:rPr lang="en-US" sz="2400" dirty="0" smtClean="0"/>
              <a:t>Key goal: </a:t>
            </a:r>
            <a:r>
              <a:rPr lang="en-US" sz="2400" b="1" dirty="0" smtClean="0">
                <a:solidFill>
                  <a:srgbClr val="FF6600"/>
                </a:solidFill>
              </a:rPr>
              <a:t>minimize cache miss rate</a:t>
            </a:r>
          </a:p>
          <a:p>
            <a:pPr lvl="1"/>
            <a:r>
              <a:rPr lang="en-US" sz="2400" dirty="0" smtClean="0"/>
              <a:t>= minimize page fault rate (in context of paging)</a:t>
            </a:r>
          </a:p>
          <a:p>
            <a:pPr lvl="1"/>
            <a:r>
              <a:rPr lang="en-US" sz="2400" dirty="0" smtClean="0"/>
              <a:t>Requires a good algorithm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793F-A9F4-CF43-9B42-499752CA26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8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Evicting the Best Page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Goal of the page replacement algorithm: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Reduce </a:t>
            </a:r>
            <a:r>
              <a:rPr lang="en-US" sz="2000" b="1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page fault rate </a:t>
            </a:r>
            <a:r>
              <a:rPr lang="en-US" sz="2000" dirty="0">
                <a:latin typeface="Arial" charset="0"/>
                <a:ea typeface="ＭＳ Ｐゴシック" charset="0"/>
              </a:rPr>
              <a:t>by selecting the best page to evict</a:t>
            </a:r>
          </a:p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best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 pages are those that will never be used again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However, it's impossible to know in general whether a page will be touched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If you have information on future access patterns, it is possible to </a:t>
            </a:r>
            <a:r>
              <a:rPr lang="en-US" sz="2000" i="1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prove</a:t>
            </a:r>
            <a:r>
              <a:rPr lang="en-US" sz="2000" dirty="0">
                <a:latin typeface="Arial" charset="0"/>
                <a:ea typeface="ＭＳ Ｐゴシック" charset="0"/>
              </a:rPr>
              <a:t> that evicting those pages that will be used the </a:t>
            </a:r>
            <a:r>
              <a:rPr lang="en-US" sz="2000" i="1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furthest in the future</a:t>
            </a:r>
            <a:r>
              <a:rPr lang="en-US" sz="2000" dirty="0">
                <a:latin typeface="Arial" charset="0"/>
                <a:ea typeface="ＭＳ Ｐゴシック" charset="0"/>
              </a:rPr>
              <a:t> will </a:t>
            </a:r>
            <a:r>
              <a:rPr lang="en-US" sz="2000" i="1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minimize</a:t>
            </a:r>
            <a:r>
              <a:rPr lang="en-US" sz="2000" dirty="0">
                <a:latin typeface="Arial" charset="0"/>
                <a:ea typeface="ＭＳ Ｐゴシック" charset="0"/>
              </a:rPr>
              <a:t> the page fault rate</a:t>
            </a:r>
          </a:p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What is the best algorithm for deciding the order to evict pages?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Much attention has been paid to this problem.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Used to be a very hot research topic.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These days, widely considered solved (at least, solved well enough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)</a:t>
            </a:r>
            <a:endParaRPr lang="en-US" sz="2000" dirty="0">
              <a:latin typeface="Arial" charset="0"/>
              <a:ea typeface="ＭＳ Ｐゴシック" charset="0"/>
            </a:endParaRPr>
          </a:p>
          <a:p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38A778E-E315-914F-ABAE-942DEEF1F422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Algorithm: OPT (a.k.a. MIN)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Evict page that won't be used for the longest time in the future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Of course, this requires that we can foresee the future...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So OPT cannot be implemented!</a:t>
            </a:r>
          </a:p>
          <a:p>
            <a:endParaRPr lang="en-US" sz="2400" dirty="0" smtClean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This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algorithm has the provably optimal performance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Hence the name 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</a:rPr>
              <a:t>OPT</a:t>
            </a:r>
            <a:r>
              <a:rPr lang="ja-JP" altLang="en-US" sz="2400" dirty="0">
                <a:latin typeface="Arial" charset="0"/>
                <a:ea typeface="ＭＳ Ｐゴシック" charset="0"/>
              </a:rPr>
              <a:t>”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endParaRPr lang="en-US" sz="2400" dirty="0" smtClean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OPT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is useful as a 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yardstick</a:t>
            </a:r>
            <a:r>
              <a:rPr lang="ja-JP" altLang="en-US" sz="24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 to compare the performance of other (implementable) algorithms against</a:t>
            </a:r>
          </a:p>
          <a:p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3DC38E4-8B6B-6741-8191-09D6A22177C7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9778C35-CC83-1B4F-A34A-FF284EC75C82}" type="slidenum">
              <a:rPr lang="en-US"/>
              <a:pPr/>
              <a:t>10</a:t>
            </a:fld>
            <a:endParaRPr lang="en-US"/>
          </a:p>
        </p:txBody>
      </p:sp>
      <p:sp>
        <p:nvSpPr>
          <p:cNvPr id="5427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The Optimal Page Replacement Algorithm</a:t>
            </a:r>
          </a:p>
        </p:txBody>
      </p:sp>
      <p:sp>
        <p:nvSpPr>
          <p:cNvPr id="54276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Idea: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Select the page that will not be needed for the longest time </a:t>
            </a:r>
            <a:r>
              <a:rPr lang="en-US" sz="2400" u="sng">
                <a:latin typeface="Arial" charset="0"/>
                <a:ea typeface="ＭＳ Ｐゴシック" charset="0"/>
              </a:rPr>
              <a:t>in the future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4277" name="Group 4"/>
          <p:cNvGrpSpPr>
            <a:grpSpLocks/>
          </p:cNvGrpSpPr>
          <p:nvPr/>
        </p:nvGrpSpPr>
        <p:grpSpPr bwMode="auto">
          <a:xfrm>
            <a:off x="609600" y="3657600"/>
            <a:ext cx="8001000" cy="3035300"/>
            <a:chOff x="384" y="2304"/>
            <a:chExt cx="5040" cy="1912"/>
          </a:xfrm>
        </p:grpSpPr>
        <p:sp>
          <p:nvSpPr>
            <p:cNvPr id="54280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54281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283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284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4278" name="Text Box 10"/>
          <p:cNvSpPr txBox="1">
            <a:spLocks noChangeArrowheads="1"/>
          </p:cNvSpPr>
          <p:nvPr/>
        </p:nvSpPr>
        <p:spPr bwMode="auto">
          <a:xfrm>
            <a:off x="2667000" y="46482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		        </a:t>
            </a:r>
          </a:p>
        </p:txBody>
      </p:sp>
      <p:sp>
        <p:nvSpPr>
          <p:cNvPr id="5427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A77939-4555-FC47-B66E-328FAC8BB219}" type="slidenum">
              <a:rPr lang="en-US"/>
              <a:pPr/>
              <a:t>11</a:t>
            </a:fld>
            <a:endParaRPr lang="en-US"/>
          </a:p>
        </p:txBody>
      </p:sp>
      <p:sp>
        <p:nvSpPr>
          <p:cNvPr id="5529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The Optimal Page Replacement Algorithm</a:t>
            </a:r>
          </a:p>
        </p:txBody>
      </p:sp>
      <p:sp>
        <p:nvSpPr>
          <p:cNvPr id="55300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Idea: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Select the page that will not be needed for the longest time </a:t>
            </a:r>
            <a:r>
              <a:rPr lang="en-US" sz="2400" u="sng">
                <a:latin typeface="Arial" charset="0"/>
                <a:ea typeface="ＭＳ Ｐゴシック" charset="0"/>
              </a:rPr>
              <a:t>in the future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5301" name="Group 4"/>
          <p:cNvGrpSpPr>
            <a:grpSpLocks/>
          </p:cNvGrpSpPr>
          <p:nvPr/>
        </p:nvGrpSpPr>
        <p:grpSpPr bwMode="auto">
          <a:xfrm>
            <a:off x="609600" y="3657600"/>
            <a:ext cx="8001000" cy="3035300"/>
            <a:chOff x="384" y="2304"/>
            <a:chExt cx="5040" cy="1912"/>
          </a:xfrm>
        </p:grpSpPr>
        <p:sp>
          <p:nvSpPr>
            <p:cNvPr id="55304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55305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306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307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308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5302" name="Text Box 10"/>
          <p:cNvSpPr txBox="1">
            <a:spLocks noChangeArrowheads="1"/>
          </p:cNvSpPr>
          <p:nvPr/>
        </p:nvSpPr>
        <p:spPr bwMode="auto">
          <a:xfrm>
            <a:off x="2667000" y="46482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a   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b   b   b   b   b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c   c   c   c   c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e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e   e   e   e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		         X</a:t>
            </a:r>
          </a:p>
        </p:txBody>
      </p:sp>
      <p:sp>
        <p:nvSpPr>
          <p:cNvPr id="5530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7B8493F-9A00-C642-81F6-4BC890CFF496}" type="slidenum">
              <a:rPr lang="en-US"/>
              <a:pPr/>
              <a:t>12</a:t>
            </a:fld>
            <a:endParaRPr lang="en-US"/>
          </a:p>
        </p:txBody>
      </p:sp>
      <p:sp>
        <p:nvSpPr>
          <p:cNvPr id="5632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The Optimal Page Replacement Algorithm</a:t>
            </a:r>
          </a:p>
        </p:txBody>
      </p:sp>
      <p:sp>
        <p:nvSpPr>
          <p:cNvPr id="56324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Idea: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Select the page that will not be needed for the longest time </a:t>
            </a:r>
            <a:r>
              <a:rPr lang="en-US" sz="2400" u="sng">
                <a:latin typeface="Arial" charset="0"/>
                <a:ea typeface="ＭＳ Ｐゴシック" charset="0"/>
              </a:rPr>
              <a:t>in the future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6325" name="Group 4"/>
          <p:cNvGrpSpPr>
            <a:grpSpLocks/>
          </p:cNvGrpSpPr>
          <p:nvPr/>
        </p:nvGrpSpPr>
        <p:grpSpPr bwMode="auto">
          <a:xfrm>
            <a:off x="609600" y="3657600"/>
            <a:ext cx="8001000" cy="3035300"/>
            <a:chOff x="384" y="2304"/>
            <a:chExt cx="5040" cy="1912"/>
          </a:xfrm>
        </p:grpSpPr>
        <p:sp>
          <p:nvSpPr>
            <p:cNvPr id="56328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56329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330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331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6332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6326" name="Text Box 10"/>
          <p:cNvSpPr txBox="1">
            <a:spLocks noChangeArrowheads="1"/>
          </p:cNvSpPr>
          <p:nvPr/>
        </p:nvSpPr>
        <p:spPr bwMode="auto">
          <a:xfrm>
            <a:off x="2667000" y="46482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a   a   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b   b   b   b   b   b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c   c   c   c   c   c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e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e   e   e   e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d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		         X</a:t>
            </a:r>
          </a:p>
        </p:txBody>
      </p:sp>
      <p:sp>
        <p:nvSpPr>
          <p:cNvPr id="5632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Algorithms: Random and FIFO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Random: Throw out a random page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Obviously not the best scheme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Although very easy to implement!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FIFO: Throw out pages in the order that they were allocated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Maintain a list of allocated pages</a:t>
            </a:r>
          </a:p>
          <a:p>
            <a:pPr lvl="1"/>
            <a:r>
              <a:rPr lang="en-US">
                <a:latin typeface="Arial" charset="0"/>
                <a:ea typeface="ＭＳ Ｐゴシック" charset="0"/>
              </a:rPr>
              <a:t>When the length of the list grows to cover all of physical memory, pop first page off list and allocate it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Why might FIFO be good?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Why might FIFO not be so good?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8EFD628-9BD5-6642-8C2D-A40E68BBEC2C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Algorithms: Random and FIFO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FIFO: Throw out pages in the order that they were allocated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Maintain a list of allocated pages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When the length of the list grows to cover all of physical memory, pop first page off list and allocate it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Why might FIFO be good?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Maybe the page allocated very long ago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isn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’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t </a:t>
            </a:r>
            <a:r>
              <a:rPr lang="en-US" sz="2400" dirty="0">
                <a:latin typeface="Arial" charset="0"/>
                <a:ea typeface="ＭＳ Ｐゴシック" charset="0"/>
              </a:rPr>
              <a:t>used anymore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Why might FIFO not be so good?</a:t>
            </a:r>
          </a:p>
          <a:p>
            <a:pPr lvl="1"/>
            <a:r>
              <a:rPr lang="en-US" sz="2400" dirty="0" smtClean="0">
                <a:latin typeface="Arial" charset="0"/>
                <a:ea typeface="ＭＳ Ｐゴシック" charset="0"/>
              </a:rPr>
              <a:t>Doesn’t </a:t>
            </a:r>
            <a:r>
              <a:rPr lang="en-US" sz="2400" dirty="0">
                <a:latin typeface="Arial" charset="0"/>
                <a:ea typeface="ＭＳ Ｐゴシック" charset="0"/>
              </a:rPr>
              <a:t>consider locality of reference!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Suffers from </a:t>
            </a:r>
            <a:r>
              <a:rPr lang="en-US" sz="2400" dirty="0" err="1" smtClean="0">
                <a:latin typeface="Arial" charset="0"/>
                <a:ea typeface="ＭＳ Ｐゴシック" charset="0"/>
              </a:rPr>
              <a:t>Belady’s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>
                <a:latin typeface="Arial" charset="0"/>
                <a:ea typeface="ＭＳ Ｐゴシック" charset="0"/>
              </a:rPr>
              <a:t>anomaly: </a:t>
            </a:r>
            <a:r>
              <a:rPr lang="en-GB" sz="2400" dirty="0">
                <a:latin typeface="Arial" charset="0"/>
                <a:ea typeface="ＭＳ Ｐゴシック" charset="0"/>
              </a:rPr>
              <a:t>Performance of an application might get </a:t>
            </a:r>
            <a:r>
              <a:rPr lang="en-GB" sz="2400" i="1" dirty="0" smtClean="0">
                <a:solidFill>
                  <a:srgbClr val="993333"/>
                </a:solidFill>
                <a:latin typeface="Arial" charset="0"/>
                <a:ea typeface="ＭＳ Ｐゴシック" charset="0"/>
              </a:rPr>
              <a:t>worse</a:t>
            </a:r>
            <a:r>
              <a:rPr lang="en-GB" sz="2400" dirty="0" smtClean="0">
                <a:latin typeface="Arial" charset="0"/>
                <a:ea typeface="ＭＳ Ｐゴシック" charset="0"/>
              </a:rPr>
              <a:t> </a:t>
            </a:r>
            <a:r>
              <a:rPr lang="en-GB" sz="2400" dirty="0">
                <a:latin typeface="Arial" charset="0"/>
                <a:ea typeface="ＭＳ Ｐゴシック" charset="0"/>
              </a:rPr>
              <a:t>as the size of physical memory </a:t>
            </a:r>
            <a:r>
              <a:rPr lang="en-GB" sz="2400" i="1" dirty="0">
                <a:solidFill>
                  <a:srgbClr val="993333"/>
                </a:solidFill>
                <a:latin typeface="Arial" charset="0"/>
                <a:ea typeface="ＭＳ Ｐゴシック" charset="0"/>
              </a:rPr>
              <a:t>increases!!!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sp>
        <p:nvSpPr>
          <p:cNvPr id="583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B06B58F-BD75-9848-9BA5-07FAA505F1A0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charset="0"/>
                <a:ea typeface="ＭＳ Ｐゴシック" charset="0"/>
                <a:cs typeface="ＭＳ Ｐゴシック" charset="0"/>
              </a:rPr>
              <a:t>Belady’s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Anomaly</a:t>
            </a:r>
          </a:p>
        </p:txBody>
      </p:sp>
      <p:sp>
        <p:nvSpPr>
          <p:cNvPr id="593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C1D25EC-F2DA-F64D-8D2B-24C441E809FF}" type="slidenum">
              <a:rPr lang="en-US"/>
              <a:pPr/>
              <a:t>15</a:t>
            </a:fld>
            <a:endParaRPr lang="en-US"/>
          </a:p>
        </p:txBody>
      </p:sp>
      <p:sp>
        <p:nvSpPr>
          <p:cNvPr id="59398" name="Text Box 2"/>
          <p:cNvSpPr txBox="1">
            <a:spLocks noChangeArrowheads="1"/>
          </p:cNvSpPr>
          <p:nvPr/>
        </p:nvSpPr>
        <p:spPr bwMode="auto">
          <a:xfrm>
            <a:off x="2438400" y="1371600"/>
            <a:ext cx="434498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5000"/>
              </a:lnSpc>
              <a:buClr>
                <a:srgbClr val="000000"/>
              </a:buClr>
              <a:buSzPct val="45000"/>
            </a:pPr>
            <a:r>
              <a:rPr lang="en-GB" sz="2450" dirty="0" smtClean="0">
                <a:solidFill>
                  <a:srgbClr val="993333"/>
                </a:solidFill>
                <a:latin typeface="Courier New" charset="0"/>
              </a:rPr>
              <a:t>0 1 2 3 </a:t>
            </a:r>
            <a:r>
              <a:rPr lang="en-GB" sz="2450" dirty="0">
                <a:solidFill>
                  <a:srgbClr val="993333"/>
                </a:solidFill>
                <a:latin typeface="Courier New" charset="0"/>
              </a:rPr>
              <a:t>0 1 4 0 1 2 3 4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465388" y="1919288"/>
            <a:ext cx="1905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5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b="1">
                <a:solidFill>
                  <a:srgbClr val="2323DC"/>
                </a:solidFill>
                <a:latin typeface="Courier New" charset="0"/>
              </a:rPr>
              <a:t>0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25750" y="1919288"/>
            <a:ext cx="188913" cy="746125"/>
            <a:chOff x="1894" y="943"/>
            <a:chExt cx="119" cy="469"/>
          </a:xfrm>
        </p:grpSpPr>
        <p:sp>
          <p:nvSpPr>
            <p:cNvPr id="59488" name="Text Box 5"/>
            <p:cNvSpPr txBox="1">
              <a:spLocks noChangeArrowheads="1"/>
            </p:cNvSpPr>
            <p:nvPr/>
          </p:nvSpPr>
          <p:spPr bwMode="auto">
            <a:xfrm>
              <a:off x="1894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dirty="0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89" name="Text Box 6"/>
            <p:cNvSpPr txBox="1">
              <a:spLocks noChangeArrowheads="1"/>
            </p:cNvSpPr>
            <p:nvPr/>
          </p:nvSpPr>
          <p:spPr bwMode="auto">
            <a:xfrm>
              <a:off x="1895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1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22625" y="1919288"/>
            <a:ext cx="188913" cy="1143000"/>
            <a:chOff x="2144" y="943"/>
            <a:chExt cx="119" cy="719"/>
          </a:xfrm>
        </p:grpSpPr>
        <p:sp>
          <p:nvSpPr>
            <p:cNvPr id="59485" name="Text Box 8"/>
            <p:cNvSpPr txBox="1">
              <a:spLocks noChangeArrowheads="1"/>
            </p:cNvSpPr>
            <p:nvPr/>
          </p:nvSpPr>
          <p:spPr bwMode="auto">
            <a:xfrm>
              <a:off x="2144" y="943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86" name="Text Box 9"/>
            <p:cNvSpPr txBox="1">
              <a:spLocks noChangeArrowheads="1"/>
            </p:cNvSpPr>
            <p:nvPr/>
          </p:nvSpPr>
          <p:spPr bwMode="auto">
            <a:xfrm>
              <a:off x="2145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87" name="Text Box 10"/>
            <p:cNvSpPr txBox="1">
              <a:spLocks noChangeArrowheads="1"/>
            </p:cNvSpPr>
            <p:nvPr/>
          </p:nvSpPr>
          <p:spPr bwMode="auto">
            <a:xfrm>
              <a:off x="2145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2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582988" y="1919288"/>
            <a:ext cx="188912" cy="1143000"/>
            <a:chOff x="2371" y="943"/>
            <a:chExt cx="119" cy="719"/>
          </a:xfrm>
        </p:grpSpPr>
        <p:sp>
          <p:nvSpPr>
            <p:cNvPr id="59482" name="Text Box 12"/>
            <p:cNvSpPr txBox="1">
              <a:spLocks noChangeArrowheads="1"/>
            </p:cNvSpPr>
            <p:nvPr/>
          </p:nvSpPr>
          <p:spPr bwMode="auto">
            <a:xfrm>
              <a:off x="2371" y="943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83" name="Text Box 13"/>
            <p:cNvSpPr txBox="1">
              <a:spLocks noChangeArrowheads="1"/>
            </p:cNvSpPr>
            <p:nvPr/>
          </p:nvSpPr>
          <p:spPr bwMode="auto">
            <a:xfrm>
              <a:off x="2372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84" name="Text Box 14"/>
            <p:cNvSpPr txBox="1">
              <a:spLocks noChangeArrowheads="1"/>
            </p:cNvSpPr>
            <p:nvPr/>
          </p:nvSpPr>
          <p:spPr bwMode="auto">
            <a:xfrm>
              <a:off x="2372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3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3978275" y="1919288"/>
            <a:ext cx="190500" cy="1143000"/>
            <a:chOff x="2621" y="943"/>
            <a:chExt cx="118" cy="719"/>
          </a:xfrm>
        </p:grpSpPr>
        <p:sp>
          <p:nvSpPr>
            <p:cNvPr id="59479" name="Text Box 16"/>
            <p:cNvSpPr txBox="1">
              <a:spLocks noChangeArrowheads="1"/>
            </p:cNvSpPr>
            <p:nvPr/>
          </p:nvSpPr>
          <p:spPr bwMode="auto">
            <a:xfrm>
              <a:off x="2621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80" name="Text Box 17"/>
            <p:cNvSpPr txBox="1">
              <a:spLocks noChangeArrowheads="1"/>
            </p:cNvSpPr>
            <p:nvPr/>
          </p:nvSpPr>
          <p:spPr bwMode="auto">
            <a:xfrm>
              <a:off x="2621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81" name="Text Box 18"/>
            <p:cNvSpPr txBox="1">
              <a:spLocks noChangeArrowheads="1"/>
            </p:cNvSpPr>
            <p:nvPr/>
          </p:nvSpPr>
          <p:spPr bwMode="auto">
            <a:xfrm>
              <a:off x="2621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0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4340225" y="1919288"/>
            <a:ext cx="187325" cy="1143000"/>
            <a:chOff x="2848" y="943"/>
            <a:chExt cx="118" cy="719"/>
          </a:xfrm>
        </p:grpSpPr>
        <p:sp>
          <p:nvSpPr>
            <p:cNvPr id="59476" name="Text Box 20"/>
            <p:cNvSpPr txBox="1">
              <a:spLocks noChangeArrowheads="1"/>
            </p:cNvSpPr>
            <p:nvPr/>
          </p:nvSpPr>
          <p:spPr bwMode="auto">
            <a:xfrm>
              <a:off x="2848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77" name="Text Box 21"/>
            <p:cNvSpPr txBox="1">
              <a:spLocks noChangeArrowheads="1"/>
            </p:cNvSpPr>
            <p:nvPr/>
          </p:nvSpPr>
          <p:spPr bwMode="auto">
            <a:xfrm>
              <a:off x="2848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78" name="Text Box 22"/>
            <p:cNvSpPr txBox="1">
              <a:spLocks noChangeArrowheads="1"/>
            </p:cNvSpPr>
            <p:nvPr/>
          </p:nvSpPr>
          <p:spPr bwMode="auto">
            <a:xfrm>
              <a:off x="2848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1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737100" y="1919288"/>
            <a:ext cx="187325" cy="1143000"/>
            <a:chOff x="3098" y="943"/>
            <a:chExt cx="118" cy="719"/>
          </a:xfrm>
        </p:grpSpPr>
        <p:sp>
          <p:nvSpPr>
            <p:cNvPr id="59473" name="Text Box 24"/>
            <p:cNvSpPr txBox="1">
              <a:spLocks noChangeArrowheads="1"/>
            </p:cNvSpPr>
            <p:nvPr/>
          </p:nvSpPr>
          <p:spPr bwMode="auto">
            <a:xfrm>
              <a:off x="3098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74" name="Text Box 25"/>
            <p:cNvSpPr txBox="1">
              <a:spLocks noChangeArrowheads="1"/>
            </p:cNvSpPr>
            <p:nvPr/>
          </p:nvSpPr>
          <p:spPr bwMode="auto">
            <a:xfrm>
              <a:off x="3098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75" name="Text Box 26"/>
            <p:cNvSpPr txBox="1">
              <a:spLocks noChangeArrowheads="1"/>
            </p:cNvSpPr>
            <p:nvPr/>
          </p:nvSpPr>
          <p:spPr bwMode="auto">
            <a:xfrm>
              <a:off x="3098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4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5132388" y="1919288"/>
            <a:ext cx="188912" cy="1143000"/>
            <a:chOff x="3347" y="943"/>
            <a:chExt cx="119" cy="719"/>
          </a:xfrm>
        </p:grpSpPr>
        <p:sp>
          <p:nvSpPr>
            <p:cNvPr id="59470" name="Text Box 28"/>
            <p:cNvSpPr txBox="1">
              <a:spLocks noChangeArrowheads="1"/>
            </p:cNvSpPr>
            <p:nvPr/>
          </p:nvSpPr>
          <p:spPr bwMode="auto">
            <a:xfrm>
              <a:off x="3347" y="943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71" name="Text Box 29"/>
            <p:cNvSpPr txBox="1">
              <a:spLocks noChangeArrowheads="1"/>
            </p:cNvSpPr>
            <p:nvPr/>
          </p:nvSpPr>
          <p:spPr bwMode="auto">
            <a:xfrm>
              <a:off x="3348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72" name="Text Box 30"/>
            <p:cNvSpPr txBox="1">
              <a:spLocks noChangeArrowheads="1"/>
            </p:cNvSpPr>
            <p:nvPr/>
          </p:nvSpPr>
          <p:spPr bwMode="auto">
            <a:xfrm>
              <a:off x="3348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333333"/>
                  </a:solidFill>
                  <a:latin typeface="Courier New" charset="0"/>
                </a:rPr>
                <a:t>4</a:t>
              </a:r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5492750" y="1919288"/>
            <a:ext cx="188913" cy="1143000"/>
            <a:chOff x="3574" y="943"/>
            <a:chExt cx="119" cy="719"/>
          </a:xfrm>
        </p:grpSpPr>
        <p:sp>
          <p:nvSpPr>
            <p:cNvPr id="59467" name="Text Box 32"/>
            <p:cNvSpPr txBox="1">
              <a:spLocks noChangeArrowheads="1"/>
            </p:cNvSpPr>
            <p:nvPr/>
          </p:nvSpPr>
          <p:spPr bwMode="auto">
            <a:xfrm>
              <a:off x="3574" y="943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68" name="Text Box 33"/>
            <p:cNvSpPr txBox="1">
              <a:spLocks noChangeArrowheads="1"/>
            </p:cNvSpPr>
            <p:nvPr/>
          </p:nvSpPr>
          <p:spPr bwMode="auto">
            <a:xfrm>
              <a:off x="3575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69" name="Text Box 34"/>
            <p:cNvSpPr txBox="1">
              <a:spLocks noChangeArrowheads="1"/>
            </p:cNvSpPr>
            <p:nvPr/>
          </p:nvSpPr>
          <p:spPr bwMode="auto">
            <a:xfrm>
              <a:off x="3575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5853113" y="1919288"/>
            <a:ext cx="188912" cy="1143000"/>
            <a:chOff x="3801" y="943"/>
            <a:chExt cx="119" cy="719"/>
          </a:xfrm>
        </p:grpSpPr>
        <p:sp>
          <p:nvSpPr>
            <p:cNvPr id="59464" name="Text Box 36"/>
            <p:cNvSpPr txBox="1">
              <a:spLocks noChangeArrowheads="1"/>
            </p:cNvSpPr>
            <p:nvPr/>
          </p:nvSpPr>
          <p:spPr bwMode="auto">
            <a:xfrm>
              <a:off x="3801" y="943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65" name="Text Box 37"/>
            <p:cNvSpPr txBox="1">
              <a:spLocks noChangeArrowheads="1"/>
            </p:cNvSpPr>
            <p:nvPr/>
          </p:nvSpPr>
          <p:spPr bwMode="auto">
            <a:xfrm>
              <a:off x="3802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66" name="Text Box 38"/>
            <p:cNvSpPr txBox="1">
              <a:spLocks noChangeArrowheads="1"/>
            </p:cNvSpPr>
            <p:nvPr/>
          </p:nvSpPr>
          <p:spPr bwMode="auto">
            <a:xfrm>
              <a:off x="3802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2</a:t>
              </a:r>
            </a:p>
          </p:txBody>
        </p:sp>
      </p:grpSp>
      <p:grpSp>
        <p:nvGrpSpPr>
          <p:cNvPr id="12" name="Group 39"/>
          <p:cNvGrpSpPr>
            <a:grpSpLocks/>
          </p:cNvGrpSpPr>
          <p:nvPr/>
        </p:nvGrpSpPr>
        <p:grpSpPr bwMode="auto">
          <a:xfrm>
            <a:off x="6249988" y="1919288"/>
            <a:ext cx="188912" cy="1143000"/>
            <a:chOff x="4051" y="943"/>
            <a:chExt cx="119" cy="719"/>
          </a:xfrm>
        </p:grpSpPr>
        <p:sp>
          <p:nvSpPr>
            <p:cNvPr id="59461" name="Text Box 40"/>
            <p:cNvSpPr txBox="1">
              <a:spLocks noChangeArrowheads="1"/>
            </p:cNvSpPr>
            <p:nvPr/>
          </p:nvSpPr>
          <p:spPr bwMode="auto">
            <a:xfrm>
              <a:off x="4051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62" name="Text Box 41"/>
            <p:cNvSpPr txBox="1">
              <a:spLocks noChangeArrowheads="1"/>
            </p:cNvSpPr>
            <p:nvPr/>
          </p:nvSpPr>
          <p:spPr bwMode="auto">
            <a:xfrm>
              <a:off x="4051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63" name="Text Box 42"/>
            <p:cNvSpPr txBox="1">
              <a:spLocks noChangeArrowheads="1"/>
            </p:cNvSpPr>
            <p:nvPr/>
          </p:nvSpPr>
          <p:spPr bwMode="auto">
            <a:xfrm>
              <a:off x="4052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3</a:t>
              </a:r>
            </a:p>
          </p:txBody>
        </p:sp>
      </p:grpSp>
      <p:grpSp>
        <p:nvGrpSpPr>
          <p:cNvPr id="13" name="Group 43"/>
          <p:cNvGrpSpPr>
            <a:grpSpLocks/>
          </p:cNvGrpSpPr>
          <p:nvPr/>
        </p:nvGrpSpPr>
        <p:grpSpPr bwMode="auto">
          <a:xfrm>
            <a:off x="6611938" y="1919288"/>
            <a:ext cx="185737" cy="1143000"/>
            <a:chOff x="4278" y="943"/>
            <a:chExt cx="119" cy="719"/>
          </a:xfrm>
        </p:grpSpPr>
        <p:sp>
          <p:nvSpPr>
            <p:cNvPr id="59458" name="Text Box 44"/>
            <p:cNvSpPr txBox="1">
              <a:spLocks noChangeArrowheads="1"/>
            </p:cNvSpPr>
            <p:nvPr/>
          </p:nvSpPr>
          <p:spPr bwMode="auto">
            <a:xfrm>
              <a:off x="4278" y="943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59" name="Text Box 45"/>
            <p:cNvSpPr txBox="1">
              <a:spLocks noChangeArrowheads="1"/>
            </p:cNvSpPr>
            <p:nvPr/>
          </p:nvSpPr>
          <p:spPr bwMode="auto">
            <a:xfrm>
              <a:off x="4278" y="119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60" name="Text Box 46"/>
            <p:cNvSpPr txBox="1">
              <a:spLocks noChangeArrowheads="1"/>
            </p:cNvSpPr>
            <p:nvPr/>
          </p:nvSpPr>
          <p:spPr bwMode="auto">
            <a:xfrm>
              <a:off x="4279" y="1441"/>
              <a:ext cx="11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</p:grpSp>
      <p:sp>
        <p:nvSpPr>
          <p:cNvPr id="59411" name="AutoShape 47"/>
          <p:cNvSpPr>
            <a:spLocks noChangeArrowheads="1"/>
          </p:cNvSpPr>
          <p:nvPr/>
        </p:nvSpPr>
        <p:spPr bwMode="auto">
          <a:xfrm>
            <a:off x="2351088" y="1397000"/>
            <a:ext cx="4633912" cy="381000"/>
          </a:xfrm>
          <a:prstGeom prst="roundRect">
            <a:avLst>
              <a:gd name="adj" fmla="val 417"/>
            </a:avLst>
          </a:prstGeom>
          <a:noFill/>
          <a:ln w="18360">
            <a:solidFill>
              <a:srgbClr val="99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59412" name="Text Box 48"/>
          <p:cNvSpPr txBox="1">
            <a:spLocks noChangeArrowheads="1"/>
          </p:cNvSpPr>
          <p:nvPr/>
        </p:nvSpPr>
        <p:spPr bwMode="auto">
          <a:xfrm>
            <a:off x="655638" y="1455738"/>
            <a:ext cx="15319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0000"/>
                </a:solidFill>
                <a:latin typeface="Luxi Sans" charset="0"/>
              </a:rPr>
              <a:t>Access pattern</a:t>
            </a:r>
          </a:p>
        </p:txBody>
      </p:sp>
      <p:sp>
        <p:nvSpPr>
          <p:cNvPr id="59413" name="Line 49"/>
          <p:cNvSpPr>
            <a:spLocks noChangeShapeType="1"/>
          </p:cNvSpPr>
          <p:nvPr/>
        </p:nvSpPr>
        <p:spPr bwMode="auto">
          <a:xfrm>
            <a:off x="3271838" y="1225550"/>
            <a:ext cx="1600200" cy="1588"/>
          </a:xfrm>
          <a:prstGeom prst="line">
            <a:avLst/>
          </a:prstGeom>
          <a:noFill/>
          <a:ln w="18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4" name="Text Box 50"/>
          <p:cNvSpPr txBox="1">
            <a:spLocks noChangeArrowheads="1"/>
          </p:cNvSpPr>
          <p:nvPr/>
        </p:nvSpPr>
        <p:spPr bwMode="auto">
          <a:xfrm>
            <a:off x="2465388" y="3792538"/>
            <a:ext cx="434498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5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2450" dirty="0">
                <a:solidFill>
                  <a:srgbClr val="993333"/>
                </a:solidFill>
                <a:latin typeface="Courier New" charset="0"/>
              </a:rPr>
              <a:t>0 1 2 3 0 1 4 0 1 2 3 4</a:t>
            </a:r>
          </a:p>
        </p:txBody>
      </p:sp>
      <p:grpSp>
        <p:nvGrpSpPr>
          <p:cNvPr id="14" name="Group 51"/>
          <p:cNvGrpSpPr>
            <a:grpSpLocks/>
          </p:cNvGrpSpPr>
          <p:nvPr/>
        </p:nvGrpSpPr>
        <p:grpSpPr bwMode="auto">
          <a:xfrm>
            <a:off x="2465388" y="4298950"/>
            <a:ext cx="4332287" cy="1492250"/>
            <a:chOff x="1667" y="2440"/>
            <a:chExt cx="2730" cy="941"/>
          </a:xfrm>
        </p:grpSpPr>
        <p:sp>
          <p:nvSpPr>
            <p:cNvPr id="59425" name="Text Box 52"/>
            <p:cNvSpPr txBox="1">
              <a:spLocks noChangeArrowheads="1"/>
            </p:cNvSpPr>
            <p:nvPr/>
          </p:nvSpPr>
          <p:spPr bwMode="auto">
            <a:xfrm>
              <a:off x="1667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26" name="Text Box 53"/>
            <p:cNvSpPr txBox="1">
              <a:spLocks noChangeArrowheads="1"/>
            </p:cNvSpPr>
            <p:nvPr/>
          </p:nvSpPr>
          <p:spPr bwMode="auto">
            <a:xfrm>
              <a:off x="1894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27" name="Text Box 54"/>
            <p:cNvSpPr txBox="1">
              <a:spLocks noChangeArrowheads="1"/>
            </p:cNvSpPr>
            <p:nvPr/>
          </p:nvSpPr>
          <p:spPr bwMode="auto">
            <a:xfrm>
              <a:off x="1895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28" name="Text Box 55"/>
            <p:cNvSpPr txBox="1">
              <a:spLocks noChangeArrowheads="1"/>
            </p:cNvSpPr>
            <p:nvPr/>
          </p:nvSpPr>
          <p:spPr bwMode="auto">
            <a:xfrm>
              <a:off x="2144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29" name="Text Box 56"/>
            <p:cNvSpPr txBox="1">
              <a:spLocks noChangeArrowheads="1"/>
            </p:cNvSpPr>
            <p:nvPr/>
          </p:nvSpPr>
          <p:spPr bwMode="auto">
            <a:xfrm>
              <a:off x="2145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30" name="Text Box 57"/>
            <p:cNvSpPr txBox="1">
              <a:spLocks noChangeArrowheads="1"/>
            </p:cNvSpPr>
            <p:nvPr/>
          </p:nvSpPr>
          <p:spPr bwMode="auto">
            <a:xfrm>
              <a:off x="2145" y="2938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31" name="Text Box 58"/>
            <p:cNvSpPr txBox="1">
              <a:spLocks noChangeArrowheads="1"/>
            </p:cNvSpPr>
            <p:nvPr/>
          </p:nvSpPr>
          <p:spPr bwMode="auto">
            <a:xfrm>
              <a:off x="2370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32" name="Text Box 59"/>
            <p:cNvSpPr txBox="1">
              <a:spLocks noChangeArrowheads="1"/>
            </p:cNvSpPr>
            <p:nvPr/>
          </p:nvSpPr>
          <p:spPr bwMode="auto">
            <a:xfrm>
              <a:off x="2372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33" name="Text Box 60"/>
            <p:cNvSpPr txBox="1">
              <a:spLocks noChangeArrowheads="1"/>
            </p:cNvSpPr>
            <p:nvPr/>
          </p:nvSpPr>
          <p:spPr bwMode="auto">
            <a:xfrm>
              <a:off x="2372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34" name="Text Box 61"/>
            <p:cNvSpPr txBox="1">
              <a:spLocks noChangeArrowheads="1"/>
            </p:cNvSpPr>
            <p:nvPr/>
          </p:nvSpPr>
          <p:spPr bwMode="auto">
            <a:xfrm>
              <a:off x="2621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35" name="Text Box 62"/>
            <p:cNvSpPr txBox="1">
              <a:spLocks noChangeArrowheads="1"/>
            </p:cNvSpPr>
            <p:nvPr/>
          </p:nvSpPr>
          <p:spPr bwMode="auto">
            <a:xfrm>
              <a:off x="2621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36" name="Text Box 63"/>
            <p:cNvSpPr txBox="1">
              <a:spLocks noChangeArrowheads="1"/>
            </p:cNvSpPr>
            <p:nvPr/>
          </p:nvSpPr>
          <p:spPr bwMode="auto">
            <a:xfrm>
              <a:off x="2621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37" name="Text Box 64"/>
            <p:cNvSpPr txBox="1">
              <a:spLocks noChangeArrowheads="1"/>
            </p:cNvSpPr>
            <p:nvPr/>
          </p:nvSpPr>
          <p:spPr bwMode="auto">
            <a:xfrm>
              <a:off x="2848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38" name="Text Box 65"/>
            <p:cNvSpPr txBox="1">
              <a:spLocks noChangeArrowheads="1"/>
            </p:cNvSpPr>
            <p:nvPr/>
          </p:nvSpPr>
          <p:spPr bwMode="auto">
            <a:xfrm>
              <a:off x="2848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39" name="Text Box 66"/>
            <p:cNvSpPr txBox="1">
              <a:spLocks noChangeArrowheads="1"/>
            </p:cNvSpPr>
            <p:nvPr/>
          </p:nvSpPr>
          <p:spPr bwMode="auto">
            <a:xfrm>
              <a:off x="2848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40" name="Text Box 67"/>
            <p:cNvSpPr txBox="1">
              <a:spLocks noChangeArrowheads="1"/>
            </p:cNvSpPr>
            <p:nvPr/>
          </p:nvSpPr>
          <p:spPr bwMode="auto">
            <a:xfrm>
              <a:off x="3097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41" name="Text Box 68"/>
            <p:cNvSpPr txBox="1">
              <a:spLocks noChangeArrowheads="1"/>
            </p:cNvSpPr>
            <p:nvPr/>
          </p:nvSpPr>
          <p:spPr bwMode="auto">
            <a:xfrm>
              <a:off x="3097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42" name="Text Box 69"/>
            <p:cNvSpPr txBox="1">
              <a:spLocks noChangeArrowheads="1"/>
            </p:cNvSpPr>
            <p:nvPr/>
          </p:nvSpPr>
          <p:spPr bwMode="auto">
            <a:xfrm>
              <a:off x="3097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43" name="Text Box 70"/>
            <p:cNvSpPr txBox="1">
              <a:spLocks noChangeArrowheads="1"/>
            </p:cNvSpPr>
            <p:nvPr/>
          </p:nvSpPr>
          <p:spPr bwMode="auto">
            <a:xfrm>
              <a:off x="3346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44" name="Text Box 71"/>
            <p:cNvSpPr txBox="1">
              <a:spLocks noChangeArrowheads="1"/>
            </p:cNvSpPr>
            <p:nvPr/>
          </p:nvSpPr>
          <p:spPr bwMode="auto">
            <a:xfrm>
              <a:off x="3347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45" name="Text Box 72"/>
            <p:cNvSpPr txBox="1">
              <a:spLocks noChangeArrowheads="1"/>
            </p:cNvSpPr>
            <p:nvPr/>
          </p:nvSpPr>
          <p:spPr bwMode="auto">
            <a:xfrm>
              <a:off x="3347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46" name="Text Box 73"/>
            <p:cNvSpPr txBox="1">
              <a:spLocks noChangeArrowheads="1"/>
            </p:cNvSpPr>
            <p:nvPr/>
          </p:nvSpPr>
          <p:spPr bwMode="auto">
            <a:xfrm>
              <a:off x="3573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47" name="Text Box 74"/>
            <p:cNvSpPr txBox="1">
              <a:spLocks noChangeArrowheads="1"/>
            </p:cNvSpPr>
            <p:nvPr/>
          </p:nvSpPr>
          <p:spPr bwMode="auto">
            <a:xfrm>
              <a:off x="3574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48" name="Text Box 75"/>
            <p:cNvSpPr txBox="1">
              <a:spLocks noChangeArrowheads="1"/>
            </p:cNvSpPr>
            <p:nvPr/>
          </p:nvSpPr>
          <p:spPr bwMode="auto">
            <a:xfrm>
              <a:off x="3574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49" name="Text Box 76"/>
            <p:cNvSpPr txBox="1">
              <a:spLocks noChangeArrowheads="1"/>
            </p:cNvSpPr>
            <p:nvPr/>
          </p:nvSpPr>
          <p:spPr bwMode="auto">
            <a:xfrm>
              <a:off x="3800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59450" name="Text Box 77"/>
            <p:cNvSpPr txBox="1">
              <a:spLocks noChangeArrowheads="1"/>
            </p:cNvSpPr>
            <p:nvPr/>
          </p:nvSpPr>
          <p:spPr bwMode="auto">
            <a:xfrm>
              <a:off x="3801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51" name="Text Box 78"/>
            <p:cNvSpPr txBox="1">
              <a:spLocks noChangeArrowheads="1"/>
            </p:cNvSpPr>
            <p:nvPr/>
          </p:nvSpPr>
          <p:spPr bwMode="auto">
            <a:xfrm>
              <a:off x="3801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52" name="Text Box 79"/>
            <p:cNvSpPr txBox="1">
              <a:spLocks noChangeArrowheads="1"/>
            </p:cNvSpPr>
            <p:nvPr/>
          </p:nvSpPr>
          <p:spPr bwMode="auto">
            <a:xfrm>
              <a:off x="4050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0</a:t>
              </a:r>
            </a:p>
          </p:txBody>
        </p:sp>
        <p:sp>
          <p:nvSpPr>
            <p:cNvPr id="59453" name="Text Box 80"/>
            <p:cNvSpPr txBox="1">
              <a:spLocks noChangeArrowheads="1"/>
            </p:cNvSpPr>
            <p:nvPr/>
          </p:nvSpPr>
          <p:spPr bwMode="auto">
            <a:xfrm>
              <a:off x="4050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54" name="Text Box 81"/>
            <p:cNvSpPr txBox="1">
              <a:spLocks noChangeArrowheads="1"/>
            </p:cNvSpPr>
            <p:nvPr/>
          </p:nvSpPr>
          <p:spPr bwMode="auto">
            <a:xfrm>
              <a:off x="4051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59455" name="Text Box 82"/>
            <p:cNvSpPr txBox="1">
              <a:spLocks noChangeArrowheads="1"/>
            </p:cNvSpPr>
            <p:nvPr/>
          </p:nvSpPr>
          <p:spPr bwMode="auto">
            <a:xfrm>
              <a:off x="4277" y="2440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59456" name="Text Box 83"/>
            <p:cNvSpPr txBox="1">
              <a:spLocks noChangeArrowheads="1"/>
            </p:cNvSpPr>
            <p:nvPr/>
          </p:nvSpPr>
          <p:spPr bwMode="auto">
            <a:xfrm>
              <a:off x="4277" y="2689"/>
              <a:ext cx="1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59457" name="Text Box 84"/>
            <p:cNvSpPr txBox="1">
              <a:spLocks noChangeArrowheads="1"/>
            </p:cNvSpPr>
            <p:nvPr/>
          </p:nvSpPr>
          <p:spPr bwMode="auto">
            <a:xfrm>
              <a:off x="4278" y="2938"/>
              <a:ext cx="120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Courier New" charset="0"/>
                </a:rPr>
                <a:t>3</a:t>
              </a:r>
            </a:p>
            <a:p>
              <a:pPr>
                <a:lnSpc>
                  <a:spcPct val="95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b="1">
                  <a:solidFill>
                    <a:srgbClr val="2323DC"/>
                  </a:solidFill>
                  <a:latin typeface="Courier New" charset="0"/>
                </a:rPr>
                <a:t>4</a:t>
              </a:r>
            </a:p>
          </p:txBody>
        </p:sp>
      </p:grpSp>
      <p:sp>
        <p:nvSpPr>
          <p:cNvPr id="59416" name="AutoShape 85"/>
          <p:cNvSpPr>
            <a:spLocks noChangeArrowheads="1"/>
          </p:cNvSpPr>
          <p:nvPr/>
        </p:nvSpPr>
        <p:spPr bwMode="auto">
          <a:xfrm>
            <a:off x="2351088" y="3771900"/>
            <a:ext cx="4633912" cy="381000"/>
          </a:xfrm>
          <a:prstGeom prst="roundRect">
            <a:avLst>
              <a:gd name="adj" fmla="val 417"/>
            </a:avLst>
          </a:prstGeom>
          <a:noFill/>
          <a:ln w="18360">
            <a:solidFill>
              <a:srgbClr val="99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59417" name="Text Box 86"/>
          <p:cNvSpPr txBox="1">
            <a:spLocks noChangeArrowheads="1"/>
          </p:cNvSpPr>
          <p:nvPr/>
        </p:nvSpPr>
        <p:spPr bwMode="auto">
          <a:xfrm>
            <a:off x="2717800" y="3441700"/>
            <a:ext cx="4381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0000"/>
                </a:solidFill>
                <a:latin typeface="Luxi Sans" charset="0"/>
              </a:rPr>
              <a:t>time</a:t>
            </a:r>
          </a:p>
        </p:txBody>
      </p:sp>
      <p:sp>
        <p:nvSpPr>
          <p:cNvPr id="59418" name="Line 87"/>
          <p:cNvSpPr>
            <a:spLocks noChangeShapeType="1"/>
          </p:cNvSpPr>
          <p:nvPr/>
        </p:nvSpPr>
        <p:spPr bwMode="auto">
          <a:xfrm>
            <a:off x="3271838" y="3602038"/>
            <a:ext cx="1600200" cy="1587"/>
          </a:xfrm>
          <a:prstGeom prst="line">
            <a:avLst/>
          </a:prstGeom>
          <a:noFill/>
          <a:ln w="18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9" name="Text Box 88"/>
          <p:cNvSpPr txBox="1">
            <a:spLocks noChangeArrowheads="1"/>
          </p:cNvSpPr>
          <p:nvPr/>
        </p:nvSpPr>
        <p:spPr bwMode="auto">
          <a:xfrm>
            <a:off x="457200" y="2209800"/>
            <a:ext cx="17780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 dirty="0">
                <a:solidFill>
                  <a:srgbClr val="000000"/>
                </a:solidFill>
                <a:latin typeface="Luxi Sans" charset="0"/>
              </a:rPr>
              <a:t>Physical memory</a:t>
            </a:r>
          </a:p>
          <a:p>
            <a:pPr algn="ctr"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 dirty="0">
                <a:solidFill>
                  <a:srgbClr val="000000"/>
                </a:solidFill>
                <a:latin typeface="Luxi Sans" charset="0"/>
              </a:rPr>
              <a:t>(3 page frames</a:t>
            </a:r>
            <a:r>
              <a:rPr lang="en-GB" i="1" dirty="0" smtClean="0">
                <a:solidFill>
                  <a:srgbClr val="000000"/>
                </a:solidFill>
                <a:latin typeface="Luxi Sans" charset="0"/>
              </a:rPr>
              <a:t>)</a:t>
            </a:r>
            <a:endParaRPr lang="en-GB" i="1" dirty="0">
              <a:solidFill>
                <a:srgbClr val="000000"/>
              </a:solidFill>
              <a:latin typeface="Luxi Sans" charset="0"/>
            </a:endParaRPr>
          </a:p>
        </p:txBody>
      </p:sp>
      <p:sp>
        <p:nvSpPr>
          <p:cNvPr id="59420" name="Text Box 89"/>
          <p:cNvSpPr txBox="1">
            <a:spLocks noChangeArrowheads="1"/>
          </p:cNvSpPr>
          <p:nvPr/>
        </p:nvSpPr>
        <p:spPr bwMode="auto">
          <a:xfrm>
            <a:off x="655638" y="3833813"/>
            <a:ext cx="15319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0000"/>
                </a:solidFill>
                <a:latin typeface="Luxi Sans" charset="0"/>
              </a:rPr>
              <a:t>Access pattern</a:t>
            </a:r>
          </a:p>
        </p:txBody>
      </p:sp>
      <p:sp>
        <p:nvSpPr>
          <p:cNvPr id="59421" name="Text Box 90"/>
          <p:cNvSpPr txBox="1">
            <a:spLocks noChangeArrowheads="1"/>
          </p:cNvSpPr>
          <p:nvPr/>
        </p:nvSpPr>
        <p:spPr bwMode="auto">
          <a:xfrm>
            <a:off x="457200" y="4589463"/>
            <a:ext cx="1778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 dirty="0">
                <a:solidFill>
                  <a:srgbClr val="000000"/>
                </a:solidFill>
                <a:latin typeface="Luxi Sans" charset="0"/>
              </a:rPr>
              <a:t>Physical memory</a:t>
            </a:r>
          </a:p>
          <a:p>
            <a:pPr algn="ctr"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 dirty="0">
                <a:solidFill>
                  <a:srgbClr val="000000"/>
                </a:solidFill>
                <a:latin typeface="Luxi Sans" charset="0"/>
              </a:rPr>
              <a:t>(4 page frames</a:t>
            </a:r>
            <a:r>
              <a:rPr lang="en-GB" i="1" dirty="0" smtClean="0">
                <a:solidFill>
                  <a:srgbClr val="000000"/>
                </a:solidFill>
                <a:latin typeface="Luxi Sans" charset="0"/>
              </a:rPr>
              <a:t>)</a:t>
            </a:r>
            <a:endParaRPr lang="en-GB" i="1" dirty="0">
              <a:solidFill>
                <a:srgbClr val="000000"/>
              </a:solidFill>
              <a:latin typeface="Luxi Sans" charset="0"/>
            </a:endParaRPr>
          </a:p>
        </p:txBody>
      </p:sp>
      <p:sp>
        <p:nvSpPr>
          <p:cNvPr id="95" name="Text Box 91"/>
          <p:cNvSpPr txBox="1">
            <a:spLocks noChangeArrowheads="1"/>
          </p:cNvSpPr>
          <p:nvPr/>
        </p:nvSpPr>
        <p:spPr bwMode="auto">
          <a:xfrm>
            <a:off x="7570788" y="2159000"/>
            <a:ext cx="14128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2323DC"/>
                </a:solidFill>
                <a:latin typeface="Luxi Sans" charset="0"/>
              </a:rPr>
              <a:t>9 page faults!</a:t>
            </a:r>
          </a:p>
        </p:txBody>
      </p:sp>
      <p:sp>
        <p:nvSpPr>
          <p:cNvPr id="96" name="Text Box 92"/>
          <p:cNvSpPr txBox="1">
            <a:spLocks noChangeArrowheads="1"/>
          </p:cNvSpPr>
          <p:nvPr/>
        </p:nvSpPr>
        <p:spPr bwMode="auto">
          <a:xfrm>
            <a:off x="7570788" y="4745038"/>
            <a:ext cx="154146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2323DC"/>
                </a:solidFill>
                <a:latin typeface="Luxi Sans" charset="0"/>
              </a:rPr>
              <a:t>10 page faults!</a:t>
            </a:r>
          </a:p>
        </p:txBody>
      </p:sp>
      <p:sp>
        <p:nvSpPr>
          <p:cNvPr id="59424" name="Text Box 93"/>
          <p:cNvSpPr txBox="1">
            <a:spLocks noChangeArrowheads="1"/>
          </p:cNvSpPr>
          <p:nvPr/>
        </p:nvSpPr>
        <p:spPr bwMode="auto">
          <a:xfrm>
            <a:off x="2759075" y="1074738"/>
            <a:ext cx="4381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0000"/>
                </a:solidFill>
                <a:latin typeface="Luxi Sans" charset="0"/>
              </a:rPr>
              <a:t>time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>
                <a:latin typeface="Arial" charset="0"/>
                <a:ea typeface="ＭＳ Ｐゴシック" charset="0"/>
                <a:cs typeface="ＭＳ Ｐゴシック" charset="0"/>
              </a:rPr>
              <a:t>Algorithm: Least Recently Used (LRU)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Evict the page that was used the longest time ago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Keep track of when pages are referenced to make a better decision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Use past behavior to predict future behavior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LRU uses past information, while OPT uses future information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When does LRU work well, and when does it not?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Implementation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Every time a page is accessed, record a timestamp of the access time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When choosing a page to evict, scan over all pages and throw out page with oldest timestamp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Problems with this implementation?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04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A4F127-708A-3148-87B7-A868607C85CB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>
                <a:latin typeface="Arial" charset="0"/>
                <a:ea typeface="ＭＳ Ｐゴシック" charset="0"/>
                <a:cs typeface="ＭＳ Ｐゴシック" charset="0"/>
              </a:rPr>
              <a:t>Algorithm: Least Recently Used (LRU)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Evict the page that was used the longest time ago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Keep track of when pages are referenced to make a better decision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Use past behavior to predict future behavior</a:t>
            </a:r>
          </a:p>
          <a:p>
            <a:pPr lvl="2"/>
            <a:r>
              <a:rPr lang="en-US" sz="2000" dirty="0">
                <a:latin typeface="Arial" charset="0"/>
                <a:ea typeface="ＭＳ Ｐゴシック" charset="0"/>
              </a:rPr>
              <a:t>LRU uses past information, while OPT uses future information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When does LRU work well, and when does it not?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Implementation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Every time a page is accessed, record a timestamp of the access time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When choosing a page to evict, scan over all pages and throw out page with oldest timestamp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Problems with this implementation?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32-bit timestamp  would double size of PTE</a:t>
            </a:r>
          </a:p>
          <a:p>
            <a:pPr lvl="1"/>
            <a:r>
              <a:rPr lang="en-US" sz="2300" dirty="0">
                <a:latin typeface="Arial" charset="0"/>
                <a:ea typeface="ＭＳ Ｐゴシック" charset="0"/>
              </a:rPr>
              <a:t>Scanning all of the PTEs for lowest timestamp: slow</a:t>
            </a:r>
          </a:p>
          <a:p>
            <a:endParaRPr lang="en-US" sz="23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3BFD9F7-F753-5A46-88E3-691B2ADC07B3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D96B28-DDC2-4C40-9174-79CC04090464}" type="slidenum">
              <a:rPr lang="en-US"/>
              <a:pPr/>
              <a:t>18</a:t>
            </a:fld>
            <a:endParaRPr lang="en-US"/>
          </a:p>
        </p:txBody>
      </p:sp>
      <p:sp>
        <p:nvSpPr>
          <p:cNvPr id="624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(LRU)</a:t>
            </a:r>
          </a:p>
        </p:txBody>
      </p:sp>
      <p:sp>
        <p:nvSpPr>
          <p:cNvPr id="62468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Keep track of when a page is used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Replace the page that has been used least recently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2469" name="Group 4"/>
          <p:cNvGrpSpPr>
            <a:grpSpLocks/>
          </p:cNvGrpSpPr>
          <p:nvPr/>
        </p:nvGrpSpPr>
        <p:grpSpPr bwMode="auto">
          <a:xfrm>
            <a:off x="609600" y="3429000"/>
            <a:ext cx="8001000" cy="3035300"/>
            <a:chOff x="384" y="2304"/>
            <a:chExt cx="5040" cy="1912"/>
          </a:xfrm>
        </p:grpSpPr>
        <p:sp>
          <p:nvSpPr>
            <p:cNvPr id="62471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62472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473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474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475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2470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A4AAD8-82EA-FE41-A802-994A549405E2}" type="slidenum">
              <a:rPr lang="en-US"/>
              <a:pPr/>
              <a:t>19</a:t>
            </a:fld>
            <a:endParaRPr lang="en-US"/>
          </a:p>
        </p:txBody>
      </p:sp>
      <p:sp>
        <p:nvSpPr>
          <p:cNvPr id="634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(LRU)</a:t>
            </a:r>
          </a:p>
        </p:txBody>
      </p:sp>
      <p:sp>
        <p:nvSpPr>
          <p:cNvPr id="63492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Keep track of when a page is used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Replace the page that has been used least recently (</a:t>
            </a:r>
            <a:r>
              <a:rPr lang="en-US" sz="2800" u="sng">
                <a:latin typeface="Arial" charset="0"/>
                <a:ea typeface="ＭＳ Ｐゴシック" charset="0"/>
                <a:cs typeface="ＭＳ Ｐゴシック" charset="0"/>
              </a:rPr>
              <a:t>farthest in the past</a:t>
            </a:r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3493" name="Group 4"/>
          <p:cNvGrpSpPr>
            <a:grpSpLocks/>
          </p:cNvGrpSpPr>
          <p:nvPr/>
        </p:nvGrpSpPr>
        <p:grpSpPr bwMode="auto">
          <a:xfrm>
            <a:off x="609600" y="3429000"/>
            <a:ext cx="8001000" cy="3035300"/>
            <a:chOff x="384" y="2304"/>
            <a:chExt cx="5040" cy="1912"/>
          </a:xfrm>
        </p:grpSpPr>
        <p:sp>
          <p:nvSpPr>
            <p:cNvPr id="63496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63497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498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499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00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3494" name="Text Box 10"/>
          <p:cNvSpPr txBox="1">
            <a:spLocks noChangeArrowheads="1"/>
          </p:cNvSpPr>
          <p:nvPr/>
        </p:nvSpPr>
        <p:spPr bwMode="auto">
          <a:xfrm>
            <a:off x="2667000" y="44196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</a:t>
            </a:r>
          </a:p>
        </p:txBody>
      </p:sp>
      <p:sp>
        <p:nvSpPr>
          <p:cNvPr id="6349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68E1FA2-4AAB-6442-8314-C122B01DA8CF}" type="slidenum">
              <a:rPr lang="en-US"/>
              <a:pPr/>
              <a:t>20</a:t>
            </a:fld>
            <a:endParaRPr lang="en-US"/>
          </a:p>
        </p:txBody>
      </p:sp>
      <p:sp>
        <p:nvSpPr>
          <p:cNvPr id="645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(LRU)</a:t>
            </a:r>
          </a:p>
        </p:txBody>
      </p:sp>
      <p:sp>
        <p:nvSpPr>
          <p:cNvPr id="64516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Keep track of when a page is used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Replace the page that has been used least recently (</a:t>
            </a:r>
            <a:r>
              <a:rPr lang="en-US" sz="2800" u="sng">
                <a:latin typeface="Arial" charset="0"/>
                <a:ea typeface="ＭＳ Ｐゴシック" charset="0"/>
                <a:cs typeface="ＭＳ Ｐゴシック" charset="0"/>
              </a:rPr>
              <a:t>farthest in the past</a:t>
            </a:r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4517" name="Group 4"/>
          <p:cNvGrpSpPr>
            <a:grpSpLocks/>
          </p:cNvGrpSpPr>
          <p:nvPr/>
        </p:nvGrpSpPr>
        <p:grpSpPr bwMode="auto">
          <a:xfrm>
            <a:off x="609600" y="3429000"/>
            <a:ext cx="8001000" cy="3035300"/>
            <a:chOff x="384" y="2304"/>
            <a:chExt cx="5040" cy="1912"/>
          </a:xfrm>
        </p:grpSpPr>
        <p:sp>
          <p:nvSpPr>
            <p:cNvPr id="64520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64521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2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3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4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4518" name="Text Box 10"/>
          <p:cNvSpPr txBox="1">
            <a:spLocks noChangeArrowheads="1"/>
          </p:cNvSpPr>
          <p:nvPr/>
        </p:nvSpPr>
        <p:spPr bwMode="auto">
          <a:xfrm>
            <a:off x="2667000" y="44196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b   b   b   b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e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e   e   e</a:t>
            </a:r>
            <a:endParaRPr lang="en-US" b="1">
              <a:solidFill>
                <a:srgbClr val="0033CC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d   d   d   d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              X</a:t>
            </a:r>
          </a:p>
        </p:txBody>
      </p:sp>
      <p:sp>
        <p:nvSpPr>
          <p:cNvPr id="6451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119D3F7-4C14-424D-8675-2B855E692892}" type="slidenum">
              <a:rPr lang="en-US"/>
              <a:pPr/>
              <a:t>21</a:t>
            </a:fld>
            <a:endParaRPr lang="en-US"/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(LRU)</a:t>
            </a:r>
          </a:p>
        </p:txBody>
      </p:sp>
      <p:sp>
        <p:nvSpPr>
          <p:cNvPr id="65540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Keep track of when a page is used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Replace the page that has been used least recently (</a:t>
            </a:r>
            <a:r>
              <a:rPr lang="en-US" sz="2800" u="sng">
                <a:latin typeface="Arial" charset="0"/>
                <a:ea typeface="ＭＳ Ｐゴシック" charset="0"/>
                <a:cs typeface="ＭＳ Ｐゴシック" charset="0"/>
              </a:rPr>
              <a:t>farthest in the past</a:t>
            </a:r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5541" name="Group 4"/>
          <p:cNvGrpSpPr>
            <a:grpSpLocks/>
          </p:cNvGrpSpPr>
          <p:nvPr/>
        </p:nvGrpSpPr>
        <p:grpSpPr bwMode="auto">
          <a:xfrm>
            <a:off x="609600" y="3429000"/>
            <a:ext cx="8001000" cy="3035300"/>
            <a:chOff x="384" y="2304"/>
            <a:chExt cx="5040" cy="1912"/>
          </a:xfrm>
        </p:grpSpPr>
        <p:sp>
          <p:nvSpPr>
            <p:cNvPr id="65544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65545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46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47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48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5542" name="Text Box 10"/>
          <p:cNvSpPr txBox="1">
            <a:spLocks noChangeArrowheads="1"/>
          </p:cNvSpPr>
          <p:nvPr/>
        </p:nvSpPr>
        <p:spPr bwMode="auto">
          <a:xfrm>
            <a:off x="2667000" y="44196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a   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b   b   b   b   b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e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e   e   e   e</a:t>
            </a:r>
            <a:endParaRPr lang="en-US" b="1">
              <a:solidFill>
                <a:srgbClr val="0033CC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d   d   d   d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c</a:t>
            </a: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              X   X</a:t>
            </a:r>
          </a:p>
        </p:txBody>
      </p:sp>
      <p:sp>
        <p:nvSpPr>
          <p:cNvPr id="6554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A690362-3B7E-C441-BCC5-F0CF87E4AE71}" type="slidenum">
              <a:rPr lang="en-US"/>
              <a:pPr/>
              <a:t>22</a:t>
            </a:fld>
            <a:endParaRPr lang="en-US"/>
          </a:p>
        </p:txBody>
      </p:sp>
      <p:sp>
        <p:nvSpPr>
          <p:cNvPr id="665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(LRU)</a:t>
            </a:r>
          </a:p>
        </p:txBody>
      </p:sp>
      <p:sp>
        <p:nvSpPr>
          <p:cNvPr id="66564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Keep track of when a page is used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Replace the page that has been used least recently (</a:t>
            </a:r>
            <a:r>
              <a:rPr lang="en-US" sz="2800" u="sng">
                <a:latin typeface="Arial" charset="0"/>
                <a:ea typeface="ＭＳ Ｐゴシック" charset="0"/>
                <a:cs typeface="ＭＳ Ｐゴシック" charset="0"/>
              </a:rPr>
              <a:t>farthest in the past</a:t>
            </a:r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6565" name="Group 4"/>
          <p:cNvGrpSpPr>
            <a:grpSpLocks/>
          </p:cNvGrpSpPr>
          <p:nvPr/>
        </p:nvGrpSpPr>
        <p:grpSpPr bwMode="auto">
          <a:xfrm>
            <a:off x="609600" y="3429000"/>
            <a:ext cx="8001000" cy="3035300"/>
            <a:chOff x="384" y="2304"/>
            <a:chExt cx="5040" cy="1912"/>
          </a:xfrm>
        </p:grpSpPr>
        <p:sp>
          <p:nvSpPr>
            <p:cNvPr id="66568" name="Text Box 5"/>
            <p:cNvSpPr txBox="1">
              <a:spLocks noChangeArrowheads="1"/>
            </p:cNvSpPr>
            <p:nvPr/>
          </p:nvSpPr>
          <p:spPr bwMode="auto">
            <a:xfrm>
              <a:off x="384" y="2304"/>
              <a:ext cx="5040" cy="1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Time       0   1   2   3   4   5   6   7   8   9   10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Requests       c   a   d   b   e   b   a   b   c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  0   a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Frames 1   b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2   c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       3   d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b="1">
                  <a:solidFill>
                    <a:schemeClr val="tx2"/>
                  </a:solidFill>
                  <a:latin typeface="Courier New" charset="0"/>
                </a:rPr>
                <a:t>Page faults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endParaRPr lang="en-US" b="1">
                <a:solidFill>
                  <a:schemeClr val="tx2"/>
                </a:solidFill>
                <a:latin typeface="Courier New" charset="0"/>
              </a:endParaRPr>
            </a:p>
          </p:txBody>
        </p:sp>
        <p:sp>
          <p:nvSpPr>
            <p:cNvPr id="66569" name="Line 6"/>
            <p:cNvSpPr>
              <a:spLocks noChangeShapeType="1"/>
            </p:cNvSpPr>
            <p:nvPr/>
          </p:nvSpPr>
          <p:spPr bwMode="auto">
            <a:xfrm>
              <a:off x="432" y="2832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570" name="Line 7"/>
            <p:cNvSpPr>
              <a:spLocks noChangeShapeType="1"/>
            </p:cNvSpPr>
            <p:nvPr/>
          </p:nvSpPr>
          <p:spPr bwMode="auto">
            <a:xfrm>
              <a:off x="432" y="3744"/>
              <a:ext cx="48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571" name="Line 8"/>
            <p:cNvSpPr>
              <a:spLocks noChangeShapeType="1"/>
            </p:cNvSpPr>
            <p:nvPr/>
          </p:nvSpPr>
          <p:spPr bwMode="auto">
            <a:xfrm>
              <a:off x="1584" y="2496"/>
              <a:ext cx="0" cy="12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572" name="Line 9"/>
            <p:cNvSpPr>
              <a:spLocks noChangeShapeType="1"/>
            </p:cNvSpPr>
            <p:nvPr/>
          </p:nvSpPr>
          <p:spPr bwMode="auto">
            <a:xfrm>
              <a:off x="1248" y="2832"/>
              <a:ext cx="0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6566" name="Text Box 10"/>
          <p:cNvSpPr txBox="1">
            <a:spLocks noChangeArrowheads="1"/>
          </p:cNvSpPr>
          <p:nvPr/>
        </p:nvSpPr>
        <p:spPr bwMode="auto">
          <a:xfrm>
            <a:off x="2667000" y="4419600"/>
            <a:ext cx="60960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a   a   a   a   a   a   a   a   a   a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b   b   b   b   b   b   b   b   b   b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c   c   c   c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e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e   e   e   e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d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d   d   d   d   d   d   d   d   </a:t>
            </a:r>
            <a:r>
              <a:rPr lang="en-US" b="1">
                <a:solidFill>
                  <a:srgbClr val="0033CC"/>
                </a:solidFill>
                <a:latin typeface="Courier New" charset="0"/>
              </a:rPr>
              <a:t>c</a:t>
            </a:r>
            <a:r>
              <a:rPr lang="en-US" b="1">
                <a:solidFill>
                  <a:srgbClr val="FF3300"/>
                </a:solidFill>
                <a:latin typeface="Courier New" charset="0"/>
              </a:rPr>
              <a:t>   c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b="1">
              <a:solidFill>
                <a:srgbClr val="FF3300"/>
              </a:solidFill>
              <a:latin typeface="Courier New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latin typeface="Courier New" charset="0"/>
              </a:rPr>
              <a:t>                X               X   X</a:t>
            </a:r>
          </a:p>
        </p:txBody>
      </p:sp>
      <p:sp>
        <p:nvSpPr>
          <p:cNvPr id="6656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Least Recently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3</a:t>
            </a:r>
            <a:r>
              <a:rPr lang="en-US" sz="2400" dirty="0" smtClean="0"/>
              <a:t> frames of physical memory</a:t>
            </a:r>
          </a:p>
          <a:p>
            <a:r>
              <a:rPr lang="en-US" sz="2400" dirty="0" smtClean="0"/>
              <a:t>Run this for a long time with LRU page replacement: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Q1: What fraction of page accesses are faults?</a:t>
            </a:r>
          </a:p>
          <a:p>
            <a:pPr lvl="1"/>
            <a:r>
              <a:rPr lang="en-US" sz="2000" dirty="0" smtClean="0"/>
              <a:t>None or almost none</a:t>
            </a:r>
          </a:p>
          <a:p>
            <a:pPr lvl="1"/>
            <a:r>
              <a:rPr lang="en-US" sz="2000" dirty="0" smtClean="0"/>
              <a:t>About 1 in 4</a:t>
            </a:r>
          </a:p>
          <a:p>
            <a:pPr lvl="1"/>
            <a:r>
              <a:rPr lang="en-US" sz="2000" dirty="0" smtClean="0"/>
              <a:t>About 2 in 4</a:t>
            </a:r>
          </a:p>
          <a:p>
            <a:pPr lvl="1"/>
            <a:r>
              <a:rPr lang="en-US" sz="2000" dirty="0" smtClean="0"/>
              <a:t>About 3 in 4</a:t>
            </a:r>
          </a:p>
          <a:p>
            <a:pPr lvl="1"/>
            <a:r>
              <a:rPr lang="en-US" sz="2000" dirty="0" smtClean="0"/>
              <a:t>All or almost all</a:t>
            </a:r>
          </a:p>
          <a:p>
            <a:endParaRPr lang="en-US" sz="2400" dirty="0" smtClean="0"/>
          </a:p>
          <a:p>
            <a:r>
              <a:rPr lang="en-US" sz="2400" dirty="0" smtClean="0"/>
              <a:t>Q2: How well does OPT do?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793F-A9F4-CF43-9B42-499752CA26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828800"/>
            <a:ext cx="39247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  <a:latin typeface="Courier"/>
                <a:cs typeface="Courier"/>
              </a:rPr>
              <a:t>w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hile true</a:t>
            </a:r>
          </a:p>
          <a:p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   for (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= 0;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&lt; 4;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++)</a:t>
            </a:r>
          </a:p>
          <a:p>
            <a:r>
              <a:rPr lang="en-US" b="1" dirty="0">
                <a:solidFill>
                  <a:srgbClr val="FF6600"/>
                </a:solidFill>
                <a:latin typeface="Courier"/>
                <a:cs typeface="Courier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      read from page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endParaRPr lang="en-US" b="1" dirty="0">
              <a:solidFill>
                <a:srgbClr val="FF66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675442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793F-A9F4-CF43-9B42-499752CA26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47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Least Recently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3</a:t>
            </a:r>
            <a:r>
              <a:rPr lang="en-US" sz="2400" dirty="0" smtClean="0"/>
              <a:t> frames of physical memory</a:t>
            </a:r>
          </a:p>
          <a:p>
            <a:r>
              <a:rPr lang="en-US" sz="2400" dirty="0" smtClean="0"/>
              <a:t>Run this for a long time with LRU page replacement: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Q1: What fraction of page accesses are faults?</a:t>
            </a:r>
          </a:p>
          <a:p>
            <a:pPr lvl="1"/>
            <a:r>
              <a:rPr lang="en-US" sz="2000" dirty="0" smtClean="0"/>
              <a:t>None or almost none</a:t>
            </a:r>
          </a:p>
          <a:p>
            <a:pPr lvl="1"/>
            <a:r>
              <a:rPr lang="en-US" sz="2000" dirty="0" smtClean="0"/>
              <a:t>About 1 in 4</a:t>
            </a:r>
          </a:p>
          <a:p>
            <a:pPr lvl="1"/>
            <a:r>
              <a:rPr lang="en-US" sz="2000" dirty="0" smtClean="0"/>
              <a:t>About 2 in 4</a:t>
            </a:r>
          </a:p>
          <a:p>
            <a:pPr lvl="1"/>
            <a:r>
              <a:rPr lang="en-US" sz="2000" dirty="0" smtClean="0"/>
              <a:t>About 3 in 4</a:t>
            </a:r>
          </a:p>
          <a:p>
            <a:pPr lvl="1"/>
            <a:r>
              <a:rPr lang="en-US" sz="2000" b="1" dirty="0" smtClean="0">
                <a:solidFill>
                  <a:srgbClr val="FF6600"/>
                </a:solidFill>
              </a:rPr>
              <a:t>All or almost all –</a:t>
            </a:r>
            <a:r>
              <a:rPr lang="en-US" sz="2000" dirty="0" smtClean="0"/>
              <a:t> least recently used is always next to be used!</a:t>
            </a:r>
          </a:p>
          <a:p>
            <a:endParaRPr lang="en-US" sz="2400" dirty="0" smtClean="0"/>
          </a:p>
          <a:p>
            <a:r>
              <a:rPr lang="en-US" sz="2400" dirty="0" smtClean="0"/>
              <a:t>Q2: How well does OPT do?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793F-A9F4-CF43-9B42-499752CA26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828800"/>
            <a:ext cx="39247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  <a:latin typeface="Courier"/>
                <a:cs typeface="Courier"/>
              </a:rPr>
              <a:t>w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hile true</a:t>
            </a:r>
          </a:p>
          <a:p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   for (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= 0;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&lt; 4;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++)</a:t>
            </a:r>
          </a:p>
          <a:p>
            <a:r>
              <a:rPr lang="en-US" b="1" dirty="0">
                <a:solidFill>
                  <a:srgbClr val="FF6600"/>
                </a:solidFill>
                <a:latin typeface="Courier"/>
                <a:cs typeface="Courier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"/>
                <a:cs typeface="Courier"/>
              </a:rPr>
              <a:t>       read from page </a:t>
            </a:r>
            <a:r>
              <a:rPr lang="en-US" b="1" dirty="0" err="1" smtClean="0">
                <a:solidFill>
                  <a:srgbClr val="FF6600"/>
                </a:solidFill>
                <a:latin typeface="Courier"/>
                <a:cs typeface="Courier"/>
              </a:rPr>
              <a:t>i</a:t>
            </a:r>
            <a:endParaRPr lang="en-US" b="1" dirty="0">
              <a:solidFill>
                <a:srgbClr val="FF66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3415394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Least Recently Used Issues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Not optimal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Does not suffer from Belady's anomaly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Implementation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Use time of last reference</a:t>
            </a:r>
          </a:p>
          <a:p>
            <a:pPr lvl="2"/>
            <a:r>
              <a:rPr lang="en-US" sz="1800">
                <a:latin typeface="Arial" charset="0"/>
                <a:ea typeface="ＭＳ Ｐゴシック" charset="0"/>
              </a:rPr>
              <a:t>Update every time page accessed (use system clock)</a:t>
            </a:r>
          </a:p>
          <a:p>
            <a:pPr lvl="2"/>
            <a:r>
              <a:rPr lang="en-US" sz="1800">
                <a:latin typeface="Arial" charset="0"/>
                <a:ea typeface="ＭＳ Ｐゴシック" charset="0"/>
              </a:rPr>
              <a:t>Page replacement - search for smallest time 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Use a stack </a:t>
            </a:r>
          </a:p>
          <a:p>
            <a:pPr lvl="2"/>
            <a:r>
              <a:rPr lang="en-US" sz="1800">
                <a:latin typeface="Arial" charset="0"/>
                <a:ea typeface="ＭＳ Ｐゴシック" charset="0"/>
              </a:rPr>
              <a:t>On page access : remove from stack, push on top</a:t>
            </a:r>
          </a:p>
          <a:p>
            <a:pPr lvl="2"/>
            <a:r>
              <a:rPr lang="en-US" sz="1800">
                <a:latin typeface="Arial" charset="0"/>
                <a:ea typeface="ＭＳ Ｐゴシック" charset="0"/>
              </a:rPr>
              <a:t>Victim selection: select page at bottom of stack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Both approaches require large processing overhead, more space, and hardware support. </a:t>
            </a:r>
          </a:p>
        </p:txBody>
      </p:sp>
      <p:sp>
        <p:nvSpPr>
          <p:cNvPr id="675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7589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43C23-01BD-AE4F-ADA4-5A7BCC246A53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>
    <p:rand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Approximating LRU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Use the PTE reference bit and a small </a:t>
            </a:r>
            <a:r>
              <a:rPr lang="en-US" sz="2400" dirty="0">
                <a:latin typeface="Courier"/>
                <a:ea typeface="ＭＳ Ｐゴシック" charset="0"/>
                <a:cs typeface="Courier"/>
              </a:rPr>
              <a:t>counter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 per page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(Use a counter of, say, 2 or 3 bits in size, and store it in the 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PTE)</a:t>
            </a:r>
            <a:endParaRPr lang="en-US" sz="2000" dirty="0">
              <a:latin typeface="Arial" charset="0"/>
              <a:ea typeface="ＭＳ Ｐゴシック" charset="0"/>
            </a:endParaRPr>
          </a:p>
          <a:p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Periodically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(say every 100 </a:t>
            </a:r>
            <a:r>
              <a:rPr lang="en-US" sz="2400" dirty="0" err="1">
                <a:latin typeface="Arial" charset="0"/>
                <a:ea typeface="ＭＳ Ｐゴシック" charset="0"/>
                <a:cs typeface="ＭＳ Ｐゴシック" charset="0"/>
              </a:rPr>
              <a:t>msec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), scan all physical pages in the 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system. For each page:</a:t>
            </a: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If 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not </a:t>
            </a:r>
            <a:r>
              <a:rPr lang="en-US" sz="2000" dirty="0">
                <a:latin typeface="Arial" charset="0"/>
                <a:ea typeface="ＭＳ Ｐゴシック" charset="0"/>
              </a:rPr>
              <a:t>accessed 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recently, (</a:t>
            </a:r>
            <a:r>
              <a:rPr lang="en-US" sz="2000" dirty="0">
                <a:latin typeface="Arial" charset="0"/>
                <a:ea typeface="ＭＳ Ｐゴシック" charset="0"/>
              </a:rPr>
              <a:t>PTE reference bit == 0), </a:t>
            </a:r>
            <a:r>
              <a:rPr lang="en-US" sz="2000" dirty="0" smtClean="0">
                <a:solidFill>
                  <a:srgbClr val="FF6600"/>
                </a:solidFill>
                <a:latin typeface="Courier"/>
                <a:ea typeface="ＭＳ Ｐゴシック" charset="0"/>
                <a:cs typeface="Courier"/>
              </a:rPr>
              <a:t>counter++</a:t>
            </a:r>
          </a:p>
          <a:p>
            <a:pPr lvl="1"/>
            <a:r>
              <a:rPr lang="en-US" sz="2000" dirty="0" smtClean="0">
                <a:latin typeface="Arial" charset="0"/>
                <a:ea typeface="ＭＳ Ｐゴシック" charset="0"/>
              </a:rPr>
              <a:t>If accessed recently (PTE reference </a:t>
            </a:r>
            <a:r>
              <a:rPr lang="en-US" sz="2000" dirty="0">
                <a:latin typeface="Arial" charset="0"/>
                <a:ea typeface="ＭＳ Ｐゴシック" charset="0"/>
              </a:rPr>
              <a:t>bit == 1</a:t>
            </a:r>
            <a:r>
              <a:rPr lang="en-US" sz="2000" dirty="0" smtClean="0">
                <a:latin typeface="Arial" charset="0"/>
                <a:ea typeface="ＭＳ Ｐゴシック" charset="0"/>
              </a:rPr>
              <a:t>), </a:t>
            </a:r>
            <a:r>
              <a:rPr lang="en-US" sz="2000" dirty="0" smtClean="0">
                <a:solidFill>
                  <a:srgbClr val="FF6600"/>
                </a:solidFill>
                <a:latin typeface="Courier"/>
                <a:ea typeface="ＭＳ Ｐゴシック" charset="0"/>
                <a:cs typeface="Courier"/>
              </a:rPr>
              <a:t>counter = 0</a:t>
            </a:r>
            <a:endParaRPr lang="en-US" sz="2000" dirty="0">
              <a:solidFill>
                <a:srgbClr val="FF6600"/>
              </a:solidFill>
              <a:latin typeface="Courier"/>
              <a:ea typeface="ＭＳ Ｐゴシック" charset="0"/>
              <a:cs typeface="Courier"/>
            </a:endParaRP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Clear the PTE reference bit in either case!</a:t>
            </a:r>
          </a:p>
          <a:p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Counter will contain the number of scans since the last </a:t>
            </a:r>
            <a:r>
              <a:rPr lang="en-US" sz="2400" dirty="0" smtClean="0">
                <a:latin typeface="Arial" charset="0"/>
                <a:ea typeface="ＭＳ Ｐゴシック" charset="0"/>
                <a:cs typeface="ＭＳ Ｐゴシック" charset="0"/>
              </a:rPr>
              <a:t>reference to 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this page.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PTE that contains the highest counter value is the least recently used</a:t>
            </a:r>
          </a:p>
          <a:p>
            <a:pPr lvl="1"/>
            <a:r>
              <a:rPr lang="en-US" sz="2000" dirty="0">
                <a:latin typeface="Arial" charset="0"/>
                <a:ea typeface="ＭＳ Ｐゴシック" charset="0"/>
              </a:rPr>
              <a:t>So, evict the page with the highest counter</a:t>
            </a:r>
          </a:p>
          <a:p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86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686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D8C57BF-A309-CD49-9923-E4EDFA16DD77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Approximate LRU Example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96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696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D2EA15B-B399-4E4F-84BC-3D10E2B088BB}" type="slidenum">
              <a:rPr lang="en-US"/>
              <a:pPr/>
              <a:t>28</a:t>
            </a:fld>
            <a:endParaRPr lang="en-US"/>
          </a:p>
        </p:txBody>
      </p:sp>
      <p:grpSp>
        <p:nvGrpSpPr>
          <p:cNvPr id="69638" name="Group 2"/>
          <p:cNvGrpSpPr>
            <a:grpSpLocks/>
          </p:cNvGrpSpPr>
          <p:nvPr/>
        </p:nvGrpSpPr>
        <p:grpSpPr bwMode="auto">
          <a:xfrm>
            <a:off x="804863" y="1217613"/>
            <a:ext cx="5541962" cy="963612"/>
            <a:chOff x="1366" y="501"/>
            <a:chExt cx="3491" cy="606"/>
          </a:xfrm>
        </p:grpSpPr>
        <p:sp>
          <p:nvSpPr>
            <p:cNvPr id="69694" name="AutoShape 3"/>
            <p:cNvSpPr>
              <a:spLocks noChangeArrowheads="1"/>
            </p:cNvSpPr>
            <p:nvPr/>
          </p:nvSpPr>
          <p:spPr bwMode="auto">
            <a:xfrm>
              <a:off x="1366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5" name="AutoShape 4"/>
            <p:cNvSpPr>
              <a:spLocks noChangeArrowheads="1"/>
            </p:cNvSpPr>
            <p:nvPr/>
          </p:nvSpPr>
          <p:spPr bwMode="auto">
            <a:xfrm>
              <a:off x="1598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6" name="AutoShape 5"/>
            <p:cNvSpPr>
              <a:spLocks noChangeArrowheads="1"/>
            </p:cNvSpPr>
            <p:nvPr/>
          </p:nvSpPr>
          <p:spPr bwMode="auto">
            <a:xfrm>
              <a:off x="1830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7" name="AutoShape 6"/>
            <p:cNvSpPr>
              <a:spLocks noChangeArrowheads="1"/>
            </p:cNvSpPr>
            <p:nvPr/>
          </p:nvSpPr>
          <p:spPr bwMode="auto">
            <a:xfrm>
              <a:off x="2062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8" name="AutoShape 7"/>
            <p:cNvSpPr>
              <a:spLocks noChangeArrowheads="1"/>
            </p:cNvSpPr>
            <p:nvPr/>
          </p:nvSpPr>
          <p:spPr bwMode="auto">
            <a:xfrm>
              <a:off x="2294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9" name="AutoShape 8"/>
            <p:cNvSpPr>
              <a:spLocks noChangeArrowheads="1"/>
            </p:cNvSpPr>
            <p:nvPr/>
          </p:nvSpPr>
          <p:spPr bwMode="auto">
            <a:xfrm>
              <a:off x="2525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0" name="AutoShape 9"/>
            <p:cNvSpPr>
              <a:spLocks noChangeArrowheads="1"/>
            </p:cNvSpPr>
            <p:nvPr/>
          </p:nvSpPr>
          <p:spPr bwMode="auto">
            <a:xfrm>
              <a:off x="2757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1" name="AutoShape 10"/>
            <p:cNvSpPr>
              <a:spLocks noChangeArrowheads="1"/>
            </p:cNvSpPr>
            <p:nvPr/>
          </p:nvSpPr>
          <p:spPr bwMode="auto">
            <a:xfrm>
              <a:off x="2988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2" name="AutoShape 11"/>
            <p:cNvSpPr>
              <a:spLocks noChangeArrowheads="1"/>
            </p:cNvSpPr>
            <p:nvPr/>
          </p:nvSpPr>
          <p:spPr bwMode="auto">
            <a:xfrm>
              <a:off x="3220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3" name="AutoShape 12"/>
            <p:cNvSpPr>
              <a:spLocks noChangeArrowheads="1"/>
            </p:cNvSpPr>
            <p:nvPr/>
          </p:nvSpPr>
          <p:spPr bwMode="auto">
            <a:xfrm>
              <a:off x="3452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4" name="AutoShape 13"/>
            <p:cNvSpPr>
              <a:spLocks noChangeArrowheads="1"/>
            </p:cNvSpPr>
            <p:nvPr/>
          </p:nvSpPr>
          <p:spPr bwMode="auto">
            <a:xfrm>
              <a:off x="3681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5" name="AutoShape 14"/>
            <p:cNvSpPr>
              <a:spLocks noChangeArrowheads="1"/>
            </p:cNvSpPr>
            <p:nvPr/>
          </p:nvSpPr>
          <p:spPr bwMode="auto">
            <a:xfrm>
              <a:off x="3913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6" name="AutoShape 15"/>
            <p:cNvSpPr>
              <a:spLocks noChangeArrowheads="1"/>
            </p:cNvSpPr>
            <p:nvPr/>
          </p:nvSpPr>
          <p:spPr bwMode="auto">
            <a:xfrm>
              <a:off x="4144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7" name="AutoShape 16"/>
            <p:cNvSpPr>
              <a:spLocks noChangeArrowheads="1"/>
            </p:cNvSpPr>
            <p:nvPr/>
          </p:nvSpPr>
          <p:spPr bwMode="auto">
            <a:xfrm>
              <a:off x="4376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708" name="AutoShape 17"/>
            <p:cNvSpPr>
              <a:spLocks noChangeArrowheads="1"/>
            </p:cNvSpPr>
            <p:nvPr/>
          </p:nvSpPr>
          <p:spPr bwMode="auto">
            <a:xfrm>
              <a:off x="4608" y="50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806450" y="3559175"/>
            <a:ext cx="5541963" cy="962025"/>
            <a:chOff x="1367" y="1975"/>
            <a:chExt cx="3491" cy="606"/>
          </a:xfrm>
        </p:grpSpPr>
        <p:sp>
          <p:nvSpPr>
            <p:cNvPr id="69679" name="AutoShape 19"/>
            <p:cNvSpPr>
              <a:spLocks noChangeArrowheads="1"/>
            </p:cNvSpPr>
            <p:nvPr/>
          </p:nvSpPr>
          <p:spPr bwMode="auto">
            <a:xfrm>
              <a:off x="1367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80" name="AutoShape 20"/>
            <p:cNvSpPr>
              <a:spLocks noChangeArrowheads="1"/>
            </p:cNvSpPr>
            <p:nvPr/>
          </p:nvSpPr>
          <p:spPr bwMode="auto">
            <a:xfrm>
              <a:off x="1599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1" name="AutoShape 21"/>
            <p:cNvSpPr>
              <a:spLocks noChangeArrowheads="1"/>
            </p:cNvSpPr>
            <p:nvPr/>
          </p:nvSpPr>
          <p:spPr bwMode="auto">
            <a:xfrm>
              <a:off x="1830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2" name="AutoShape 22"/>
            <p:cNvSpPr>
              <a:spLocks noChangeArrowheads="1"/>
            </p:cNvSpPr>
            <p:nvPr/>
          </p:nvSpPr>
          <p:spPr bwMode="auto">
            <a:xfrm>
              <a:off x="2062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3" name="AutoShape 23"/>
            <p:cNvSpPr>
              <a:spLocks noChangeArrowheads="1"/>
            </p:cNvSpPr>
            <p:nvPr/>
          </p:nvSpPr>
          <p:spPr bwMode="auto">
            <a:xfrm>
              <a:off x="2294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84" name="AutoShape 24"/>
            <p:cNvSpPr>
              <a:spLocks noChangeArrowheads="1"/>
            </p:cNvSpPr>
            <p:nvPr/>
          </p:nvSpPr>
          <p:spPr bwMode="auto">
            <a:xfrm>
              <a:off x="2526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85" name="AutoShape 25"/>
            <p:cNvSpPr>
              <a:spLocks noChangeArrowheads="1"/>
            </p:cNvSpPr>
            <p:nvPr/>
          </p:nvSpPr>
          <p:spPr bwMode="auto">
            <a:xfrm>
              <a:off x="2758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6" name="AutoShape 26"/>
            <p:cNvSpPr>
              <a:spLocks noChangeArrowheads="1"/>
            </p:cNvSpPr>
            <p:nvPr/>
          </p:nvSpPr>
          <p:spPr bwMode="auto">
            <a:xfrm>
              <a:off x="2990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7" name="AutoShape 27"/>
            <p:cNvSpPr>
              <a:spLocks noChangeArrowheads="1"/>
            </p:cNvSpPr>
            <p:nvPr/>
          </p:nvSpPr>
          <p:spPr bwMode="auto">
            <a:xfrm>
              <a:off x="3221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88" name="AutoShape 28"/>
            <p:cNvSpPr>
              <a:spLocks noChangeArrowheads="1"/>
            </p:cNvSpPr>
            <p:nvPr/>
          </p:nvSpPr>
          <p:spPr bwMode="auto">
            <a:xfrm>
              <a:off x="3453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89" name="AutoShape 29"/>
            <p:cNvSpPr>
              <a:spLocks noChangeArrowheads="1"/>
            </p:cNvSpPr>
            <p:nvPr/>
          </p:nvSpPr>
          <p:spPr bwMode="auto">
            <a:xfrm>
              <a:off x="3681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0" name="AutoShape 30"/>
            <p:cNvSpPr>
              <a:spLocks noChangeArrowheads="1"/>
            </p:cNvSpPr>
            <p:nvPr/>
          </p:nvSpPr>
          <p:spPr bwMode="auto">
            <a:xfrm>
              <a:off x="3913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91" name="AutoShape 31"/>
            <p:cNvSpPr>
              <a:spLocks noChangeArrowheads="1"/>
            </p:cNvSpPr>
            <p:nvPr/>
          </p:nvSpPr>
          <p:spPr bwMode="auto">
            <a:xfrm>
              <a:off x="4145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1</a:t>
              </a:r>
            </a:p>
          </p:txBody>
        </p:sp>
        <p:sp>
          <p:nvSpPr>
            <p:cNvPr id="69692" name="AutoShape 32"/>
            <p:cNvSpPr>
              <a:spLocks noChangeArrowheads="1"/>
            </p:cNvSpPr>
            <p:nvPr/>
          </p:nvSpPr>
          <p:spPr bwMode="auto">
            <a:xfrm>
              <a:off x="4377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  <p:sp>
          <p:nvSpPr>
            <p:cNvPr id="69693" name="AutoShape 33"/>
            <p:cNvSpPr>
              <a:spLocks noChangeArrowheads="1"/>
            </p:cNvSpPr>
            <p:nvPr/>
          </p:nvSpPr>
          <p:spPr bwMode="auto">
            <a:xfrm>
              <a:off x="4609" y="1975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Lucidasans" charset="0"/>
                </a:rPr>
                <a:t>0</a:t>
              </a:r>
            </a:p>
          </p:txBody>
        </p:sp>
      </p:grpSp>
      <p:sp>
        <p:nvSpPr>
          <p:cNvPr id="69640" name="Line 34"/>
          <p:cNvSpPr>
            <a:spLocks noChangeShapeType="1"/>
          </p:cNvSpPr>
          <p:nvPr/>
        </p:nvSpPr>
        <p:spPr bwMode="auto">
          <a:xfrm>
            <a:off x="366713" y="1957388"/>
            <a:ext cx="1587" cy="1600200"/>
          </a:xfrm>
          <a:prstGeom prst="line">
            <a:avLst/>
          </a:prstGeom>
          <a:noFill/>
          <a:ln w="18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1" name="Text Box 35"/>
          <p:cNvSpPr txBox="1">
            <a:spLocks noChangeArrowheads="1"/>
          </p:cNvSpPr>
          <p:nvPr/>
        </p:nvSpPr>
        <p:spPr bwMode="auto">
          <a:xfrm rot="5400000">
            <a:off x="101600" y="1422400"/>
            <a:ext cx="6064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0000"/>
                </a:solidFill>
                <a:latin typeface="Luxi Sans" charset="0"/>
              </a:rPr>
              <a:t>time</a:t>
            </a:r>
          </a:p>
        </p:txBody>
      </p:sp>
      <p:sp>
        <p:nvSpPr>
          <p:cNvPr id="69642" name="Text Box 36"/>
          <p:cNvSpPr txBox="1">
            <a:spLocks noChangeArrowheads="1"/>
          </p:cNvSpPr>
          <p:nvPr/>
        </p:nvSpPr>
        <p:spPr bwMode="auto">
          <a:xfrm>
            <a:off x="6499225" y="1555750"/>
            <a:ext cx="164782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B8FF"/>
                </a:solidFill>
                <a:latin typeface="Luxi Sans" charset="0"/>
              </a:rPr>
              <a:t>Accessed pages</a:t>
            </a:r>
          </a:p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B8FF"/>
                </a:solidFill>
                <a:latin typeface="Luxi Sans" charset="0"/>
              </a:rPr>
              <a:t>in blue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804863" y="2403475"/>
            <a:ext cx="7737475" cy="962025"/>
            <a:chOff x="1366" y="1247"/>
            <a:chExt cx="4874" cy="606"/>
          </a:xfrm>
        </p:grpSpPr>
        <p:grpSp>
          <p:nvGrpSpPr>
            <p:cNvPr id="69662" name="Group 38"/>
            <p:cNvGrpSpPr>
              <a:grpSpLocks/>
            </p:cNvGrpSpPr>
            <p:nvPr/>
          </p:nvGrpSpPr>
          <p:grpSpPr bwMode="auto">
            <a:xfrm>
              <a:off x="1366" y="1247"/>
              <a:ext cx="3492" cy="607"/>
              <a:chOff x="1366" y="1247"/>
              <a:chExt cx="3492" cy="607"/>
            </a:xfrm>
          </p:grpSpPr>
          <p:sp>
            <p:nvSpPr>
              <p:cNvPr id="69664" name="AutoShape 39"/>
              <p:cNvSpPr>
                <a:spLocks noChangeArrowheads="1"/>
              </p:cNvSpPr>
              <p:nvPr/>
            </p:nvSpPr>
            <p:spPr bwMode="auto">
              <a:xfrm>
                <a:off x="1366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65" name="AutoShape 40"/>
              <p:cNvSpPr>
                <a:spLocks noChangeArrowheads="1"/>
              </p:cNvSpPr>
              <p:nvPr/>
            </p:nvSpPr>
            <p:spPr bwMode="auto">
              <a:xfrm>
                <a:off x="1598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66" name="AutoShape 41"/>
              <p:cNvSpPr>
                <a:spLocks noChangeArrowheads="1"/>
              </p:cNvSpPr>
              <p:nvPr/>
            </p:nvSpPr>
            <p:spPr bwMode="auto">
              <a:xfrm>
                <a:off x="1830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67" name="AutoShape 42"/>
              <p:cNvSpPr>
                <a:spLocks noChangeArrowheads="1"/>
              </p:cNvSpPr>
              <p:nvPr/>
            </p:nvSpPr>
            <p:spPr bwMode="auto">
              <a:xfrm>
                <a:off x="2062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68" name="AutoShape 43"/>
              <p:cNvSpPr>
                <a:spLocks noChangeArrowheads="1"/>
              </p:cNvSpPr>
              <p:nvPr/>
            </p:nvSpPr>
            <p:spPr bwMode="auto">
              <a:xfrm>
                <a:off x="2294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69" name="AutoShape 44"/>
              <p:cNvSpPr>
                <a:spLocks noChangeArrowheads="1"/>
              </p:cNvSpPr>
              <p:nvPr/>
            </p:nvSpPr>
            <p:spPr bwMode="auto">
              <a:xfrm>
                <a:off x="2525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70" name="AutoShape 45"/>
              <p:cNvSpPr>
                <a:spLocks noChangeArrowheads="1"/>
              </p:cNvSpPr>
              <p:nvPr/>
            </p:nvSpPr>
            <p:spPr bwMode="auto">
              <a:xfrm>
                <a:off x="2757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71" name="AutoShape 46"/>
              <p:cNvSpPr>
                <a:spLocks noChangeArrowheads="1"/>
              </p:cNvSpPr>
              <p:nvPr/>
            </p:nvSpPr>
            <p:spPr bwMode="auto">
              <a:xfrm>
                <a:off x="2989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72" name="AutoShape 47"/>
              <p:cNvSpPr>
                <a:spLocks noChangeArrowheads="1"/>
              </p:cNvSpPr>
              <p:nvPr/>
            </p:nvSpPr>
            <p:spPr bwMode="auto">
              <a:xfrm>
                <a:off x="3221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73" name="AutoShape 48"/>
              <p:cNvSpPr>
                <a:spLocks noChangeArrowheads="1"/>
              </p:cNvSpPr>
              <p:nvPr/>
            </p:nvSpPr>
            <p:spPr bwMode="auto">
              <a:xfrm>
                <a:off x="3452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74" name="AutoShape 49"/>
              <p:cNvSpPr>
                <a:spLocks noChangeArrowheads="1"/>
              </p:cNvSpPr>
              <p:nvPr/>
            </p:nvSpPr>
            <p:spPr bwMode="auto">
              <a:xfrm>
                <a:off x="3681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75" name="AutoShape 50"/>
              <p:cNvSpPr>
                <a:spLocks noChangeArrowheads="1"/>
              </p:cNvSpPr>
              <p:nvPr/>
            </p:nvSpPr>
            <p:spPr bwMode="auto">
              <a:xfrm>
                <a:off x="3913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76" name="AutoShape 51"/>
              <p:cNvSpPr>
                <a:spLocks noChangeArrowheads="1"/>
              </p:cNvSpPr>
              <p:nvPr/>
            </p:nvSpPr>
            <p:spPr bwMode="auto">
              <a:xfrm>
                <a:off x="4145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77" name="AutoShape 52"/>
              <p:cNvSpPr>
                <a:spLocks noChangeArrowheads="1"/>
              </p:cNvSpPr>
              <p:nvPr/>
            </p:nvSpPr>
            <p:spPr bwMode="auto">
              <a:xfrm>
                <a:off x="4376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78" name="AutoShape 53"/>
              <p:cNvSpPr>
                <a:spLocks noChangeArrowheads="1"/>
              </p:cNvSpPr>
              <p:nvPr/>
            </p:nvSpPr>
            <p:spPr bwMode="auto">
              <a:xfrm>
                <a:off x="4608" y="1247"/>
                <a:ext cx="250" cy="607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</p:grpSp>
        <p:sp>
          <p:nvSpPr>
            <p:cNvPr id="69663" name="Text Box 54"/>
            <p:cNvSpPr txBox="1">
              <a:spLocks noChangeArrowheads="1"/>
            </p:cNvSpPr>
            <p:nvPr/>
          </p:nvSpPr>
          <p:spPr bwMode="auto">
            <a:xfrm>
              <a:off x="4952" y="1307"/>
              <a:ext cx="1289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Increment counter</a:t>
              </a:r>
            </a:p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for untouched pages</a:t>
              </a:r>
            </a:p>
          </p:txBody>
        </p:sp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806450" y="4783138"/>
            <a:ext cx="7735888" cy="1084262"/>
            <a:chOff x="1367" y="2746"/>
            <a:chExt cx="4873" cy="683"/>
          </a:xfrm>
        </p:grpSpPr>
        <p:grpSp>
          <p:nvGrpSpPr>
            <p:cNvPr id="69645" name="Group 56"/>
            <p:cNvGrpSpPr>
              <a:grpSpLocks/>
            </p:cNvGrpSpPr>
            <p:nvPr/>
          </p:nvGrpSpPr>
          <p:grpSpPr bwMode="auto">
            <a:xfrm>
              <a:off x="1367" y="2746"/>
              <a:ext cx="3491" cy="606"/>
              <a:chOff x="1367" y="2746"/>
              <a:chExt cx="3491" cy="606"/>
            </a:xfrm>
          </p:grpSpPr>
          <p:sp>
            <p:nvSpPr>
              <p:cNvPr id="69647" name="AutoShape 57"/>
              <p:cNvSpPr>
                <a:spLocks noChangeArrowheads="1"/>
              </p:cNvSpPr>
              <p:nvPr/>
            </p:nvSpPr>
            <p:spPr bwMode="auto">
              <a:xfrm>
                <a:off x="1367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48" name="AutoShape 58"/>
              <p:cNvSpPr>
                <a:spLocks noChangeArrowheads="1"/>
              </p:cNvSpPr>
              <p:nvPr/>
            </p:nvSpPr>
            <p:spPr bwMode="auto">
              <a:xfrm>
                <a:off x="1599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CC99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2</a:t>
                </a:r>
              </a:p>
            </p:txBody>
          </p:sp>
          <p:sp>
            <p:nvSpPr>
              <p:cNvPr id="69649" name="AutoShape 59"/>
              <p:cNvSpPr>
                <a:spLocks noChangeArrowheads="1"/>
              </p:cNvSpPr>
              <p:nvPr/>
            </p:nvSpPr>
            <p:spPr bwMode="auto">
              <a:xfrm>
                <a:off x="1830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0" name="AutoShape 60"/>
              <p:cNvSpPr>
                <a:spLocks noChangeArrowheads="1"/>
              </p:cNvSpPr>
              <p:nvPr/>
            </p:nvSpPr>
            <p:spPr bwMode="auto">
              <a:xfrm>
                <a:off x="2062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1" name="AutoShape 61"/>
              <p:cNvSpPr>
                <a:spLocks noChangeArrowheads="1"/>
              </p:cNvSpPr>
              <p:nvPr/>
            </p:nvSpPr>
            <p:spPr bwMode="auto">
              <a:xfrm>
                <a:off x="2294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2" name="AutoShape 62"/>
              <p:cNvSpPr>
                <a:spLocks noChangeArrowheads="1"/>
              </p:cNvSpPr>
              <p:nvPr/>
            </p:nvSpPr>
            <p:spPr bwMode="auto">
              <a:xfrm>
                <a:off x="2525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53" name="AutoShape 63"/>
              <p:cNvSpPr>
                <a:spLocks noChangeArrowheads="1"/>
              </p:cNvSpPr>
              <p:nvPr/>
            </p:nvSpPr>
            <p:spPr bwMode="auto">
              <a:xfrm>
                <a:off x="2757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CC99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2</a:t>
                </a:r>
              </a:p>
            </p:txBody>
          </p:sp>
          <p:sp>
            <p:nvSpPr>
              <p:cNvPr id="69654" name="AutoShape 64"/>
              <p:cNvSpPr>
                <a:spLocks noChangeArrowheads="1"/>
              </p:cNvSpPr>
              <p:nvPr/>
            </p:nvSpPr>
            <p:spPr bwMode="auto">
              <a:xfrm>
                <a:off x="2989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CC99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2</a:t>
                </a:r>
              </a:p>
            </p:txBody>
          </p:sp>
          <p:sp>
            <p:nvSpPr>
              <p:cNvPr id="69655" name="AutoShape 65"/>
              <p:cNvSpPr>
                <a:spLocks noChangeArrowheads="1"/>
              </p:cNvSpPr>
              <p:nvPr/>
            </p:nvSpPr>
            <p:spPr bwMode="auto">
              <a:xfrm>
                <a:off x="3221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6" name="AutoShape 66"/>
              <p:cNvSpPr>
                <a:spLocks noChangeArrowheads="1"/>
              </p:cNvSpPr>
              <p:nvPr/>
            </p:nvSpPr>
            <p:spPr bwMode="auto">
              <a:xfrm>
                <a:off x="3453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7" name="AutoShape 67"/>
              <p:cNvSpPr>
                <a:spLocks noChangeArrowheads="1"/>
              </p:cNvSpPr>
              <p:nvPr/>
            </p:nvSpPr>
            <p:spPr bwMode="auto">
              <a:xfrm>
                <a:off x="3681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58" name="AutoShape 68"/>
              <p:cNvSpPr>
                <a:spLocks noChangeArrowheads="1"/>
              </p:cNvSpPr>
              <p:nvPr/>
            </p:nvSpPr>
            <p:spPr bwMode="auto">
              <a:xfrm>
                <a:off x="3913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  <p:sp>
            <p:nvSpPr>
              <p:cNvPr id="69659" name="AutoShape 69"/>
              <p:cNvSpPr>
                <a:spLocks noChangeArrowheads="1"/>
              </p:cNvSpPr>
              <p:nvPr/>
            </p:nvSpPr>
            <p:spPr bwMode="auto">
              <a:xfrm>
                <a:off x="4145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CC99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2</a:t>
                </a:r>
              </a:p>
            </p:txBody>
          </p:sp>
          <p:sp>
            <p:nvSpPr>
              <p:cNvPr id="69660" name="AutoShape 70"/>
              <p:cNvSpPr>
                <a:spLocks noChangeArrowheads="1"/>
              </p:cNvSpPr>
              <p:nvPr/>
            </p:nvSpPr>
            <p:spPr bwMode="auto">
              <a:xfrm>
                <a:off x="4376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1</a:t>
                </a:r>
              </a:p>
            </p:txBody>
          </p:sp>
          <p:sp>
            <p:nvSpPr>
              <p:cNvPr id="69661" name="AutoShape 71"/>
              <p:cNvSpPr>
                <a:spLocks noChangeArrowheads="1"/>
              </p:cNvSpPr>
              <p:nvPr/>
            </p:nvSpPr>
            <p:spPr bwMode="auto">
              <a:xfrm>
                <a:off x="4608" y="2746"/>
                <a:ext cx="250" cy="606"/>
              </a:xfrm>
              <a:prstGeom prst="roundRect">
                <a:avLst>
                  <a:gd name="adj" fmla="val 398"/>
                </a:avLst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  <a:tabLst>
                    <a:tab pos="0" algn="l"/>
                    <a:tab pos="457200" algn="l"/>
                    <a:tab pos="912813" algn="l"/>
                    <a:tab pos="1371600" algn="l"/>
                    <a:tab pos="1828800" algn="l"/>
                    <a:tab pos="2286000" algn="l"/>
                    <a:tab pos="2741613" algn="l"/>
                    <a:tab pos="3200400" algn="l"/>
                    <a:tab pos="3657600" algn="l"/>
                    <a:tab pos="4114800" algn="l"/>
                    <a:tab pos="4570413" algn="l"/>
                    <a:tab pos="5029200" algn="l"/>
                    <a:tab pos="5486400" algn="l"/>
                    <a:tab pos="5940425" algn="l"/>
                    <a:tab pos="6399213" algn="l"/>
                    <a:tab pos="6858000" algn="l"/>
                    <a:tab pos="7315200" algn="l"/>
                    <a:tab pos="7769225" algn="l"/>
                    <a:tab pos="8226425" algn="l"/>
                    <a:tab pos="8686800" algn="l"/>
                    <a:tab pos="9144000" algn="l"/>
                  </a:tabLst>
                </a:pPr>
                <a:r>
                  <a:rPr lang="en-GB">
                    <a:solidFill>
                      <a:srgbClr val="000000"/>
                    </a:solidFill>
                    <a:latin typeface="Lucidasans" charset="0"/>
                  </a:rPr>
                  <a:t>0</a:t>
                </a:r>
              </a:p>
            </p:txBody>
          </p:sp>
        </p:grpSp>
        <p:sp>
          <p:nvSpPr>
            <p:cNvPr id="69646" name="Text Box 72"/>
            <p:cNvSpPr txBox="1">
              <a:spLocks noChangeArrowheads="1"/>
            </p:cNvSpPr>
            <p:nvPr/>
          </p:nvSpPr>
          <p:spPr bwMode="auto">
            <a:xfrm>
              <a:off x="4952" y="2777"/>
              <a:ext cx="1289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These pages have</a:t>
              </a:r>
            </a:p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the highest counter</a:t>
              </a:r>
            </a:p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value and can be</a:t>
              </a:r>
            </a:p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000000"/>
                  </a:solidFill>
                  <a:latin typeface="Luxi Sans" charset="0"/>
                </a:rPr>
                <a:t>evicted.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>
                <a:latin typeface="Arial" charset="0"/>
                <a:ea typeface="ＭＳ Ｐゴシック" charset="0"/>
                <a:cs typeface="ＭＳ Ｐゴシック" charset="0"/>
              </a:rPr>
              <a:t>Algorithm: LRU Second-Chance (Clock)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LRU requires searching for the page with the highest last-ref count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Can do this with a sorted list or a second pass to look for the highest value</a:t>
            </a:r>
          </a:p>
          <a:p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Simpler technique: Second-chance algorithm</a:t>
            </a:r>
          </a:p>
          <a:p>
            <a:pPr lvl="1"/>
            <a:r>
              <a:rPr lang="ja-JP" altLang="en-US" sz="2000">
                <a:latin typeface="Arial" charset="0"/>
                <a:ea typeface="ＭＳ Ｐゴシック" charset="0"/>
              </a:rPr>
              <a:t>“</a:t>
            </a:r>
            <a:r>
              <a:rPr lang="en-US" sz="2000">
                <a:latin typeface="Arial" charset="0"/>
                <a:ea typeface="ＭＳ Ｐゴシック" charset="0"/>
              </a:rPr>
              <a:t>Clock hand</a:t>
            </a:r>
            <a:r>
              <a:rPr lang="ja-JP" altLang="en-US" sz="2000">
                <a:latin typeface="Arial" charset="0"/>
                <a:ea typeface="ＭＳ Ｐゴシック" charset="0"/>
              </a:rPr>
              <a:t>”</a:t>
            </a:r>
            <a:r>
              <a:rPr lang="en-US" sz="2000">
                <a:latin typeface="Arial" charset="0"/>
                <a:ea typeface="ＭＳ Ｐゴシック" charset="0"/>
              </a:rPr>
              <a:t> scans over all physical pages in the system</a:t>
            </a:r>
          </a:p>
          <a:p>
            <a:pPr lvl="2"/>
            <a:r>
              <a:rPr lang="en-US" sz="1600">
                <a:latin typeface="Arial" charset="0"/>
                <a:ea typeface="ＭＳ Ｐゴシック" charset="0"/>
              </a:rPr>
              <a:t>Clock hand loops around to beginning of memory when it gets to end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If PTE reference bit == 1, clear bit and advance hand to give it a second-chance</a:t>
            </a:r>
          </a:p>
          <a:p>
            <a:pPr lvl="1"/>
            <a:r>
              <a:rPr lang="en-US" sz="2000">
                <a:latin typeface="Arial" charset="0"/>
                <a:ea typeface="ＭＳ Ｐゴシック" charset="0"/>
              </a:rPr>
              <a:t>If PTE reference bit == 0, evict this page</a:t>
            </a:r>
          </a:p>
          <a:p>
            <a:pPr lvl="2"/>
            <a:r>
              <a:rPr lang="en-US" sz="1600">
                <a:latin typeface="Arial" charset="0"/>
                <a:ea typeface="ＭＳ Ｐゴシック" charset="0"/>
              </a:rPr>
              <a:t>No need for a counter in the PTE!</a:t>
            </a:r>
          </a:p>
        </p:txBody>
      </p:sp>
      <p:sp>
        <p:nvSpPr>
          <p:cNvPr id="706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2622EF1-1608-B74C-9BA8-C56AB4430706}" type="slidenum">
              <a:rPr lang="en-US"/>
              <a:pPr/>
              <a:t>29</a:t>
            </a:fld>
            <a:endParaRPr lang="en-US"/>
          </a:p>
        </p:txBody>
      </p:sp>
      <p:grpSp>
        <p:nvGrpSpPr>
          <p:cNvPr id="70662" name="Group 3"/>
          <p:cNvGrpSpPr>
            <a:grpSpLocks/>
          </p:cNvGrpSpPr>
          <p:nvPr/>
        </p:nvGrpSpPr>
        <p:grpSpPr bwMode="auto">
          <a:xfrm>
            <a:off x="1525588" y="4932363"/>
            <a:ext cx="5541962" cy="962025"/>
            <a:chOff x="961" y="2531"/>
            <a:chExt cx="3491" cy="606"/>
          </a:xfrm>
        </p:grpSpPr>
        <p:sp>
          <p:nvSpPr>
            <p:cNvPr id="70688" name="AutoShape 4"/>
            <p:cNvSpPr>
              <a:spLocks noChangeArrowheads="1"/>
            </p:cNvSpPr>
            <p:nvPr/>
          </p:nvSpPr>
          <p:spPr bwMode="auto">
            <a:xfrm>
              <a:off x="961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89" name="AutoShape 5"/>
            <p:cNvSpPr>
              <a:spLocks noChangeArrowheads="1"/>
            </p:cNvSpPr>
            <p:nvPr/>
          </p:nvSpPr>
          <p:spPr bwMode="auto">
            <a:xfrm>
              <a:off x="1193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0" name="AutoShape 6"/>
            <p:cNvSpPr>
              <a:spLocks noChangeArrowheads="1"/>
            </p:cNvSpPr>
            <p:nvPr/>
          </p:nvSpPr>
          <p:spPr bwMode="auto">
            <a:xfrm>
              <a:off x="1425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1" name="AutoShape 7"/>
            <p:cNvSpPr>
              <a:spLocks noChangeArrowheads="1"/>
            </p:cNvSpPr>
            <p:nvPr/>
          </p:nvSpPr>
          <p:spPr bwMode="auto">
            <a:xfrm>
              <a:off x="1657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2" name="AutoShape 8"/>
            <p:cNvSpPr>
              <a:spLocks noChangeArrowheads="1"/>
            </p:cNvSpPr>
            <p:nvPr/>
          </p:nvSpPr>
          <p:spPr bwMode="auto">
            <a:xfrm>
              <a:off x="1889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3" name="AutoShape 9"/>
            <p:cNvSpPr>
              <a:spLocks noChangeArrowheads="1"/>
            </p:cNvSpPr>
            <p:nvPr/>
          </p:nvSpPr>
          <p:spPr bwMode="auto">
            <a:xfrm>
              <a:off x="2120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4" name="AutoShape 10"/>
            <p:cNvSpPr>
              <a:spLocks noChangeArrowheads="1"/>
            </p:cNvSpPr>
            <p:nvPr/>
          </p:nvSpPr>
          <p:spPr bwMode="auto">
            <a:xfrm>
              <a:off x="2352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5" name="AutoShape 11"/>
            <p:cNvSpPr>
              <a:spLocks noChangeArrowheads="1"/>
            </p:cNvSpPr>
            <p:nvPr/>
          </p:nvSpPr>
          <p:spPr bwMode="auto">
            <a:xfrm>
              <a:off x="2583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6" name="AutoShape 12"/>
            <p:cNvSpPr>
              <a:spLocks noChangeArrowheads="1"/>
            </p:cNvSpPr>
            <p:nvPr/>
          </p:nvSpPr>
          <p:spPr bwMode="auto">
            <a:xfrm>
              <a:off x="2815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7" name="AutoShape 13"/>
            <p:cNvSpPr>
              <a:spLocks noChangeArrowheads="1"/>
            </p:cNvSpPr>
            <p:nvPr/>
          </p:nvSpPr>
          <p:spPr bwMode="auto">
            <a:xfrm>
              <a:off x="3047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8" name="AutoShape 14"/>
            <p:cNvSpPr>
              <a:spLocks noChangeArrowheads="1"/>
            </p:cNvSpPr>
            <p:nvPr/>
          </p:nvSpPr>
          <p:spPr bwMode="auto">
            <a:xfrm>
              <a:off x="3276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99" name="AutoShape 15"/>
            <p:cNvSpPr>
              <a:spLocks noChangeArrowheads="1"/>
            </p:cNvSpPr>
            <p:nvPr/>
          </p:nvSpPr>
          <p:spPr bwMode="auto">
            <a:xfrm>
              <a:off x="3508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700" name="AutoShape 16"/>
            <p:cNvSpPr>
              <a:spLocks noChangeArrowheads="1"/>
            </p:cNvSpPr>
            <p:nvPr/>
          </p:nvSpPr>
          <p:spPr bwMode="auto">
            <a:xfrm>
              <a:off x="3739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701" name="AutoShape 17"/>
            <p:cNvSpPr>
              <a:spLocks noChangeArrowheads="1"/>
            </p:cNvSpPr>
            <p:nvPr/>
          </p:nvSpPr>
          <p:spPr bwMode="auto">
            <a:xfrm>
              <a:off x="3971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702" name="AutoShape 18"/>
            <p:cNvSpPr>
              <a:spLocks noChangeArrowheads="1"/>
            </p:cNvSpPr>
            <p:nvPr/>
          </p:nvSpPr>
          <p:spPr bwMode="auto">
            <a:xfrm>
              <a:off x="4203" y="2531"/>
              <a:ext cx="250" cy="607"/>
            </a:xfrm>
            <a:prstGeom prst="roundRect">
              <a:avLst>
                <a:gd name="adj" fmla="val 398"/>
              </a:avLst>
            </a:prstGeom>
            <a:solidFill>
              <a:srgbClr val="00B8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1125538" y="5895975"/>
            <a:ext cx="1139825" cy="885825"/>
            <a:chOff x="709" y="3138"/>
            <a:chExt cx="717" cy="558"/>
          </a:xfrm>
        </p:grpSpPr>
        <p:sp>
          <p:nvSpPr>
            <p:cNvPr id="70686" name="Line 20"/>
            <p:cNvSpPr>
              <a:spLocks noChangeShapeType="1"/>
            </p:cNvSpPr>
            <p:nvPr/>
          </p:nvSpPr>
          <p:spPr bwMode="auto">
            <a:xfrm flipV="1">
              <a:off x="1068" y="3137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7" name="Text Box 21"/>
            <p:cNvSpPr txBox="1">
              <a:spLocks noChangeArrowheads="1"/>
            </p:cNvSpPr>
            <p:nvPr/>
          </p:nvSpPr>
          <p:spPr bwMode="auto">
            <a:xfrm>
              <a:off x="709" y="3529"/>
              <a:ext cx="71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>
                  <a:solidFill>
                    <a:srgbClr val="000000"/>
                  </a:solidFill>
                  <a:latin typeface="Luxi Sans" charset="0"/>
                </a:rPr>
                <a:t>Clock hand</a:t>
              </a:r>
            </a:p>
          </p:txBody>
        </p:sp>
      </p:grpSp>
      <p:sp>
        <p:nvSpPr>
          <p:cNvPr id="70664" name="Text Box 22"/>
          <p:cNvSpPr txBox="1">
            <a:spLocks noChangeArrowheads="1"/>
          </p:cNvSpPr>
          <p:nvPr/>
        </p:nvSpPr>
        <p:spPr bwMode="auto">
          <a:xfrm>
            <a:off x="7283450" y="5165725"/>
            <a:ext cx="1674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B8FF"/>
                </a:solidFill>
                <a:latin typeface="Luxi Sans" charset="0"/>
              </a:rPr>
              <a:t>Accessed pages</a:t>
            </a:r>
          </a:p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00B8FF"/>
                </a:solidFill>
                <a:latin typeface="Luxi Sans" charset="0"/>
              </a:rPr>
              <a:t>in blue</a:t>
            </a: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893888" y="4932363"/>
            <a:ext cx="393700" cy="1516062"/>
            <a:chOff x="1193" y="2531"/>
            <a:chExt cx="248" cy="955"/>
          </a:xfrm>
        </p:grpSpPr>
        <p:sp>
          <p:nvSpPr>
            <p:cNvPr id="70684" name="AutoShape 24"/>
            <p:cNvSpPr>
              <a:spLocks noChangeArrowheads="1"/>
            </p:cNvSpPr>
            <p:nvPr/>
          </p:nvSpPr>
          <p:spPr bwMode="auto">
            <a:xfrm>
              <a:off x="1193" y="2531"/>
              <a:ext cx="249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85" name="Line 25"/>
            <p:cNvSpPr>
              <a:spLocks noChangeShapeType="1"/>
            </p:cNvSpPr>
            <p:nvPr/>
          </p:nvSpPr>
          <p:spPr bwMode="auto">
            <a:xfrm flipV="1">
              <a:off x="1322" y="3135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AutoShape 26"/>
          <p:cNvSpPr>
            <a:spLocks noChangeArrowheads="1"/>
          </p:cNvSpPr>
          <p:nvPr/>
        </p:nvSpPr>
        <p:spPr bwMode="auto">
          <a:xfrm>
            <a:off x="1525588" y="4932363"/>
            <a:ext cx="395287" cy="965200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2254250" y="4932363"/>
            <a:ext cx="393700" cy="1516062"/>
            <a:chOff x="1420" y="2531"/>
            <a:chExt cx="248" cy="955"/>
          </a:xfrm>
        </p:grpSpPr>
        <p:sp>
          <p:nvSpPr>
            <p:cNvPr id="70682" name="AutoShape 28"/>
            <p:cNvSpPr>
              <a:spLocks noChangeArrowheads="1"/>
            </p:cNvSpPr>
            <p:nvPr/>
          </p:nvSpPr>
          <p:spPr bwMode="auto">
            <a:xfrm>
              <a:off x="1420" y="2531"/>
              <a:ext cx="249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83" name="Line 29"/>
            <p:cNvSpPr>
              <a:spLocks noChangeShapeType="1"/>
            </p:cNvSpPr>
            <p:nvPr/>
          </p:nvSpPr>
          <p:spPr bwMode="auto">
            <a:xfrm flipV="1">
              <a:off x="1549" y="3135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2624138" y="4932363"/>
            <a:ext cx="393700" cy="1516062"/>
            <a:chOff x="1653" y="2531"/>
            <a:chExt cx="248" cy="955"/>
          </a:xfrm>
        </p:grpSpPr>
        <p:sp>
          <p:nvSpPr>
            <p:cNvPr id="70680" name="AutoShape 31"/>
            <p:cNvSpPr>
              <a:spLocks noChangeArrowheads="1"/>
            </p:cNvSpPr>
            <p:nvPr/>
          </p:nvSpPr>
          <p:spPr bwMode="auto">
            <a:xfrm>
              <a:off x="1653" y="2531"/>
              <a:ext cx="249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81" name="Line 32"/>
            <p:cNvSpPr>
              <a:spLocks noChangeShapeType="1"/>
            </p:cNvSpPr>
            <p:nvPr/>
          </p:nvSpPr>
          <p:spPr bwMode="auto">
            <a:xfrm flipV="1">
              <a:off x="1782" y="3135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3006725" y="4932363"/>
            <a:ext cx="393700" cy="1516062"/>
            <a:chOff x="1894" y="2531"/>
            <a:chExt cx="248" cy="955"/>
          </a:xfrm>
        </p:grpSpPr>
        <p:sp>
          <p:nvSpPr>
            <p:cNvPr id="70678" name="AutoShape 34"/>
            <p:cNvSpPr>
              <a:spLocks noChangeArrowheads="1"/>
            </p:cNvSpPr>
            <p:nvPr/>
          </p:nvSpPr>
          <p:spPr bwMode="auto">
            <a:xfrm>
              <a:off x="1894" y="2531"/>
              <a:ext cx="249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79" name="Line 35"/>
            <p:cNvSpPr>
              <a:spLocks noChangeShapeType="1"/>
            </p:cNvSpPr>
            <p:nvPr/>
          </p:nvSpPr>
          <p:spPr bwMode="auto">
            <a:xfrm flipV="1">
              <a:off x="2022" y="3135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3365500" y="4932363"/>
            <a:ext cx="393700" cy="1516062"/>
            <a:chOff x="2120" y="2531"/>
            <a:chExt cx="248" cy="955"/>
          </a:xfrm>
        </p:grpSpPr>
        <p:sp>
          <p:nvSpPr>
            <p:cNvPr id="70676" name="AutoShape 37"/>
            <p:cNvSpPr>
              <a:spLocks noChangeArrowheads="1"/>
            </p:cNvSpPr>
            <p:nvPr/>
          </p:nvSpPr>
          <p:spPr bwMode="auto">
            <a:xfrm>
              <a:off x="2120" y="2531"/>
              <a:ext cx="249" cy="607"/>
            </a:xfrm>
            <a:prstGeom prst="roundRect">
              <a:avLst>
                <a:gd name="adj" fmla="val 398"/>
              </a:avLst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0677" name="Line 38"/>
            <p:cNvSpPr>
              <a:spLocks noChangeShapeType="1"/>
            </p:cNvSpPr>
            <p:nvPr/>
          </p:nvSpPr>
          <p:spPr bwMode="auto">
            <a:xfrm flipV="1">
              <a:off x="2249" y="3135"/>
              <a:ext cx="1" cy="353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3614738" y="4932363"/>
            <a:ext cx="555625" cy="1827212"/>
            <a:chOff x="2276" y="2531"/>
            <a:chExt cx="351" cy="1151"/>
          </a:xfrm>
        </p:grpSpPr>
        <p:grpSp>
          <p:nvGrpSpPr>
            <p:cNvPr id="70672" name="Group 40"/>
            <p:cNvGrpSpPr>
              <a:grpSpLocks/>
            </p:cNvGrpSpPr>
            <p:nvPr/>
          </p:nvGrpSpPr>
          <p:grpSpPr bwMode="auto">
            <a:xfrm>
              <a:off x="2347" y="2531"/>
              <a:ext cx="249" cy="956"/>
              <a:chOff x="2347" y="2531"/>
              <a:chExt cx="249" cy="956"/>
            </a:xfrm>
          </p:grpSpPr>
          <p:sp>
            <p:nvSpPr>
              <p:cNvPr id="70674" name="AutoShape 41"/>
              <p:cNvSpPr>
                <a:spLocks noChangeArrowheads="1"/>
              </p:cNvSpPr>
              <p:nvPr/>
            </p:nvSpPr>
            <p:spPr bwMode="auto">
              <a:xfrm>
                <a:off x="2347" y="2531"/>
                <a:ext cx="249" cy="606"/>
              </a:xfrm>
              <a:prstGeom prst="roundRect">
                <a:avLst>
                  <a:gd name="adj" fmla="val 398"/>
                </a:avLst>
              </a:prstGeom>
              <a:solidFill>
                <a:srgbClr val="FFCC99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87000"/>
                  </a:lnSpc>
                  <a:buClr>
                    <a:srgbClr val="000000"/>
                  </a:buClr>
                  <a:buSzPct val="45000"/>
                  <a:buFont typeface="Wingdings" charset="0"/>
                  <a:buNone/>
                </a:pPr>
                <a:endParaRPr lang="tr-TR"/>
              </a:p>
            </p:txBody>
          </p:sp>
          <p:sp>
            <p:nvSpPr>
              <p:cNvPr id="70675" name="Line 42"/>
              <p:cNvSpPr>
                <a:spLocks noChangeShapeType="1"/>
              </p:cNvSpPr>
              <p:nvPr/>
            </p:nvSpPr>
            <p:spPr bwMode="auto">
              <a:xfrm flipV="1">
                <a:off x="2476" y="3134"/>
                <a:ext cx="1" cy="353"/>
              </a:xfrm>
              <a:prstGeom prst="line">
                <a:avLst/>
              </a:prstGeom>
              <a:noFill/>
              <a:ln w="3672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0673" name="Text Box 43"/>
            <p:cNvSpPr txBox="1">
              <a:spLocks noChangeArrowheads="1"/>
            </p:cNvSpPr>
            <p:nvPr/>
          </p:nvSpPr>
          <p:spPr bwMode="auto">
            <a:xfrm>
              <a:off x="2276" y="3515"/>
              <a:ext cx="35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r>
                <a:rPr lang="en-GB" i="1">
                  <a:solidFill>
                    <a:srgbClr val="993333"/>
                  </a:solidFill>
                  <a:latin typeface="Luxi Sans" charset="0"/>
                </a:rPr>
                <a:t>Evict!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>
                <a:latin typeface="Arial" charset="0"/>
                <a:ea typeface="ＭＳ Ｐゴシック" charset="0"/>
                <a:cs typeface="ＭＳ Ｐゴシック" charset="0"/>
              </a:rPr>
              <a:t>Algorithm: LRU Second-Chance (Clock)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This is a lot like LRU, but operates in an iterative fashion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To find a page to evict, just start scanning from current clock hand position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What happens if all pages have ref bits set to 1?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What is the minimum </a:t>
            </a:r>
            <a:r>
              <a:rPr lang="ja-JP" alt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age</a:t>
            </a:r>
            <a:r>
              <a:rPr lang="ja-JP" alt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”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ＭＳ Ｐゴシック" charset="0"/>
              </a:rPr>
              <a:t> of a page that has the ref bit set to 0?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Slight variant -- </a:t>
            </a:r>
            <a:r>
              <a:rPr lang="ja-JP" altLang="en-US" sz="2800" dirty="0">
                <a:latin typeface="Arial" charset="0"/>
                <a:ea typeface="ＭＳ Ｐゴシック" charset="0"/>
                <a:cs typeface="ＭＳ Ｐゴシック" charset="0"/>
              </a:rPr>
              <a:t>“</a:t>
            </a: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nth chance clock</a:t>
            </a:r>
            <a:r>
              <a:rPr lang="ja-JP" altLang="en-US" sz="2800" dirty="0">
                <a:latin typeface="Arial" charset="0"/>
                <a:ea typeface="ＭＳ Ｐゴシック" charset="0"/>
                <a:cs typeface="ＭＳ Ｐゴシック" charset="0"/>
              </a:rPr>
              <a:t>”</a:t>
            </a:r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Only evict page if hand has swept by N times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Increment per-page counter each time hand passes and ref bit is 0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Evict a page if counter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≥ </a:t>
            </a:r>
            <a:r>
              <a:rPr lang="en-US" sz="2400" dirty="0">
                <a:latin typeface="Arial" charset="0"/>
                <a:ea typeface="ＭＳ Ｐゴシック" charset="0"/>
              </a:rPr>
              <a:t>N</a:t>
            </a:r>
          </a:p>
          <a:p>
            <a:pPr lvl="1"/>
            <a:r>
              <a:rPr lang="en-US" sz="2400" dirty="0">
                <a:latin typeface="Arial" charset="0"/>
                <a:ea typeface="ＭＳ Ｐゴシック" charset="0"/>
              </a:rPr>
              <a:t>Counter cleared to 0 each time page is used</a:t>
            </a:r>
          </a:p>
          <a:p>
            <a:endParaRPr lang="en-US" sz="28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16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16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E04E81-89BE-5247-8B98-C0634610090E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 Files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What 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happens to the page that we choose to evict?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</a:rPr>
              <a:t>Depends on what kind of page it is and what state it's in!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OS maintains one or more </a:t>
            </a:r>
            <a:r>
              <a:rPr lang="en-GB" sz="2400" b="1" dirty="0">
                <a:solidFill>
                  <a:srgbClr val="993333"/>
                </a:solidFill>
                <a:latin typeface="Arial" charset="0"/>
                <a:ea typeface="ＭＳ Ｐゴシック" charset="0"/>
                <a:cs typeface="ＭＳ Ｐゴシック" charset="0"/>
              </a:rPr>
              <a:t>swap files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or partitions on disk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</a:rPr>
              <a:t>Special data format for storing pages that have been swapped out</a:t>
            </a: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27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27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0872804-DB6A-A64D-B638-859F08934B5C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Swap Files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How do we keep track of where things are on disk?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1900">
                <a:latin typeface="Arial" charset="0"/>
                <a:ea typeface="ＭＳ Ｐゴシック" charset="0"/>
              </a:rPr>
              <a:t>Recall PTE format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1900">
                <a:latin typeface="Arial" charset="0"/>
                <a:ea typeface="ＭＳ Ｐゴシック" charset="0"/>
              </a:rPr>
              <a:t>When V bit is 0, can recycle the PFN field to remember something about the page.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0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0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000">
              <a:latin typeface="Arial" charset="0"/>
              <a:ea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GB" sz="240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But ... not all pages are swapped in from swap files!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E.g., what about executables?</a:t>
            </a:r>
            <a:endParaRPr lang="en-US" sz="2400">
              <a:latin typeface="Arial" charset="0"/>
              <a:ea typeface="ＭＳ Ｐゴシック" charset="0"/>
            </a:endParaRPr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538ADD8-BB1C-B94B-A441-2C52743AFB42}" type="slidenum">
              <a:rPr lang="en-US"/>
              <a:pPr/>
              <a:t>32</a:t>
            </a:fld>
            <a:endParaRPr lang="en-US"/>
          </a:p>
        </p:txBody>
      </p:sp>
      <p:grpSp>
        <p:nvGrpSpPr>
          <p:cNvPr id="73734" name="Group 3"/>
          <p:cNvGrpSpPr>
            <a:grpSpLocks/>
          </p:cNvGrpSpPr>
          <p:nvPr/>
        </p:nvGrpSpPr>
        <p:grpSpPr bwMode="auto">
          <a:xfrm>
            <a:off x="3103563" y="2601913"/>
            <a:ext cx="5091112" cy="550862"/>
            <a:chOff x="2438" y="1302"/>
            <a:chExt cx="3206" cy="347"/>
          </a:xfrm>
        </p:grpSpPr>
        <p:sp>
          <p:nvSpPr>
            <p:cNvPr id="73778" name="AutoShape 4"/>
            <p:cNvSpPr>
              <a:spLocks noChangeArrowheads="1"/>
            </p:cNvSpPr>
            <p:nvPr/>
          </p:nvSpPr>
          <p:spPr bwMode="auto">
            <a:xfrm>
              <a:off x="2438" y="1302"/>
              <a:ext cx="3207" cy="348"/>
            </a:xfrm>
            <a:prstGeom prst="roundRect">
              <a:avLst>
                <a:gd name="adj" fmla="val 287"/>
              </a:avLst>
            </a:prstGeom>
            <a:solidFill>
              <a:srgbClr val="FF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3779" name="AutoShape 5"/>
            <p:cNvSpPr>
              <a:spLocks noChangeArrowheads="1"/>
            </p:cNvSpPr>
            <p:nvPr/>
          </p:nvSpPr>
          <p:spPr bwMode="auto">
            <a:xfrm>
              <a:off x="2438" y="1302"/>
              <a:ext cx="3207" cy="348"/>
            </a:xfrm>
            <a:prstGeom prst="roundRect">
              <a:avLst>
                <a:gd name="adj" fmla="val 287"/>
              </a:avLst>
            </a:prstGeom>
            <a:solidFill>
              <a:srgbClr val="FF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89982" tIns="46790" rIns="89982" bIns="46790" anchor="ctr"/>
            <a:lstStyle/>
            <a:p>
              <a:pPr algn="ctr">
                <a:lnSpc>
                  <a:spcPct val="112000"/>
                </a:lnSpc>
                <a:spcBef>
                  <a:spcPts val="213"/>
                </a:spcBef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MDW Arial" charset="0"/>
                </a:rPr>
                <a:t>Swap file offset</a:t>
              </a:r>
            </a:p>
          </p:txBody>
        </p:sp>
      </p:grpSp>
      <p:grpSp>
        <p:nvGrpSpPr>
          <p:cNvPr id="73735" name="Group 6"/>
          <p:cNvGrpSpPr>
            <a:grpSpLocks/>
          </p:cNvGrpSpPr>
          <p:nvPr/>
        </p:nvGrpSpPr>
        <p:grpSpPr bwMode="auto">
          <a:xfrm>
            <a:off x="1001713" y="2601913"/>
            <a:ext cx="2100262" cy="550862"/>
            <a:chOff x="1113" y="1302"/>
            <a:chExt cx="1323" cy="347"/>
          </a:xfrm>
        </p:grpSpPr>
        <p:sp>
          <p:nvSpPr>
            <p:cNvPr id="73776" name="AutoShape 7"/>
            <p:cNvSpPr>
              <a:spLocks noChangeArrowheads="1"/>
            </p:cNvSpPr>
            <p:nvPr/>
          </p:nvSpPr>
          <p:spPr bwMode="auto">
            <a:xfrm>
              <a:off x="1113" y="1302"/>
              <a:ext cx="1324" cy="348"/>
            </a:xfrm>
            <a:prstGeom prst="roundRect">
              <a:avLst>
                <a:gd name="adj" fmla="val 287"/>
              </a:avLst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3777" name="AutoShape 8"/>
            <p:cNvSpPr>
              <a:spLocks noChangeArrowheads="1"/>
            </p:cNvSpPr>
            <p:nvPr/>
          </p:nvSpPr>
          <p:spPr bwMode="auto">
            <a:xfrm>
              <a:off x="1113" y="1302"/>
              <a:ext cx="1324" cy="348"/>
            </a:xfrm>
            <a:prstGeom prst="roundRect">
              <a:avLst>
                <a:gd name="adj" fmla="val 287"/>
              </a:avLst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89982" tIns="46790" rIns="89982" bIns="46790" anchor="ctr"/>
            <a:lstStyle/>
            <a:p>
              <a:pPr algn="ctr">
                <a:lnSpc>
                  <a:spcPct val="112000"/>
                </a:lnSpc>
                <a:spcBef>
                  <a:spcPts val="213"/>
                </a:spcBef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MDW Arial" charset="0"/>
                </a:rPr>
                <a:t>Swap file index</a:t>
              </a:r>
            </a:p>
          </p:txBody>
        </p:sp>
      </p:grpSp>
      <p:grpSp>
        <p:nvGrpSpPr>
          <p:cNvPr id="73736" name="Group 9"/>
          <p:cNvGrpSpPr>
            <a:grpSpLocks/>
          </p:cNvGrpSpPr>
          <p:nvPr/>
        </p:nvGrpSpPr>
        <p:grpSpPr bwMode="auto">
          <a:xfrm>
            <a:off x="560388" y="2601913"/>
            <a:ext cx="438150" cy="550862"/>
            <a:chOff x="834" y="1302"/>
            <a:chExt cx="277" cy="347"/>
          </a:xfrm>
        </p:grpSpPr>
        <p:sp>
          <p:nvSpPr>
            <p:cNvPr id="73774" name="AutoShape 10"/>
            <p:cNvSpPr>
              <a:spLocks noChangeArrowheads="1"/>
            </p:cNvSpPr>
            <p:nvPr/>
          </p:nvSpPr>
          <p:spPr bwMode="auto">
            <a:xfrm>
              <a:off x="834" y="1302"/>
              <a:ext cx="278" cy="348"/>
            </a:xfrm>
            <a:prstGeom prst="roundRect">
              <a:avLst>
                <a:gd name="adj" fmla="val 356"/>
              </a:avLst>
            </a:prstGeom>
            <a:solidFill>
              <a:srgbClr val="FF808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87000"/>
                </a:lnSpc>
                <a:buClr>
                  <a:srgbClr val="000000"/>
                </a:buClr>
                <a:buSzPct val="45000"/>
                <a:buFont typeface="Wingdings" charset="0"/>
                <a:buNone/>
              </a:pPr>
              <a:endParaRPr lang="tr-TR"/>
            </a:p>
          </p:txBody>
        </p:sp>
        <p:sp>
          <p:nvSpPr>
            <p:cNvPr id="73775" name="AutoShape 11"/>
            <p:cNvSpPr>
              <a:spLocks noChangeArrowheads="1"/>
            </p:cNvSpPr>
            <p:nvPr/>
          </p:nvSpPr>
          <p:spPr bwMode="auto">
            <a:xfrm>
              <a:off x="834" y="1302"/>
              <a:ext cx="278" cy="348"/>
            </a:xfrm>
            <a:prstGeom prst="roundRect">
              <a:avLst>
                <a:gd name="adj" fmla="val 356"/>
              </a:avLst>
            </a:prstGeom>
            <a:solidFill>
              <a:srgbClr val="FF808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89982" tIns="46790" rIns="89982" bIns="46790" anchor="ctr" anchorCtr="1"/>
            <a:lstStyle/>
            <a:p>
              <a:pPr algn="ctr">
                <a:lnSpc>
                  <a:spcPct val="112000"/>
                </a:lnSpc>
                <a:spcBef>
                  <a:spcPts val="213"/>
                </a:spcBef>
                <a:buClr>
                  <a:srgbClr val="000000"/>
                </a:buClr>
                <a:buSzPct val="45000"/>
                <a:buFont typeface="Wingdings" charset="0"/>
                <a:buNone/>
                <a:tabLst>
                  <a:tab pos="0" algn="l"/>
                  <a:tab pos="457200" algn="l"/>
                  <a:tab pos="912813" algn="l"/>
                  <a:tab pos="1371600" algn="l"/>
                  <a:tab pos="1828800" algn="l"/>
                  <a:tab pos="2286000" algn="l"/>
                  <a:tab pos="2741613" algn="l"/>
                  <a:tab pos="3200400" algn="l"/>
                  <a:tab pos="3657600" algn="l"/>
                  <a:tab pos="4114800" algn="l"/>
                  <a:tab pos="4570413" algn="l"/>
                  <a:tab pos="5029200" algn="l"/>
                  <a:tab pos="5486400" algn="l"/>
                  <a:tab pos="5940425" algn="l"/>
                  <a:tab pos="6399213" algn="l"/>
                  <a:tab pos="6858000" algn="l"/>
                  <a:tab pos="7315200" algn="l"/>
                  <a:tab pos="7769225" algn="l"/>
                  <a:tab pos="8226425" algn="l"/>
                  <a:tab pos="8686800" algn="l"/>
                  <a:tab pos="9144000" algn="l"/>
                </a:tabLst>
              </a:pPr>
              <a:r>
                <a:rPr lang="en-GB">
                  <a:solidFill>
                    <a:srgbClr val="000000"/>
                  </a:solidFill>
                  <a:latin typeface="MDW Arial" charset="0"/>
                </a:rPr>
                <a:t>0</a:t>
              </a:r>
            </a:p>
          </p:txBody>
        </p:sp>
      </p:grpSp>
      <p:sp>
        <p:nvSpPr>
          <p:cNvPr id="73737" name="Text Box 12"/>
          <p:cNvSpPr txBox="1">
            <a:spLocks noChangeArrowheads="1"/>
          </p:cNvSpPr>
          <p:nvPr/>
        </p:nvSpPr>
        <p:spPr bwMode="auto">
          <a:xfrm>
            <a:off x="1785938" y="2312988"/>
            <a:ext cx="487362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>
                <a:solidFill>
                  <a:srgbClr val="000000"/>
                </a:solidFill>
                <a:latin typeface="Luxi Sans" charset="0"/>
              </a:rPr>
              <a:t>5 bits</a:t>
            </a:r>
          </a:p>
        </p:txBody>
      </p:sp>
      <p:sp>
        <p:nvSpPr>
          <p:cNvPr id="73738" name="Text Box 13"/>
          <p:cNvSpPr txBox="1">
            <a:spLocks noChangeArrowheads="1"/>
          </p:cNvSpPr>
          <p:nvPr/>
        </p:nvSpPr>
        <p:spPr bwMode="auto">
          <a:xfrm>
            <a:off x="5448300" y="2312988"/>
            <a:ext cx="6000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>
                <a:solidFill>
                  <a:srgbClr val="000000"/>
                </a:solidFill>
                <a:latin typeface="Luxi Sans" charset="0"/>
              </a:rPr>
              <a:t>24 bits</a:t>
            </a:r>
          </a:p>
        </p:txBody>
      </p:sp>
      <p:sp>
        <p:nvSpPr>
          <p:cNvPr id="73739" name="AutoShape 14"/>
          <p:cNvSpPr>
            <a:spLocks noChangeArrowheads="1"/>
          </p:cNvSpPr>
          <p:nvPr/>
        </p:nvSpPr>
        <p:spPr bwMode="auto">
          <a:xfrm>
            <a:off x="2559050" y="4090988"/>
            <a:ext cx="855663" cy="182562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0" name="AutoShape 15"/>
          <p:cNvSpPr>
            <a:spLocks noChangeArrowheads="1"/>
          </p:cNvSpPr>
          <p:nvPr/>
        </p:nvSpPr>
        <p:spPr bwMode="auto">
          <a:xfrm>
            <a:off x="2559050" y="4273550"/>
            <a:ext cx="855663" cy="179388"/>
          </a:xfrm>
          <a:prstGeom prst="roundRect">
            <a:avLst>
              <a:gd name="adj" fmla="val 875"/>
            </a:avLst>
          </a:prstGeom>
          <a:solidFill>
            <a:srgbClr val="993333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1" name="AutoShape 16"/>
          <p:cNvSpPr>
            <a:spLocks noChangeArrowheads="1"/>
          </p:cNvSpPr>
          <p:nvPr/>
        </p:nvSpPr>
        <p:spPr bwMode="auto">
          <a:xfrm>
            <a:off x="2559050" y="3730625"/>
            <a:ext cx="855663" cy="180975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2" name="AutoShape 17"/>
          <p:cNvSpPr>
            <a:spLocks noChangeArrowheads="1"/>
          </p:cNvSpPr>
          <p:nvPr/>
        </p:nvSpPr>
        <p:spPr bwMode="auto">
          <a:xfrm>
            <a:off x="2559050" y="4451350"/>
            <a:ext cx="855663" cy="180975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3" name="AutoShape 18"/>
          <p:cNvSpPr>
            <a:spLocks noChangeArrowheads="1"/>
          </p:cNvSpPr>
          <p:nvPr/>
        </p:nvSpPr>
        <p:spPr bwMode="auto">
          <a:xfrm>
            <a:off x="2559050" y="3549650"/>
            <a:ext cx="855663" cy="180975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4" name="AutoShape 19"/>
          <p:cNvSpPr>
            <a:spLocks noChangeArrowheads="1"/>
          </p:cNvSpPr>
          <p:nvPr/>
        </p:nvSpPr>
        <p:spPr bwMode="auto">
          <a:xfrm>
            <a:off x="2559050" y="4632325"/>
            <a:ext cx="855663" cy="180975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5" name="AutoShape 20"/>
          <p:cNvSpPr>
            <a:spLocks noChangeArrowheads="1"/>
          </p:cNvSpPr>
          <p:nvPr/>
        </p:nvSpPr>
        <p:spPr bwMode="auto">
          <a:xfrm>
            <a:off x="2559050" y="3910013"/>
            <a:ext cx="855663" cy="180975"/>
          </a:xfrm>
          <a:prstGeom prst="roundRect">
            <a:avLst>
              <a:gd name="adj" fmla="val 875"/>
            </a:avLst>
          </a:prstGeom>
          <a:solidFill>
            <a:srgbClr val="F6F2F2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cxnSp>
        <p:nvCxnSpPr>
          <p:cNvPr id="73746" name="AutoShape 21"/>
          <p:cNvCxnSpPr>
            <a:cxnSpLocks noChangeShapeType="1"/>
            <a:endCxn id="73740" idx="1"/>
          </p:cNvCxnSpPr>
          <p:nvPr/>
        </p:nvCxnSpPr>
        <p:spPr bwMode="auto">
          <a:xfrm rot="16200000" flipH="1">
            <a:off x="1701006" y="3505995"/>
            <a:ext cx="1209675" cy="506412"/>
          </a:xfrm>
          <a:prstGeom prst="bentConnector2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3747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3467100"/>
            <a:ext cx="112712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73748" name="AutoShape 23"/>
          <p:cNvSpPr>
            <a:spLocks noChangeArrowheads="1"/>
          </p:cNvSpPr>
          <p:nvPr/>
        </p:nvSpPr>
        <p:spPr bwMode="auto">
          <a:xfrm rot="5400000">
            <a:off x="52022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49" name="AutoShape 24"/>
          <p:cNvSpPr>
            <a:spLocks noChangeArrowheads="1"/>
          </p:cNvSpPr>
          <p:nvPr/>
        </p:nvSpPr>
        <p:spPr bwMode="auto">
          <a:xfrm rot="5400000">
            <a:off x="50625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FF9966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0" name="AutoShape 25"/>
          <p:cNvSpPr>
            <a:spLocks noChangeArrowheads="1"/>
          </p:cNvSpPr>
          <p:nvPr/>
        </p:nvSpPr>
        <p:spPr bwMode="auto">
          <a:xfrm rot="5400000">
            <a:off x="54816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1" name="AutoShape 26"/>
          <p:cNvSpPr>
            <a:spLocks noChangeArrowheads="1"/>
          </p:cNvSpPr>
          <p:nvPr/>
        </p:nvSpPr>
        <p:spPr bwMode="auto">
          <a:xfrm rot="5400000">
            <a:off x="4924425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2" name="AutoShape 27"/>
          <p:cNvSpPr>
            <a:spLocks noChangeArrowheads="1"/>
          </p:cNvSpPr>
          <p:nvPr/>
        </p:nvSpPr>
        <p:spPr bwMode="auto">
          <a:xfrm rot="5400000">
            <a:off x="56213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3" name="AutoShape 28"/>
          <p:cNvSpPr>
            <a:spLocks noChangeArrowheads="1"/>
          </p:cNvSpPr>
          <p:nvPr/>
        </p:nvSpPr>
        <p:spPr bwMode="auto">
          <a:xfrm rot="5400000">
            <a:off x="4784725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4" name="AutoShape 29"/>
          <p:cNvSpPr>
            <a:spLocks noChangeArrowheads="1"/>
          </p:cNvSpPr>
          <p:nvPr/>
        </p:nvSpPr>
        <p:spPr bwMode="auto">
          <a:xfrm rot="5400000">
            <a:off x="53419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5" name="AutoShape 30"/>
          <p:cNvSpPr>
            <a:spLocks noChangeArrowheads="1"/>
          </p:cNvSpPr>
          <p:nvPr/>
        </p:nvSpPr>
        <p:spPr bwMode="auto">
          <a:xfrm rot="5400000">
            <a:off x="57610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6" name="AutoShape 31"/>
          <p:cNvSpPr>
            <a:spLocks noChangeArrowheads="1"/>
          </p:cNvSpPr>
          <p:nvPr/>
        </p:nvSpPr>
        <p:spPr bwMode="auto">
          <a:xfrm rot="5400000">
            <a:off x="59007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7" name="AutoShape 32"/>
          <p:cNvSpPr>
            <a:spLocks noChangeArrowheads="1"/>
          </p:cNvSpPr>
          <p:nvPr/>
        </p:nvSpPr>
        <p:spPr bwMode="auto">
          <a:xfrm rot="5400000">
            <a:off x="61801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8" name="AutoShape 33"/>
          <p:cNvSpPr>
            <a:spLocks noChangeArrowheads="1"/>
          </p:cNvSpPr>
          <p:nvPr/>
        </p:nvSpPr>
        <p:spPr bwMode="auto">
          <a:xfrm rot="5400000">
            <a:off x="63198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59" name="AutoShape 34"/>
          <p:cNvSpPr>
            <a:spLocks noChangeArrowheads="1"/>
          </p:cNvSpPr>
          <p:nvPr/>
        </p:nvSpPr>
        <p:spPr bwMode="auto">
          <a:xfrm rot="5400000">
            <a:off x="60404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0" name="AutoShape 35"/>
          <p:cNvSpPr>
            <a:spLocks noChangeArrowheads="1"/>
          </p:cNvSpPr>
          <p:nvPr/>
        </p:nvSpPr>
        <p:spPr bwMode="auto">
          <a:xfrm rot="5400000">
            <a:off x="64595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1" name="AutoShape 36"/>
          <p:cNvSpPr>
            <a:spLocks noChangeArrowheads="1"/>
          </p:cNvSpPr>
          <p:nvPr/>
        </p:nvSpPr>
        <p:spPr bwMode="auto">
          <a:xfrm rot="5400000">
            <a:off x="659923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2" name="AutoShape 37"/>
          <p:cNvSpPr>
            <a:spLocks noChangeArrowheads="1"/>
          </p:cNvSpPr>
          <p:nvPr/>
        </p:nvSpPr>
        <p:spPr bwMode="auto">
          <a:xfrm rot="5400000">
            <a:off x="38242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3" name="AutoShape 38"/>
          <p:cNvSpPr>
            <a:spLocks noChangeArrowheads="1"/>
          </p:cNvSpPr>
          <p:nvPr/>
        </p:nvSpPr>
        <p:spPr bwMode="auto">
          <a:xfrm rot="5400000">
            <a:off x="39639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4" name="AutoShape 39"/>
          <p:cNvSpPr>
            <a:spLocks noChangeArrowheads="1"/>
          </p:cNvSpPr>
          <p:nvPr/>
        </p:nvSpPr>
        <p:spPr bwMode="auto">
          <a:xfrm rot="5400000">
            <a:off x="42433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5" name="AutoShape 40"/>
          <p:cNvSpPr>
            <a:spLocks noChangeArrowheads="1"/>
          </p:cNvSpPr>
          <p:nvPr/>
        </p:nvSpPr>
        <p:spPr bwMode="auto">
          <a:xfrm rot="5400000">
            <a:off x="43830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6" name="AutoShape 41"/>
          <p:cNvSpPr>
            <a:spLocks noChangeArrowheads="1"/>
          </p:cNvSpPr>
          <p:nvPr/>
        </p:nvSpPr>
        <p:spPr bwMode="auto">
          <a:xfrm rot="5400000">
            <a:off x="41036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7" name="AutoShape 42"/>
          <p:cNvSpPr>
            <a:spLocks noChangeArrowheads="1"/>
          </p:cNvSpPr>
          <p:nvPr/>
        </p:nvSpPr>
        <p:spPr bwMode="auto">
          <a:xfrm rot="5400000">
            <a:off x="45227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8" name="AutoShape 43"/>
          <p:cNvSpPr>
            <a:spLocks noChangeArrowheads="1"/>
          </p:cNvSpPr>
          <p:nvPr/>
        </p:nvSpPr>
        <p:spPr bwMode="auto">
          <a:xfrm rot="5400000">
            <a:off x="4662488" y="4032250"/>
            <a:ext cx="508000" cy="139700"/>
          </a:xfrm>
          <a:prstGeom prst="roundRect">
            <a:avLst>
              <a:gd name="adj" fmla="val 1134"/>
            </a:avLst>
          </a:prstGeom>
          <a:solidFill>
            <a:srgbClr val="808080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3769" name="Text Box 44"/>
          <p:cNvSpPr txBox="1">
            <a:spLocks noChangeArrowheads="1"/>
          </p:cNvSpPr>
          <p:nvPr/>
        </p:nvSpPr>
        <p:spPr bwMode="auto">
          <a:xfrm>
            <a:off x="2346325" y="4864100"/>
            <a:ext cx="14668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 dirty="0">
                <a:solidFill>
                  <a:srgbClr val="000000"/>
                </a:solidFill>
                <a:latin typeface="Luxi Sans" charset="0"/>
              </a:rPr>
              <a:t>Swap file table</a:t>
            </a:r>
          </a:p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 dirty="0">
                <a:solidFill>
                  <a:srgbClr val="000000"/>
                </a:solidFill>
                <a:latin typeface="Luxi Sans" charset="0"/>
              </a:rPr>
              <a:t>(max 32 entries</a:t>
            </a:r>
            <a:r>
              <a:rPr lang="en-GB" sz="1700" dirty="0" smtClean="0">
                <a:solidFill>
                  <a:srgbClr val="000000"/>
                </a:solidFill>
                <a:latin typeface="Luxi Sans" charset="0"/>
              </a:rPr>
              <a:t>)</a:t>
            </a:r>
            <a:endParaRPr lang="en-GB" sz="1700" dirty="0">
              <a:solidFill>
                <a:srgbClr val="000000"/>
              </a:solidFill>
              <a:latin typeface="Luxi Sans" charset="0"/>
            </a:endParaRPr>
          </a:p>
        </p:txBody>
      </p:sp>
      <p:sp>
        <p:nvSpPr>
          <p:cNvPr id="73770" name="Text Box 45"/>
          <p:cNvSpPr txBox="1">
            <a:spLocks noChangeArrowheads="1"/>
          </p:cNvSpPr>
          <p:nvPr/>
        </p:nvSpPr>
        <p:spPr bwMode="auto">
          <a:xfrm>
            <a:off x="4051300" y="4451350"/>
            <a:ext cx="33051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 dirty="0">
                <a:solidFill>
                  <a:srgbClr val="000000"/>
                </a:solidFill>
                <a:latin typeface="Luxi Sans" charset="0"/>
              </a:rPr>
              <a:t>Swap file (max </a:t>
            </a:r>
            <a:r>
              <a:rPr lang="en-GB" sz="1700" dirty="0" smtClean="0">
                <a:solidFill>
                  <a:srgbClr val="000000"/>
                </a:solidFill>
                <a:latin typeface="Luxi Sans" charset="0"/>
              </a:rPr>
              <a:t>2</a:t>
            </a:r>
            <a:r>
              <a:rPr lang="en-GB" sz="1700" baseline="30000" dirty="0" smtClean="0">
                <a:solidFill>
                  <a:srgbClr val="000000"/>
                </a:solidFill>
                <a:latin typeface="Luxi Sans" charset="0"/>
              </a:rPr>
              <a:t>24</a:t>
            </a:r>
            <a:r>
              <a:rPr lang="en-GB" sz="1700" dirty="0" smtClean="0">
                <a:solidFill>
                  <a:srgbClr val="000000"/>
                </a:solidFill>
                <a:latin typeface="Luxi Sans" charset="0"/>
              </a:rPr>
              <a:t> </a:t>
            </a:r>
            <a:r>
              <a:rPr lang="en-GB" sz="1700" dirty="0">
                <a:solidFill>
                  <a:srgbClr val="000000"/>
                </a:solidFill>
                <a:latin typeface="Luxi Sans" charset="0"/>
              </a:rPr>
              <a:t>pages = 64 GB</a:t>
            </a:r>
            <a:r>
              <a:rPr lang="en-GB" sz="1700" dirty="0" smtClean="0">
                <a:solidFill>
                  <a:srgbClr val="000000"/>
                </a:solidFill>
                <a:latin typeface="Luxi Sans" charset="0"/>
              </a:rPr>
              <a:t>)</a:t>
            </a:r>
            <a:endParaRPr lang="en-GB" sz="1700" dirty="0">
              <a:solidFill>
                <a:srgbClr val="000000"/>
              </a:solidFill>
              <a:latin typeface="Luxi Sans" charset="0"/>
            </a:endParaRPr>
          </a:p>
        </p:txBody>
      </p:sp>
      <p:cxnSp>
        <p:nvCxnSpPr>
          <p:cNvPr id="73771" name="AutoShape 46"/>
          <p:cNvCxnSpPr>
            <a:cxnSpLocks noChangeShapeType="1"/>
            <a:endCxn id="73749" idx="1"/>
          </p:cNvCxnSpPr>
          <p:nvPr/>
        </p:nvCxnSpPr>
        <p:spPr bwMode="auto">
          <a:xfrm rot="5400000">
            <a:off x="5136357" y="3334544"/>
            <a:ext cx="693737" cy="333375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772" name="AutoShape 47"/>
          <p:cNvCxnSpPr>
            <a:cxnSpLocks noChangeShapeType="1"/>
            <a:stCxn id="73740" idx="3"/>
            <a:endCxn id="73762" idx="0"/>
          </p:cNvCxnSpPr>
          <p:nvPr/>
        </p:nvCxnSpPr>
        <p:spPr bwMode="auto">
          <a:xfrm flipV="1">
            <a:off x="3414713" y="4102100"/>
            <a:ext cx="733425" cy="2619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773" name="Text Box 48"/>
          <p:cNvSpPr txBox="1">
            <a:spLocks noChangeArrowheads="1"/>
          </p:cNvSpPr>
          <p:nvPr/>
        </p:nvSpPr>
        <p:spPr bwMode="auto">
          <a:xfrm>
            <a:off x="533400" y="2301875"/>
            <a:ext cx="477838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sz="1700">
                <a:solidFill>
                  <a:srgbClr val="000000"/>
                </a:solidFill>
                <a:latin typeface="Luxi Sans" charset="0"/>
              </a:rPr>
              <a:t>V bit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Page Eviction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How we evict a page depends on its type.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Code page: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Just remove it from memory – can recover it from the executable file on disk!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Unmodified (</a:t>
            </a:r>
            <a:r>
              <a:rPr lang="en-GB" sz="2400" i="1" dirty="0">
                <a:solidFill>
                  <a:srgbClr val="993333"/>
                </a:solidFill>
                <a:latin typeface="Arial" charset="0"/>
                <a:ea typeface="ＭＳ Ｐゴシック" charset="0"/>
                <a:cs typeface="ＭＳ Ｐゴシック" charset="0"/>
              </a:rPr>
              <a:t>clean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) data page: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the page has previously been swapped to disk, just remove it from memory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 dirty="0">
                <a:latin typeface="Arial" charset="0"/>
                <a:ea typeface="ＭＳ Ｐゴシック" charset="0"/>
              </a:rPr>
              <a:t>Assuming that page's </a:t>
            </a:r>
            <a:r>
              <a:rPr lang="en-GB" sz="1800" dirty="0">
                <a:solidFill>
                  <a:srgbClr val="993333"/>
                </a:solidFill>
                <a:latin typeface="Arial" charset="0"/>
                <a:ea typeface="ＭＳ Ｐゴシック" charset="0"/>
              </a:rPr>
              <a:t>backing store</a:t>
            </a:r>
            <a:r>
              <a:rPr lang="en-GB" sz="1800" dirty="0">
                <a:latin typeface="Arial" charset="0"/>
                <a:ea typeface="ＭＳ Ｐゴシック" charset="0"/>
              </a:rPr>
              <a:t> on disk has not been overwritten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the page has never been swapped to disk, allocate new swap space and write the page to it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Exception: unmodified zero page – no need to write out to swap at all!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Modified (</a:t>
            </a:r>
            <a:r>
              <a:rPr lang="en-GB" sz="2400" i="1" dirty="0">
                <a:solidFill>
                  <a:srgbClr val="993333"/>
                </a:solidFill>
                <a:latin typeface="Arial" charset="0"/>
                <a:ea typeface="ＭＳ Ｐゴシック" charset="0"/>
                <a:cs typeface="ＭＳ Ｐゴシック" charset="0"/>
              </a:rPr>
              <a:t>dirty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) data page: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the page has previously been swapped to disk, write page out to the swap space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the page has never been swapped to disk, allocate new swap space and write the page to it</a:t>
            </a: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47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47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416B83-A4A8-0A40-9E38-6F6644FBA183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Physical Frame Allocation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How do we allocate physical memory across multiple processes?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What if Process A needs to evict a page from Process B?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How do we ensure fairness? 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How do we avoid having one process hogging the entire memory of the system?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Local replacement algorithms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Per-process limit on the physical memory usage of each process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When a process reaches its limit, it evicts pages </a:t>
            </a:r>
            <a:r>
              <a:rPr lang="en-GB" sz="2000" i="1" dirty="0">
                <a:solidFill>
                  <a:srgbClr val="2323DC"/>
                </a:solidFill>
                <a:latin typeface="Arial" charset="0"/>
                <a:ea typeface="ＭＳ Ｐゴシック" charset="0"/>
              </a:rPr>
              <a:t>from itself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Global-replacement algorithms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Physical size of processes can grow and shrink over time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Allow processes to evict pages from other processes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Note that one process' paging can impact performance of entire system!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One process that does a lot of paging will induce more disk I/O</a:t>
            </a: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7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57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9D7A9F5-68DF-C147-B53C-057089361E91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Working Set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A process's </a:t>
            </a:r>
            <a:r>
              <a:rPr lang="en-GB" sz="2400" i="1" dirty="0">
                <a:solidFill>
                  <a:srgbClr val="993333"/>
                </a:solidFill>
                <a:latin typeface="Arial" charset="0"/>
                <a:ea typeface="ＭＳ Ｐゴシック" charset="0"/>
                <a:cs typeface="ＭＳ Ｐゴシック" charset="0"/>
              </a:rPr>
              <a:t>working set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 is the set of pages that it currently “needs”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Definition: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WS(P, t, w) = the set of pages that process P accessed in the time interval [t-w, t]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“w” is usually counted in terms of number of page references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 dirty="0">
                <a:solidFill>
                  <a:srgbClr val="2323DC"/>
                </a:solidFill>
                <a:latin typeface="Arial" charset="0"/>
                <a:ea typeface="ＭＳ Ｐゴシック" charset="0"/>
              </a:rPr>
              <a:t>A page is in WS if it was referenced in the last w page references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Working set changes over the lifetime of the process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Periods of high locality exhibit </a:t>
            </a:r>
            <a:r>
              <a:rPr lang="en-GB" sz="2000" b="1" dirty="0">
                <a:solidFill>
                  <a:srgbClr val="993333"/>
                </a:solidFill>
                <a:latin typeface="Arial" charset="0"/>
                <a:ea typeface="ＭＳ Ｐゴシック" charset="0"/>
              </a:rPr>
              <a:t>smaller</a:t>
            </a:r>
            <a:r>
              <a:rPr lang="en-GB" sz="2000" dirty="0">
                <a:latin typeface="Arial" charset="0"/>
                <a:ea typeface="ＭＳ Ｐゴシック" charset="0"/>
              </a:rPr>
              <a:t> working set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Periods of low locality exhibit </a:t>
            </a:r>
            <a:r>
              <a:rPr lang="en-GB" sz="2000" b="1" dirty="0">
                <a:solidFill>
                  <a:srgbClr val="993333"/>
                </a:solidFill>
                <a:latin typeface="Arial" charset="0"/>
                <a:ea typeface="ＭＳ Ｐゴシック" charset="0"/>
              </a:rPr>
              <a:t>larger</a:t>
            </a:r>
            <a:r>
              <a:rPr lang="en-GB" sz="2000" dirty="0">
                <a:latin typeface="Arial" charset="0"/>
                <a:ea typeface="ＭＳ Ｐゴシック" charset="0"/>
              </a:rPr>
              <a:t> working set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Basic idea: Give process enough memory for its working set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WS is larger than physical memory allocated to process, it will tend to swap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If WS is smaller than memory allocated to process, it's wasteful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 dirty="0">
                <a:latin typeface="Arial" charset="0"/>
                <a:ea typeface="ＭＳ Ｐゴシック" charset="0"/>
              </a:rPr>
              <a:t>This amount of memory grows and shrinks over time</a:t>
            </a:r>
            <a:endParaRPr lang="en-US" sz="2000" dirty="0">
              <a:latin typeface="Arial" charset="0"/>
              <a:ea typeface="ＭＳ Ｐゴシック" charset="0"/>
            </a:endParaRPr>
          </a:p>
        </p:txBody>
      </p:sp>
      <p:sp>
        <p:nvSpPr>
          <p:cNvPr id="768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68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9B00E7A-74D7-5447-A958-D9F771D2D7F7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Estimating the Working Set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How do we determine the working set?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Simple approach: modified clock algorithm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Sweep the clock hand at fixed time intervals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Record how many seconds since last page reference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All pages referenced in last T seconds are in the working set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Now that we know the working set, how do we allocate memory?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If working sets for all processes fit in physical memory, done!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Otherwise, reduce memory allocation of larger processes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Idea: Big processes will swap anyway, so let the small jobs run unencumbered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Very similar to shortest-job-first scheduling: give smaller processes better chance of fitting in memory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400">
                <a:latin typeface="Arial" charset="0"/>
                <a:ea typeface="ＭＳ Ｐゴシック" charset="0"/>
                <a:cs typeface="ＭＳ Ｐゴシック" charset="0"/>
              </a:rPr>
              <a:t>How do we decide the working set time limit T?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If T is too large, very few processes will fit in memory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</a:rPr>
              <a:t>If T is too small, system will spend more time swapping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Which is better?</a:t>
            </a: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78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14C686A-5B34-9442-A1DD-67C5084749FC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Page Fault Frequency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Dynamically tune memory size of process based on # page faults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Monitor page fault rate for each process (faults per sec</a:t>
            </a: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)</a:t>
            </a:r>
            <a:endParaRPr lang="en-GB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If </a:t>
            </a: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page fault rate above threshold, give process more memory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>
                <a:latin typeface="Arial" charset="0"/>
                <a:ea typeface="ＭＳ Ｐゴシック" charset="0"/>
              </a:rPr>
              <a:t>Should cause process to fault less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>
                <a:latin typeface="Arial" charset="0"/>
                <a:ea typeface="ＭＳ Ｐゴシック" charset="0"/>
              </a:rPr>
              <a:t>Doesn't always work!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i="1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Recall </a:t>
            </a:r>
            <a:r>
              <a:rPr lang="en-GB" i="1" dirty="0" err="1">
                <a:solidFill>
                  <a:srgbClr val="0000CC"/>
                </a:solidFill>
                <a:latin typeface="Arial" charset="0"/>
                <a:ea typeface="ＭＳ Ｐゴシック" charset="0"/>
              </a:rPr>
              <a:t>Belady's</a:t>
            </a:r>
            <a:r>
              <a:rPr lang="en-GB" i="1" dirty="0">
                <a:solidFill>
                  <a:srgbClr val="0000CC"/>
                </a:solidFill>
                <a:latin typeface="Arial" charset="0"/>
                <a:ea typeface="ＭＳ Ｐゴシック" charset="0"/>
              </a:rPr>
              <a:t> Anomaly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>
                <a:latin typeface="Arial" charset="0"/>
                <a:ea typeface="ＭＳ Ｐゴシック" charset="0"/>
                <a:cs typeface="ＭＳ Ｐゴシック" charset="0"/>
              </a:rPr>
              <a:t>If page fault rate below threshold, reduce memory </a:t>
            </a: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allocation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What happens when </a:t>
            </a:r>
            <a:r>
              <a:rPr lang="en-GB" sz="2400" b="1" dirty="0" smtClean="0">
                <a:solidFill>
                  <a:srgbClr val="FF6600"/>
                </a:solidFill>
                <a:latin typeface="Arial" charset="0"/>
                <a:ea typeface="ＭＳ Ｐゴシック" charset="0"/>
                <a:cs typeface="ＭＳ Ｐゴシック" charset="0"/>
              </a:rPr>
              <a:t>everyone’s</a:t>
            </a:r>
            <a:r>
              <a:rPr lang="en-GB" sz="2400" dirty="0" smtClean="0">
                <a:latin typeface="Arial" charset="0"/>
                <a:ea typeface="ＭＳ Ｐゴシック" charset="0"/>
                <a:cs typeface="ＭＳ Ｐゴシック" charset="0"/>
              </a:rPr>
              <a:t> page fault rate is high?</a:t>
            </a:r>
            <a:endParaRPr lang="en-GB" sz="24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</a:tabLst>
            </a:pP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endParaRPr lang="en-US"/>
          </a:p>
        </p:txBody>
      </p:sp>
      <p:sp>
        <p:nvSpPr>
          <p:cNvPr id="788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C2DC03-C504-2F44-85E8-EBEA66BA2679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Thrashing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  <a:cs typeface="ＭＳ Ｐゴシック" charset="0"/>
              </a:rPr>
              <a:t>As system becomes more loaded, spends more of its time paging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Eventually, no useful work gets done!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18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18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18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1800">
              <a:latin typeface="Arial" charset="0"/>
              <a:ea typeface="ＭＳ Ｐゴシック" charset="0"/>
            </a:endParaRP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1800">
              <a:latin typeface="Arial" charset="0"/>
              <a:ea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2000">
              <a:solidFill>
                <a:srgbClr val="2323DC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2000">
              <a:solidFill>
                <a:srgbClr val="2323DC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2000">
              <a:solidFill>
                <a:srgbClr val="2323DC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GB" sz="2000">
              <a:solidFill>
                <a:srgbClr val="2323DC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  <a:cs typeface="ＭＳ Ｐゴシック" charset="0"/>
              </a:rPr>
              <a:t>System is overcommitted!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If the system has too little memory, the page replacement algorithm doesn't matter</a:t>
            </a:r>
          </a:p>
          <a:p>
            <a:pPr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2000">
                <a:latin typeface="Arial" charset="0"/>
                <a:ea typeface="ＭＳ Ｐゴシック" charset="0"/>
                <a:cs typeface="ＭＳ Ｐゴシック" charset="0"/>
              </a:rPr>
              <a:t>Solutions?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Change scheduling priorities to “slow down” processes that are thrashing</a:t>
            </a:r>
          </a:p>
          <a:p>
            <a:pPr lvl="1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800">
                <a:latin typeface="Arial" charset="0"/>
                <a:ea typeface="ＭＳ Ｐゴシック" charset="0"/>
              </a:rPr>
              <a:t>Identify process that are hogging the system and kill them?</a:t>
            </a:r>
          </a:p>
          <a:p>
            <a:pPr lvl="2" eaLnBrk="1">
              <a:lnSpc>
                <a:spcPct val="94000"/>
              </a:lnSpc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r>
              <a:rPr lang="en-GB" sz="1600">
                <a:solidFill>
                  <a:srgbClr val="2323DC"/>
                </a:solidFill>
                <a:latin typeface="Arial" charset="0"/>
                <a:ea typeface="ＭＳ Ｐゴシック" charset="0"/>
              </a:rPr>
              <a:t>Is thrashing a problem on systems with only one user?</a:t>
            </a:r>
          </a:p>
          <a:p>
            <a:pPr>
              <a:tabLst>
                <a:tab pos="280988" algn="l"/>
                <a:tab pos="452438" algn="l"/>
                <a:tab pos="911225" algn="l"/>
                <a:tab pos="1368425" algn="l"/>
                <a:tab pos="1825625" algn="l"/>
                <a:tab pos="2281238" algn="l"/>
                <a:tab pos="2740025" algn="l"/>
                <a:tab pos="3197225" algn="l"/>
                <a:tab pos="3654425" algn="l"/>
                <a:tab pos="4108450" algn="l"/>
                <a:tab pos="4568825" algn="l"/>
                <a:tab pos="5026025" algn="l"/>
                <a:tab pos="5483225" algn="l"/>
                <a:tab pos="5937250" algn="l"/>
                <a:tab pos="6397625" algn="l"/>
                <a:tab pos="6854825" algn="l"/>
                <a:tab pos="7308850" algn="l"/>
                <a:tab pos="7766050" algn="l"/>
                <a:tab pos="8226425" algn="l"/>
                <a:tab pos="8683625" algn="l"/>
                <a:tab pos="9137650" algn="l"/>
                <a:tab pos="9407525" algn="l"/>
              </a:tabLst>
            </a:pPr>
            <a:endParaRPr lang="en-US" sz="20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98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3AEC900-8114-E44D-B977-FF802746C811}" type="slidenum">
              <a:rPr lang="en-US"/>
              <a:pPr/>
              <a:t>38</a:t>
            </a:fld>
            <a:endParaRPr lang="en-US"/>
          </a:p>
        </p:txBody>
      </p:sp>
      <p:sp>
        <p:nvSpPr>
          <p:cNvPr id="79878" name="Line 3"/>
          <p:cNvSpPr>
            <a:spLocks noChangeShapeType="1"/>
          </p:cNvSpPr>
          <p:nvPr/>
        </p:nvSpPr>
        <p:spPr bwMode="auto">
          <a:xfrm>
            <a:off x="2325688" y="1785938"/>
            <a:ext cx="1587" cy="2152650"/>
          </a:xfrm>
          <a:prstGeom prst="line">
            <a:avLst/>
          </a:prstGeom>
          <a:noFill/>
          <a:ln w="367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9" name="Line 4"/>
          <p:cNvSpPr>
            <a:spLocks noChangeShapeType="1"/>
          </p:cNvSpPr>
          <p:nvPr/>
        </p:nvSpPr>
        <p:spPr bwMode="auto">
          <a:xfrm>
            <a:off x="2325688" y="3919538"/>
            <a:ext cx="4079875" cy="1587"/>
          </a:xfrm>
          <a:prstGeom prst="line">
            <a:avLst/>
          </a:prstGeom>
          <a:noFill/>
          <a:ln w="367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0" name="Freeform 5"/>
          <p:cNvSpPr>
            <a:spLocks noChangeArrowheads="1"/>
          </p:cNvSpPr>
          <p:nvPr/>
        </p:nvSpPr>
        <p:spPr bwMode="auto">
          <a:xfrm>
            <a:off x="2365375" y="2155825"/>
            <a:ext cx="4133850" cy="1704975"/>
          </a:xfrm>
          <a:custGeom>
            <a:avLst/>
            <a:gdLst>
              <a:gd name="T0" fmla="*/ 0 w 11480"/>
              <a:gd name="T1" fmla="*/ 2147483647 h 4736"/>
              <a:gd name="T2" fmla="*/ 2147483647 w 11480"/>
              <a:gd name="T3" fmla="*/ 2147483647 h 4736"/>
              <a:gd name="T4" fmla="*/ 2147483647 w 11480"/>
              <a:gd name="T5" fmla="*/ 2147483647 h 4736"/>
              <a:gd name="T6" fmla="*/ 2147483647 w 11480"/>
              <a:gd name="T7" fmla="*/ 0 h 4736"/>
              <a:gd name="T8" fmla="*/ 2147483647 w 11480"/>
              <a:gd name="T9" fmla="*/ 2147483647 h 4736"/>
              <a:gd name="T10" fmla="*/ 2147483647 w 11480"/>
              <a:gd name="T11" fmla="*/ 2147483647 h 4736"/>
              <a:gd name="T12" fmla="*/ 2147483647 w 11480"/>
              <a:gd name="T13" fmla="*/ 2147483647 h 4736"/>
              <a:gd name="T14" fmla="*/ 2147483647 w 11480"/>
              <a:gd name="T15" fmla="*/ 2147483647 h 47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480"/>
              <a:gd name="T25" fmla="*/ 0 h 4736"/>
              <a:gd name="T26" fmla="*/ 11480 w 11480"/>
              <a:gd name="T27" fmla="*/ 4736 h 47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480" h="4736">
                <a:moveTo>
                  <a:pt x="0" y="4735"/>
                </a:moveTo>
                <a:lnTo>
                  <a:pt x="1540" y="3370"/>
                </a:lnTo>
                <a:lnTo>
                  <a:pt x="3342" y="1281"/>
                </a:lnTo>
                <a:lnTo>
                  <a:pt x="5986" y="0"/>
                </a:lnTo>
                <a:lnTo>
                  <a:pt x="7934" y="251"/>
                </a:lnTo>
                <a:lnTo>
                  <a:pt x="8835" y="2646"/>
                </a:lnTo>
                <a:lnTo>
                  <a:pt x="10462" y="4206"/>
                </a:lnTo>
                <a:lnTo>
                  <a:pt x="11479" y="4707"/>
                </a:lnTo>
              </a:path>
            </a:pathLst>
          </a:custGeom>
          <a:noFill/>
          <a:ln w="18360">
            <a:solidFill>
              <a:srgbClr val="99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7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endParaRPr lang="tr-TR"/>
          </a:p>
        </p:txBody>
      </p:sp>
      <p:sp>
        <p:nvSpPr>
          <p:cNvPr id="79881" name="Text Box 6"/>
          <p:cNvSpPr txBox="1">
            <a:spLocks noChangeArrowheads="1"/>
          </p:cNvSpPr>
          <p:nvPr/>
        </p:nvSpPr>
        <p:spPr bwMode="auto">
          <a:xfrm>
            <a:off x="3068638" y="4000500"/>
            <a:ext cx="4948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>
                <a:solidFill>
                  <a:srgbClr val="000000"/>
                </a:solidFill>
                <a:latin typeface="Luxi Sans" charset="0"/>
              </a:rPr>
              <a:t>Number of processes</a:t>
            </a:r>
          </a:p>
        </p:txBody>
      </p:sp>
      <p:sp>
        <p:nvSpPr>
          <p:cNvPr id="79882" name="Text Box 7"/>
          <p:cNvSpPr txBox="1">
            <a:spLocks noChangeArrowheads="1"/>
          </p:cNvSpPr>
          <p:nvPr/>
        </p:nvSpPr>
        <p:spPr bwMode="auto">
          <a:xfrm rot="-5400000">
            <a:off x="1176338" y="2738438"/>
            <a:ext cx="16192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>
                <a:solidFill>
                  <a:srgbClr val="000000"/>
                </a:solidFill>
                <a:latin typeface="Luxi Sans" charset="0"/>
              </a:rPr>
              <a:t>CPU utilization</a:t>
            </a:r>
          </a:p>
        </p:txBody>
      </p:sp>
      <p:sp>
        <p:nvSpPr>
          <p:cNvPr id="79883" name="Line 8"/>
          <p:cNvSpPr>
            <a:spLocks noChangeShapeType="1"/>
          </p:cNvSpPr>
          <p:nvPr/>
        </p:nvSpPr>
        <p:spPr bwMode="auto">
          <a:xfrm>
            <a:off x="5286375" y="1965325"/>
            <a:ext cx="962025" cy="1588"/>
          </a:xfrm>
          <a:prstGeom prst="line">
            <a:avLst/>
          </a:prstGeom>
          <a:noFill/>
          <a:ln w="36720">
            <a:solidFill>
              <a:srgbClr val="2323D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4" name="Line 9"/>
          <p:cNvSpPr>
            <a:spLocks noChangeShapeType="1"/>
          </p:cNvSpPr>
          <p:nvPr/>
        </p:nvSpPr>
        <p:spPr bwMode="auto">
          <a:xfrm>
            <a:off x="5276850" y="1779588"/>
            <a:ext cx="1588" cy="371475"/>
          </a:xfrm>
          <a:prstGeom prst="line">
            <a:avLst/>
          </a:prstGeom>
          <a:noFill/>
          <a:ln w="36720">
            <a:solidFill>
              <a:srgbClr val="2323D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5" name="Text Box 10"/>
          <p:cNvSpPr txBox="1">
            <a:spLocks noChangeArrowheads="1"/>
          </p:cNvSpPr>
          <p:nvPr/>
        </p:nvSpPr>
        <p:spPr bwMode="auto">
          <a:xfrm>
            <a:off x="6294438" y="1817688"/>
            <a:ext cx="11049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8800" algn="l"/>
                <a:tab pos="2286000" algn="l"/>
                <a:tab pos="2741613" algn="l"/>
                <a:tab pos="3200400" algn="l"/>
                <a:tab pos="3657600" algn="l"/>
                <a:tab pos="4114800" algn="l"/>
                <a:tab pos="4570413" algn="l"/>
                <a:tab pos="5029200" algn="l"/>
                <a:tab pos="5486400" algn="l"/>
                <a:tab pos="5940425" algn="l"/>
                <a:tab pos="6399213" algn="l"/>
                <a:tab pos="6858000" algn="l"/>
                <a:tab pos="7315200" algn="l"/>
                <a:tab pos="7769225" algn="l"/>
                <a:tab pos="8226425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4000"/>
              </a:lnSpc>
              <a:buClr>
                <a:srgbClr val="000000"/>
              </a:buClr>
              <a:buSzPct val="45000"/>
              <a:buFont typeface="Wingdings" charset="0"/>
              <a:buNone/>
            </a:pPr>
            <a:r>
              <a:rPr lang="en-GB" i="1">
                <a:solidFill>
                  <a:srgbClr val="2323DC"/>
                </a:solidFill>
                <a:latin typeface="Luxi Sans" charset="0"/>
              </a:rPr>
              <a:t>Thrashing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Allocation of Page Frames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Scenario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Several physical pages allocated to processes A, B, and C.  Process B page faults. 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Which page should be replaced?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Allocating memory across processes?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Does every process get the same fraction of memory? 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Different fractions?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Should we completely swap some processes out of memory?</a:t>
            </a:r>
          </a:p>
        </p:txBody>
      </p:sp>
      <p:sp>
        <p:nvSpPr>
          <p:cNvPr id="809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09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7B1C274-4A66-374F-98B9-C5CF24E363CB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Allocation of Page Frames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Each process needs minimum number of pages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Want to make sure that all processes that are loaded into memory can make forward progress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Example:  IBM 370 – 6 pages to handle SS MOVE instruction: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Instruction is 6 bytes, might span 2 pages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2 pages to handle from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2 pages to handle to</a:t>
            </a:r>
          </a:p>
          <a:p>
            <a:endParaRPr lang="en-US" sz="280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19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19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C11A4AA-049C-3049-9887-A1B88695BEEA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Fixed Allocation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Allocate a minimum number of frames per process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Consider minimum requirements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One page from the current executed instruction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Most instructions require two operands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Include an extra page for paging out and one for paging in</a:t>
            </a:r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29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BFE824F-FC8F-114A-874A-4524024F215E}" type="slidenum">
              <a:rPr lang="en-US"/>
              <a:pPr/>
              <a:t>41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Equal Allocation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Allocate an equal number of frames per job </a:t>
            </a:r>
          </a:p>
          <a:p>
            <a:pPr lvl="1" eaLnBrk="1" hangingPunct="1"/>
            <a:r>
              <a:rPr lang="en-US" sz="2400">
                <a:latin typeface="Arial" charset="0"/>
                <a:ea typeface="ＭＳ Ｐゴシック" charset="0"/>
              </a:rPr>
              <a:t>Example</a:t>
            </a:r>
          </a:p>
          <a:p>
            <a:pPr marL="1143000" lvl="2" indent="-228600" eaLnBrk="1" hangingPunct="1"/>
            <a:r>
              <a:rPr lang="en-US" sz="2000">
                <a:latin typeface="Arial" charset="0"/>
                <a:ea typeface="ＭＳ Ｐゴシック" charset="0"/>
              </a:rPr>
              <a:t>100 frames</a:t>
            </a:r>
          </a:p>
          <a:p>
            <a:pPr marL="1143000" lvl="2" indent="-228600" eaLnBrk="1" hangingPunct="1"/>
            <a:r>
              <a:rPr lang="en-US" sz="2000">
                <a:latin typeface="Arial" charset="0"/>
                <a:ea typeface="ＭＳ Ｐゴシック" charset="0"/>
              </a:rPr>
              <a:t>5 processes</a:t>
            </a:r>
          </a:p>
          <a:p>
            <a:pPr marL="1143000" lvl="2" indent="-228600" eaLnBrk="1" hangingPunct="1"/>
            <a:r>
              <a:rPr lang="en-US" sz="2000">
                <a:latin typeface="Arial" charset="0"/>
                <a:ea typeface="ＭＳ Ｐゴシック" charset="0"/>
              </a:rPr>
              <a:t>Each process gets 20 frames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Issues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But jobs use memory unequally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High priority jobs have same number of page frames and low priority jobs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Degree of multiprogramming might vary</a:t>
            </a:r>
          </a:p>
        </p:txBody>
      </p:sp>
      <p:sp>
        <p:nvSpPr>
          <p:cNvPr id="839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39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EA922B2-F143-AE48-998F-6B5910B6EA19}" type="slidenum">
              <a:rPr lang="en-US"/>
              <a:pPr/>
              <a:t>42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Proportional Allocation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Allocate a number of frames per job proportional to job size 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How do you determine job size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Run command parameters ?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Dynamically? </a:t>
            </a:r>
          </a:p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Priority Allocation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May want to give high priority process more memory than low priority process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Use a proportional allocation scheme using priorities instead of size</a:t>
            </a:r>
          </a:p>
        </p:txBody>
      </p:sp>
      <p:sp>
        <p:nvSpPr>
          <p:cNvPr id="849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49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22406F4-32FB-374A-8EBF-09C9B68E674B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Allocation of Page Frames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28600" y="949325"/>
            <a:ext cx="8610600" cy="5334000"/>
          </a:xfrm>
        </p:spPr>
        <p:txBody>
          <a:bodyPr/>
          <a:lstStyle/>
          <a:p>
            <a:r>
              <a:rPr lang="en-US" sz="2800">
                <a:latin typeface="Arial" charset="0"/>
                <a:ea typeface="ＭＳ Ｐゴシック" charset="0"/>
                <a:cs typeface="ＭＳ Ｐゴシック" charset="0"/>
              </a:rPr>
              <a:t>Possible Replacement Scopes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Local replacement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Each process selects from only its own set of allocated frames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Process slowed down even if other less used pages of memory are available</a:t>
            </a:r>
          </a:p>
          <a:p>
            <a:pPr lvl="1"/>
            <a:r>
              <a:rPr lang="en-US" sz="2400">
                <a:latin typeface="Arial" charset="0"/>
                <a:ea typeface="ＭＳ Ｐゴシック" charset="0"/>
              </a:rPr>
              <a:t>Global replacement 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Process selects replacement frame from set of all frames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One process can take a frame from another</a:t>
            </a:r>
          </a:p>
          <a:p>
            <a:pPr lvl="2"/>
            <a:r>
              <a:rPr lang="en-US" sz="2000">
                <a:latin typeface="Arial" charset="0"/>
                <a:ea typeface="ＭＳ Ｐゴシック" charset="0"/>
              </a:rPr>
              <a:t>Process may not be able to control its page fault rate.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60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7EB2ECF-800F-4646-B781-5466471D5C04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1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28575">
          <a:solidFill>
            <a:schemeClr val="tx1"/>
          </a:solidFill>
        </a:ln>
      </a:spPr>
      <a:bodyPr wrap="square" rtlCol="0" anchor="ctr">
        <a:noAutofit/>
      </a:bodyPr>
      <a:lstStyle>
        <a:defPPr algn="ctr">
          <a:defRPr dirty="0" smtClean="0"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13661</TotalTime>
  <Words>4026</Words>
  <Application>Microsoft Macintosh PowerPoint</Application>
  <PresentationFormat>On-screen Show (4:3)</PresentationFormat>
  <Paragraphs>728</Paragraphs>
  <Slides>44</Slides>
  <Notes>15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Theme1</vt:lpstr>
      <vt:lpstr>Paging algorithms</vt:lpstr>
      <vt:lpstr>Announcements</vt:lpstr>
      <vt:lpstr>Paging</vt:lpstr>
      <vt:lpstr>Basic Page Replacement</vt:lpstr>
      <vt:lpstr>Exploiting Locality</vt:lpstr>
      <vt:lpstr>Fundamental technique: caching</vt:lpstr>
      <vt:lpstr>Fundamental technique: caching</vt:lpstr>
      <vt:lpstr>Evicting the Best Page</vt:lpstr>
      <vt:lpstr>Algorithm: OPT (a.k.a. MIN)</vt:lpstr>
      <vt:lpstr>The Optimal Page Replacement Algorithm</vt:lpstr>
      <vt:lpstr>The Optimal Page Replacement Algorithm</vt:lpstr>
      <vt:lpstr>The Optimal Page Replacement Algorithm</vt:lpstr>
      <vt:lpstr>Algorithms: Random and FIFO</vt:lpstr>
      <vt:lpstr>Algorithms: Random and FIFO</vt:lpstr>
      <vt:lpstr>Belady’s Anomaly</vt:lpstr>
      <vt:lpstr>Algorithm: Least Recently Used (LRU)</vt:lpstr>
      <vt:lpstr>Algorithm: Least Recently Used (LRU)</vt:lpstr>
      <vt:lpstr>Least Recently Used (LRU)</vt:lpstr>
      <vt:lpstr>Least Recently Used (LRU)</vt:lpstr>
      <vt:lpstr>Least Recently Used (LRU)</vt:lpstr>
      <vt:lpstr>Least Recently Used (LRU)</vt:lpstr>
      <vt:lpstr>Least Recently Used (LRU)</vt:lpstr>
      <vt:lpstr>Least Recently Used</vt:lpstr>
      <vt:lpstr>PowerPoint Presentation</vt:lpstr>
      <vt:lpstr>Least Recently Used</vt:lpstr>
      <vt:lpstr>Least Recently Used Issues</vt:lpstr>
      <vt:lpstr>Approximating LRU</vt:lpstr>
      <vt:lpstr>Approximate LRU Example</vt:lpstr>
      <vt:lpstr>Algorithm: LRU Second-Chance (Clock)</vt:lpstr>
      <vt:lpstr>Algorithm: LRU Second-Chance (Clock)</vt:lpstr>
      <vt:lpstr>Swap Files</vt:lpstr>
      <vt:lpstr>Swap Files</vt:lpstr>
      <vt:lpstr>Page Eviction</vt:lpstr>
      <vt:lpstr>Physical Frame Allocation</vt:lpstr>
      <vt:lpstr>Working Set</vt:lpstr>
      <vt:lpstr>Estimating the Working Set</vt:lpstr>
      <vt:lpstr>Page Fault Frequency</vt:lpstr>
      <vt:lpstr>Thrashing</vt:lpstr>
      <vt:lpstr>Allocation of Page Frames</vt:lpstr>
      <vt:lpstr>Allocation of Page Frames</vt:lpstr>
      <vt:lpstr>Fixed Allocation</vt:lpstr>
      <vt:lpstr>Equal Allocation</vt:lpstr>
      <vt:lpstr>Proportional Allocation</vt:lpstr>
      <vt:lpstr>Allocation of Page Frames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rhk</dc:creator>
  <cp:lastModifiedBy>Philip Godfrey</cp:lastModifiedBy>
  <cp:revision>451</cp:revision>
  <cp:lastPrinted>2012-02-10T11:48:23Z</cp:lastPrinted>
  <dcterms:created xsi:type="dcterms:W3CDTF">2010-10-27T14:36:36Z</dcterms:created>
  <dcterms:modified xsi:type="dcterms:W3CDTF">2012-02-10T17:02:55Z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