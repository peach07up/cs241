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65"/>
  </p:notesMasterIdLst>
  <p:sldIdLst>
    <p:sldId id="543" r:id="rId2"/>
    <p:sldId id="481" r:id="rId3"/>
    <p:sldId id="482" r:id="rId4"/>
    <p:sldId id="483" r:id="rId5"/>
    <p:sldId id="484" r:id="rId6"/>
    <p:sldId id="485" r:id="rId7"/>
    <p:sldId id="486" r:id="rId8"/>
    <p:sldId id="487" r:id="rId9"/>
    <p:sldId id="488" r:id="rId10"/>
    <p:sldId id="489" r:id="rId11"/>
    <p:sldId id="490" r:id="rId12"/>
    <p:sldId id="491" r:id="rId13"/>
    <p:sldId id="498" r:id="rId14"/>
    <p:sldId id="499" r:id="rId15"/>
    <p:sldId id="500" r:id="rId16"/>
    <p:sldId id="501" r:id="rId17"/>
    <p:sldId id="502" r:id="rId18"/>
    <p:sldId id="503" r:id="rId19"/>
    <p:sldId id="504" r:id="rId20"/>
    <p:sldId id="505" r:id="rId21"/>
    <p:sldId id="506" r:id="rId22"/>
    <p:sldId id="507" r:id="rId23"/>
    <p:sldId id="508" r:id="rId24"/>
    <p:sldId id="509" r:id="rId25"/>
    <p:sldId id="510" r:id="rId26"/>
    <p:sldId id="511" r:id="rId27"/>
    <p:sldId id="512" r:id="rId28"/>
    <p:sldId id="513" r:id="rId29"/>
    <p:sldId id="514" r:id="rId30"/>
    <p:sldId id="515" r:id="rId31"/>
    <p:sldId id="557" r:id="rId32"/>
    <p:sldId id="558" r:id="rId33"/>
    <p:sldId id="559" r:id="rId34"/>
    <p:sldId id="560" r:id="rId35"/>
    <p:sldId id="561" r:id="rId36"/>
    <p:sldId id="562" r:id="rId37"/>
    <p:sldId id="563" r:id="rId38"/>
    <p:sldId id="564" r:id="rId39"/>
    <p:sldId id="566" r:id="rId40"/>
    <p:sldId id="567" r:id="rId41"/>
    <p:sldId id="568" r:id="rId42"/>
    <p:sldId id="569" r:id="rId43"/>
    <p:sldId id="570" r:id="rId44"/>
    <p:sldId id="573" r:id="rId45"/>
    <p:sldId id="574" r:id="rId46"/>
    <p:sldId id="575" r:id="rId47"/>
    <p:sldId id="576" r:id="rId48"/>
    <p:sldId id="577" r:id="rId49"/>
    <p:sldId id="578" r:id="rId50"/>
    <p:sldId id="579" r:id="rId51"/>
    <p:sldId id="580" r:id="rId52"/>
    <p:sldId id="581" r:id="rId53"/>
    <p:sldId id="582" r:id="rId54"/>
    <p:sldId id="583" r:id="rId55"/>
    <p:sldId id="584" r:id="rId56"/>
    <p:sldId id="585" r:id="rId57"/>
    <p:sldId id="586" r:id="rId58"/>
    <p:sldId id="587" r:id="rId59"/>
    <p:sldId id="588" r:id="rId60"/>
    <p:sldId id="589" r:id="rId61"/>
    <p:sldId id="590" r:id="rId62"/>
    <p:sldId id="591" r:id="rId63"/>
    <p:sldId id="592" r:id="rId64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000FF"/>
    <a:srgbClr val="C1F3FF"/>
    <a:srgbClr val="FFFFCC"/>
    <a:srgbClr val="FFFF00"/>
    <a:srgbClr val="C1C1C1"/>
    <a:srgbClr val="00CCFF"/>
    <a:srgbClr val="66FF33"/>
    <a:srgbClr val="FBD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6" autoAdjust="0"/>
    <p:restoredTop sz="71804" autoAdjust="0"/>
  </p:normalViewPr>
  <p:slideViewPr>
    <p:cSldViewPr>
      <p:cViewPr>
        <p:scale>
          <a:sx n="70" d="100"/>
          <a:sy n="70" d="100"/>
        </p:scale>
        <p:origin x="-2240" y="-920"/>
      </p:cViewPr>
      <p:guideLst>
        <p:guide orient="horz"/>
        <p:guide pos="27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29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interSettings" Target="printerSettings/printerSettings1.bin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70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4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</a:defRPr>
            </a:lvl1pPr>
          </a:lstStyle>
          <a:p>
            <a:fld id="{F4D761D3-9055-8E45-BE22-861A564B1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7464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Matt: we should probably mention strncat, etc</a:t>
            </a:r>
          </a:p>
        </p:txBody>
      </p:sp>
      <p:sp>
        <p:nvSpPr>
          <p:cNvPr id="133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84ACD2E-D8DD-F14D-870C-09C7A7E24E65}" type="slidenum">
              <a:rPr lang="en-US">
                <a:latin typeface="Arial" charset="0"/>
              </a:rPr>
              <a:pPr/>
              <a:t>3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7CF230C-CE2F-6540-B741-6D6A7D8FEFA9}" type="slidenum">
              <a:rPr lang="en-US">
                <a:latin typeface="Arial" charset="0"/>
              </a:rPr>
              <a:pPr/>
              <a:t>5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matt: constant strings</a:t>
            </a:r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73D4576-BC4F-D943-A287-9D0D61755269}" type="slidenum">
              <a:rPr lang="en-US">
                <a:latin typeface="Arial" charset="0"/>
              </a:rPr>
              <a:pPr/>
              <a:t>9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todo: run this, or change to 10</a:t>
            </a:r>
          </a:p>
        </p:txBody>
      </p:sp>
      <p:sp>
        <p:nvSpPr>
          <p:cNvPr id="136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4FFE18A-3787-5B4A-B960-9D9C017E8D20}" type="slidenum">
              <a:rPr lang="en-US">
                <a:latin typeface="Arial" charset="0"/>
              </a:rPr>
              <a:pPr/>
              <a:t>10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8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todo: hide answer at bottom</a:t>
            </a:r>
          </a:p>
        </p:txBody>
      </p:sp>
      <p:sp>
        <p:nvSpPr>
          <p:cNvPr id="138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BD02658-F4D3-C546-807A-10A8C072B014}" type="slidenum">
              <a:rPr lang="en-US">
                <a:latin typeface="Arial" charset="0"/>
              </a:rPr>
              <a:pPr/>
              <a:t>16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92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2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E4CC8E0-5293-E945-A0A4-F47DD5A82CA2}" type="slidenum">
              <a:rPr lang="en-US">
                <a:latin typeface="Arial" charset="0"/>
              </a:rPr>
              <a:pPr/>
              <a:t>18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0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todo: hide answer</a:t>
            </a:r>
          </a:p>
        </p:txBody>
      </p:sp>
      <p:sp>
        <p:nvSpPr>
          <p:cNvPr id="140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E1CEC6B-A803-C046-B459-4C926EE2D9B5}" type="slidenum">
              <a:rPr lang="en-US">
                <a:latin typeface="Arial" charset="0"/>
              </a:rPr>
              <a:pPr/>
              <a:t>20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13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Matt: what</a:t>
            </a:r>
            <a:r>
              <a:rPr lang="ja-JP" altLang="en-US"/>
              <a:t>’</a:t>
            </a:r>
            <a:r>
              <a:rPr lang="en-US"/>
              <a:t>s the point here?</a:t>
            </a:r>
          </a:p>
        </p:txBody>
      </p:sp>
      <p:sp>
        <p:nvSpPr>
          <p:cNvPr id="1413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4A34759-3A96-B544-9DB1-8DDE312B9660}" type="slidenum">
              <a:rPr lang="en-US">
                <a:latin typeface="Arial" charset="0"/>
              </a:rPr>
              <a:pPr/>
              <a:t>26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2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Matt: do I really need to go this far? Can I stop earlier?</a:t>
            </a:r>
          </a:p>
        </p:txBody>
      </p:sp>
      <p:sp>
        <p:nvSpPr>
          <p:cNvPr id="142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47B7F7E-2F48-8047-B979-0AC7A27CAB30}" type="slidenum">
              <a:rPr lang="en-US">
                <a:latin typeface="Arial" charset="0"/>
              </a:rPr>
              <a:pPr/>
              <a:t>27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Matt: what</a:t>
            </a:r>
            <a:r>
              <a:rPr lang="ja-JP" altLang="en-US"/>
              <a:t>’</a:t>
            </a:r>
            <a:r>
              <a:rPr lang="en-US"/>
              <a:t>s problem here?</a:t>
            </a:r>
          </a:p>
        </p:txBody>
      </p:sp>
      <p:sp>
        <p:nvSpPr>
          <p:cNvPr id="1433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FF0082A-6631-384F-8177-B2B46A70CE61}" type="slidenum">
              <a:rPr lang="en-US">
                <a:latin typeface="Arial" charset="0"/>
              </a:rPr>
              <a:pPr/>
              <a:t>28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23AD704-412C-7D4F-9310-B2D7EA7F98C1}" type="slidenum">
              <a:rPr lang="en-US">
                <a:latin typeface="Arial" charset="0"/>
              </a:rPr>
              <a:pPr/>
              <a:t>33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E3F808E-C7E8-0540-A369-2D2CFA052FD9}" type="slidenum">
              <a:rPr lang="en-US">
                <a:latin typeface="Arial" charset="0"/>
              </a:rPr>
              <a:pPr/>
              <a:t>35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9353043-D528-C346-9655-78C8DAB9CFBF}" type="slidenum">
              <a:rPr lang="en-US">
                <a:latin typeface="Arial" charset="0"/>
              </a:rPr>
              <a:pPr/>
              <a:t>37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FB4A36B-658E-714E-AD24-89504B809171}" type="slidenum">
              <a:rPr lang="en-US">
                <a:latin typeface="Arial" charset="0"/>
              </a:rPr>
              <a:pPr/>
              <a:t>40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CACEBCE-7506-BB44-8228-42F922686C7E}" type="slidenum">
              <a:rPr lang="en-US">
                <a:latin typeface="Arial" charset="0"/>
              </a:rPr>
              <a:pPr/>
              <a:t>41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5175826-2D2A-3A42-AAD5-4EF931413002}" type="slidenum">
              <a:rPr lang="en-US">
                <a:latin typeface="Arial" charset="0"/>
              </a:rPr>
              <a:pPr/>
              <a:t>43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72E5C70-CF7B-B84C-862F-6E48B202CD09}" type="slidenum">
              <a:rPr lang="en-US">
                <a:latin typeface="Arial" charset="0"/>
              </a:rPr>
              <a:pPr/>
              <a:t>44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914400"/>
            <a:ext cx="8686800" cy="2514600"/>
            <a:chOff x="0" y="576"/>
            <a:chExt cx="5472" cy="1584"/>
          </a:xfrm>
        </p:grpSpPr>
        <p:sp>
          <p:nvSpPr>
            <p:cNvPr id="5" name="Oval 7"/>
            <p:cNvSpPr>
              <a:spLocks noChangeArrowheads="1"/>
            </p:cNvSpPr>
            <p:nvPr/>
          </p:nvSpPr>
          <p:spPr bwMode="auto">
            <a:xfrm>
              <a:off x="144" y="576"/>
              <a:ext cx="1584" cy="1584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>
                <a:latin typeface="Tahoma" pitchFamily="-32" charset="0"/>
                <a:ea typeface="+mn-ea"/>
              </a:endParaRP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hidden">
            <a:xfrm>
              <a:off x="0" y="1056"/>
              <a:ext cx="2976" cy="72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pitchFamily="18" charset="0"/>
                <a:ea typeface="+mn-ea"/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hidden">
            <a:xfrm>
              <a:off x="2496" y="1056"/>
              <a:ext cx="2976" cy="720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pitchFamily="18" charset="0"/>
                <a:ea typeface="+mn-ea"/>
              </a:endParaRPr>
            </a:p>
          </p:txBody>
        </p:sp>
        <p:sp>
          <p:nvSpPr>
            <p:cNvPr id="8" name="Freeform 10"/>
            <p:cNvSpPr>
              <a:spLocks noChangeArrowheads="1"/>
            </p:cNvSpPr>
            <p:nvPr/>
          </p:nvSpPr>
          <p:spPr bwMode="auto">
            <a:xfrm>
              <a:off x="384" y="960"/>
              <a:ext cx="144" cy="913"/>
            </a:xfrm>
            <a:custGeom>
              <a:avLst/>
              <a:gdLst/>
              <a:ahLst/>
              <a:cxnLst>
                <a:cxn ang="0">
                  <a:pos x="1000" y="1000"/>
                </a:cxn>
                <a:cxn ang="0">
                  <a:pos x="0" y="1000"/>
                </a:cxn>
                <a:cxn ang="0">
                  <a:pos x="0" y="0"/>
                </a:cxn>
                <a:cxn ang="0">
                  <a:pos x="1000" y="0"/>
                </a:cxn>
              </a:cxnLst>
              <a:rect l="0" t="0" r="r" b="b"/>
              <a:pathLst>
                <a:path w="1000" h="1000">
                  <a:moveTo>
                    <a:pt x="1000" y="1000"/>
                  </a:moveTo>
                  <a:lnTo>
                    <a:pt x="0" y="1000"/>
                  </a:lnTo>
                  <a:lnTo>
                    <a:pt x="0" y="0"/>
                  </a:lnTo>
                  <a:lnTo>
                    <a:pt x="1000" y="0"/>
                  </a:lnTo>
                </a:path>
              </a:pathLst>
            </a:custGeom>
            <a:noFill/>
            <a:ln w="76200" cmpd="sng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Tahoma" pitchFamily="-32" charset="0"/>
                <a:ea typeface="+mn-ea"/>
              </a:endParaRPr>
            </a:p>
          </p:txBody>
        </p:sp>
        <p:sp>
          <p:nvSpPr>
            <p:cNvPr id="9" name="Freeform 11"/>
            <p:cNvSpPr>
              <a:spLocks noChangeArrowheads="1"/>
            </p:cNvSpPr>
            <p:nvPr/>
          </p:nvSpPr>
          <p:spPr bwMode="auto">
            <a:xfrm>
              <a:off x="4944" y="762"/>
              <a:ext cx="165" cy="8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00" y="0"/>
                </a:cxn>
                <a:cxn ang="0">
                  <a:pos x="1000" y="1000"/>
                </a:cxn>
                <a:cxn ang="0">
                  <a:pos x="0" y="1000"/>
                </a:cxn>
              </a:cxnLst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</a:path>
              </a:pathLst>
            </a:cu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Tahoma" pitchFamily="-32" charset="0"/>
                <a:ea typeface="+mn-ea"/>
              </a:endParaRPr>
            </a:p>
          </p:txBody>
        </p:sp>
      </p:grpSp>
      <p:sp>
        <p:nvSpPr>
          <p:cNvPr id="15974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3581400"/>
            <a:ext cx="5638800" cy="19050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597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38200" y="1443038"/>
            <a:ext cx="7086600" cy="16002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477000"/>
            <a:ext cx="39624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2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fld id="{C5112404-32C0-D045-BC5B-7C5BA7AC491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576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DA0040-F5F7-8D46-B162-C909415831D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65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0BBB76-04F5-E047-A3D7-D8F0F926DA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37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37544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56163" y="1981200"/>
            <a:ext cx="3754437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6063F3-C45A-EF4F-8D98-8DDAD8A34BD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024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FCD1D9-6C86-A54A-B238-3865983690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239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FFCC9E-06BA-0B44-9840-37A1E35FFB6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48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D8CC1F-6941-CA4C-B122-9C510CAD5EA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86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F33750-92D5-0B4C-B89B-3373BFD77B5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34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3F851F-6A4D-F746-94EA-FFD577AFDBC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1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F48824-F6F9-284B-BE2A-6D4C0E18DBF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878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1313" y="96838"/>
            <a:ext cx="1919287" cy="59991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31863" y="96838"/>
            <a:ext cx="5607050" cy="59991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EA6EE6-6972-D344-A062-446CCB6FBD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44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ChangeArrowheads="1"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  <a:ea typeface="+mn-ea"/>
            </a:endParaRPr>
          </a:p>
        </p:txBody>
      </p:sp>
      <p:sp>
        <p:nvSpPr>
          <p:cNvPr id="158723" name="Rectangle 3"/>
          <p:cNvSpPr>
            <a:spLocks noChangeArrowheads="1"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  <a:ea typeface="+mn-ea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31863" y="96838"/>
            <a:ext cx="7158037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87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46150" y="64770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Tahoma" pitchFamily="-32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87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477000"/>
            <a:ext cx="3886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587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4770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EDD7C34F-DA26-7C47-980C-D528A86A4A5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58729" name="Freeform 9"/>
          <p:cNvSpPr>
            <a:spLocks noChangeArrowheads="1"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/>
            <a:ahLst/>
            <a:cxnLst>
              <a:cxn ang="0">
                <a:pos x="1000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76200" cmpd="sng">
            <a:solidFill>
              <a:schemeClr val="tx2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Tahoma" pitchFamily="-32" charset="0"/>
              <a:ea typeface="+mn-ea"/>
            </a:endParaRPr>
          </a:p>
        </p:txBody>
      </p:sp>
      <p:sp>
        <p:nvSpPr>
          <p:cNvPr id="158730" name="Freeform 10"/>
          <p:cNvSpPr>
            <a:spLocks noChangeArrowheads="1"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0" y="0"/>
              </a:cxn>
              <a:cxn ang="0">
                <a:pos x="1000" y="1000"/>
              </a:cxn>
              <a:cxn ang="0">
                <a:pos x="0" y="1000"/>
              </a:cxn>
            </a:cxnLst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Tahoma" pitchFamily="-32" charset="0"/>
              <a:ea typeface="+mn-ea"/>
            </a:endParaRPr>
          </a:p>
        </p:txBody>
      </p:sp>
      <p:pic>
        <p:nvPicPr>
          <p:cNvPr id="1035" name="Picture 11" descr="uiuc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</p:sldLayoutIdLst>
  <p:timing>
    <p:tnLst>
      <p:par>
        <p:cTn xmlns:p14="http://schemas.microsoft.com/office/powerpoint/2010/main"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9pPr>
    </p:titleStyle>
    <p:bodyStyle>
      <a:lvl1pPr marL="447675" indent="-44767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n"/>
        <a:defRPr sz="3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889000" indent="-439738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charset="0"/>
        <a:buChar char="¡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293813" indent="-4032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n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81163" indent="-38576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charset="0"/>
        <a:buChar char="¡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70100" indent="-3873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273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845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417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989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Group 1"/>
          <p:cNvGrpSpPr>
            <a:grpSpLocks/>
          </p:cNvGrpSpPr>
          <p:nvPr/>
        </p:nvGrpSpPr>
        <p:grpSpPr bwMode="auto">
          <a:xfrm>
            <a:off x="0" y="914400"/>
            <a:ext cx="8686800" cy="2514600"/>
            <a:chOff x="0" y="0"/>
            <a:chExt cx="5472" cy="1584"/>
          </a:xfrm>
        </p:grpSpPr>
        <p:sp>
          <p:nvSpPr>
            <p:cNvPr id="40967" name="Oval 2"/>
            <p:cNvSpPr>
              <a:spLocks/>
            </p:cNvSpPr>
            <p:nvPr/>
          </p:nvSpPr>
          <p:spPr bwMode="auto">
            <a:xfrm>
              <a:off x="144" y="0"/>
              <a:ext cx="1584" cy="1584"/>
            </a:xfrm>
            <a:prstGeom prst="ellipse">
              <a:avLst/>
            </a:prstGeom>
            <a:noFill/>
            <a:ln w="12700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0968" name="Rectangle 3"/>
            <p:cNvSpPr>
              <a:spLocks/>
            </p:cNvSpPr>
            <p:nvPr/>
          </p:nvSpPr>
          <p:spPr bwMode="auto">
            <a:xfrm>
              <a:off x="0" y="480"/>
              <a:ext cx="2976" cy="720"/>
            </a:xfrm>
            <a:prstGeom prst="rect">
              <a:avLst/>
            </a:prstGeom>
            <a:solidFill>
              <a:srgbClr val="CC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0969" name="Rectangle 4"/>
            <p:cNvSpPr>
              <a:spLocks/>
            </p:cNvSpPr>
            <p:nvPr/>
          </p:nvSpPr>
          <p:spPr bwMode="auto">
            <a:xfrm>
              <a:off x="2496" y="480"/>
              <a:ext cx="2976" cy="720"/>
            </a:xfrm>
            <a:prstGeom prst="rect">
              <a:avLst/>
            </a:prstGeom>
            <a:gradFill rotWithShape="0">
              <a:gsLst>
                <a:gs pos="0">
                  <a:srgbClr val="CCCC99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0970" name="Freeform 5"/>
            <p:cNvSpPr>
              <a:spLocks/>
            </p:cNvSpPr>
            <p:nvPr/>
          </p:nvSpPr>
          <p:spPr bwMode="auto">
            <a:xfrm>
              <a:off x="384" y="384"/>
              <a:ext cx="144" cy="9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</a:path>
              </a:pathLst>
            </a:custGeom>
            <a:noFill/>
            <a:ln w="762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0971" name="Freeform 6"/>
            <p:cNvSpPr>
              <a:spLocks/>
            </p:cNvSpPr>
            <p:nvPr/>
          </p:nvSpPr>
          <p:spPr bwMode="auto">
            <a:xfrm>
              <a:off x="4944" y="186"/>
              <a:ext cx="165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</a:path>
              </a:pathLst>
            </a:custGeom>
            <a:noFill/>
            <a:ln w="76200">
              <a:solidFill>
                <a:srgbClr val="CC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40963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</a:rPr>
              <a:t>C Reference slides</a:t>
            </a:r>
            <a:endParaRPr lang="en-US" dirty="0">
              <a:latin typeface="Arial" charset="0"/>
            </a:endParaRPr>
          </a:p>
        </p:txBody>
      </p:sp>
      <p:sp>
        <p:nvSpPr>
          <p:cNvPr id="40964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pic>
        <p:nvPicPr>
          <p:cNvPr id="40965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488586A-BD49-F44F-80A0-C160CCA0340B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74814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758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758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758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67590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1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String Operations</a:t>
            </a:r>
          </a:p>
        </p:txBody>
      </p:sp>
      <p:sp>
        <p:nvSpPr>
          <p:cNvPr id="6759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strcpy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strlen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strcmp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67593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7594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260D5D0-253A-8E49-98CE-275F1F7B7995}" type="slidenum">
              <a:rPr lang="en-US"/>
              <a:pPr/>
              <a:t>2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8611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8612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8613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68614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5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strcpy, strlen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68616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49325" y="1981200"/>
            <a:ext cx="3754438" cy="4876800"/>
          </a:xfrm>
        </p:spPr>
        <p:txBody>
          <a:bodyPr rIns="132080"/>
          <a:lstStyle/>
          <a:p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strcpy(ptr1, ptr2);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ptr1</a:t>
            </a:r>
            <a:r>
              <a:rPr lang="en-US" sz="2000">
                <a:latin typeface="Arial" charset="0"/>
              </a:rPr>
              <a:t> and 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ptr2</a:t>
            </a:r>
            <a:r>
              <a:rPr lang="en-US" sz="2000">
                <a:latin typeface="Arial" charset="0"/>
              </a:rPr>
              <a:t> are pointers to char </a:t>
            </a:r>
          </a:p>
          <a:p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value = strlen(ptr);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value</a:t>
            </a:r>
            <a:r>
              <a:rPr lang="en-US" sz="2000">
                <a:latin typeface="Arial" charset="0"/>
              </a:rPr>
              <a:t> is an integer</a:t>
            </a:r>
          </a:p>
          <a:p>
            <a:pPr marL="928688" lvl="1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</a:t>
            </a:r>
            <a:r>
              <a:rPr lang="en-US" sz="2000">
                <a:latin typeface="Arial" charset="0"/>
              </a:rPr>
              <a:t> is a pointer to char </a:t>
            </a:r>
          </a:p>
        </p:txBody>
      </p:sp>
      <p:sp>
        <p:nvSpPr>
          <p:cNvPr id="68617" name="Rectangle 8"/>
          <p:cNvSpPr>
            <a:spLocks/>
          </p:cNvSpPr>
          <p:nvPr/>
        </p:nvSpPr>
        <p:spPr bwMode="auto">
          <a:xfrm>
            <a:off x="4856163" y="1981200"/>
            <a:ext cx="37719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len; 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str[15]; 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strcpy (str, "Hello, world!"); 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len = strlen(str); </a:t>
            </a:r>
          </a:p>
        </p:txBody>
      </p:sp>
      <p:sp>
        <p:nvSpPr>
          <p:cNvPr id="68618" name="Footer Placeholder 1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8619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805F7E6-1A43-C24F-9B27-70BBB31F86F4}" type="slidenum">
              <a:rPr lang="en-US"/>
              <a:pPr/>
              <a:t>3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963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963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963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69638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9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strcpy, strlen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6964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 sz="2800">
                <a:latin typeface="Arial" charset="0"/>
              </a:rPr>
              <a:t>What</a:t>
            </a:r>
            <a:r>
              <a:rPr lang="ja-JP" altLang="en-US" sz="2800">
                <a:latin typeface="Arial" charset="0"/>
              </a:rPr>
              <a:t>’</a:t>
            </a:r>
            <a:r>
              <a:rPr lang="en-US" sz="2800">
                <a:latin typeface="Arial" charset="0"/>
              </a:rPr>
              <a:t>s wrong with </a:t>
            </a:r>
          </a:p>
          <a:p>
            <a:endParaRPr lang="en-US" sz="2800">
              <a:latin typeface="Arial" charset="0"/>
            </a:endParaRPr>
          </a:p>
          <a:p>
            <a:endParaRPr lang="en-US" sz="2800">
              <a:latin typeface="Arial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str[5]; 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strcpy (str, "Hello"); 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69641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9642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1578F20-30DC-A440-B183-8779555E4BBF}" type="slidenum">
              <a:rPr lang="en-US"/>
              <a:pPr/>
              <a:t>4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065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066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066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70662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3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strncpy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70664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49325" y="1981200"/>
            <a:ext cx="3754438" cy="4876800"/>
          </a:xfrm>
        </p:spPr>
        <p:txBody>
          <a:bodyPr rIns="132080"/>
          <a:lstStyle/>
          <a:p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strncpy(ptr1, ptr2, num);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ptr1</a:t>
            </a:r>
            <a:r>
              <a:rPr lang="en-US" sz="2000">
                <a:latin typeface="Arial" charset="0"/>
              </a:rPr>
              <a:t> and 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ptr2</a:t>
            </a:r>
            <a:r>
              <a:rPr lang="en-US" sz="2000">
                <a:latin typeface="Arial" charset="0"/>
              </a:rPr>
              <a:t> are pointers to char     </a:t>
            </a:r>
          </a:p>
          <a:p>
            <a:pPr marL="928688" lvl="1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num</a:t>
            </a:r>
            <a:r>
              <a:rPr lang="en-US" sz="2000">
                <a:latin typeface="Arial" charset="0"/>
              </a:rPr>
              <a:t> is the number of characters to be copied</a:t>
            </a:r>
          </a:p>
        </p:txBody>
      </p:sp>
      <p:sp>
        <p:nvSpPr>
          <p:cNvPr id="70665" name="Rectangle 8"/>
          <p:cNvSpPr>
            <a:spLocks/>
          </p:cNvSpPr>
          <p:nvPr/>
        </p:nvSpPr>
        <p:spPr bwMode="auto">
          <a:xfrm>
            <a:off x="4856163" y="1981200"/>
            <a:ext cx="3771900" cy="271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len; 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str1[15], str2[15]; 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strcpy (str1, "Hello, world!"); 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strncpy (str2, str1, 5); </a:t>
            </a:r>
          </a:p>
        </p:txBody>
      </p:sp>
      <p:sp>
        <p:nvSpPr>
          <p:cNvPr id="70666" name="Footer Placeholder 1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0667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F33BB54-0020-B241-A34D-A9D37598FDB5}" type="slidenum">
              <a:rPr lang="en-US"/>
              <a:pPr/>
              <a:t>5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168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168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168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71686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7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strncpy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71688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49325" y="1981200"/>
            <a:ext cx="3754438" cy="4876800"/>
          </a:xfrm>
        </p:spPr>
        <p:txBody>
          <a:bodyPr rIns="132080"/>
          <a:lstStyle/>
          <a:p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strncpy(ptr1, ptr2, num);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ptr1</a:t>
            </a:r>
            <a:r>
              <a:rPr lang="en-US" sz="2000">
                <a:latin typeface="Arial" charset="0"/>
              </a:rPr>
              <a:t> and 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ptr2</a:t>
            </a:r>
            <a:r>
              <a:rPr lang="en-US" sz="2000">
                <a:latin typeface="Arial" charset="0"/>
              </a:rPr>
              <a:t> are pointers to char     </a:t>
            </a:r>
          </a:p>
          <a:p>
            <a:pPr marL="928688" lvl="1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num</a:t>
            </a:r>
            <a:r>
              <a:rPr lang="en-US" sz="2000">
                <a:latin typeface="Arial" charset="0"/>
              </a:rPr>
              <a:t> is the number of characters to be copied</a:t>
            </a:r>
          </a:p>
        </p:txBody>
      </p:sp>
      <p:sp>
        <p:nvSpPr>
          <p:cNvPr id="71689" name="Rectangle 8"/>
          <p:cNvSpPr>
            <a:spLocks/>
          </p:cNvSpPr>
          <p:nvPr/>
        </p:nvSpPr>
        <p:spPr bwMode="auto">
          <a:xfrm>
            <a:off x="4856163" y="1981200"/>
            <a:ext cx="3771900" cy="271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len; 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str1[15], str2[15]; 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strcpy (str1, "Hello, world!"); 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strncpy (str2, str1, 5); </a:t>
            </a:r>
          </a:p>
        </p:txBody>
      </p:sp>
      <p:sp>
        <p:nvSpPr>
          <p:cNvPr id="56331" name="Rectangle 11"/>
          <p:cNvSpPr>
            <a:spLocks/>
          </p:cNvSpPr>
          <p:nvPr/>
        </p:nvSpPr>
        <p:spPr bwMode="auto">
          <a:xfrm>
            <a:off x="609600" y="4953000"/>
            <a:ext cx="4813300" cy="1570038"/>
          </a:xfrm>
          <a:prstGeom prst="rect">
            <a:avLst/>
          </a:prstGeom>
          <a:noFill/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40639" bIns="0"/>
          <a:lstStyle/>
          <a:p>
            <a:pPr marL="39688">
              <a:defRPr/>
            </a:pPr>
            <a:r>
              <a:rPr lang="en-US" sz="2400" dirty="0">
                <a:latin typeface="+mn-lt"/>
                <a:ea typeface="Tahoma" pitchFamily="34" charset="0"/>
                <a:cs typeface="Tahoma" pitchFamily="34" charset="0"/>
              </a:rPr>
              <a:t>Caution: </a:t>
            </a:r>
            <a:r>
              <a:rPr lang="en-US" sz="2400" dirty="0" err="1">
                <a:solidFill>
                  <a:srgbClr val="0000FF"/>
                </a:solidFill>
                <a:latin typeface="+mn-lt"/>
                <a:ea typeface="Tahoma" pitchFamily="34" charset="0"/>
                <a:cs typeface="Tahoma" pitchFamily="34" charset="0"/>
              </a:rPr>
              <a:t>strncpy</a:t>
            </a:r>
            <a:r>
              <a:rPr lang="en-US" sz="2400" dirty="0">
                <a:latin typeface="+mn-lt"/>
                <a:ea typeface="Tahoma" pitchFamily="34" charset="0"/>
                <a:cs typeface="Tahoma" pitchFamily="34" charset="0"/>
              </a:rPr>
              <a:t> blindly copies the characters. It does not voluntarily append the string-terminating null character. </a:t>
            </a:r>
          </a:p>
        </p:txBody>
      </p:sp>
      <p:sp>
        <p:nvSpPr>
          <p:cNvPr id="71691" name="Footer Placeholder 1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1692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5A2F9BC-1500-7240-89C1-E2A3ABE7765A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270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270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270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72710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11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7271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strcat(ptr1, ptr2);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ptr1</a:t>
            </a:r>
            <a:r>
              <a:rPr lang="en-US" sz="2000">
                <a:solidFill>
                  <a:srgbClr val="0000FF"/>
                </a:solidFill>
                <a:latin typeface="Arial" charset="0"/>
              </a:rPr>
              <a:t> </a:t>
            </a:r>
            <a:r>
              <a:rPr lang="en-US" sz="2000">
                <a:latin typeface="Arial" charset="0"/>
              </a:rPr>
              <a:t>and 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ptr2</a:t>
            </a:r>
            <a:r>
              <a:rPr lang="en-US" sz="2000">
                <a:solidFill>
                  <a:srgbClr val="0000FF"/>
                </a:solidFill>
                <a:latin typeface="Arial" charset="0"/>
              </a:rPr>
              <a:t> </a:t>
            </a:r>
            <a:r>
              <a:rPr lang="en-US" sz="2000">
                <a:latin typeface="Arial" charset="0"/>
              </a:rPr>
              <a:t>are pointers to char</a:t>
            </a:r>
          </a:p>
          <a:p>
            <a:endParaRPr lang="en-US">
              <a:latin typeface="Arial" charset="0"/>
            </a:endParaRPr>
          </a:p>
          <a:p>
            <a:r>
              <a:rPr lang="en-US" sz="2400">
                <a:latin typeface="Arial" charset="0"/>
              </a:rPr>
              <a:t>Concatenates the two null terminated strings yielding one string (pointed to by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ptr1</a:t>
            </a:r>
            <a:r>
              <a:rPr lang="en-US" sz="2400">
                <a:latin typeface="Arial" charset="0"/>
              </a:rPr>
              <a:t>). </a:t>
            </a:r>
          </a:p>
          <a:p>
            <a:endParaRPr lang="en-US" sz="2400">
              <a:latin typeface="Arial" charset="0"/>
            </a:endParaRPr>
          </a:p>
          <a:p>
            <a:pPr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S[25] = "world!"; 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D[25] = "Hello, "; 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strcat(D, S); 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72713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2714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0367DF0-3D32-A740-9166-213642B3A0FB}" type="slidenum">
              <a:rPr lang="en-US"/>
              <a:pPr/>
              <a:t>7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3731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3732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3733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73734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5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73736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strcat(ptr1, ptr2);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ptr1</a:t>
            </a:r>
            <a:r>
              <a:rPr lang="en-US" sz="2000">
                <a:solidFill>
                  <a:srgbClr val="0000FF"/>
                </a:solidFill>
                <a:latin typeface="Arial" charset="0"/>
              </a:rPr>
              <a:t> </a:t>
            </a:r>
            <a:r>
              <a:rPr lang="en-US" sz="2000">
                <a:latin typeface="Arial" charset="0"/>
              </a:rPr>
              <a:t>and 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ptr2</a:t>
            </a:r>
            <a:r>
              <a:rPr lang="en-US" sz="2000">
                <a:solidFill>
                  <a:srgbClr val="0000FF"/>
                </a:solidFill>
                <a:latin typeface="Arial" charset="0"/>
              </a:rPr>
              <a:t> </a:t>
            </a:r>
            <a:r>
              <a:rPr lang="en-US" sz="2000">
                <a:latin typeface="Arial" charset="0"/>
              </a:rPr>
              <a:t>are pointers to char</a:t>
            </a:r>
          </a:p>
          <a:p>
            <a:endParaRPr lang="en-US">
              <a:latin typeface="Arial" charset="0"/>
            </a:endParaRPr>
          </a:p>
          <a:p>
            <a:r>
              <a:rPr lang="en-US" sz="2400">
                <a:latin typeface="Arial" charset="0"/>
              </a:rPr>
              <a:t>Concatenates the two null terminated strings yielding one string (pointed to by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ptr1</a:t>
            </a:r>
            <a:r>
              <a:rPr lang="en-US" sz="2400">
                <a:latin typeface="Arial" charset="0"/>
              </a:rPr>
              <a:t>). </a:t>
            </a:r>
          </a:p>
          <a:p>
            <a:pPr marL="928688" lvl="1"/>
            <a:r>
              <a:rPr lang="en-US" sz="2000">
                <a:latin typeface="Arial" charset="0"/>
              </a:rPr>
              <a:t>Find the end of the destination string</a:t>
            </a:r>
          </a:p>
          <a:p>
            <a:pPr marL="928688" lvl="1"/>
            <a:r>
              <a:rPr lang="en-US" sz="2000">
                <a:latin typeface="Arial" charset="0"/>
              </a:rPr>
              <a:t>Append the source string to the end of the destination string</a:t>
            </a:r>
          </a:p>
          <a:p>
            <a:pPr marL="928688" lvl="1"/>
            <a:r>
              <a:rPr lang="en-US" sz="2000">
                <a:latin typeface="Arial" charset="0"/>
              </a:rPr>
              <a:t>Add a NULL to new destination string</a:t>
            </a:r>
          </a:p>
        </p:txBody>
      </p:sp>
      <p:sp>
        <p:nvSpPr>
          <p:cNvPr id="73737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3738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A2BF484-B8D3-3045-82FB-8BF96829DCDE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475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475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475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74758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9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</a:t>
            </a:r>
            <a:r>
              <a:rPr lang="en-US"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en-US">
                <a:latin typeface="Arial" charset="0"/>
              </a:rPr>
              <a:t>Example</a:t>
            </a:r>
          </a:p>
        </p:txBody>
      </p:sp>
      <p:sp>
        <p:nvSpPr>
          <p:cNvPr id="7476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 sz="2800">
                <a:latin typeface="Arial" charset="0"/>
              </a:rPr>
              <a:t>What</a:t>
            </a:r>
            <a:r>
              <a:rPr lang="ja-JP" altLang="en-US" sz="2800">
                <a:latin typeface="Arial" charset="0"/>
              </a:rPr>
              <a:t>’</a:t>
            </a:r>
            <a:r>
              <a:rPr lang="en-US" sz="2800">
                <a:latin typeface="Arial" charset="0"/>
              </a:rPr>
              <a:t>s wrong with</a:t>
            </a:r>
          </a:p>
          <a:p>
            <a:endParaRPr lang="en-US" sz="2800">
              <a:latin typeface="Arial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S[25] = "world!"; 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strcat(</a:t>
            </a:r>
            <a:r>
              <a:rPr lang="ja-JP" alt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Hello, </a:t>
            </a:r>
            <a:r>
              <a:rPr lang="ja-JP" alt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”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, S); 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74761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4762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7D51C25-D6DF-4F42-A538-09B9B3FF45D0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577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578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578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75782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3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</a:t>
            </a:r>
            <a:r>
              <a:rPr lang="en-US"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en-US">
                <a:latin typeface="Arial" charset="0"/>
              </a:rPr>
              <a:t>Example</a:t>
            </a:r>
          </a:p>
        </p:txBody>
      </p:sp>
      <p:sp>
        <p:nvSpPr>
          <p:cNvPr id="75784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 sz="2800">
                <a:latin typeface="Arial" charset="0"/>
              </a:rPr>
              <a:t>What</a:t>
            </a:r>
            <a:r>
              <a:rPr lang="ja-JP" altLang="en-US" sz="2800">
                <a:latin typeface="Arial" charset="0"/>
              </a:rPr>
              <a:t>’</a:t>
            </a:r>
            <a:r>
              <a:rPr lang="en-US" sz="2800">
                <a:latin typeface="Arial" charset="0"/>
              </a:rPr>
              <a:t>s wrong with</a:t>
            </a:r>
          </a:p>
          <a:p>
            <a:endParaRPr lang="en-US" sz="2800">
              <a:latin typeface="Arial" charset="0"/>
            </a:endParaRP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*s = malloc(11 * sizeof(char));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/>
            </a:r>
            <a:br>
              <a:rPr lang="en-US" sz="20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</a:b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 /* Allocate enough memory for an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/>
            </a:r>
            <a:br>
              <a:rPr lang="en-US" sz="20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</a:b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    array of 11 characters, enough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/>
            </a:r>
            <a:br>
              <a:rPr lang="en-US" sz="20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</a:b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    to store a 10-char long string. */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strcat(s, "Hello");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strcat(s, "World");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75785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5786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F42FA62-98AD-944D-B934-BAA2F7B1C2C2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680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680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680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76806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7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2"/>
              <a:buChar char="n"/>
              <a:defRPr/>
            </a:pPr>
            <a:r>
              <a:rPr lang="en-US" sz="2400" dirty="0" err="1" smtClean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strcat</a:t>
            </a:r>
            <a:r>
              <a:rPr lang="en-US" sz="2400" dirty="0" smtClean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(ptr1, ptr2);</a:t>
            </a:r>
            <a:endParaRPr lang="en-US" sz="2400" dirty="0" smtClean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>
              <a:buFont typeface="Wingdings" charset="2"/>
              <a:buChar char="¡"/>
              <a:defRPr/>
            </a:pPr>
            <a:r>
              <a:rPr lang="en-US" sz="2000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ptr1</a:t>
            </a:r>
            <a:r>
              <a:rPr lang="en-US" sz="2000" dirty="0" smtClean="0">
                <a:solidFill>
                  <a:srgbClr val="0000FF"/>
                </a:solidFill>
              </a:rPr>
              <a:t> </a:t>
            </a:r>
            <a:r>
              <a:rPr lang="en-US" sz="2000" dirty="0" smtClean="0"/>
              <a:t>and </a:t>
            </a:r>
            <a:r>
              <a:rPr lang="en-US" sz="2000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ptr2</a:t>
            </a:r>
            <a:r>
              <a:rPr lang="en-US" sz="2000" dirty="0" smtClean="0">
                <a:solidFill>
                  <a:srgbClr val="0000FF"/>
                </a:solidFill>
              </a:rPr>
              <a:t> </a:t>
            </a:r>
            <a:r>
              <a:rPr lang="en-US" sz="2000" dirty="0" smtClean="0"/>
              <a:t>are pointers to char</a:t>
            </a:r>
          </a:p>
          <a:p>
            <a:pPr>
              <a:buFont typeface="Wingdings" charset="2"/>
              <a:buChar char="n"/>
              <a:defRPr/>
            </a:pPr>
            <a:endParaRPr lang="en-US" sz="2400" dirty="0" smtClean="0">
              <a:ea typeface="+mn-ea"/>
            </a:endParaRPr>
          </a:p>
          <a:p>
            <a:pPr>
              <a:buFont typeface="Wingdings" charset="2"/>
              <a:buChar char="n"/>
              <a:defRPr/>
            </a:pPr>
            <a:r>
              <a:rPr lang="en-US" sz="2400" dirty="0" smtClean="0">
                <a:ea typeface="+mn-ea"/>
              </a:rPr>
              <a:t>Compare to Java and C++</a:t>
            </a:r>
          </a:p>
          <a:p>
            <a:pPr marL="928688" lvl="1">
              <a:buFont typeface="Wingdings" charset="2"/>
              <a:buChar char="¡"/>
              <a:defRPr/>
            </a:pPr>
            <a:r>
              <a:rPr lang="en-US" sz="2000" dirty="0" smtClean="0">
                <a:solidFill>
                  <a:srgbClr val="C00000"/>
                </a:solidFill>
                <a:latin typeface="Courier New Bold" charset="0"/>
                <a:cs typeface="Courier New Bold" charset="0"/>
                <a:sym typeface="Courier New Bold" charset="0"/>
              </a:rPr>
              <a:t>string s = s + " World!";</a:t>
            </a:r>
            <a:endParaRPr lang="en-US" sz="2000" dirty="0" smtClean="0">
              <a:solidFill>
                <a:srgbClr val="C00000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>
              <a:buFont typeface="Wingdings" charset="2"/>
              <a:buChar char="¡"/>
              <a:defRPr/>
            </a:pPr>
            <a:endParaRPr lang="en-US" sz="2000" dirty="0" smtClean="0"/>
          </a:p>
          <a:p>
            <a:pPr>
              <a:buFont typeface="Wingdings" charset="2"/>
              <a:buChar char="n"/>
              <a:defRPr/>
            </a:pPr>
            <a:r>
              <a:rPr lang="en-US" sz="2400" dirty="0" smtClean="0">
                <a:ea typeface="+mn-ea"/>
              </a:rPr>
              <a:t>What would you get in C?</a:t>
            </a:r>
          </a:p>
          <a:p>
            <a:pPr lvl="1">
              <a:buFont typeface="Wingdings" charset="2"/>
              <a:buChar char="¡"/>
              <a:defRPr/>
            </a:pPr>
            <a:r>
              <a:rPr lang="en-US" sz="2000" dirty="0" smtClean="0"/>
              <a:t>If you did </a:t>
            </a:r>
            <a:r>
              <a:rPr lang="en-US" sz="2000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char* ptr0 = ptr1+ptr2;</a:t>
            </a:r>
            <a:endParaRPr lang="en-US" sz="2000" dirty="0" smtClean="0"/>
          </a:p>
          <a:p>
            <a:pPr marL="928688" lvl="1">
              <a:buFont typeface="Wingdings" charset="2"/>
              <a:buChar char="¡"/>
              <a:defRPr/>
            </a:pPr>
            <a:r>
              <a:rPr lang="en-US" sz="2000" dirty="0" smtClean="0"/>
              <a:t>You would get the sum of two memory locations!</a:t>
            </a:r>
          </a:p>
        </p:txBody>
      </p:sp>
      <p:sp>
        <p:nvSpPr>
          <p:cNvPr id="76809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6810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1DB7858-B74B-9C49-BC27-3285119882A6}" type="slidenum">
              <a:rPr lang="en-US"/>
              <a:pPr/>
              <a:t>11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7" grpId="0" build="p" bldLvl="5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782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782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782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77830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1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strcmp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6247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diff = strcmp(ptr1, ptr2);</a:t>
            </a:r>
            <a:r>
              <a:rPr lang="en-US" sz="2000">
                <a:solidFill>
                  <a:srgbClr val="0000FF"/>
                </a:solidFill>
                <a:latin typeface="Arial" charset="0"/>
              </a:rPr>
              <a:t>    </a:t>
            </a:r>
          </a:p>
          <a:p>
            <a:pPr marL="928688" lvl="1">
              <a:lnSpc>
                <a:spcPct val="90000"/>
              </a:lnSpc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diff</a:t>
            </a:r>
            <a:r>
              <a:rPr lang="en-US" sz="1800">
                <a:solidFill>
                  <a:srgbClr val="0000FF"/>
                </a:solidFill>
                <a:latin typeface="Arial" charset="0"/>
              </a:rPr>
              <a:t> </a:t>
            </a:r>
            <a:r>
              <a:rPr lang="en-US" sz="1800">
                <a:latin typeface="Arial" charset="0"/>
              </a:rPr>
              <a:t>is an integer </a:t>
            </a:r>
          </a:p>
          <a:p>
            <a:pPr marL="928688" lvl="1">
              <a:lnSpc>
                <a:spcPct val="90000"/>
              </a:lnSpc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ptr1</a:t>
            </a:r>
            <a:r>
              <a:rPr lang="en-US" sz="1800">
                <a:solidFill>
                  <a:srgbClr val="0000FF"/>
                </a:solidFill>
                <a:latin typeface="Arial" charset="0"/>
              </a:rPr>
              <a:t> </a:t>
            </a:r>
            <a:r>
              <a:rPr lang="en-US" sz="1800">
                <a:latin typeface="Arial" charset="0"/>
              </a:rPr>
              <a:t>and </a:t>
            </a: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ptr2</a:t>
            </a:r>
            <a:r>
              <a:rPr lang="en-US" sz="1800">
                <a:solidFill>
                  <a:srgbClr val="0000FF"/>
                </a:solidFill>
                <a:latin typeface="Arial" charset="0"/>
              </a:rPr>
              <a:t> </a:t>
            </a:r>
            <a:r>
              <a:rPr lang="en-US" sz="1800">
                <a:latin typeface="Arial" charset="0"/>
              </a:rPr>
              <a:t>are pointers to char </a:t>
            </a:r>
          </a:p>
          <a:p>
            <a:pPr>
              <a:lnSpc>
                <a:spcPct val="90000"/>
              </a:lnSpc>
            </a:pPr>
            <a:r>
              <a:rPr lang="en-US" sz="2000">
                <a:latin typeface="Arial" charset="0"/>
              </a:rPr>
              <a:t>Returns </a:t>
            </a:r>
          </a:p>
          <a:p>
            <a:pPr marL="928688" lvl="1">
              <a:lnSpc>
                <a:spcPct val="90000"/>
              </a:lnSpc>
            </a:pPr>
            <a:r>
              <a:rPr lang="en-US" sz="1800">
                <a:latin typeface="Arial" charset="0"/>
              </a:rPr>
              <a:t>zero if strings are identical </a:t>
            </a:r>
          </a:p>
          <a:p>
            <a:pPr marL="928688" lvl="1">
              <a:lnSpc>
                <a:spcPct val="90000"/>
              </a:lnSpc>
            </a:pPr>
            <a:r>
              <a:rPr lang="en-US" sz="1800">
                <a:latin typeface="Arial" charset="0"/>
              </a:rPr>
              <a:t>&lt; 0 if </a:t>
            </a: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ptr1</a:t>
            </a:r>
            <a:r>
              <a:rPr lang="en-US" sz="1800">
                <a:latin typeface="Arial" charset="0"/>
              </a:rPr>
              <a:t> is less than </a:t>
            </a: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ptr2</a:t>
            </a:r>
            <a:r>
              <a:rPr lang="en-US" sz="1800">
                <a:latin typeface="Arial" charset="0"/>
              </a:rPr>
              <a:t> (earlier in a dictionary)</a:t>
            </a:r>
          </a:p>
          <a:p>
            <a:pPr marL="928688" lvl="1">
              <a:lnSpc>
                <a:spcPct val="90000"/>
              </a:lnSpc>
            </a:pPr>
            <a:r>
              <a:rPr lang="en-US" sz="1800">
                <a:latin typeface="Arial" charset="0"/>
              </a:rPr>
              <a:t>&gt; 0 if </a:t>
            </a: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ptr1</a:t>
            </a:r>
            <a:r>
              <a:rPr lang="en-US" sz="1800">
                <a:latin typeface="Arial" charset="0"/>
              </a:rPr>
              <a:t> is greater than </a:t>
            </a: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ptr2</a:t>
            </a:r>
            <a:r>
              <a:rPr lang="en-US" sz="1800">
                <a:latin typeface="Arial" charset="0"/>
              </a:rPr>
              <a:t> (later in a dictionary)</a:t>
            </a:r>
          </a:p>
          <a:p>
            <a:pPr>
              <a:lnSpc>
                <a:spcPct val="90000"/>
              </a:lnSpc>
            </a:pPr>
            <a:endParaRPr lang="en-US" sz="2000">
              <a:latin typeface="Arial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diff;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s1[25] = "pat"; 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s2[25] = "pet"; 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diff = strcmp(s1, s2);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77833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7834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CB1F362-367C-C448-A915-1E96EAD74751}" type="slidenum">
              <a:rPr lang="en-US"/>
              <a:pPr/>
              <a:t>12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018" name="Group 1"/>
          <p:cNvGrpSpPr>
            <a:grpSpLocks/>
          </p:cNvGrpSpPr>
          <p:nvPr/>
        </p:nvGrpSpPr>
        <p:grpSpPr bwMode="auto">
          <a:xfrm>
            <a:off x="0" y="914400"/>
            <a:ext cx="8686800" cy="2514600"/>
            <a:chOff x="0" y="0"/>
            <a:chExt cx="5472" cy="1584"/>
          </a:xfrm>
        </p:grpSpPr>
        <p:sp>
          <p:nvSpPr>
            <p:cNvPr id="86023" name="Oval 2"/>
            <p:cNvSpPr>
              <a:spLocks/>
            </p:cNvSpPr>
            <p:nvPr/>
          </p:nvSpPr>
          <p:spPr bwMode="auto">
            <a:xfrm>
              <a:off x="144" y="0"/>
              <a:ext cx="1584" cy="1584"/>
            </a:xfrm>
            <a:prstGeom prst="ellipse">
              <a:avLst/>
            </a:prstGeom>
            <a:noFill/>
            <a:ln w="12700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6024" name="Rectangle 3"/>
            <p:cNvSpPr>
              <a:spLocks/>
            </p:cNvSpPr>
            <p:nvPr/>
          </p:nvSpPr>
          <p:spPr bwMode="auto">
            <a:xfrm>
              <a:off x="0" y="480"/>
              <a:ext cx="2976" cy="720"/>
            </a:xfrm>
            <a:prstGeom prst="rect">
              <a:avLst/>
            </a:prstGeom>
            <a:solidFill>
              <a:srgbClr val="CC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6025" name="Rectangle 4"/>
            <p:cNvSpPr>
              <a:spLocks/>
            </p:cNvSpPr>
            <p:nvPr/>
          </p:nvSpPr>
          <p:spPr bwMode="auto">
            <a:xfrm>
              <a:off x="2496" y="480"/>
              <a:ext cx="2976" cy="720"/>
            </a:xfrm>
            <a:prstGeom prst="rect">
              <a:avLst/>
            </a:prstGeom>
            <a:gradFill rotWithShape="0">
              <a:gsLst>
                <a:gs pos="0">
                  <a:srgbClr val="CCCC99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6026" name="Freeform 5"/>
            <p:cNvSpPr>
              <a:spLocks/>
            </p:cNvSpPr>
            <p:nvPr/>
          </p:nvSpPr>
          <p:spPr bwMode="auto">
            <a:xfrm>
              <a:off x="384" y="384"/>
              <a:ext cx="144" cy="9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</a:path>
              </a:pathLst>
            </a:custGeom>
            <a:noFill/>
            <a:ln w="762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6027" name="Freeform 6"/>
            <p:cNvSpPr>
              <a:spLocks/>
            </p:cNvSpPr>
            <p:nvPr/>
          </p:nvSpPr>
          <p:spPr bwMode="auto">
            <a:xfrm>
              <a:off x="4944" y="186"/>
              <a:ext cx="165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</a:path>
              </a:pathLst>
            </a:custGeom>
            <a:noFill/>
            <a:ln w="76200">
              <a:solidFill>
                <a:srgbClr val="CC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86019" name="Rectangle 7"/>
          <p:cNvSpPr>
            <a:spLocks noGrp="1" noChangeArrowheads="1"/>
          </p:cNvSpPr>
          <p:nvPr>
            <p:ph type="subTitle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endParaRPr lang="en-US">
              <a:latin typeface="Arial" charset="0"/>
            </a:endParaRPr>
          </a:p>
        </p:txBody>
      </p:sp>
      <p:sp>
        <p:nvSpPr>
          <p:cNvPr id="8602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Other operations</a:t>
            </a:r>
          </a:p>
        </p:txBody>
      </p:sp>
      <p:sp>
        <p:nvSpPr>
          <p:cNvPr id="86021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86022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9B0A070-2118-BE4E-98E5-BA28F94D3941}" type="slidenum">
              <a:rPr lang="en-US"/>
              <a:pPr/>
              <a:t>13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704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704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704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87046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7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Increment &amp; decrement</a:t>
            </a:r>
          </a:p>
        </p:txBody>
      </p:sp>
      <p:sp>
        <p:nvSpPr>
          <p:cNvPr id="7066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50913" y="1981200"/>
            <a:ext cx="7658100" cy="4495800"/>
          </a:xfrm>
        </p:spPr>
        <p:txBody>
          <a:bodyPr rIns="132080">
            <a:normAutofit lnSpcReduction="10000"/>
          </a:bodyPr>
          <a:lstStyle/>
          <a:p>
            <a:pPr>
              <a:buFont typeface="Wingdings" pitchFamily="2" charset="2"/>
              <a:buChar char="n"/>
              <a:defRPr/>
            </a:pPr>
            <a:r>
              <a:rPr lang="en-US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x++</a:t>
            </a:r>
            <a:r>
              <a:rPr lang="en-US" dirty="0">
                <a:ea typeface="+mn-ea"/>
              </a:rPr>
              <a:t>: yield old value, add one</a:t>
            </a:r>
          </a:p>
          <a:p>
            <a:pPr>
              <a:buFont typeface="Wingdings" pitchFamily="2" charset="2"/>
              <a:buChar char="n"/>
              <a:defRPr/>
            </a:pPr>
            <a:r>
              <a:rPr lang="en-US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++x</a:t>
            </a:r>
            <a:r>
              <a:rPr lang="en-US" dirty="0">
                <a:ea typeface="+mn-ea"/>
              </a:rPr>
              <a:t>: add one, yield new value</a:t>
            </a: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ea typeface="+mn-ea"/>
            </a:endParaRP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ea typeface="+mn-ea"/>
            </a:endParaRP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ea typeface="+mn-ea"/>
            </a:endParaRP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ea typeface="+mn-ea"/>
            </a:endParaRP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ea typeface="+mn-ea"/>
            </a:endParaRPr>
          </a:p>
          <a:p>
            <a:pPr>
              <a:buFont typeface="Wingdings" pitchFamily="2" charset="2"/>
              <a:buChar char="n"/>
              <a:defRPr/>
            </a:pPr>
            <a:r>
              <a:rPr lang="en-US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--x</a:t>
            </a:r>
            <a:r>
              <a:rPr lang="en-US" dirty="0">
                <a:ea typeface="+mn-ea"/>
              </a:rPr>
              <a:t> and </a:t>
            </a:r>
            <a:r>
              <a:rPr lang="en-US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x--</a:t>
            </a:r>
            <a:r>
              <a:rPr lang="en-US" dirty="0">
                <a:ea typeface="+mn-ea"/>
              </a:rPr>
              <a:t> are similar (subtract one)</a:t>
            </a:r>
          </a:p>
        </p:txBody>
      </p:sp>
      <p:sp>
        <p:nvSpPr>
          <p:cNvPr id="87049" name="Rectangle 8"/>
          <p:cNvSpPr>
            <a:spLocks/>
          </p:cNvSpPr>
          <p:nvPr/>
        </p:nvSpPr>
        <p:spPr bwMode="auto">
          <a:xfrm>
            <a:off x="1066800" y="3556000"/>
            <a:ext cx="2349500" cy="219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487363" indent="-447675">
              <a:spcBef>
                <a:spcPts val="7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x = 10;</a:t>
            </a:r>
          </a:p>
          <a:p>
            <a:pPr marL="487363" indent="-447675">
              <a:spcBef>
                <a:spcPts val="7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x++;</a:t>
            </a:r>
          </a:p>
          <a:p>
            <a:pPr marL="487363" indent="-447675">
              <a:spcBef>
                <a:spcPts val="7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y = x++;</a:t>
            </a:r>
          </a:p>
          <a:p>
            <a:pPr marL="487363" indent="-447675">
              <a:spcBef>
                <a:spcPts val="738"/>
              </a:spcBef>
            </a:pPr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487363" indent="-447675">
              <a:spcBef>
                <a:spcPts val="7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z = ++x;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949700" y="4356100"/>
            <a:ext cx="901700" cy="596900"/>
            <a:chOff x="0" y="0"/>
            <a:chExt cx="568" cy="520"/>
          </a:xfrm>
        </p:grpSpPr>
        <p:sp>
          <p:nvSpPr>
            <p:cNvPr id="87056" name="Rectangle 10"/>
            <p:cNvSpPr>
              <a:spLocks/>
            </p:cNvSpPr>
            <p:nvPr/>
          </p:nvSpPr>
          <p:spPr bwMode="auto">
            <a:xfrm>
              <a:off x="0" y="0"/>
              <a:ext cx="568" cy="4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7057" name="Rectangle 11"/>
            <p:cNvSpPr>
              <a:spLocks/>
            </p:cNvSpPr>
            <p:nvPr/>
          </p:nvSpPr>
          <p:spPr bwMode="auto">
            <a:xfrm>
              <a:off x="26" y="22"/>
              <a:ext cx="515" cy="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algn="ctr">
                <a:spcBef>
                  <a:spcPts val="738"/>
                </a:spcBef>
              </a:pPr>
              <a:r>
                <a:rPr lang="en-US" sz="3200">
                  <a:latin typeface="Arial" charset="0"/>
                  <a:cs typeface="Arial" charset="0"/>
                  <a:sym typeface="Arial" charset="0"/>
                </a:rPr>
                <a:t>11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3949700" y="5194300"/>
            <a:ext cx="901700" cy="596900"/>
            <a:chOff x="0" y="0"/>
            <a:chExt cx="568" cy="520"/>
          </a:xfrm>
        </p:grpSpPr>
        <p:sp>
          <p:nvSpPr>
            <p:cNvPr id="87054" name="Rectangle 13"/>
            <p:cNvSpPr>
              <a:spLocks/>
            </p:cNvSpPr>
            <p:nvPr/>
          </p:nvSpPr>
          <p:spPr bwMode="auto">
            <a:xfrm>
              <a:off x="0" y="0"/>
              <a:ext cx="568" cy="4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7055" name="Rectangle 14"/>
            <p:cNvSpPr>
              <a:spLocks/>
            </p:cNvSpPr>
            <p:nvPr/>
          </p:nvSpPr>
          <p:spPr bwMode="auto">
            <a:xfrm>
              <a:off x="26" y="22"/>
              <a:ext cx="515" cy="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algn="ctr">
                <a:spcBef>
                  <a:spcPts val="738"/>
                </a:spcBef>
              </a:pPr>
              <a:r>
                <a:rPr lang="en-US" sz="3200">
                  <a:latin typeface="Arial" charset="0"/>
                  <a:cs typeface="Arial" charset="0"/>
                  <a:sym typeface="Arial" charset="0"/>
                </a:rPr>
                <a:t>13</a:t>
              </a:r>
            </a:p>
          </p:txBody>
        </p:sp>
      </p:grpSp>
      <p:sp>
        <p:nvSpPr>
          <p:cNvPr id="87052" name="Slide Number Placeholder 1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3E38823-9546-4B4D-9913-7C05BAB8A3F9}" type="slidenum">
              <a:rPr lang="en-US"/>
              <a:pPr/>
              <a:t>14</a:t>
            </a:fld>
            <a:endParaRPr lang="en-US"/>
          </a:p>
        </p:txBody>
      </p:sp>
      <p:sp>
        <p:nvSpPr>
          <p:cNvPr id="87053" name="Footer Placeholder 1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806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806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806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88070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71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Math: Increment and Decrement Operators</a:t>
            </a:r>
          </a:p>
        </p:txBody>
      </p:sp>
      <p:sp>
        <p:nvSpPr>
          <p:cNvPr id="88072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49325" y="1981200"/>
            <a:ext cx="3754438" cy="4876800"/>
          </a:xfrm>
        </p:spPr>
        <p:txBody>
          <a:bodyPr rIns="132080"/>
          <a:lstStyle/>
          <a:p>
            <a:r>
              <a:rPr lang="en-US" sz="2400">
                <a:latin typeface="Arial" charset="0"/>
              </a:rPr>
              <a:t>Example 1:</a:t>
            </a:r>
          </a:p>
          <a:p>
            <a:pPr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x, y, z, w;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y=10; w=2;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x=++y;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z=--w;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88073" name="Rectangle 8"/>
          <p:cNvSpPr>
            <a:spLocks/>
          </p:cNvSpPr>
          <p:nvPr/>
        </p:nvSpPr>
        <p:spPr bwMode="auto">
          <a:xfrm>
            <a:off x="4856163" y="1981200"/>
            <a:ext cx="3771900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487363" indent="-447675">
              <a:spcBef>
                <a:spcPts val="550"/>
              </a:spcBef>
              <a:buClr>
                <a:srgbClr val="CC9900"/>
              </a:buClr>
              <a:buSzPct val="69000"/>
              <a:buFont typeface="Wingdings" charset="0"/>
              <a:buChar char="n"/>
            </a:pPr>
            <a:r>
              <a:rPr lang="en-US" sz="2400">
                <a:latin typeface="Arial" charset="0"/>
                <a:cs typeface="Arial" charset="0"/>
                <a:sym typeface="Arial" charset="0"/>
              </a:rPr>
              <a:t>Example 2: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x, y, z, w;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y=10; w=2;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x=y++;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z=w--;</a:t>
            </a:r>
          </a:p>
        </p:txBody>
      </p:sp>
      <p:sp>
        <p:nvSpPr>
          <p:cNvPr id="88074" name="Footer Placeholder 1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88075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6D3EDD0-419C-B242-8124-EC03E0A3753C}" type="slidenum">
              <a:rPr lang="en-US"/>
              <a:pPr/>
              <a:t>15</a:t>
            </a:fld>
            <a:endParaRPr lang="en-US"/>
          </a:p>
        </p:txBody>
      </p:sp>
      <p:sp>
        <p:nvSpPr>
          <p:cNvPr id="88076" name="Rectangle 11"/>
          <p:cNvSpPr>
            <a:spLocks noChangeArrowheads="1"/>
          </p:cNvSpPr>
          <p:nvPr/>
        </p:nvSpPr>
        <p:spPr bwMode="auto">
          <a:xfrm>
            <a:off x="7010400" y="2895600"/>
            <a:ext cx="1752600" cy="175260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sz="2000">
                <a:latin typeface="Arial" charset="0"/>
              </a:rPr>
              <a:t>What are </a:t>
            </a:r>
            <a:r>
              <a:rPr lang="en-US" sz="2000" b="1">
                <a:solidFill>
                  <a:srgbClr val="0000FF"/>
                </a:solidFill>
                <a:latin typeface="Courier New" charset="0"/>
                <a:cs typeface="Courier New" charset="0"/>
              </a:rPr>
              <a:t>x</a:t>
            </a:r>
            <a:r>
              <a:rPr lang="en-US" sz="2000">
                <a:latin typeface="Arial" charset="0"/>
              </a:rPr>
              <a:t> and </a:t>
            </a:r>
            <a:r>
              <a:rPr lang="en-US" sz="2000" b="1">
                <a:solidFill>
                  <a:srgbClr val="0000FF"/>
                </a:solidFill>
                <a:latin typeface="Courier New" charset="0"/>
                <a:cs typeface="Courier New" charset="0"/>
              </a:rPr>
              <a:t>y</a:t>
            </a:r>
            <a:r>
              <a:rPr lang="en-US" sz="2000">
                <a:latin typeface="Arial" charset="0"/>
              </a:rPr>
              <a:t> at the end of each example?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9091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9092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9093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89094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5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Math: Increment and Decrement Operators</a:t>
            </a:r>
          </a:p>
        </p:txBody>
      </p:sp>
      <p:sp>
        <p:nvSpPr>
          <p:cNvPr id="89096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49325" y="1981200"/>
            <a:ext cx="3754438" cy="4876800"/>
          </a:xfrm>
        </p:spPr>
        <p:txBody>
          <a:bodyPr rIns="132080"/>
          <a:lstStyle/>
          <a:p>
            <a:r>
              <a:rPr lang="en-US" sz="2400">
                <a:latin typeface="Arial" charset="0"/>
              </a:rPr>
              <a:t>Example 1:</a:t>
            </a:r>
          </a:p>
          <a:p>
            <a:pPr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x, y, z, w;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y=10; w=2;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x=++y;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z=--w;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240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r>
              <a:rPr lang="en-US" sz="2400">
                <a:latin typeface="Arial" charset="0"/>
              </a:rPr>
              <a:t>First increment/ decrement, then assign result</a:t>
            </a:r>
          </a:p>
          <a:p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</a:t>
            </a:r>
            <a:r>
              <a:rPr lang="en-US" sz="2400">
                <a:latin typeface="Arial" charset="0"/>
              </a:rPr>
              <a:t> is 11,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z</a:t>
            </a:r>
            <a:r>
              <a:rPr lang="en-US" sz="2400">
                <a:latin typeface="Arial" charset="0"/>
              </a:rPr>
              <a:t> is 1</a:t>
            </a:r>
          </a:p>
        </p:txBody>
      </p:sp>
      <p:sp>
        <p:nvSpPr>
          <p:cNvPr id="89097" name="Rectangle 8"/>
          <p:cNvSpPr>
            <a:spLocks/>
          </p:cNvSpPr>
          <p:nvPr/>
        </p:nvSpPr>
        <p:spPr bwMode="auto">
          <a:xfrm>
            <a:off x="4856163" y="1981200"/>
            <a:ext cx="3771900" cy="410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487363" indent="-447675">
              <a:spcBef>
                <a:spcPts val="550"/>
              </a:spcBef>
              <a:buClr>
                <a:srgbClr val="CC9900"/>
              </a:buClr>
              <a:buSzPct val="69000"/>
              <a:buFont typeface="Wingdings" charset="0"/>
              <a:buChar char="n"/>
            </a:pPr>
            <a:r>
              <a:rPr lang="en-US" sz="2400">
                <a:latin typeface="Arial" charset="0"/>
                <a:cs typeface="Arial" charset="0"/>
                <a:sym typeface="Arial" charset="0"/>
              </a:rPr>
              <a:t>Example 2: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x, y, z, w;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y=10; w=2;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x=y++;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z=w--;</a:t>
            </a:r>
          </a:p>
          <a:p>
            <a:pPr marL="487363" indent="-447675">
              <a:spcBef>
                <a:spcPts val="538"/>
              </a:spcBef>
            </a:pPr>
            <a:endParaRPr lang="en-US" sz="2400">
              <a:latin typeface="Courier New Bold" charset="0"/>
              <a:cs typeface="Courier New Bold" charset="0"/>
              <a:sym typeface="Courier New Bold" charset="0"/>
            </a:endParaRPr>
          </a:p>
          <a:p>
            <a:pPr marL="487363" indent="-447675">
              <a:spcBef>
                <a:spcPts val="550"/>
              </a:spcBef>
              <a:buClr>
                <a:srgbClr val="CC9900"/>
              </a:buClr>
              <a:buSzPct val="69000"/>
              <a:buFont typeface="Wingdings" charset="0"/>
              <a:buChar char="n"/>
            </a:pPr>
            <a:r>
              <a:rPr lang="en-US" sz="2400">
                <a:latin typeface="Arial" charset="0"/>
                <a:cs typeface="Arial" charset="0"/>
                <a:sym typeface="Arial" charset="0"/>
              </a:rPr>
              <a:t>First assign result, then increment/ decrement</a:t>
            </a:r>
          </a:p>
          <a:p>
            <a:pPr marL="487363" indent="-447675">
              <a:spcBef>
                <a:spcPts val="538"/>
              </a:spcBef>
              <a:buClr>
                <a:srgbClr val="CC9900"/>
              </a:buClr>
              <a:buSzPct val="69000"/>
              <a:buFont typeface="Wingdings" charset="0"/>
              <a:buChar char="n"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</a:t>
            </a:r>
            <a:r>
              <a:rPr lang="en-US" sz="2400">
                <a:latin typeface="Arial" charset="0"/>
                <a:cs typeface="Arial" charset="0"/>
                <a:sym typeface="Arial" charset="0"/>
              </a:rPr>
              <a:t> is 10,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z</a:t>
            </a:r>
            <a:r>
              <a:rPr lang="en-US" sz="2400">
                <a:latin typeface="Arial" charset="0"/>
                <a:cs typeface="Arial" charset="0"/>
                <a:sym typeface="Arial" charset="0"/>
              </a:rPr>
              <a:t> is 2</a:t>
            </a:r>
          </a:p>
        </p:txBody>
      </p:sp>
      <p:sp>
        <p:nvSpPr>
          <p:cNvPr id="89098" name="Footer Placeholder 1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89099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9128ED2-80BC-824D-A0B2-766B054A44A6}" type="slidenum">
              <a:rPr lang="en-US"/>
              <a:pPr/>
              <a:t>16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011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011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011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90118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9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sz="3600">
                <a:latin typeface="Arial" charset="0"/>
              </a:rPr>
              <a:t>Math: Increment and Decrement Operators on Pointers</a:t>
            </a:r>
          </a:p>
        </p:txBody>
      </p:sp>
      <p:sp>
        <p:nvSpPr>
          <p:cNvPr id="7373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>
            <a:normAutofit lnSpcReduction="10000"/>
          </a:bodyPr>
          <a:lstStyle/>
          <a:p>
            <a:pPr marL="477838" indent="-319088">
              <a:spcBef>
                <a:spcPct val="0"/>
              </a:spcBef>
              <a:buFont typeface="Wingdings 2" pitchFamily="18" charset="2"/>
              <a:buChar char="¡"/>
              <a:defRPr/>
            </a:pPr>
            <a:r>
              <a:rPr lang="en-US" sz="2400">
                <a:ea typeface="+mn-ea"/>
              </a:rPr>
              <a:t>Example 1:</a:t>
            </a: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40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int a[2];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int number1, number2, *p;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a[0]=1; a[1]=10; 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p=a;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number1 = *p++;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number2 = *p;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 2" pitchFamily="18" charset="2"/>
              <a:buChar char="¡"/>
              <a:defRPr/>
            </a:pPr>
            <a:endParaRPr lang="en-US">
              <a:ea typeface="+mn-ea"/>
            </a:endParaRPr>
          </a:p>
          <a:p>
            <a:pPr marL="477838" indent="-319088">
              <a:spcBef>
                <a:spcPct val="0"/>
              </a:spcBef>
              <a:buFont typeface="Wingdings 2" pitchFamily="18" charset="2"/>
              <a:buChar char="¡"/>
              <a:defRPr/>
            </a:pPr>
            <a:endParaRPr lang="en-US">
              <a:ea typeface="+mn-ea"/>
            </a:endParaRPr>
          </a:p>
          <a:p>
            <a:pPr marL="477838" indent="-319088">
              <a:spcBef>
                <a:spcPct val="0"/>
              </a:spcBef>
              <a:buFont typeface="Wingdings 2" pitchFamily="18" charset="2"/>
              <a:buChar char="¡"/>
              <a:defRPr/>
            </a:pPr>
            <a:r>
              <a:rPr lang="en-US" sz="2400">
                <a:ea typeface="+mn-ea"/>
              </a:rPr>
              <a:t>What will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number1</a:t>
            </a:r>
            <a:r>
              <a:rPr lang="en-US" sz="2400">
                <a:ea typeface="+mn-ea"/>
              </a:rPr>
              <a:t> and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number2</a:t>
            </a:r>
            <a:r>
              <a:rPr lang="en-US" sz="2400">
                <a:ea typeface="+mn-ea"/>
              </a:rPr>
              <a:t> be at the end?</a:t>
            </a:r>
          </a:p>
        </p:txBody>
      </p:sp>
      <p:sp>
        <p:nvSpPr>
          <p:cNvPr id="90121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0122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B9D0624-F707-9446-B061-87DC7BCA30F1}" type="slidenum">
              <a:rPr lang="en-US"/>
              <a:pPr/>
              <a:t>17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113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114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114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91142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43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sz="3600">
                <a:latin typeface="Arial" charset="0"/>
              </a:rPr>
              <a:t>Math: Increment and Decrement Operators on Pointers</a:t>
            </a:r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>
            <a:normAutofit lnSpcReduction="10000"/>
          </a:bodyPr>
          <a:lstStyle/>
          <a:p>
            <a:pPr marL="477838" indent="-319088">
              <a:spcBef>
                <a:spcPct val="0"/>
              </a:spcBef>
              <a:buFont typeface="Wingdings 2" pitchFamily="18" charset="2"/>
              <a:buChar char="¡"/>
              <a:defRPr/>
            </a:pPr>
            <a:r>
              <a:rPr lang="en-US" sz="2400" dirty="0" smtClean="0">
                <a:ea typeface="+mn-ea"/>
              </a:rPr>
              <a:t>Example</a:t>
            </a:r>
            <a:endParaRPr lang="en-US" sz="2400" dirty="0">
              <a:ea typeface="+mn-ea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400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 dirty="0" err="1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int</a:t>
            </a:r>
            <a:r>
              <a:rPr lang="en-US" sz="24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 a[2];</a:t>
            </a:r>
            <a:endParaRPr lang="en-US" sz="24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 dirty="0" err="1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int</a:t>
            </a:r>
            <a:r>
              <a:rPr lang="en-US" sz="24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 number1, number2, *p;</a:t>
            </a:r>
            <a:endParaRPr lang="en-US" sz="24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a[0]=1; a[1]=10; </a:t>
            </a:r>
            <a:endParaRPr lang="en-US" sz="24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p=a;</a:t>
            </a:r>
            <a:endParaRPr lang="en-US" sz="24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number1 = *p++;</a:t>
            </a:r>
            <a:endParaRPr lang="en-US" sz="24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number2 = *p;</a:t>
            </a:r>
            <a:endParaRPr lang="en-US" sz="24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 2" pitchFamily="18" charset="2"/>
              <a:buChar char="¡"/>
              <a:defRPr/>
            </a:pPr>
            <a:endParaRPr lang="en-US" dirty="0">
              <a:ea typeface="+mn-ea"/>
            </a:endParaRPr>
          </a:p>
          <a:p>
            <a:pPr marL="477838" indent="-319088">
              <a:spcBef>
                <a:spcPct val="0"/>
              </a:spcBef>
              <a:buFont typeface="Wingdings 2" pitchFamily="18" charset="2"/>
              <a:buChar char="¡"/>
              <a:defRPr/>
            </a:pPr>
            <a:endParaRPr lang="en-US" dirty="0">
              <a:ea typeface="+mn-ea"/>
            </a:endParaRPr>
          </a:p>
          <a:p>
            <a:pPr marL="477838" indent="-319088">
              <a:spcBef>
                <a:spcPct val="0"/>
              </a:spcBef>
              <a:buFont typeface="Wingdings 2" pitchFamily="18" charset="2"/>
              <a:buChar char="¡"/>
              <a:defRPr/>
            </a:pPr>
            <a:r>
              <a:rPr lang="en-US" sz="2400" dirty="0">
                <a:ea typeface="+mn-ea"/>
              </a:rPr>
              <a:t>What will </a:t>
            </a:r>
            <a:r>
              <a:rPr lang="en-US" sz="24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number1</a:t>
            </a:r>
            <a:r>
              <a:rPr lang="en-US" sz="2400" dirty="0">
                <a:ea typeface="+mn-ea"/>
              </a:rPr>
              <a:t> and </a:t>
            </a:r>
            <a:r>
              <a:rPr lang="en-US" sz="24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number2</a:t>
            </a:r>
            <a:r>
              <a:rPr lang="en-US" sz="2400" dirty="0">
                <a:ea typeface="+mn-ea"/>
              </a:rPr>
              <a:t> be at the end?</a:t>
            </a:r>
          </a:p>
        </p:txBody>
      </p:sp>
      <p:sp>
        <p:nvSpPr>
          <p:cNvPr id="91145" name="Rectangle 10"/>
          <p:cNvSpPr>
            <a:spLocks/>
          </p:cNvSpPr>
          <p:nvPr/>
        </p:nvSpPr>
        <p:spPr bwMode="auto">
          <a:xfrm>
            <a:off x="5029200" y="4078288"/>
            <a:ext cx="39751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Hint: ++ increments pointer </a:t>
            </a:r>
            <a:r>
              <a:rPr lang="en-US">
                <a:solidFill>
                  <a:srgbClr val="0000FF"/>
                </a:solidFill>
                <a:latin typeface="Arial" charset="0"/>
                <a:cs typeface="Arial" charset="0"/>
                <a:sym typeface="Arial" charset="0"/>
              </a:rPr>
              <a:t>p </a:t>
            </a:r>
            <a:r>
              <a:rPr lang="en-US">
                <a:latin typeface="Arial" charset="0"/>
                <a:cs typeface="Arial" charset="0"/>
                <a:sym typeface="Arial" charset="0"/>
              </a:rPr>
              <a:t>not variable </a:t>
            </a:r>
            <a:r>
              <a:rPr lang="en-US">
                <a:solidFill>
                  <a:srgbClr val="0000FF"/>
                </a:solidFill>
                <a:latin typeface="Arial" charset="0"/>
                <a:cs typeface="Arial" charset="0"/>
                <a:sym typeface="Arial" charset="0"/>
              </a:rPr>
              <a:t>*p</a:t>
            </a:r>
            <a:r>
              <a:rPr lang="en-US">
                <a:latin typeface="Arial" charset="0"/>
                <a:cs typeface="Arial" charset="0"/>
                <a:sym typeface="Arial" charset="0"/>
              </a:rPr>
              <a:t> </a:t>
            </a:r>
          </a:p>
        </p:txBody>
      </p:sp>
      <p:sp>
        <p:nvSpPr>
          <p:cNvPr id="91146" name="Line 11"/>
          <p:cNvSpPr>
            <a:spLocks noChangeShapeType="1"/>
          </p:cNvSpPr>
          <p:nvPr/>
        </p:nvSpPr>
        <p:spPr bwMode="auto">
          <a:xfrm flipH="1">
            <a:off x="4038600" y="4230688"/>
            <a:ext cx="990600" cy="76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1147" name="Footer Placeholder 1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1148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D713768-191F-B149-BE8D-333D34844D70}" type="slidenum">
              <a:rPr lang="en-US"/>
              <a:pPr/>
              <a:t>18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216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216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216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92166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67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Logic: Relational (Condition) Operators</a:t>
            </a:r>
          </a:p>
        </p:txBody>
      </p:sp>
      <p:sp>
        <p:nvSpPr>
          <p:cNvPr id="92168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==</a:t>
            </a:r>
            <a:r>
              <a:rPr lang="en-US" sz="2800">
                <a:latin typeface="Arial" charset="0"/>
              </a:rPr>
              <a:t> 		equal to </a:t>
            </a: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!=</a:t>
            </a:r>
            <a:r>
              <a:rPr lang="en-US" sz="2800">
                <a:latin typeface="Arial" charset="0"/>
              </a:rPr>
              <a:t> 			not equal to </a:t>
            </a: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&gt;</a:t>
            </a:r>
            <a:r>
              <a:rPr lang="en-US" sz="2800">
                <a:latin typeface="Arial" charset="0"/>
              </a:rPr>
              <a:t> 			greater than </a:t>
            </a: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&lt;</a:t>
            </a:r>
            <a:r>
              <a:rPr lang="en-US" sz="2800">
                <a:latin typeface="Arial" charset="0"/>
              </a:rPr>
              <a:t> 			less than </a:t>
            </a: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&gt;=</a:t>
            </a:r>
            <a:r>
              <a:rPr lang="en-US" sz="2800">
                <a:latin typeface="Arial" charset="0"/>
              </a:rPr>
              <a:t> 		greater than or equal to </a:t>
            </a: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&lt;=</a:t>
            </a:r>
            <a:r>
              <a:rPr lang="en-US" sz="2800">
                <a:latin typeface="Arial" charset="0"/>
              </a:rPr>
              <a:t> 		less than or equal to </a:t>
            </a:r>
          </a:p>
        </p:txBody>
      </p:sp>
      <p:sp>
        <p:nvSpPr>
          <p:cNvPr id="92169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2170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D3B53B3-53C8-0846-B3B2-29368F46DAA5}" type="slidenum">
              <a:rPr lang="en-US"/>
              <a:pPr/>
              <a:t>19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318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318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318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93190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191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Logic Example</a:t>
            </a:r>
          </a:p>
        </p:txBody>
      </p:sp>
      <p:sp>
        <p:nvSpPr>
          <p:cNvPr id="9319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if (a == b) 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 (</a:t>
            </a:r>
            <a:r>
              <a:rPr lang="ja-JP" alt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Equal.</a:t>
            </a:r>
            <a:r>
              <a:rPr lang="ja-JP" alt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”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);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else 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 (</a:t>
            </a:r>
            <a:r>
              <a:rPr lang="ja-JP" alt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Not Equal.</a:t>
            </a:r>
            <a:r>
              <a:rPr lang="ja-JP" alt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”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); 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endParaRPr lang="en-US" sz="2000">
              <a:latin typeface="Arial" charset="0"/>
            </a:endParaRPr>
          </a:p>
          <a:p>
            <a:r>
              <a:rPr lang="en-US" sz="2000">
                <a:latin typeface="Arial" charset="0"/>
              </a:rPr>
              <a:t>Question: what will happen if I replaced the above with:</a:t>
            </a: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if (a = b) 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 (</a:t>
            </a:r>
            <a:r>
              <a:rPr lang="ja-JP" alt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Equal.</a:t>
            </a:r>
            <a:r>
              <a:rPr lang="ja-JP" alt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”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);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else 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 (</a:t>
            </a:r>
            <a:r>
              <a:rPr lang="ja-JP" alt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Not Equal.</a:t>
            </a:r>
            <a:r>
              <a:rPr lang="ja-JP" alt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”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); 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76810" name="Rectangle 10"/>
          <p:cNvSpPr>
            <a:spLocks/>
          </p:cNvSpPr>
          <p:nvPr/>
        </p:nvSpPr>
        <p:spPr bwMode="auto">
          <a:xfrm>
            <a:off x="4876800" y="4343400"/>
            <a:ext cx="3975100" cy="16002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000">
                <a:latin typeface="Arial" charset="0"/>
                <a:cs typeface="Arial" charset="0"/>
                <a:sym typeface="Arial" charset="0"/>
              </a:rPr>
              <a:t>Perfectly LEGAL C statement! (syntactically speaking) </a:t>
            </a:r>
          </a:p>
          <a:p>
            <a:pPr marL="39688"/>
            <a:r>
              <a:rPr lang="en-US" sz="2000">
                <a:latin typeface="Arial" charset="0"/>
                <a:cs typeface="Arial" charset="0"/>
                <a:sym typeface="Arial" charset="0"/>
              </a:rPr>
              <a:t>It copies the value in 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b</a:t>
            </a:r>
            <a:r>
              <a:rPr lang="en-US" sz="2000">
                <a:latin typeface="Arial" charset="0"/>
                <a:cs typeface="Arial" charset="0"/>
                <a:sym typeface="Arial" charset="0"/>
              </a:rPr>
              <a:t> into 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a</a:t>
            </a:r>
            <a:r>
              <a:rPr lang="en-US" sz="2000">
                <a:latin typeface="Arial" charset="0"/>
                <a:cs typeface="Arial" charset="0"/>
                <a:sym typeface="Arial" charset="0"/>
              </a:rPr>
              <a:t>. The statement will be interpreted as 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TRUE</a:t>
            </a:r>
            <a:r>
              <a:rPr lang="en-US" sz="2000">
                <a:latin typeface="Arial" charset="0"/>
                <a:cs typeface="Arial" charset="0"/>
                <a:sym typeface="Arial" charset="0"/>
              </a:rPr>
              <a:t> if 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b</a:t>
            </a:r>
            <a:r>
              <a:rPr lang="en-US" sz="2000">
                <a:latin typeface="Arial" charset="0"/>
                <a:cs typeface="Arial" charset="0"/>
                <a:sym typeface="Arial" charset="0"/>
              </a:rPr>
              <a:t> is non-zero. </a:t>
            </a:r>
          </a:p>
        </p:txBody>
      </p:sp>
      <p:sp>
        <p:nvSpPr>
          <p:cNvPr id="93194" name="Footer Placeholder 1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3195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3CCEA64-4A59-A54A-B1B8-7565FD89B11F}" type="slidenum">
              <a:rPr lang="en-US"/>
              <a:pPr/>
              <a:t>20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10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210" name="Group 1"/>
          <p:cNvGrpSpPr>
            <a:grpSpLocks/>
          </p:cNvGrpSpPr>
          <p:nvPr/>
        </p:nvGrpSpPr>
        <p:grpSpPr bwMode="auto">
          <a:xfrm>
            <a:off x="0" y="914400"/>
            <a:ext cx="8686800" cy="2514600"/>
            <a:chOff x="0" y="0"/>
            <a:chExt cx="5472" cy="1584"/>
          </a:xfrm>
        </p:grpSpPr>
        <p:sp>
          <p:nvSpPr>
            <p:cNvPr id="94215" name="Oval 2"/>
            <p:cNvSpPr>
              <a:spLocks/>
            </p:cNvSpPr>
            <p:nvPr/>
          </p:nvSpPr>
          <p:spPr bwMode="auto">
            <a:xfrm>
              <a:off x="144" y="0"/>
              <a:ext cx="1584" cy="1584"/>
            </a:xfrm>
            <a:prstGeom prst="ellipse">
              <a:avLst/>
            </a:prstGeom>
            <a:noFill/>
            <a:ln w="12700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4216" name="Rectangle 3"/>
            <p:cNvSpPr>
              <a:spLocks/>
            </p:cNvSpPr>
            <p:nvPr/>
          </p:nvSpPr>
          <p:spPr bwMode="auto">
            <a:xfrm>
              <a:off x="0" y="480"/>
              <a:ext cx="2976" cy="720"/>
            </a:xfrm>
            <a:prstGeom prst="rect">
              <a:avLst/>
            </a:prstGeom>
            <a:solidFill>
              <a:srgbClr val="CC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4217" name="Rectangle 4"/>
            <p:cNvSpPr>
              <a:spLocks/>
            </p:cNvSpPr>
            <p:nvPr/>
          </p:nvSpPr>
          <p:spPr bwMode="auto">
            <a:xfrm>
              <a:off x="2496" y="480"/>
              <a:ext cx="2976" cy="720"/>
            </a:xfrm>
            <a:prstGeom prst="rect">
              <a:avLst/>
            </a:prstGeom>
            <a:gradFill rotWithShape="0">
              <a:gsLst>
                <a:gs pos="0">
                  <a:srgbClr val="CCCC99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4218" name="Freeform 5"/>
            <p:cNvSpPr>
              <a:spLocks/>
            </p:cNvSpPr>
            <p:nvPr/>
          </p:nvSpPr>
          <p:spPr bwMode="auto">
            <a:xfrm>
              <a:off x="384" y="384"/>
              <a:ext cx="144" cy="9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</a:path>
              </a:pathLst>
            </a:custGeom>
            <a:noFill/>
            <a:ln w="762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4219" name="Freeform 6"/>
            <p:cNvSpPr>
              <a:spLocks/>
            </p:cNvSpPr>
            <p:nvPr/>
          </p:nvSpPr>
          <p:spPr bwMode="auto">
            <a:xfrm>
              <a:off x="4944" y="186"/>
              <a:ext cx="165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</a:path>
              </a:pathLst>
            </a:custGeom>
            <a:noFill/>
            <a:ln w="76200">
              <a:solidFill>
                <a:srgbClr val="CC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94211" name="Rectangle 7"/>
          <p:cNvSpPr>
            <a:spLocks noGrp="1" noChangeArrowheads="1"/>
          </p:cNvSpPr>
          <p:nvPr>
            <p:ph type="subTitle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endParaRPr lang="en-US">
              <a:latin typeface="Arial" charset="0"/>
            </a:endParaRPr>
          </a:p>
        </p:txBody>
      </p:sp>
      <p:sp>
        <p:nvSpPr>
          <p:cNvPr id="94212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Review</a:t>
            </a:r>
          </a:p>
        </p:txBody>
      </p:sp>
      <p:sp>
        <p:nvSpPr>
          <p:cNvPr id="94213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4214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01A4E18-8AFB-3D4B-BE7E-459BBBDFD395}" type="slidenum">
              <a:rPr lang="en-US"/>
              <a:pPr/>
              <a:t>21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523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523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523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95238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9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Review</a:t>
            </a:r>
          </a:p>
        </p:txBody>
      </p:sp>
      <p:sp>
        <p:nvSpPr>
          <p:cNvPr id="9524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p1; </a:t>
            </a:r>
            <a:r>
              <a:rPr lang="en-US">
                <a:latin typeface="Arial" charset="0"/>
              </a:rPr>
              <a:t/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What does </a:t>
            </a: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&amp;p1 </a:t>
            </a:r>
            <a:r>
              <a:rPr lang="en-US">
                <a:latin typeface="Arial" charset="0"/>
              </a:rPr>
              <a:t>mean?</a:t>
            </a:r>
          </a:p>
        </p:txBody>
      </p:sp>
      <p:sp>
        <p:nvSpPr>
          <p:cNvPr id="95241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F244526-D3D6-5844-B76C-E8590A470140}" type="slidenum">
              <a:rPr lang="en-US"/>
              <a:pPr/>
              <a:t>22</a:t>
            </a:fld>
            <a:endParaRPr lang="en-US"/>
          </a:p>
        </p:txBody>
      </p:sp>
      <p:sp>
        <p:nvSpPr>
          <p:cNvPr id="95242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625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626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626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96262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63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Review</a:t>
            </a:r>
          </a:p>
        </p:txBody>
      </p:sp>
      <p:sp>
        <p:nvSpPr>
          <p:cNvPr id="96264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 sz="2800">
                <a:latin typeface="Arial" charset="0"/>
              </a:rPr>
              <a:t>How much is 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</a:t>
            </a:r>
            <a:r>
              <a:rPr lang="en-US" sz="2800">
                <a:latin typeface="Arial" charset="0"/>
              </a:rPr>
              <a:t> at the end?</a:t>
            </a:r>
          </a:p>
          <a:p>
            <a:endParaRPr lang="en-US" sz="2800">
              <a:latin typeface="Arial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y, x, *p;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 = 20;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*p = 10; 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 = x + *p;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96265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2B5A4AA-E8BA-514D-A375-3AF0855ED7A1}" type="slidenum">
              <a:rPr lang="en-US"/>
              <a:pPr/>
              <a:t>23</a:t>
            </a:fld>
            <a:endParaRPr lang="en-US"/>
          </a:p>
        </p:txBody>
      </p:sp>
      <p:sp>
        <p:nvSpPr>
          <p:cNvPr id="96266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728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728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728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97286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7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Review</a:t>
            </a:r>
          </a:p>
        </p:txBody>
      </p:sp>
      <p:sp>
        <p:nvSpPr>
          <p:cNvPr id="97288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 sz="2800">
                <a:latin typeface="Arial" charset="0"/>
              </a:rPr>
              <a:t>How much is 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</a:t>
            </a:r>
            <a:r>
              <a:rPr lang="en-US" sz="2800">
                <a:latin typeface="Arial" charset="0"/>
              </a:rPr>
              <a:t> at the end?</a:t>
            </a:r>
          </a:p>
          <a:p>
            <a:endParaRPr lang="en-US" sz="2800">
              <a:latin typeface="Arial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y, x, *p;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 = 20;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*p = 10; 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 = x + *p;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97289" name="Line 10"/>
          <p:cNvSpPr>
            <a:spLocks noChangeShapeType="1"/>
          </p:cNvSpPr>
          <p:nvPr/>
        </p:nvSpPr>
        <p:spPr bwMode="auto">
          <a:xfrm flipH="1">
            <a:off x="2921000" y="3886200"/>
            <a:ext cx="1422400" cy="711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0907" name="Rectangle 11"/>
          <p:cNvSpPr>
            <a:spLocks/>
          </p:cNvSpPr>
          <p:nvPr/>
        </p:nvSpPr>
        <p:spPr bwMode="auto">
          <a:xfrm>
            <a:off x="4343400" y="3613150"/>
            <a:ext cx="4813300" cy="2578100"/>
          </a:xfrm>
          <a:prstGeom prst="rect">
            <a:avLst/>
          </a:prstGeom>
          <a:noFill/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40639" bIns="0"/>
          <a:lstStyle/>
          <a:p>
            <a:pPr marL="39688">
              <a:defRPr/>
            </a:pPr>
            <a:r>
              <a:rPr lang="en-US" sz="2400" dirty="0">
                <a:latin typeface="+mn-lt"/>
                <a:ea typeface="+mn-ea"/>
                <a:cs typeface="Arial Bold" charset="0"/>
                <a:sym typeface="Arial Bold" charset="0"/>
              </a:rPr>
              <a:t>BAD!! </a:t>
            </a:r>
          </a:p>
          <a:p>
            <a:pPr marL="39688">
              <a:defRPr/>
            </a:pPr>
            <a:r>
              <a:rPr lang="en-US" sz="2400" dirty="0">
                <a:latin typeface="+mn-lt"/>
                <a:ea typeface="+mn-ea"/>
                <a:cs typeface="Arial Bold" charset="0"/>
                <a:sym typeface="Arial Bold" charset="0"/>
              </a:rPr>
              <a:t>Dereferencing an uninitialized pointer will likely </a:t>
            </a:r>
            <a:r>
              <a:rPr lang="en-US" sz="2400" dirty="0" err="1">
                <a:latin typeface="+mn-lt"/>
                <a:ea typeface="+mn-ea"/>
                <a:cs typeface="Arial Bold" charset="0"/>
                <a:sym typeface="Arial Bold" charset="0"/>
              </a:rPr>
              <a:t>segfault</a:t>
            </a:r>
            <a:r>
              <a:rPr lang="en-US" sz="2400" dirty="0">
                <a:latin typeface="+mn-lt"/>
                <a:ea typeface="+mn-ea"/>
                <a:cs typeface="Arial Bold" charset="0"/>
                <a:sym typeface="Arial Bold" charset="0"/>
              </a:rPr>
              <a:t> or overwrite something!</a:t>
            </a:r>
          </a:p>
          <a:p>
            <a:pPr marL="39688">
              <a:defRPr/>
            </a:pPr>
            <a:endParaRPr lang="en-US" sz="2400" dirty="0">
              <a:latin typeface="+mn-lt"/>
              <a:ea typeface="+mn-ea"/>
              <a:cs typeface="Arial Bold" charset="0"/>
              <a:sym typeface="Arial Bold" charset="0"/>
            </a:endParaRPr>
          </a:p>
          <a:p>
            <a:pPr marL="39688">
              <a:defRPr/>
            </a:pPr>
            <a:r>
              <a:rPr lang="en-US" sz="2400" dirty="0" err="1">
                <a:latin typeface="+mn-lt"/>
                <a:ea typeface="+mn-ea"/>
                <a:cs typeface="Arial Bold" charset="0"/>
                <a:sym typeface="Arial Bold" charset="0"/>
              </a:rPr>
              <a:t>Segfault</a:t>
            </a:r>
            <a:r>
              <a:rPr lang="en-US" sz="2400" dirty="0">
                <a:latin typeface="+mn-lt"/>
                <a:ea typeface="+mn-ea"/>
                <a:cs typeface="Arial Bold" charset="0"/>
                <a:sym typeface="Arial Bold" charset="0"/>
              </a:rPr>
              <a:t> = unauthorized memory access</a:t>
            </a:r>
          </a:p>
        </p:txBody>
      </p:sp>
      <p:sp>
        <p:nvSpPr>
          <p:cNvPr id="97291" name="Footer Placeholder 1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7292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ABE0049-B17F-664D-90CE-5BE7B312AEF4}" type="slidenum">
              <a:rPr lang="en-US"/>
              <a:pPr/>
              <a:t>24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830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830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830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98310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311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Review</a:t>
            </a:r>
          </a:p>
        </p:txBody>
      </p:sp>
      <p:sp>
        <p:nvSpPr>
          <p:cNvPr id="9831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What are the differences between </a:t>
            </a: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 </a:t>
            </a:r>
            <a:r>
              <a:rPr lang="en-US">
                <a:latin typeface="Arial" charset="0"/>
              </a:rPr>
              <a:t>and </a:t>
            </a: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y?</a:t>
            </a:r>
            <a:r>
              <a:rPr lang="en-US">
                <a:latin typeface="Arial" charset="0"/>
              </a:rPr>
              <a:t/>
            </a:r>
            <a:br>
              <a:rPr lang="en-US">
                <a:latin typeface="Arial" charset="0"/>
              </a:rPr>
            </a:b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char* f() { </a:t>
            </a:r>
            <a: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/>
            </a:r>
            <a:b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</a:b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char *x;</a:t>
            </a:r>
            <a: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/>
            </a:r>
            <a:b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</a:b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static char*y;</a:t>
            </a:r>
            <a: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/>
            </a:r>
            <a:b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</a:b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return y;</a:t>
            </a:r>
            <a: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/>
            </a:r>
            <a:b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</a:b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98313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8314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B9EF8E0-2208-744B-A92C-B8EF8E86B0B4}" type="slidenum">
              <a:rPr lang="en-US"/>
              <a:pPr/>
              <a:t>25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9331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9332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9333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99334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5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Review: Debugging</a:t>
            </a:r>
          </a:p>
        </p:txBody>
      </p:sp>
      <p:sp>
        <p:nvSpPr>
          <p:cNvPr id="99336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if(strcmp("a","a"))</a:t>
            </a:r>
            <a: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/>
            </a:r>
            <a:b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</a:b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printf("same!");</a:t>
            </a:r>
            <a: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/>
            </a:r>
            <a:b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</a:b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99337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9338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26EE6A9-6C68-7F42-82AC-7499C5D0C386}" type="slidenum">
              <a:rPr lang="en-US"/>
              <a:pPr/>
              <a:t>26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035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035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035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100358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59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Review: Debugging</a:t>
            </a:r>
          </a:p>
        </p:txBody>
      </p:sp>
      <p:sp>
        <p:nvSpPr>
          <p:cNvPr id="10036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i = 4;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*iptr;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iptr = &amp;i;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*iptr = 5;//now i=5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100361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00362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97040F4-2621-D649-856F-96DD1548D36A}" type="slidenum">
              <a:rPr lang="en-US"/>
              <a:pPr/>
              <a:t>27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137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138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138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101382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3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Review: Debugging</a:t>
            </a:r>
          </a:p>
        </p:txBody>
      </p:sp>
      <p:sp>
        <p:nvSpPr>
          <p:cNvPr id="101384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*p;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p=(char*)malloc(99);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strcpy("Hello",p);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printf("%s World",p);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free(p);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101385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01386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9441089-EF26-E243-A6C2-6DFB23D0C4F3}" type="slidenum">
              <a:rPr lang="en-US"/>
              <a:pPr/>
              <a:t>28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240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240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240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102406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07" name="Rectangle 6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Review: Debugging</a:t>
            </a:r>
          </a:p>
        </p:txBody>
      </p:sp>
      <p:sp>
        <p:nvSpPr>
          <p:cNvPr id="102408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msg[5];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strcpy (msg,"Hello");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102409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02410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E1A54E8-BEDA-084C-AF68-A928AE4081BC}" type="slidenum">
              <a:rPr lang="en-US"/>
              <a:pPr/>
              <a:t>29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342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342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342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3430" name="Rectangle 6"/>
          <p:cNvSpPr>
            <a:spLocks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aphicFrame>
        <p:nvGraphicFramePr>
          <p:cNvPr id="87048" name="Group 8"/>
          <p:cNvGraphicFramePr>
            <a:graphicFrameLocks noGrp="1"/>
          </p:cNvGraphicFramePr>
          <p:nvPr/>
        </p:nvGraphicFramePr>
        <p:xfrm>
          <a:off x="457200" y="76200"/>
          <a:ext cx="8229600" cy="6681471"/>
        </p:xfrm>
        <a:graphic>
          <a:graphicData uri="http://schemas.openxmlformats.org/drawingml/2006/table">
            <a:tbl>
              <a:tblPr/>
              <a:tblGrid>
                <a:gridCol w="1731963"/>
                <a:gridCol w="5270500"/>
                <a:gridCol w="1227137"/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old" charset="0"/>
                          <a:ea typeface="ＭＳ Ｐゴシック" charset="0"/>
                          <a:cs typeface="Arial Bold" charset="0"/>
                          <a:sym typeface="Arial Bold" charset="0"/>
                        </a:rPr>
                        <a:t>Operator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old" charset="0"/>
                          <a:ea typeface="ＭＳ Ｐゴシック" charset="0"/>
                          <a:cs typeface="Arial Bold" charset="0"/>
                          <a:sym typeface="Arial Bold" charset="0"/>
                        </a:rPr>
                        <a:t>Description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old" charset="0"/>
                          <a:ea typeface="ＭＳ Ｐゴシック" charset="0"/>
                          <a:cs typeface="Arial Bold" charset="0"/>
                          <a:sym typeface="Arial Bold" charset="0"/>
                        </a:rPr>
                        <a:t>Associativity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38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()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[]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.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-&gt;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++  --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Parentheses (function call) 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Brackets (array subscript)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Member selection via object name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Member selection via pointer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Postfix increment/decrement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</a:tr>
              <a:tr h="1296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++  --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+  -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!  ~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(type)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*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&amp;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sizeof  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Prefix increment/decrement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Unary plus/minus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Logical negation/bitwise complement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Cast (change type)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Dereference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Address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Determine size in bytes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right-to-left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*  /  %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Multiplication/division/modulus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</a:tr>
              <a:tr h="217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+  -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Addition/subtraction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&lt;&lt;  &gt;&gt;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Bitwise shift left, Bitwise shift right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</a:tr>
              <a:tr h="430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&lt;  &lt;=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&gt;  &gt;=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Relational less than/less than or equal to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Relational greater than/greater than or equal to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==  !=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Relational is equal to/is not equal to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&amp;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Bitwise AND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^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Bitwise exclusive OR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|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Bitwise inclusive OR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&amp;&amp;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Logical AND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||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Logical OR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?: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Ternary conditional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right-to-left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</a:tr>
              <a:tr h="1150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=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+=  -=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*=  /=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%=  &amp;=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^=  |=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&lt;&lt;=  &gt;&gt;=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Assignment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Addition/subtraction assignment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Multiplication/division assignment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Modulus/bitwise AND assignment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Bitwise exclusive/inclusive OR assignment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Bitwise shift left/right assignment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right-to-left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,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Comma (separate expressions)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1"/>
          <p:cNvGrpSpPr>
            <a:grpSpLocks/>
          </p:cNvGrpSpPr>
          <p:nvPr/>
        </p:nvGrpSpPr>
        <p:grpSpPr bwMode="auto">
          <a:xfrm>
            <a:off x="0" y="914400"/>
            <a:ext cx="8686800" cy="2514600"/>
            <a:chOff x="0" y="0"/>
            <a:chExt cx="5472" cy="1584"/>
          </a:xfrm>
        </p:grpSpPr>
        <p:sp>
          <p:nvSpPr>
            <p:cNvPr id="3079" name="Oval 2"/>
            <p:cNvSpPr>
              <a:spLocks/>
            </p:cNvSpPr>
            <p:nvPr/>
          </p:nvSpPr>
          <p:spPr bwMode="auto">
            <a:xfrm>
              <a:off x="144" y="0"/>
              <a:ext cx="1584" cy="1584"/>
            </a:xfrm>
            <a:prstGeom prst="ellipse">
              <a:avLst/>
            </a:prstGeom>
            <a:noFill/>
            <a:ln w="12700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080" name="Rectangle 3"/>
            <p:cNvSpPr>
              <a:spLocks/>
            </p:cNvSpPr>
            <p:nvPr/>
          </p:nvSpPr>
          <p:spPr bwMode="auto">
            <a:xfrm>
              <a:off x="0" y="480"/>
              <a:ext cx="2976" cy="720"/>
            </a:xfrm>
            <a:prstGeom prst="rect">
              <a:avLst/>
            </a:prstGeom>
            <a:solidFill>
              <a:srgbClr val="CC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081" name="Rectangle 4"/>
            <p:cNvSpPr>
              <a:spLocks/>
            </p:cNvSpPr>
            <p:nvPr/>
          </p:nvSpPr>
          <p:spPr bwMode="auto">
            <a:xfrm>
              <a:off x="2496" y="480"/>
              <a:ext cx="2976" cy="720"/>
            </a:xfrm>
            <a:prstGeom prst="rect">
              <a:avLst/>
            </a:prstGeom>
            <a:gradFill rotWithShape="0">
              <a:gsLst>
                <a:gs pos="0">
                  <a:srgbClr val="CCCC99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082" name="Freeform 5"/>
            <p:cNvSpPr>
              <a:spLocks/>
            </p:cNvSpPr>
            <p:nvPr/>
          </p:nvSpPr>
          <p:spPr bwMode="auto">
            <a:xfrm>
              <a:off x="384" y="384"/>
              <a:ext cx="144" cy="9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</a:path>
              </a:pathLst>
            </a:custGeom>
            <a:noFill/>
            <a:ln w="762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083" name="Freeform 6"/>
            <p:cNvSpPr>
              <a:spLocks/>
            </p:cNvSpPr>
            <p:nvPr/>
          </p:nvSpPr>
          <p:spPr bwMode="auto">
            <a:xfrm>
              <a:off x="4944" y="186"/>
              <a:ext cx="165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</a:path>
              </a:pathLst>
            </a:custGeom>
            <a:noFill/>
            <a:ln w="76200">
              <a:solidFill>
                <a:srgbClr val="CC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3075" name="Rectangle 10"/>
          <p:cNvSpPr>
            <a:spLocks noGrp="1" noChangeArrowheads="1"/>
          </p:cNvSpPr>
          <p:nvPr>
            <p:ph type="subTitle" idx="1"/>
          </p:nvPr>
        </p:nvSpPr>
        <p:spPr/>
        <p:txBody>
          <a:bodyPr rIns="132080"/>
          <a:lstStyle/>
          <a:p>
            <a:pPr marL="39688">
              <a:buFont typeface="Wingdings" charset="0"/>
              <a:buNone/>
            </a:pPr>
            <a:r>
              <a:rPr lang="en-US">
                <a:latin typeface="Arial" charset="0"/>
              </a:rPr>
              <a:t>A practitioner's guide</a:t>
            </a:r>
          </a:p>
        </p:txBody>
      </p:sp>
      <p:sp>
        <p:nvSpPr>
          <p:cNvPr id="3076" name="Rectangle 9"/>
          <p:cNvSpPr>
            <a:spLocks noGrp="1" noChangeArrowheads="1"/>
          </p:cNvSpPr>
          <p:nvPr>
            <p:ph type="ctrTitle"/>
          </p:nvPr>
        </p:nvSpPr>
        <p:spPr/>
        <p:txBody>
          <a:bodyPr rIns="132080"/>
          <a:lstStyle/>
          <a:p>
            <a:r>
              <a:rPr lang="en-US" sz="6600">
                <a:latin typeface="Times New Roman Bold Italic" charset="0"/>
                <a:cs typeface="Times New Roman Bold Italic" charset="0"/>
                <a:sym typeface="Times New Roman Bold Italic" charset="0"/>
              </a:rPr>
              <a:t>C</a:t>
            </a:r>
            <a:r>
              <a:rPr lang="en-US">
                <a:latin typeface="Arial" charset="0"/>
              </a:rPr>
              <a:t>  </a:t>
            </a:r>
            <a:r>
              <a:rPr lang="en-US" sz="6000">
                <a:latin typeface="Arial" charset="0"/>
              </a:rPr>
              <a:t>No Evil</a:t>
            </a:r>
          </a:p>
        </p:txBody>
      </p:sp>
      <p:sp>
        <p:nvSpPr>
          <p:cNvPr id="3077" name="Slide Number Placeholder 1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4DF79C6-AD2B-C943-BA84-0BF3593845B7}" type="slidenum">
              <a:rPr lang="en-US"/>
              <a:pPr/>
              <a:t>31</a:t>
            </a:fld>
            <a:endParaRPr lang="en-US"/>
          </a:p>
        </p:txBody>
      </p:sp>
      <p:sp>
        <p:nvSpPr>
          <p:cNvPr id="3078" name="Footer Placeholder 1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253957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09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10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10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Playing with fire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Program arguments</a:t>
            </a:r>
          </a:p>
          <a:p>
            <a:r>
              <a:rPr lang="en-US" dirty="0" smtClean="0">
                <a:latin typeface="Arial" charset="0"/>
              </a:rPr>
              <a:t>Output</a:t>
            </a:r>
            <a:endParaRPr lang="en-US" dirty="0">
              <a:latin typeface="Arial" charset="0"/>
            </a:endParaRPr>
          </a:p>
          <a:p>
            <a:r>
              <a:rPr lang="en-US" dirty="0">
                <a:latin typeface="Arial" charset="0"/>
              </a:rPr>
              <a:t>Stack memory</a:t>
            </a:r>
          </a:p>
        </p:txBody>
      </p:sp>
      <p:sp>
        <p:nvSpPr>
          <p:cNvPr id="4104" name="Slide Number Placeholder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FB127F6-38B4-2F48-AB90-EF4DE8E943DE}" type="slidenum">
              <a:rPr lang="en-US"/>
              <a:pPr/>
              <a:t>32</a:t>
            </a:fld>
            <a:endParaRPr lang="en-US"/>
          </a:p>
        </p:txBody>
      </p:sp>
      <p:sp>
        <p:nvSpPr>
          <p:cNvPr id="4105" name="Footer Placeholder 10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179778698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ARGCount ARGValues</a:t>
            </a:r>
          </a:p>
        </p:txBody>
      </p:sp>
      <p:sp>
        <p:nvSpPr>
          <p:cNvPr id="5127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main(argc, char** argv)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main(argc, char* argv[])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argc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/>
            <a:r>
              <a:rPr lang="en-US" sz="2400">
                <a:latin typeface="Arial" charset="0"/>
              </a:rPr>
              <a:t>Argument count</a:t>
            </a:r>
          </a:p>
          <a:p>
            <a:pPr marL="928688" lvl="1"/>
            <a:r>
              <a:rPr lang="en-US" sz="2400">
                <a:latin typeface="Arial" charset="0"/>
              </a:rPr>
              <a:t>The number of arguments that are passed to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main</a:t>
            </a:r>
            <a:r>
              <a:rPr lang="en-US" sz="2400">
                <a:latin typeface="Arial" charset="0"/>
              </a:rPr>
              <a:t> in the argument vector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argv</a:t>
            </a:r>
            <a:r>
              <a:rPr lang="en-US" sz="2400">
                <a:latin typeface="Arial Bold" charset="0"/>
                <a:cs typeface="Arial Bold" charset="0"/>
                <a:sym typeface="Arial Bold" charset="0"/>
              </a:rPr>
              <a:t>.</a:t>
            </a:r>
            <a:r>
              <a:rPr lang="en-US" sz="2400">
                <a:latin typeface="Arial" charset="0"/>
              </a:rPr>
              <a:t> </a:t>
            </a:r>
          </a:p>
          <a:p>
            <a:pPr marL="928688" lvl="1"/>
            <a:r>
              <a:rPr lang="en-US" sz="2400">
                <a:latin typeface="Arial" charset="0"/>
              </a:rPr>
              <a:t>the value of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argc</a:t>
            </a:r>
            <a:r>
              <a:rPr lang="en-US" sz="2400">
                <a:latin typeface="Arial" charset="0"/>
              </a:rPr>
              <a:t> is always one greater than the number of command-line arguments that the user enters.</a:t>
            </a:r>
          </a:p>
        </p:txBody>
      </p:sp>
      <p:sp>
        <p:nvSpPr>
          <p:cNvPr id="5128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B9A4A2B-632E-254C-9A16-47F5941CA7BD}" type="slidenum">
              <a:rPr lang="en-US"/>
              <a:pPr/>
              <a:t>33</a:t>
            </a:fld>
            <a:endParaRPr lang="en-US"/>
          </a:p>
        </p:txBody>
      </p:sp>
      <p:sp>
        <p:nvSpPr>
          <p:cNvPr id="5129" name="Footer Placeholder 8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227543850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50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ARGCount ARGValues</a:t>
            </a:r>
          </a:p>
        </p:txBody>
      </p:sp>
      <p:sp>
        <p:nvSpPr>
          <p:cNvPr id="6151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main(argc, char** argv)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main(argc, char* argv[])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argv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/>
            <a:r>
              <a:rPr lang="en-US" sz="2400">
                <a:latin typeface="Arial" charset="0"/>
              </a:rPr>
              <a:t>argument vector</a:t>
            </a:r>
          </a:p>
          <a:p>
            <a:pPr marL="928688" lvl="1"/>
            <a:r>
              <a:rPr lang="en-US" sz="2400">
                <a:latin typeface="Arial" charset="0"/>
              </a:rPr>
              <a:t>An array of string pointers passed to a C program's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main</a:t>
            </a:r>
            <a:r>
              <a:rPr lang="en-US" sz="2400">
                <a:solidFill>
                  <a:srgbClr val="0000FF"/>
                </a:solidFill>
                <a:latin typeface="Arial" charset="0"/>
              </a:rPr>
              <a:t> </a:t>
            </a:r>
            <a:r>
              <a:rPr lang="en-US" sz="2400">
                <a:latin typeface="Arial" charset="0"/>
              </a:rPr>
              <a:t>function</a:t>
            </a:r>
          </a:p>
          <a:p>
            <a:pPr marL="928688" lvl="1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argv[0]</a:t>
            </a:r>
            <a:r>
              <a:rPr lang="en-US" sz="2400"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en-US" sz="2400">
                <a:latin typeface="Arial" charset="0"/>
              </a:rPr>
              <a:t>is always the name of the command</a:t>
            </a:r>
          </a:p>
          <a:p>
            <a:pPr marL="928688" lvl="1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argv[argc]</a:t>
            </a:r>
            <a:r>
              <a:rPr lang="en-US" sz="2400">
                <a:latin typeface="Arial" charset="0"/>
              </a:rPr>
              <a:t> is a null pointer</a:t>
            </a:r>
          </a:p>
        </p:txBody>
      </p:sp>
      <p:sp>
        <p:nvSpPr>
          <p:cNvPr id="6152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0602CB9-2A12-3344-A7C9-321B8AC8DB07}" type="slidenum">
              <a:rPr lang="en-US"/>
              <a:pPr/>
              <a:t>34</a:t>
            </a:fld>
            <a:endParaRPr lang="en-US"/>
          </a:p>
        </p:txBody>
      </p:sp>
      <p:sp>
        <p:nvSpPr>
          <p:cNvPr id="6153" name="Footer Placeholder 8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30901514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171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172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173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174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ARGCount ARGValues</a:t>
            </a:r>
          </a:p>
        </p:txBody>
      </p:sp>
      <p:sp>
        <p:nvSpPr>
          <p:cNvPr id="7175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4D84CC2-2972-584D-9082-17C520D3129B}" type="slidenum">
              <a:rPr lang="en-US"/>
              <a:pPr/>
              <a:t>35</a:t>
            </a:fld>
            <a:endParaRPr lang="en-US"/>
          </a:p>
        </p:txBody>
      </p:sp>
      <p:sp>
        <p:nvSpPr>
          <p:cNvPr id="7176" name="Footer Placeholder 8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1905000" y="2438400"/>
            <a:ext cx="1371600" cy="685800"/>
          </a:xfrm>
          <a:prstGeom prst="rect">
            <a:avLst/>
          </a:prstGeom>
          <a:solidFill>
            <a:srgbClr val="FF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endParaRPr lang="en-US">
              <a:latin typeface="Arial" charset="0"/>
            </a:endParaRPr>
          </a:p>
        </p:txBody>
      </p:sp>
      <p:sp>
        <p:nvSpPr>
          <p:cNvPr id="7178" name="Rectangle 10"/>
          <p:cNvSpPr>
            <a:spLocks noChangeArrowheads="1"/>
          </p:cNvSpPr>
          <p:nvPr/>
        </p:nvSpPr>
        <p:spPr bwMode="auto">
          <a:xfrm>
            <a:off x="1905000" y="3124200"/>
            <a:ext cx="1371600" cy="685800"/>
          </a:xfrm>
          <a:prstGeom prst="rect">
            <a:avLst/>
          </a:prstGeom>
          <a:solidFill>
            <a:srgbClr val="FF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endParaRPr lang="en-US">
              <a:latin typeface="Arial" charset="0"/>
            </a:endParaRPr>
          </a:p>
        </p:txBody>
      </p:sp>
      <p:sp>
        <p:nvSpPr>
          <p:cNvPr id="7179" name="Rectangle 11"/>
          <p:cNvSpPr>
            <a:spLocks noChangeArrowheads="1"/>
          </p:cNvSpPr>
          <p:nvPr/>
        </p:nvSpPr>
        <p:spPr bwMode="auto">
          <a:xfrm>
            <a:off x="1905000" y="3810000"/>
            <a:ext cx="1371600" cy="685800"/>
          </a:xfrm>
          <a:prstGeom prst="rect">
            <a:avLst/>
          </a:prstGeom>
          <a:solidFill>
            <a:srgbClr val="FF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endParaRPr lang="en-US">
              <a:latin typeface="Arial" charset="0"/>
            </a:endParaRPr>
          </a:p>
        </p:txBody>
      </p:sp>
      <p:sp>
        <p:nvSpPr>
          <p:cNvPr id="7180" name="Rectangle 12"/>
          <p:cNvSpPr>
            <a:spLocks noChangeArrowheads="1"/>
          </p:cNvSpPr>
          <p:nvPr/>
        </p:nvSpPr>
        <p:spPr bwMode="auto">
          <a:xfrm>
            <a:off x="1905000" y="4495800"/>
            <a:ext cx="1371600" cy="685800"/>
          </a:xfrm>
          <a:prstGeom prst="rect">
            <a:avLst/>
          </a:prstGeom>
          <a:solidFill>
            <a:srgbClr val="FF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endParaRPr lang="en-US">
              <a:latin typeface="Arial" charset="0"/>
            </a:endParaRPr>
          </a:p>
        </p:txBody>
      </p:sp>
      <p:sp>
        <p:nvSpPr>
          <p:cNvPr id="7181" name="Rectangle 13"/>
          <p:cNvSpPr>
            <a:spLocks noChangeArrowheads="1"/>
          </p:cNvSpPr>
          <p:nvPr/>
        </p:nvSpPr>
        <p:spPr bwMode="auto">
          <a:xfrm>
            <a:off x="1905000" y="5181600"/>
            <a:ext cx="1371600" cy="685800"/>
          </a:xfrm>
          <a:prstGeom prst="rect">
            <a:avLst/>
          </a:prstGeom>
          <a:solidFill>
            <a:srgbClr val="FF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sz="2400" b="1">
                <a:latin typeface="Courier New" charset="0"/>
                <a:cs typeface="Courier New" charset="0"/>
              </a:rPr>
              <a:t>NULL</a:t>
            </a:r>
            <a:endParaRPr lang="en-US" b="1">
              <a:latin typeface="Courier New" charset="0"/>
              <a:cs typeface="Courier New" charset="0"/>
            </a:endParaRPr>
          </a:p>
        </p:txBody>
      </p:sp>
      <p:sp>
        <p:nvSpPr>
          <p:cNvPr id="7182" name="TextBox 14"/>
          <p:cNvSpPr txBox="1">
            <a:spLocks noChangeArrowheads="1"/>
          </p:cNvSpPr>
          <p:nvPr/>
        </p:nvSpPr>
        <p:spPr bwMode="auto">
          <a:xfrm>
            <a:off x="1066800" y="2514600"/>
            <a:ext cx="828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800" b="1">
                <a:latin typeface="Courier New" charset="0"/>
                <a:ea typeface="Tahoma" charset="0"/>
                <a:cs typeface="Courier New" charset="0"/>
              </a:rPr>
              <a:t>[0]</a:t>
            </a:r>
            <a:endParaRPr lang="en-US" b="1">
              <a:latin typeface="Courier New" charset="0"/>
              <a:ea typeface="Tahoma" charset="0"/>
              <a:cs typeface="Courier New" charset="0"/>
            </a:endParaRPr>
          </a:p>
        </p:txBody>
      </p:sp>
      <p:sp>
        <p:nvSpPr>
          <p:cNvPr id="7183" name="TextBox 15"/>
          <p:cNvSpPr txBox="1">
            <a:spLocks noChangeArrowheads="1"/>
          </p:cNvSpPr>
          <p:nvPr/>
        </p:nvSpPr>
        <p:spPr bwMode="auto">
          <a:xfrm>
            <a:off x="1066800" y="3209925"/>
            <a:ext cx="828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800" b="1">
                <a:latin typeface="Courier New" charset="0"/>
                <a:ea typeface="Tahoma" charset="0"/>
                <a:cs typeface="Courier New" charset="0"/>
              </a:rPr>
              <a:t>[1]</a:t>
            </a:r>
            <a:endParaRPr lang="en-US" b="1">
              <a:latin typeface="Courier New" charset="0"/>
              <a:ea typeface="Tahoma" charset="0"/>
              <a:cs typeface="Courier New" charset="0"/>
            </a:endParaRPr>
          </a:p>
        </p:txBody>
      </p:sp>
      <p:sp>
        <p:nvSpPr>
          <p:cNvPr id="7184" name="TextBox 16"/>
          <p:cNvSpPr txBox="1">
            <a:spLocks noChangeArrowheads="1"/>
          </p:cNvSpPr>
          <p:nvPr/>
        </p:nvSpPr>
        <p:spPr bwMode="auto">
          <a:xfrm>
            <a:off x="1066800" y="3895725"/>
            <a:ext cx="828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800" b="1">
                <a:latin typeface="Courier New" charset="0"/>
                <a:ea typeface="Tahoma" charset="0"/>
                <a:cs typeface="Courier New" charset="0"/>
              </a:rPr>
              <a:t>[2]</a:t>
            </a:r>
            <a:endParaRPr lang="en-US" b="1">
              <a:latin typeface="Courier New" charset="0"/>
              <a:ea typeface="Tahoma" charset="0"/>
              <a:cs typeface="Courier New" charset="0"/>
            </a:endParaRPr>
          </a:p>
        </p:txBody>
      </p:sp>
      <p:sp>
        <p:nvSpPr>
          <p:cNvPr id="7185" name="TextBox 17"/>
          <p:cNvSpPr txBox="1">
            <a:spLocks noChangeArrowheads="1"/>
          </p:cNvSpPr>
          <p:nvPr/>
        </p:nvSpPr>
        <p:spPr bwMode="auto">
          <a:xfrm>
            <a:off x="1066800" y="4581525"/>
            <a:ext cx="828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800" b="1">
                <a:latin typeface="Courier New" charset="0"/>
                <a:ea typeface="Tahoma" charset="0"/>
                <a:cs typeface="Courier New" charset="0"/>
              </a:rPr>
              <a:t>[3]</a:t>
            </a:r>
            <a:endParaRPr lang="en-US" b="1">
              <a:latin typeface="Courier New" charset="0"/>
              <a:ea typeface="Tahoma" charset="0"/>
              <a:cs typeface="Courier New" charset="0"/>
            </a:endParaRPr>
          </a:p>
        </p:txBody>
      </p:sp>
      <p:sp>
        <p:nvSpPr>
          <p:cNvPr id="7186" name="TextBox 18"/>
          <p:cNvSpPr txBox="1">
            <a:spLocks noChangeArrowheads="1"/>
          </p:cNvSpPr>
          <p:nvPr/>
        </p:nvSpPr>
        <p:spPr bwMode="auto">
          <a:xfrm>
            <a:off x="1066800" y="5267325"/>
            <a:ext cx="828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800" b="1">
                <a:latin typeface="Courier New" charset="0"/>
                <a:ea typeface="Tahoma" charset="0"/>
                <a:cs typeface="Courier New" charset="0"/>
              </a:rPr>
              <a:t>[4]</a:t>
            </a:r>
            <a:endParaRPr lang="en-US" b="1">
              <a:latin typeface="Courier New" charset="0"/>
              <a:ea typeface="Tahoma" charset="0"/>
              <a:cs typeface="Courier New" charset="0"/>
            </a:endParaRPr>
          </a:p>
        </p:txBody>
      </p:sp>
      <p:sp>
        <p:nvSpPr>
          <p:cNvPr id="7187" name="Rectangle 19"/>
          <p:cNvSpPr>
            <a:spLocks noChangeArrowheads="1"/>
          </p:cNvSpPr>
          <p:nvPr/>
        </p:nvSpPr>
        <p:spPr bwMode="auto">
          <a:xfrm>
            <a:off x="4724400" y="2590800"/>
            <a:ext cx="685800" cy="457200"/>
          </a:xfrm>
          <a:prstGeom prst="rect">
            <a:avLst/>
          </a:prstGeom>
          <a:solidFill>
            <a:srgbClr val="CC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/>
          <a:p>
            <a:pPr algn="ctr"/>
            <a:r>
              <a:rPr lang="ja-JP" altLang="en-US" sz="2000" b="1">
                <a:latin typeface="Courier New" charset="0"/>
                <a:cs typeface="Courier New" charset="0"/>
              </a:rPr>
              <a:t>‘</a:t>
            </a:r>
            <a:r>
              <a:rPr lang="en-US" sz="2000" b="1">
                <a:latin typeface="Courier New" charset="0"/>
                <a:cs typeface="Courier New" charset="0"/>
              </a:rPr>
              <a:t>m</a:t>
            </a:r>
            <a:r>
              <a:rPr lang="ja-JP" altLang="en-US" sz="2000" b="1">
                <a:latin typeface="Courier New" charset="0"/>
                <a:cs typeface="Courier New" charset="0"/>
              </a:rPr>
              <a:t>’</a:t>
            </a:r>
            <a:endParaRPr lang="en-US" sz="2000" b="1">
              <a:latin typeface="Courier New" charset="0"/>
              <a:cs typeface="Courier New" charset="0"/>
            </a:endParaRPr>
          </a:p>
        </p:txBody>
      </p:sp>
      <p:sp>
        <p:nvSpPr>
          <p:cNvPr id="7188" name="Rectangle 20"/>
          <p:cNvSpPr>
            <a:spLocks noChangeArrowheads="1"/>
          </p:cNvSpPr>
          <p:nvPr/>
        </p:nvSpPr>
        <p:spPr bwMode="auto">
          <a:xfrm>
            <a:off x="5410200" y="2590800"/>
            <a:ext cx="685800" cy="457200"/>
          </a:xfrm>
          <a:prstGeom prst="rect">
            <a:avLst/>
          </a:prstGeom>
          <a:solidFill>
            <a:srgbClr val="CC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/>
          <a:p>
            <a:pPr algn="ctr"/>
            <a:r>
              <a:rPr lang="ja-JP" altLang="en-US" sz="2000" b="1">
                <a:latin typeface="Courier New" charset="0"/>
                <a:cs typeface="Courier New" charset="0"/>
              </a:rPr>
              <a:t>‘</a:t>
            </a:r>
            <a:r>
              <a:rPr lang="en-US" sz="2000" b="1">
                <a:latin typeface="Courier New" charset="0"/>
                <a:cs typeface="Courier New" charset="0"/>
              </a:rPr>
              <a:t>i</a:t>
            </a:r>
            <a:r>
              <a:rPr lang="ja-JP" altLang="en-US" sz="2000" b="1">
                <a:latin typeface="Courier New" charset="0"/>
                <a:cs typeface="Courier New" charset="0"/>
              </a:rPr>
              <a:t>’</a:t>
            </a:r>
            <a:endParaRPr lang="en-US" sz="2000" b="1">
              <a:latin typeface="Courier New" charset="0"/>
              <a:cs typeface="Courier New" charset="0"/>
            </a:endParaRPr>
          </a:p>
        </p:txBody>
      </p:sp>
      <p:sp>
        <p:nvSpPr>
          <p:cNvPr id="7189" name="Rectangle 21"/>
          <p:cNvSpPr>
            <a:spLocks noChangeArrowheads="1"/>
          </p:cNvSpPr>
          <p:nvPr/>
        </p:nvSpPr>
        <p:spPr bwMode="auto">
          <a:xfrm>
            <a:off x="6096000" y="2590800"/>
            <a:ext cx="685800" cy="457200"/>
          </a:xfrm>
          <a:prstGeom prst="rect">
            <a:avLst/>
          </a:prstGeom>
          <a:solidFill>
            <a:srgbClr val="CC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/>
          <a:p>
            <a:pPr algn="ctr"/>
            <a:r>
              <a:rPr lang="ja-JP" altLang="en-US" sz="2000" b="1">
                <a:latin typeface="Courier New" charset="0"/>
                <a:cs typeface="Courier New" charset="0"/>
              </a:rPr>
              <a:t>‘</a:t>
            </a:r>
            <a:r>
              <a:rPr lang="en-US" sz="2000" b="1">
                <a:latin typeface="Courier New" charset="0"/>
                <a:cs typeface="Courier New" charset="0"/>
              </a:rPr>
              <a:t>n</a:t>
            </a:r>
            <a:r>
              <a:rPr lang="ja-JP" altLang="en-US" sz="2000" b="1">
                <a:latin typeface="Courier New" charset="0"/>
                <a:cs typeface="Courier New" charset="0"/>
              </a:rPr>
              <a:t>’</a:t>
            </a:r>
            <a:endParaRPr lang="en-US" sz="2000" b="1">
              <a:latin typeface="Courier New" charset="0"/>
              <a:cs typeface="Courier New" charset="0"/>
            </a:endParaRPr>
          </a:p>
        </p:txBody>
      </p:sp>
      <p:sp>
        <p:nvSpPr>
          <p:cNvPr id="7190" name="Rectangle 22"/>
          <p:cNvSpPr>
            <a:spLocks noChangeArrowheads="1"/>
          </p:cNvSpPr>
          <p:nvPr/>
        </p:nvSpPr>
        <p:spPr bwMode="auto">
          <a:xfrm>
            <a:off x="6781800" y="2590800"/>
            <a:ext cx="685800" cy="457200"/>
          </a:xfrm>
          <a:prstGeom prst="rect">
            <a:avLst/>
          </a:prstGeom>
          <a:solidFill>
            <a:srgbClr val="CC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/>
          <a:p>
            <a:pPr algn="ctr"/>
            <a:r>
              <a:rPr lang="ja-JP" altLang="en-US" sz="2000" b="1">
                <a:latin typeface="Courier New" charset="0"/>
                <a:cs typeface="Courier New" charset="0"/>
              </a:rPr>
              <a:t>‘</a:t>
            </a:r>
            <a:r>
              <a:rPr lang="en-US" sz="2000" b="1">
                <a:latin typeface="Courier New" charset="0"/>
                <a:cs typeface="Courier New" charset="0"/>
              </a:rPr>
              <a:t>e</a:t>
            </a:r>
            <a:r>
              <a:rPr lang="ja-JP" altLang="en-US" sz="2000" b="1">
                <a:latin typeface="Courier New" charset="0"/>
                <a:cs typeface="Courier New" charset="0"/>
              </a:rPr>
              <a:t>’</a:t>
            </a:r>
            <a:endParaRPr lang="en-US" sz="2000" b="1">
              <a:latin typeface="Courier New" charset="0"/>
              <a:cs typeface="Courier New" charset="0"/>
            </a:endParaRPr>
          </a:p>
        </p:txBody>
      </p:sp>
      <p:sp>
        <p:nvSpPr>
          <p:cNvPr id="7191" name="Rectangle 23"/>
          <p:cNvSpPr>
            <a:spLocks noChangeArrowheads="1"/>
          </p:cNvSpPr>
          <p:nvPr/>
        </p:nvSpPr>
        <p:spPr bwMode="auto">
          <a:xfrm>
            <a:off x="7467600" y="2590800"/>
            <a:ext cx="685800" cy="457200"/>
          </a:xfrm>
          <a:prstGeom prst="rect">
            <a:avLst/>
          </a:prstGeom>
          <a:solidFill>
            <a:srgbClr val="CC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/>
          <a:p>
            <a:pPr algn="ctr"/>
            <a:r>
              <a:rPr lang="ja-JP" altLang="en-US" sz="2000" b="1">
                <a:latin typeface="Courier New" charset="0"/>
                <a:cs typeface="Courier New" charset="0"/>
              </a:rPr>
              <a:t>‘</a:t>
            </a:r>
            <a:r>
              <a:rPr lang="en-US" sz="2000" b="1">
                <a:latin typeface="Courier New" charset="0"/>
                <a:cs typeface="Courier New" charset="0"/>
              </a:rPr>
              <a:t>\0</a:t>
            </a:r>
            <a:r>
              <a:rPr lang="ja-JP" altLang="en-US" sz="2000" b="1">
                <a:latin typeface="Courier New" charset="0"/>
                <a:cs typeface="Courier New" charset="0"/>
              </a:rPr>
              <a:t>’</a:t>
            </a:r>
            <a:endParaRPr lang="en-US" sz="2000" b="1">
              <a:latin typeface="Courier New" charset="0"/>
              <a:cs typeface="Courier New" charset="0"/>
            </a:endParaRPr>
          </a:p>
        </p:txBody>
      </p:sp>
      <p:sp>
        <p:nvSpPr>
          <p:cNvPr id="7192" name="Rectangle 24"/>
          <p:cNvSpPr>
            <a:spLocks noChangeArrowheads="1"/>
          </p:cNvSpPr>
          <p:nvPr/>
        </p:nvSpPr>
        <p:spPr bwMode="auto">
          <a:xfrm>
            <a:off x="4724400" y="3276600"/>
            <a:ext cx="685800" cy="457200"/>
          </a:xfrm>
          <a:prstGeom prst="rect">
            <a:avLst/>
          </a:prstGeom>
          <a:solidFill>
            <a:srgbClr val="CC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/>
          <a:p>
            <a:pPr algn="ctr"/>
            <a:r>
              <a:rPr lang="ja-JP" altLang="en-US" sz="2000" b="1">
                <a:latin typeface="Courier New" charset="0"/>
                <a:cs typeface="Courier New" charset="0"/>
              </a:rPr>
              <a:t>‘</a:t>
            </a:r>
            <a:r>
              <a:rPr lang="en-US" sz="2000" b="1">
                <a:latin typeface="Courier New" charset="0"/>
                <a:cs typeface="Courier New" charset="0"/>
              </a:rPr>
              <a:t>-</a:t>
            </a:r>
            <a:r>
              <a:rPr lang="ja-JP" altLang="en-US" sz="2000" b="1">
                <a:latin typeface="Courier New" charset="0"/>
                <a:cs typeface="Courier New" charset="0"/>
              </a:rPr>
              <a:t>’</a:t>
            </a:r>
            <a:endParaRPr lang="en-US" sz="2000" b="1">
              <a:latin typeface="Courier New" charset="0"/>
              <a:cs typeface="Courier New" charset="0"/>
            </a:endParaRPr>
          </a:p>
        </p:txBody>
      </p:sp>
      <p:sp>
        <p:nvSpPr>
          <p:cNvPr id="7193" name="Rectangle 25"/>
          <p:cNvSpPr>
            <a:spLocks noChangeArrowheads="1"/>
          </p:cNvSpPr>
          <p:nvPr/>
        </p:nvSpPr>
        <p:spPr bwMode="auto">
          <a:xfrm>
            <a:off x="5410200" y="3276600"/>
            <a:ext cx="685800" cy="457200"/>
          </a:xfrm>
          <a:prstGeom prst="rect">
            <a:avLst/>
          </a:prstGeom>
          <a:solidFill>
            <a:srgbClr val="CC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/>
          <a:p>
            <a:pPr algn="ctr"/>
            <a:r>
              <a:rPr lang="ja-JP" altLang="en-US" sz="2000" b="1">
                <a:latin typeface="Courier New" charset="0"/>
                <a:cs typeface="Courier New" charset="0"/>
              </a:rPr>
              <a:t>‘</a:t>
            </a:r>
            <a:r>
              <a:rPr lang="en-US" sz="2000" b="1">
                <a:latin typeface="Courier New" charset="0"/>
                <a:cs typeface="Courier New" charset="0"/>
              </a:rPr>
              <a:t>c</a:t>
            </a:r>
            <a:r>
              <a:rPr lang="ja-JP" altLang="en-US" sz="2000" b="1">
                <a:latin typeface="Courier New" charset="0"/>
                <a:cs typeface="Courier New" charset="0"/>
              </a:rPr>
              <a:t>’</a:t>
            </a:r>
            <a:endParaRPr lang="en-US" sz="2000" b="1">
              <a:latin typeface="Courier New" charset="0"/>
              <a:cs typeface="Courier New" charset="0"/>
            </a:endParaRPr>
          </a:p>
        </p:txBody>
      </p:sp>
      <p:sp>
        <p:nvSpPr>
          <p:cNvPr id="7194" name="Rectangle 26"/>
          <p:cNvSpPr>
            <a:spLocks noChangeArrowheads="1"/>
          </p:cNvSpPr>
          <p:nvPr/>
        </p:nvSpPr>
        <p:spPr bwMode="auto">
          <a:xfrm>
            <a:off x="4724400" y="3962400"/>
            <a:ext cx="685800" cy="457200"/>
          </a:xfrm>
          <a:prstGeom prst="rect">
            <a:avLst/>
          </a:prstGeom>
          <a:solidFill>
            <a:srgbClr val="CC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/>
          <a:p>
            <a:pPr algn="ctr"/>
            <a:r>
              <a:rPr lang="ja-JP" altLang="en-US" sz="2000" b="1">
                <a:latin typeface="Courier New" charset="0"/>
                <a:cs typeface="Courier New" charset="0"/>
              </a:rPr>
              <a:t>‘</a:t>
            </a:r>
            <a:r>
              <a:rPr lang="en-US" sz="2000" b="1">
                <a:latin typeface="Courier New" charset="0"/>
                <a:cs typeface="Courier New" charset="0"/>
              </a:rPr>
              <a:t>1</a:t>
            </a:r>
            <a:r>
              <a:rPr lang="ja-JP" altLang="en-US" sz="2000" b="1">
                <a:latin typeface="Courier New" charset="0"/>
                <a:cs typeface="Courier New" charset="0"/>
              </a:rPr>
              <a:t>’</a:t>
            </a:r>
            <a:endParaRPr lang="en-US" sz="2000" b="1">
              <a:latin typeface="Courier New" charset="0"/>
              <a:cs typeface="Courier New" charset="0"/>
            </a:endParaRPr>
          </a:p>
        </p:txBody>
      </p:sp>
      <p:sp>
        <p:nvSpPr>
          <p:cNvPr id="7195" name="Rectangle 27"/>
          <p:cNvSpPr>
            <a:spLocks noChangeArrowheads="1"/>
          </p:cNvSpPr>
          <p:nvPr/>
        </p:nvSpPr>
        <p:spPr bwMode="auto">
          <a:xfrm>
            <a:off x="5410200" y="3962400"/>
            <a:ext cx="685800" cy="457200"/>
          </a:xfrm>
          <a:prstGeom prst="rect">
            <a:avLst/>
          </a:prstGeom>
          <a:solidFill>
            <a:srgbClr val="CC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/>
          <a:p>
            <a:pPr algn="ctr"/>
            <a:r>
              <a:rPr lang="ja-JP" altLang="en-US" sz="2000" b="1">
                <a:latin typeface="Courier New" charset="0"/>
                <a:cs typeface="Courier New" charset="0"/>
              </a:rPr>
              <a:t>‘</a:t>
            </a:r>
            <a:r>
              <a:rPr lang="en-US" sz="2000" b="1">
                <a:latin typeface="Courier New" charset="0"/>
                <a:cs typeface="Courier New" charset="0"/>
              </a:rPr>
              <a:t>0</a:t>
            </a:r>
            <a:r>
              <a:rPr lang="ja-JP" altLang="en-US" sz="2000" b="1">
                <a:latin typeface="Courier New" charset="0"/>
                <a:cs typeface="Courier New" charset="0"/>
              </a:rPr>
              <a:t>’</a:t>
            </a:r>
            <a:endParaRPr lang="en-US" sz="2000" b="1">
              <a:latin typeface="Courier New" charset="0"/>
              <a:cs typeface="Courier New" charset="0"/>
            </a:endParaRPr>
          </a:p>
        </p:txBody>
      </p:sp>
      <p:sp>
        <p:nvSpPr>
          <p:cNvPr id="7196" name="Rectangle 28"/>
          <p:cNvSpPr>
            <a:spLocks noChangeArrowheads="1"/>
          </p:cNvSpPr>
          <p:nvPr/>
        </p:nvSpPr>
        <p:spPr bwMode="auto">
          <a:xfrm>
            <a:off x="4724400" y="4572000"/>
            <a:ext cx="685800" cy="457200"/>
          </a:xfrm>
          <a:prstGeom prst="rect">
            <a:avLst/>
          </a:prstGeom>
          <a:solidFill>
            <a:srgbClr val="CC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/>
          <a:p>
            <a:pPr algn="ctr"/>
            <a:r>
              <a:rPr lang="ja-JP" altLang="en-US" sz="2000" b="1">
                <a:latin typeface="Courier New" charset="0"/>
                <a:cs typeface="Courier New" charset="0"/>
              </a:rPr>
              <a:t>‘</a:t>
            </a:r>
            <a:r>
              <a:rPr lang="en-US" sz="2000" b="1">
                <a:latin typeface="Courier New" charset="0"/>
                <a:cs typeface="Courier New" charset="0"/>
              </a:rPr>
              <a:t>2</a:t>
            </a:r>
            <a:r>
              <a:rPr lang="ja-JP" altLang="en-US" sz="2000" b="1">
                <a:latin typeface="Courier New" charset="0"/>
                <a:cs typeface="Courier New" charset="0"/>
              </a:rPr>
              <a:t>’</a:t>
            </a:r>
            <a:endParaRPr lang="en-US" sz="2000" b="1">
              <a:latin typeface="Courier New" charset="0"/>
              <a:cs typeface="Courier New" charset="0"/>
            </a:endParaRPr>
          </a:p>
        </p:txBody>
      </p:sp>
      <p:sp>
        <p:nvSpPr>
          <p:cNvPr id="7197" name="Rectangle 29"/>
          <p:cNvSpPr>
            <a:spLocks noChangeArrowheads="1"/>
          </p:cNvSpPr>
          <p:nvPr/>
        </p:nvSpPr>
        <p:spPr bwMode="auto">
          <a:xfrm>
            <a:off x="5410200" y="4572000"/>
            <a:ext cx="685800" cy="457200"/>
          </a:xfrm>
          <a:prstGeom prst="rect">
            <a:avLst/>
          </a:prstGeom>
          <a:solidFill>
            <a:srgbClr val="CC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/>
          <a:p>
            <a:pPr algn="ctr"/>
            <a:r>
              <a:rPr lang="ja-JP" altLang="en-US" sz="2000" b="1">
                <a:latin typeface="Courier New" charset="0"/>
                <a:cs typeface="Courier New" charset="0"/>
              </a:rPr>
              <a:t>‘</a:t>
            </a:r>
            <a:r>
              <a:rPr lang="en-US" sz="2000" b="1">
                <a:latin typeface="Courier New" charset="0"/>
                <a:cs typeface="Courier New" charset="0"/>
              </a:rPr>
              <a:t>.</a:t>
            </a:r>
            <a:r>
              <a:rPr lang="ja-JP" altLang="en-US" sz="2000" b="1">
                <a:latin typeface="Courier New" charset="0"/>
                <a:cs typeface="Courier New" charset="0"/>
              </a:rPr>
              <a:t>’</a:t>
            </a:r>
            <a:endParaRPr lang="en-US" sz="2000" b="1">
              <a:latin typeface="Courier New" charset="0"/>
              <a:cs typeface="Courier New" charset="0"/>
            </a:endParaRPr>
          </a:p>
        </p:txBody>
      </p:sp>
      <p:sp>
        <p:nvSpPr>
          <p:cNvPr id="7198" name="Rectangle 30"/>
          <p:cNvSpPr>
            <a:spLocks noChangeArrowheads="1"/>
          </p:cNvSpPr>
          <p:nvPr/>
        </p:nvSpPr>
        <p:spPr bwMode="auto">
          <a:xfrm>
            <a:off x="6096000" y="4572000"/>
            <a:ext cx="685800" cy="457200"/>
          </a:xfrm>
          <a:prstGeom prst="rect">
            <a:avLst/>
          </a:prstGeom>
          <a:solidFill>
            <a:srgbClr val="CC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/>
          <a:p>
            <a:pPr algn="ctr"/>
            <a:r>
              <a:rPr lang="ja-JP" altLang="en-US" sz="2000" b="1">
                <a:latin typeface="Courier New" charset="0"/>
                <a:cs typeface="Courier New" charset="0"/>
              </a:rPr>
              <a:t>‘</a:t>
            </a:r>
            <a:r>
              <a:rPr lang="en-US" sz="2000" b="1">
                <a:latin typeface="Courier New" charset="0"/>
                <a:cs typeface="Courier New" charset="0"/>
              </a:rPr>
              <a:t>0</a:t>
            </a:r>
            <a:r>
              <a:rPr lang="ja-JP" altLang="en-US" sz="2000" b="1">
                <a:latin typeface="Courier New" charset="0"/>
                <a:cs typeface="Courier New" charset="0"/>
              </a:rPr>
              <a:t>’</a:t>
            </a:r>
            <a:endParaRPr lang="en-US" sz="2000" b="1">
              <a:latin typeface="Courier New" charset="0"/>
              <a:cs typeface="Courier New" charset="0"/>
            </a:endParaRPr>
          </a:p>
        </p:txBody>
      </p:sp>
      <p:sp>
        <p:nvSpPr>
          <p:cNvPr id="7199" name="Rectangle 31"/>
          <p:cNvSpPr>
            <a:spLocks noChangeArrowheads="1"/>
          </p:cNvSpPr>
          <p:nvPr/>
        </p:nvSpPr>
        <p:spPr bwMode="auto">
          <a:xfrm>
            <a:off x="6096000" y="3276600"/>
            <a:ext cx="685800" cy="457200"/>
          </a:xfrm>
          <a:prstGeom prst="rect">
            <a:avLst/>
          </a:prstGeom>
          <a:solidFill>
            <a:srgbClr val="CC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/>
          <a:p>
            <a:pPr algn="ctr"/>
            <a:r>
              <a:rPr lang="ja-JP" altLang="en-US" sz="2000" b="1">
                <a:latin typeface="Courier New" charset="0"/>
                <a:cs typeface="Courier New" charset="0"/>
              </a:rPr>
              <a:t>‘</a:t>
            </a:r>
            <a:r>
              <a:rPr lang="en-US" sz="2000" b="1">
                <a:latin typeface="Courier New" charset="0"/>
                <a:cs typeface="Courier New" charset="0"/>
              </a:rPr>
              <a:t>\0</a:t>
            </a:r>
            <a:r>
              <a:rPr lang="ja-JP" altLang="en-US" sz="2000" b="1">
                <a:latin typeface="Courier New" charset="0"/>
                <a:cs typeface="Courier New" charset="0"/>
              </a:rPr>
              <a:t>’</a:t>
            </a:r>
            <a:endParaRPr lang="en-US" sz="2000" b="1">
              <a:latin typeface="Courier New" charset="0"/>
              <a:cs typeface="Courier New" charset="0"/>
            </a:endParaRPr>
          </a:p>
        </p:txBody>
      </p:sp>
      <p:sp>
        <p:nvSpPr>
          <p:cNvPr id="7200" name="Rectangle 32"/>
          <p:cNvSpPr>
            <a:spLocks noChangeArrowheads="1"/>
          </p:cNvSpPr>
          <p:nvPr/>
        </p:nvSpPr>
        <p:spPr bwMode="auto">
          <a:xfrm>
            <a:off x="6096000" y="3962400"/>
            <a:ext cx="685800" cy="457200"/>
          </a:xfrm>
          <a:prstGeom prst="rect">
            <a:avLst/>
          </a:prstGeom>
          <a:solidFill>
            <a:srgbClr val="CC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/>
          <a:p>
            <a:pPr algn="ctr"/>
            <a:r>
              <a:rPr lang="ja-JP" altLang="en-US" sz="2000" b="1">
                <a:latin typeface="Courier New" charset="0"/>
                <a:cs typeface="Courier New" charset="0"/>
              </a:rPr>
              <a:t>‘</a:t>
            </a:r>
            <a:r>
              <a:rPr lang="en-US" sz="2000" b="1">
                <a:latin typeface="Courier New" charset="0"/>
                <a:cs typeface="Courier New" charset="0"/>
              </a:rPr>
              <a:t>\0</a:t>
            </a:r>
            <a:r>
              <a:rPr lang="ja-JP" altLang="en-US" sz="2000" b="1">
                <a:latin typeface="Courier New" charset="0"/>
                <a:cs typeface="Courier New" charset="0"/>
              </a:rPr>
              <a:t>’</a:t>
            </a:r>
            <a:endParaRPr lang="en-US" sz="2000" b="1">
              <a:latin typeface="Courier New" charset="0"/>
              <a:cs typeface="Courier New" charset="0"/>
            </a:endParaRPr>
          </a:p>
        </p:txBody>
      </p:sp>
      <p:sp>
        <p:nvSpPr>
          <p:cNvPr id="7201" name="Rectangle 33"/>
          <p:cNvSpPr>
            <a:spLocks noChangeArrowheads="1"/>
          </p:cNvSpPr>
          <p:nvPr/>
        </p:nvSpPr>
        <p:spPr bwMode="auto">
          <a:xfrm>
            <a:off x="6781800" y="4572000"/>
            <a:ext cx="685800" cy="457200"/>
          </a:xfrm>
          <a:prstGeom prst="rect">
            <a:avLst/>
          </a:prstGeom>
          <a:solidFill>
            <a:srgbClr val="CC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/>
          <a:p>
            <a:pPr algn="ctr"/>
            <a:r>
              <a:rPr lang="ja-JP" altLang="en-US" sz="2000" b="1">
                <a:latin typeface="Courier New" charset="0"/>
                <a:cs typeface="Courier New" charset="0"/>
              </a:rPr>
              <a:t>‘</a:t>
            </a:r>
            <a:r>
              <a:rPr lang="en-US" sz="2000" b="1">
                <a:latin typeface="Courier New" charset="0"/>
                <a:cs typeface="Courier New" charset="0"/>
              </a:rPr>
              <a:t>\0</a:t>
            </a:r>
            <a:r>
              <a:rPr lang="ja-JP" altLang="en-US" sz="2000" b="1">
                <a:latin typeface="Courier New" charset="0"/>
                <a:cs typeface="Courier New" charset="0"/>
              </a:rPr>
              <a:t>’</a:t>
            </a:r>
            <a:endParaRPr lang="en-US" sz="2000" b="1">
              <a:latin typeface="Courier New" charset="0"/>
              <a:cs typeface="Courier New" charset="0"/>
            </a:endParaRPr>
          </a:p>
        </p:txBody>
      </p:sp>
      <p:cxnSp>
        <p:nvCxnSpPr>
          <p:cNvPr id="7202" name="Straight Arrow Connector 35"/>
          <p:cNvCxnSpPr>
            <a:cxnSpLocks noChangeShapeType="1"/>
          </p:cNvCxnSpPr>
          <p:nvPr/>
        </p:nvCxnSpPr>
        <p:spPr bwMode="auto">
          <a:xfrm>
            <a:off x="2590800" y="2819400"/>
            <a:ext cx="2133600" cy="1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03" name="Straight Arrow Connector 36"/>
          <p:cNvCxnSpPr>
            <a:cxnSpLocks noChangeShapeType="1"/>
          </p:cNvCxnSpPr>
          <p:nvPr/>
        </p:nvCxnSpPr>
        <p:spPr bwMode="auto">
          <a:xfrm>
            <a:off x="2590800" y="3503613"/>
            <a:ext cx="2133600" cy="1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04" name="Straight Arrow Connector 37"/>
          <p:cNvCxnSpPr>
            <a:cxnSpLocks noChangeShapeType="1"/>
          </p:cNvCxnSpPr>
          <p:nvPr/>
        </p:nvCxnSpPr>
        <p:spPr bwMode="auto">
          <a:xfrm>
            <a:off x="2590800" y="4189413"/>
            <a:ext cx="2133600" cy="1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05" name="Straight Arrow Connector 38"/>
          <p:cNvCxnSpPr>
            <a:cxnSpLocks noChangeShapeType="1"/>
          </p:cNvCxnSpPr>
          <p:nvPr/>
        </p:nvCxnSpPr>
        <p:spPr bwMode="auto">
          <a:xfrm>
            <a:off x="2590800" y="4799013"/>
            <a:ext cx="2133600" cy="1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206" name="TextBox 39"/>
          <p:cNvSpPr txBox="1">
            <a:spLocks noChangeArrowheads="1"/>
          </p:cNvSpPr>
          <p:nvPr/>
        </p:nvSpPr>
        <p:spPr bwMode="auto">
          <a:xfrm>
            <a:off x="1741488" y="1828800"/>
            <a:ext cx="1687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2800" b="1">
                <a:latin typeface="Courier New" charset="0"/>
                <a:ea typeface="Tahoma" charset="0"/>
                <a:cs typeface="Courier New" charset="0"/>
              </a:rPr>
              <a:t>argv[ ]</a:t>
            </a:r>
            <a:endParaRPr lang="en-US" b="1">
              <a:latin typeface="Courier New" charset="0"/>
              <a:ea typeface="Tahoma" charset="0"/>
              <a:cs typeface="Courier New" charset="0"/>
            </a:endParaRP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4876800" y="5562600"/>
            <a:ext cx="2971800" cy="685800"/>
          </a:xfrm>
          <a:prstGeom prst="rect">
            <a:avLst/>
          </a:prstGeom>
          <a:solidFill>
            <a:srgbClr val="FF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3200">
                <a:latin typeface="Arial" charset="0"/>
              </a:rPr>
              <a:t>What is </a:t>
            </a:r>
            <a:r>
              <a:rPr lang="en-US" sz="32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argc</a:t>
            </a:r>
            <a:r>
              <a:rPr lang="en-US" sz="3200">
                <a:latin typeface="Arial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5781673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19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19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19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198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ARGCount ARGValues</a:t>
            </a:r>
          </a:p>
        </p:txBody>
      </p:sp>
      <p:sp>
        <p:nvSpPr>
          <p:cNvPr id="8199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main(argc, char** argv)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main(argc, char* argv[])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endParaRPr lang="en-US" sz="2800">
              <a:latin typeface="Arial" charset="0"/>
            </a:endParaRPr>
          </a:p>
          <a:p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*(argv + argc)</a:t>
            </a:r>
            <a:r>
              <a:rPr lang="en-US" sz="2800">
                <a:latin typeface="Arial" charset="0"/>
              </a:rPr>
              <a:t>is 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NULL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argv[argc]</a:t>
            </a:r>
            <a:r>
              <a:rPr lang="en-US" sz="2800">
                <a:latin typeface="Arial" charset="0"/>
              </a:rPr>
              <a:t> is 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NULL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8200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539E68D-B41B-6A43-91B9-C7482B6F6294}" type="slidenum">
              <a:rPr lang="en-US"/>
              <a:pPr/>
              <a:t>36</a:t>
            </a:fld>
            <a:endParaRPr lang="en-US"/>
          </a:p>
        </p:txBody>
      </p:sp>
      <p:sp>
        <p:nvSpPr>
          <p:cNvPr id="8201" name="Footer Placeholder 8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206179659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21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22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22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222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chemeClr val="tx1"/>
                </a:solidFill>
                <a:latin typeface="Arial" charset="0"/>
              </a:rPr>
              <a:t>Type questions</a:t>
            </a:r>
          </a:p>
        </p:txBody>
      </p:sp>
      <p:sp>
        <p:nvSpPr>
          <p:cNvPr id="9223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**argv;</a:t>
            </a:r>
            <a:r>
              <a:rPr lang="en-US">
                <a:latin typeface="Arial" charset="0"/>
              </a:rPr>
              <a:t/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What type is </a:t>
            </a: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argv</a:t>
            </a:r>
            <a:r>
              <a:rPr lang="en-US">
                <a:latin typeface="Arial" charset="0"/>
              </a:rPr>
              <a:t>?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What type is </a:t>
            </a: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*argv</a:t>
            </a:r>
            <a:r>
              <a:rPr lang="en-US">
                <a:latin typeface="Arial" charset="0"/>
              </a:rPr>
              <a:t>?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What type is </a:t>
            </a: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**argv</a:t>
            </a:r>
            <a:r>
              <a:rPr lang="en-US">
                <a:latin typeface="Arial" charset="0"/>
              </a:rPr>
              <a:t>?</a:t>
            </a:r>
          </a:p>
        </p:txBody>
      </p:sp>
      <p:sp>
        <p:nvSpPr>
          <p:cNvPr id="9224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46FE4BB-FB7E-BF44-B437-A87E6683052E}" type="slidenum">
              <a:rPr lang="en-US"/>
              <a:pPr/>
              <a:t>37</a:t>
            </a:fld>
            <a:endParaRPr lang="en-US"/>
          </a:p>
        </p:txBody>
      </p:sp>
      <p:sp>
        <p:nvSpPr>
          <p:cNvPr id="9225" name="Footer Placeholder 8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80787024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24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24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24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246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chemeClr val="tx1"/>
                </a:solidFill>
                <a:latin typeface="Arial" charset="0"/>
              </a:rPr>
              <a:t>Review</a:t>
            </a:r>
          </a:p>
        </p:txBody>
      </p:sp>
      <p:sp>
        <p:nvSpPr>
          <p:cNvPr id="10247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main(int argc, char**argv) {</a:t>
            </a:r>
            <a: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/>
            </a:r>
            <a:b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</a:br>
            <a:r>
              <a:rPr lang="en-US">
                <a:latin typeface="Arial" charset="0"/>
              </a:rPr>
              <a:t>what is </a:t>
            </a: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*argv</a:t>
            </a:r>
            <a:r>
              <a:rPr lang="en-US">
                <a:latin typeface="Arial" charset="0"/>
              </a:rPr>
              <a:t>?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what is </a:t>
            </a: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argv[argc]</a:t>
            </a:r>
            <a:r>
              <a:rPr lang="en-US">
                <a:latin typeface="Arial" charset="0"/>
              </a:rPr>
              <a:t>?</a:t>
            </a:r>
            <a:br>
              <a:rPr lang="en-US">
                <a:latin typeface="Arial" charset="0"/>
              </a:rPr>
            </a:br>
            <a:endParaRPr lang="en-US">
              <a:latin typeface="Arial" charset="0"/>
            </a:endParaRPr>
          </a:p>
        </p:txBody>
      </p:sp>
      <p:sp>
        <p:nvSpPr>
          <p:cNvPr id="10248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DB3445F-D592-2549-A761-88CCB2726C08}" type="slidenum">
              <a:rPr lang="en-US"/>
              <a:pPr/>
              <a:t>38</a:t>
            </a:fld>
            <a:endParaRPr lang="en-US"/>
          </a:p>
        </p:txBody>
      </p:sp>
      <p:sp>
        <p:nvSpPr>
          <p:cNvPr id="10249" name="Footer Placeholder 8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104395272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291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292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293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294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Output</a:t>
            </a:r>
          </a:p>
        </p:txBody>
      </p:sp>
      <p:sp>
        <p:nvSpPr>
          <p:cNvPr id="12295" name="Rectangle 7"/>
          <p:cNvSpPr>
            <a:spLocks noChangeArrowheads="1"/>
          </p:cNvSpPr>
          <p:nvPr>
            <p:ph type="body" idx="1"/>
          </p:nvPr>
        </p:nvSpPr>
        <p:spPr>
          <a:xfrm>
            <a:off x="609600" y="2017713"/>
            <a:ext cx="8345488" cy="4840287"/>
          </a:xfrm>
        </p:spPr>
        <p:txBody>
          <a:bodyPr rIns="132080"/>
          <a:lstStyle/>
          <a:p>
            <a:r>
              <a:rPr lang="en-US">
                <a:latin typeface="Arial" charset="0"/>
              </a:rPr>
              <a:t>C stdio library functions</a:t>
            </a:r>
          </a:p>
          <a:p>
            <a:pPr>
              <a:buFont typeface="Wingdings" charset="0"/>
              <a:buNone/>
            </a:pPr>
            <a:endParaRPr lang="en-US" sz="280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printf("Hello %x %s %d", arguments…)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fprintf(STDERR, "%x%s%d",…)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endParaRPr lang="en-US">
              <a:latin typeface="Arial" charset="0"/>
            </a:endParaRPr>
          </a:p>
          <a:p>
            <a:r>
              <a:rPr lang="en-US">
                <a:latin typeface="Arial" charset="0"/>
              </a:rPr>
              <a:t>Later… system call </a:t>
            </a: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write(int,void*,size_t)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12296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46903A9-3458-C848-9739-F064B4295F8B}" type="slidenum">
              <a:rPr lang="en-US"/>
              <a:pPr/>
              <a:t>39</a:t>
            </a:fld>
            <a:endParaRPr lang="en-US"/>
          </a:p>
        </p:txBody>
      </p:sp>
      <p:sp>
        <p:nvSpPr>
          <p:cNvPr id="12297" name="Footer Placeholder 8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260436820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331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331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331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3318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</a:t>
            </a:r>
            <a:r>
              <a:rPr lang="en-US">
                <a:latin typeface="Arial" charset="0"/>
              </a:rPr>
              <a:t> Format Identifiers</a:t>
            </a:r>
          </a:p>
        </p:txBody>
      </p:sp>
      <p:sp>
        <p:nvSpPr>
          <p:cNvPr id="13319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%d </a:t>
            </a:r>
            <a:r>
              <a:rPr lang="en-US" sz="2000">
                <a:latin typeface="Courier New Bold" charset="0"/>
                <a:cs typeface="Courier New Bold" charset="0"/>
                <a:sym typeface="Courier New Bold" charset="0"/>
              </a:rPr>
              <a:t>or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%i 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000">
                <a:latin typeface="Arial" charset="0"/>
              </a:rPr>
              <a:t>Decimal signed integer</a:t>
            </a: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%o</a:t>
            </a:r>
            <a:r>
              <a:rPr lang="en-US" sz="2000">
                <a:latin typeface="Arial" charset="0"/>
              </a:rPr>
              <a:t> 			Octal integer</a:t>
            </a: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%x </a:t>
            </a:r>
            <a:r>
              <a:rPr lang="en-US" sz="2000">
                <a:latin typeface="Courier New Bold" charset="0"/>
                <a:cs typeface="Courier New Bold" charset="0"/>
                <a:sym typeface="Courier New Bold" charset="0"/>
              </a:rPr>
              <a:t>or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%X 	</a:t>
            </a:r>
            <a:r>
              <a:rPr lang="en-US" sz="2000">
                <a:latin typeface="Arial" charset="0"/>
              </a:rPr>
              <a:t>Hex integer</a:t>
            </a: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%u</a:t>
            </a:r>
            <a:r>
              <a:rPr lang="en-US" sz="2000">
                <a:latin typeface="Arial" charset="0"/>
              </a:rPr>
              <a:t> 			Unsigned integer</a:t>
            </a: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%c</a:t>
            </a:r>
            <a:r>
              <a:rPr lang="en-US" sz="2000">
                <a:latin typeface="Arial" charset="0"/>
              </a:rPr>
              <a:t> 			Character</a:t>
            </a: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%s</a:t>
            </a:r>
            <a:r>
              <a:rPr lang="en-US" sz="2000">
                <a:latin typeface="Arial" charset="0"/>
              </a:rPr>
              <a:t> 			String</a:t>
            </a: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%f </a:t>
            </a:r>
            <a:r>
              <a:rPr lang="en-US" sz="2000">
                <a:latin typeface="Courier New Bold" charset="0"/>
                <a:cs typeface="Courier New Bold" charset="0"/>
                <a:sym typeface="Courier New Bold" charset="0"/>
              </a:rPr>
              <a:t>or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%g 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000">
                <a:latin typeface="Arial" charset="0"/>
              </a:rPr>
              <a:t>Double</a:t>
            </a: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%p</a:t>
            </a:r>
            <a:r>
              <a:rPr lang="en-US" sz="2000">
                <a:latin typeface="Arial" charset="0"/>
              </a:rPr>
              <a:t> 			Pointer</a:t>
            </a:r>
          </a:p>
          <a:p>
            <a:pPr>
              <a:buFont typeface="Wingdings" charset="0"/>
              <a:buNone/>
            </a:pPr>
            <a:endParaRPr lang="en-US" sz="2000">
              <a:latin typeface="Arial" charset="0"/>
            </a:endParaRPr>
          </a:p>
          <a:p>
            <a:pPr>
              <a:buFont typeface="Wingdings" charset="0"/>
              <a:buNone/>
            </a:pPr>
            <a:r>
              <a:rPr lang="en-US" sz="2000">
                <a:latin typeface="Arial" charset="0"/>
              </a:rPr>
              <a:t>All of the parameters should be the value to be inserted</a:t>
            </a:r>
          </a:p>
          <a:p>
            <a:pPr>
              <a:buFont typeface="Wingdings" charset="0"/>
              <a:buNone/>
            </a:pPr>
            <a:r>
              <a:rPr lang="en-US" sz="2000">
                <a:latin typeface="Arial" charset="0"/>
              </a:rPr>
              <a:t>EXCEPT %s, this expects a pointer to be passed</a:t>
            </a:r>
          </a:p>
        </p:txBody>
      </p:sp>
      <p:sp>
        <p:nvSpPr>
          <p:cNvPr id="13320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F29A2F5-48A8-5C44-BB9C-7A5BF1326F08}" type="slidenum">
              <a:rPr lang="en-US"/>
              <a:pPr/>
              <a:t>40</a:t>
            </a:fld>
            <a:endParaRPr lang="en-US"/>
          </a:p>
        </p:txBody>
      </p:sp>
      <p:sp>
        <p:nvSpPr>
          <p:cNvPr id="13321" name="Footer Placeholder 8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222468313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33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34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34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342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</a:t>
            </a:r>
            <a:r>
              <a:rPr lang="en-US">
                <a:latin typeface="Arial" charset="0"/>
              </a:rPr>
              <a:t> Basic Data Types</a:t>
            </a:r>
          </a:p>
        </p:txBody>
      </p:sp>
      <p:sp>
        <p:nvSpPr>
          <p:cNvPr id="14343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 sz="1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#include &lt;stdio.h&gt; // for printf </a:t>
            </a:r>
            <a:endParaRPr lang="en-US" sz="1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main(int argc, char *argv[]) { </a:t>
            </a:r>
            <a:endParaRPr lang="en-US" sz="1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spcBef>
                <a:spcPct val="0"/>
              </a:spcBef>
              <a:buFont typeface="Wingdings" charset="0"/>
              <a:buNone/>
            </a:pPr>
            <a:endParaRPr lang="en-US" sz="1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charset="0"/>
              <a:buNone/>
            </a:pPr>
            <a:r>
              <a:rPr lang="en-US" sz="1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</a:t>
            </a:r>
            <a:r>
              <a:rPr lang="en-US" sz="1400">
                <a:solidFill>
                  <a:srgbClr val="000000"/>
                </a:solidFill>
                <a:latin typeface="Courier New Bold" charset="0"/>
                <a:cs typeface="Courier New Bold" charset="0"/>
                <a:sym typeface="Courier New Bold" charset="0"/>
              </a:rPr>
              <a:t>// print "the date is: 01/25/2010",</a:t>
            </a:r>
            <a:endParaRPr lang="en-US" sz="1400">
              <a:solidFill>
                <a:srgbClr val="000000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</a:t>
            </a:r>
            <a:r>
              <a:rPr lang="en-US" sz="1400">
                <a:solidFill>
                  <a:srgbClr val="000000"/>
                </a:solidFill>
                <a:latin typeface="Courier New Bold" charset="0"/>
                <a:cs typeface="Courier New Bold" charset="0"/>
                <a:sym typeface="Courier New Bold" charset="0"/>
              </a:rPr>
              <a:t>// i.e. 2- or 4-digit with leading zeros</a:t>
            </a:r>
            <a:endParaRPr lang="en-US" sz="1400">
              <a:solidFill>
                <a:srgbClr val="000000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</a:t>
            </a:r>
            <a:r>
              <a:rPr lang="en-US" sz="1400">
                <a:solidFill>
                  <a:srgbClr val="000000"/>
                </a:solidFill>
                <a:latin typeface="Courier New Bold" charset="0"/>
                <a:cs typeface="Courier New Bold" charset="0"/>
                <a:sym typeface="Courier New Bold" charset="0"/>
              </a:rPr>
              <a:t>// using 32-bit 'long' datatype</a:t>
            </a:r>
            <a:endParaRPr lang="en-US" sz="1400">
              <a:solidFill>
                <a:srgbClr val="000000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long day = 25;</a:t>
            </a:r>
            <a:endParaRPr lang="en-US" sz="1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long month = 1;</a:t>
            </a:r>
            <a:endParaRPr lang="en-US" sz="1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long year = 2010;</a:t>
            </a:r>
            <a:endParaRPr lang="en-US" sz="1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printf("the date is: %02ld/%02ld/%04ld\n", month, day, year);</a:t>
            </a:r>
            <a:endParaRPr lang="en-US" sz="1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spcBef>
                <a:spcPct val="0"/>
              </a:spcBef>
              <a:buFont typeface="Wingdings" charset="0"/>
              <a:buNone/>
            </a:pPr>
            <a:endParaRPr lang="en-US" sz="1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charset="0"/>
              <a:buNone/>
            </a:pPr>
            <a:r>
              <a:rPr lang="en-US" sz="1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</a:t>
            </a:r>
            <a:r>
              <a:rPr lang="en-US" sz="1400">
                <a:solidFill>
                  <a:srgbClr val="000000"/>
                </a:solidFill>
                <a:latin typeface="Courier New Bold" charset="0"/>
                <a:cs typeface="Courier New Bold" charset="0"/>
                <a:sym typeface="Courier New Bold" charset="0"/>
              </a:rPr>
              <a:t>// - print 8-digit hex value</a:t>
            </a:r>
            <a:endParaRPr lang="en-US" sz="1400">
              <a:solidFill>
                <a:srgbClr val="000000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</a:t>
            </a:r>
            <a:r>
              <a:rPr lang="en-US" sz="1400">
                <a:solidFill>
                  <a:srgbClr val="000000"/>
                </a:solidFill>
                <a:latin typeface="Courier New Bold" charset="0"/>
                <a:cs typeface="Courier New Bold" charset="0"/>
                <a:sym typeface="Courier New Bold" charset="0"/>
              </a:rPr>
              <a:t>// - print a pointer value</a:t>
            </a:r>
            <a:endParaRPr lang="en-US" sz="1400">
              <a:solidFill>
                <a:srgbClr val="000000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unsigned long ulID = 0x12345678;</a:t>
            </a:r>
            <a:endParaRPr lang="en-US" sz="1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unsigned long *pID = &amp;ulID;</a:t>
            </a:r>
            <a:endParaRPr lang="en-US" sz="1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printf("hex value: 0x%02lX at address: %p\n", ulID, pID);</a:t>
            </a:r>
            <a:endParaRPr lang="en-US" sz="1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14344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9692BC6-D7A0-8A42-BB56-CAEF0D905E1D}" type="slidenum">
              <a:rPr lang="en-US"/>
              <a:pPr/>
              <a:t>41</a:t>
            </a:fld>
            <a:endParaRPr lang="en-US"/>
          </a:p>
        </p:txBody>
      </p:sp>
      <p:sp>
        <p:nvSpPr>
          <p:cNvPr id="14345" name="Footer Placeholder 8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262704637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536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536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536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5366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</a:t>
            </a:r>
            <a:r>
              <a:rPr lang="en-US">
                <a:latin typeface="Arial" charset="0"/>
              </a:rPr>
              <a:t> Basic Data Types</a:t>
            </a:r>
          </a:p>
        </p:txBody>
      </p:sp>
      <p:sp>
        <p:nvSpPr>
          <p:cNvPr id="15367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 sz="1400">
                <a:solidFill>
                  <a:srgbClr val="000000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1400">
                <a:solidFill>
                  <a:srgbClr val="000000"/>
                </a:solidFill>
                <a:latin typeface="Courier New Bold" charset="0"/>
                <a:cs typeface="Courier New Bold" charset="0"/>
                <a:sym typeface="Courier New Bold" charset="0"/>
              </a:rPr>
              <a:t>// - print 4 bytes of a 32-bit ulong value </a:t>
            </a:r>
            <a:endParaRPr lang="en-US" sz="1400">
              <a:solidFill>
                <a:srgbClr val="000000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400">
                <a:solidFill>
                  <a:srgbClr val="000000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1400">
                <a:solidFill>
                  <a:srgbClr val="000000"/>
                </a:solidFill>
                <a:latin typeface="Courier New Bold" charset="0"/>
                <a:cs typeface="Courier New Bold" charset="0"/>
                <a:sym typeface="Courier New Bold" charset="0"/>
              </a:rPr>
              <a:t>// as separate hex values </a:t>
            </a:r>
            <a:endParaRPr lang="en-US" sz="1400">
              <a:solidFill>
                <a:srgbClr val="000000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4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1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unsigned char uc1 = (unsigned char)(ulID &gt;&gt; 24); </a:t>
            </a:r>
            <a:endParaRPr lang="en-US" sz="1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4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1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unsigned char uc2 = (unsigned char)(ulID &gt;&gt; 16); </a:t>
            </a:r>
            <a:endParaRPr lang="en-US" sz="1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4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1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unsigned char uc3 = (unsigned char)(ulID &gt;&gt; 8); </a:t>
            </a:r>
            <a:endParaRPr lang="en-US" sz="1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4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1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unsigned char uc4 = (unsigned char)(ulID &gt;&gt; 0); </a:t>
            </a:r>
            <a:endParaRPr lang="en-US" sz="1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4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1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printf("hex bytes: %02X %02X %02X %02X\n",uc1,uc2,uc3,uc4); </a:t>
            </a:r>
            <a:endParaRPr lang="en-US" sz="1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400">
                <a:solidFill>
                  <a:srgbClr val="000000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1400">
                <a:solidFill>
                  <a:srgbClr val="000000"/>
                </a:solidFill>
                <a:latin typeface="Courier New Bold" charset="0"/>
                <a:cs typeface="Courier New Bold" charset="0"/>
                <a:sym typeface="Courier New Bold" charset="0"/>
              </a:rPr>
              <a:t>// - print double value like "70.35000" </a:t>
            </a:r>
            <a:endParaRPr lang="en-US" sz="1400">
              <a:solidFill>
                <a:srgbClr val="000000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4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1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double dTemp = 70.35; </a:t>
            </a:r>
            <a:endParaRPr lang="en-US" sz="1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4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1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printf("temperature: %5.5f\n", dTemp); </a:t>
            </a:r>
            <a:endParaRPr lang="en-US" sz="1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 </a:t>
            </a:r>
            <a:endParaRPr lang="en-US" sz="1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15368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7316FAD-8161-3C4F-A359-676E24422694}" type="slidenum">
              <a:rPr lang="en-US"/>
              <a:pPr/>
              <a:t>42</a:t>
            </a:fld>
            <a:endParaRPr lang="en-US"/>
          </a:p>
        </p:txBody>
      </p:sp>
      <p:sp>
        <p:nvSpPr>
          <p:cNvPr id="15369" name="Footer Placeholder 8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365067237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638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638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638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6390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</a:t>
            </a:r>
            <a:r>
              <a:rPr lang="en-US">
                <a:latin typeface="Arial" charset="0"/>
              </a:rPr>
              <a:t> Escape Sequences</a:t>
            </a:r>
          </a:p>
        </p:txBody>
      </p:sp>
      <p:sp>
        <p:nvSpPr>
          <p:cNvPr id="16391" name="Rectangle 7"/>
          <p:cNvSpPr>
            <a:spLocks noChangeArrowheads="1"/>
          </p:cNvSpPr>
          <p:nvPr>
            <p:ph type="body" idx="1"/>
          </p:nvPr>
        </p:nvSpPr>
        <p:spPr>
          <a:xfrm>
            <a:off x="838200" y="2019300"/>
            <a:ext cx="3181350" cy="4267200"/>
          </a:xfrm>
        </p:spPr>
        <p:txBody>
          <a:bodyPr rIns="132080"/>
          <a:lstStyle/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\a</a:t>
            </a:r>
            <a:r>
              <a:rPr lang="en-US" sz="1800">
                <a:latin typeface="Arial" charset="0"/>
              </a:rPr>
              <a:t> 		&lt;bell&gt;</a:t>
            </a: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\b</a:t>
            </a:r>
            <a:r>
              <a:rPr lang="en-US" sz="1800">
                <a:latin typeface="Arial" charset="0"/>
              </a:rPr>
              <a:t> 		&lt;backspace&gt;</a:t>
            </a: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\e</a:t>
            </a:r>
            <a:r>
              <a:rPr lang="en-US" sz="1800">
                <a:latin typeface="Arial" charset="0"/>
              </a:rPr>
              <a:t> 		&lt;escape&gt;</a:t>
            </a: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\f</a:t>
            </a:r>
            <a:r>
              <a:rPr lang="en-US" sz="1800">
                <a:latin typeface="Arial" charset="0"/>
              </a:rPr>
              <a:t>		&lt;form-feed&gt;</a:t>
            </a: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\n</a:t>
            </a:r>
            <a:r>
              <a:rPr lang="en-US" sz="1800">
                <a:solidFill>
                  <a:srgbClr val="0000FF"/>
                </a:solidFill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en-US" sz="1800">
                <a:latin typeface="Arial" charset="0"/>
              </a:rPr>
              <a:t>		&lt;new-line&gt; </a:t>
            </a: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\r</a:t>
            </a:r>
            <a:r>
              <a:rPr lang="en-US" sz="1800">
                <a:solidFill>
                  <a:srgbClr val="0000FF"/>
                </a:solidFill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en-US" sz="1800">
                <a:latin typeface="Arial" charset="0"/>
              </a:rPr>
              <a:t>		&lt;carriage return&gt;</a:t>
            </a: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\t</a:t>
            </a:r>
            <a:r>
              <a:rPr lang="en-US" sz="1800">
                <a:solidFill>
                  <a:srgbClr val="0000FF"/>
                </a:solidFill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en-US" sz="1800">
                <a:latin typeface="Arial" charset="0"/>
              </a:rPr>
              <a:t>		&lt;tab&gt;</a:t>
            </a: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\v</a:t>
            </a:r>
            <a:r>
              <a:rPr lang="en-US" sz="1800">
                <a:solidFill>
                  <a:srgbClr val="0000FF"/>
                </a:solidFill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en-US" sz="1800">
                <a:latin typeface="Arial" charset="0"/>
              </a:rPr>
              <a:t>		&lt;vertical tab&gt;</a:t>
            </a: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\0</a:t>
            </a:r>
            <a:r>
              <a:rPr lang="en-US" sz="1800">
                <a:solidFill>
                  <a:srgbClr val="0000FF"/>
                </a:solidFill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en-US" sz="1800">
                <a:latin typeface="Arial" charset="0"/>
              </a:rPr>
              <a:t>		&lt;null&gt; </a:t>
            </a:r>
          </a:p>
        </p:txBody>
      </p:sp>
      <p:sp>
        <p:nvSpPr>
          <p:cNvPr id="16392" name="Rectangle 8"/>
          <p:cNvSpPr>
            <a:spLocks/>
          </p:cNvSpPr>
          <p:nvPr/>
        </p:nvSpPr>
        <p:spPr bwMode="auto">
          <a:xfrm>
            <a:off x="4800600" y="1981200"/>
            <a:ext cx="3967163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487363" indent="-447675">
              <a:spcBef>
                <a:spcPts val="45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\'</a:t>
            </a:r>
            <a:r>
              <a:rPr lang="en-US">
                <a:latin typeface="Arial" charset="0"/>
                <a:cs typeface="Arial" charset="0"/>
                <a:sym typeface="Arial" charset="0"/>
              </a:rPr>
              <a:t> 		&lt;single quote&gt;</a:t>
            </a:r>
          </a:p>
          <a:p>
            <a:pPr marL="487363" indent="-447675">
              <a:spcBef>
                <a:spcPts val="45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\</a:t>
            </a:r>
            <a:r>
              <a:rPr lang="ja-JP" alt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”</a:t>
            </a:r>
            <a:r>
              <a:rPr lang="en-US">
                <a:latin typeface="Arial" charset="0"/>
                <a:cs typeface="Arial" charset="0"/>
                <a:sym typeface="Arial" charset="0"/>
              </a:rPr>
              <a:t> 		&lt;double quote&gt;</a:t>
            </a:r>
          </a:p>
          <a:p>
            <a:pPr marL="487363" indent="-447675">
              <a:spcBef>
                <a:spcPts val="45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\?</a:t>
            </a:r>
            <a:r>
              <a:rPr lang="en-US">
                <a:latin typeface="Arial" charset="0"/>
                <a:cs typeface="Arial" charset="0"/>
                <a:sym typeface="Arial" charset="0"/>
              </a:rPr>
              <a:t> 		&lt;question mark&gt;</a:t>
            </a:r>
          </a:p>
          <a:p>
            <a:pPr marL="487363" indent="-447675">
              <a:spcBef>
                <a:spcPts val="45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\\</a:t>
            </a:r>
            <a:r>
              <a:rPr lang="en-US">
                <a:solidFill>
                  <a:srgbClr val="0000FF"/>
                </a:solidFill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en-US">
                <a:latin typeface="Arial" charset="0"/>
                <a:cs typeface="Arial" charset="0"/>
                <a:sym typeface="Arial" charset="0"/>
              </a:rPr>
              <a:t>		&lt;backslash&gt; </a:t>
            </a:r>
          </a:p>
          <a:p>
            <a:pPr marL="487363" indent="-447675">
              <a:spcBef>
                <a:spcPts val="45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\</a:t>
            </a:r>
            <a:r>
              <a:rPr lang="en-US">
                <a:solidFill>
                  <a:srgbClr val="0000FF"/>
                </a:solidFill>
                <a:latin typeface="Courier New Bold Italic" charset="0"/>
                <a:cs typeface="Courier New Bold Italic" charset="0"/>
                <a:sym typeface="Courier New Bold Italic" charset="0"/>
              </a:rPr>
              <a:t>num</a:t>
            </a:r>
            <a:r>
              <a:rPr lang="en-US">
                <a:solidFill>
                  <a:srgbClr val="0000FF"/>
                </a:solidFill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en-US">
                <a:latin typeface="Arial" charset="0"/>
                <a:cs typeface="Arial" charset="0"/>
                <a:sym typeface="Arial" charset="0"/>
              </a:rPr>
              <a:t>	an 8-bit character  with </a:t>
            </a:r>
            <a:br>
              <a:rPr lang="en-US">
                <a:latin typeface="Arial" charset="0"/>
                <a:cs typeface="Arial" charset="0"/>
                <a:sym typeface="Arial" charset="0"/>
              </a:rPr>
            </a:br>
            <a:r>
              <a:rPr lang="en-US">
                <a:latin typeface="Arial" charset="0"/>
                <a:cs typeface="Arial" charset="0"/>
                <a:sym typeface="Arial" charset="0"/>
              </a:rPr>
              <a:t>	ASCII value of the 1-, </a:t>
            </a:r>
            <a:br>
              <a:rPr lang="en-US">
                <a:latin typeface="Arial" charset="0"/>
                <a:cs typeface="Arial" charset="0"/>
                <a:sym typeface="Arial" charset="0"/>
              </a:rPr>
            </a:br>
            <a:r>
              <a:rPr lang="en-US">
                <a:latin typeface="Arial" charset="0"/>
                <a:cs typeface="Arial" charset="0"/>
                <a:sym typeface="Arial" charset="0"/>
              </a:rPr>
              <a:t>	2-, or 3-digit octal </a:t>
            </a:r>
            <a:br>
              <a:rPr lang="en-US">
                <a:latin typeface="Arial" charset="0"/>
                <a:cs typeface="Arial" charset="0"/>
                <a:sym typeface="Arial" charset="0"/>
              </a:rPr>
            </a:br>
            <a:r>
              <a:rPr lang="en-US">
                <a:latin typeface="Arial" charset="0"/>
                <a:cs typeface="Arial" charset="0"/>
                <a:sym typeface="Arial" charset="0"/>
              </a:rPr>
              <a:t>	number </a:t>
            </a:r>
            <a:r>
              <a:rPr lang="en-US">
                <a:latin typeface="Arial Italic" charset="0"/>
                <a:cs typeface="Arial Italic" charset="0"/>
                <a:sym typeface="Arial Italic" charset="0"/>
              </a:rPr>
              <a:t>num</a:t>
            </a:r>
            <a:r>
              <a:rPr lang="en-US">
                <a:latin typeface="Arial" charset="0"/>
                <a:cs typeface="Arial" charset="0"/>
                <a:sym typeface="Arial" charset="0"/>
              </a:rPr>
              <a:t>.</a:t>
            </a:r>
          </a:p>
          <a:p>
            <a:pPr marL="487363" indent="-447675">
              <a:spcBef>
                <a:spcPts val="450"/>
              </a:spcBef>
            </a:pPr>
            <a:endParaRPr lang="en-US">
              <a:latin typeface="Arial" charset="0"/>
              <a:cs typeface="Arial" charset="0"/>
              <a:sym typeface="Arial" charset="0"/>
            </a:endParaRPr>
          </a:p>
          <a:p>
            <a:pPr marL="487363" indent="-447675">
              <a:spcBef>
                <a:spcPts val="45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%%</a:t>
            </a:r>
            <a:r>
              <a:rPr lang="en-US">
                <a:solidFill>
                  <a:srgbClr val="0000FF"/>
                </a:solidFill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en-US">
                <a:latin typeface="Arial" charset="0"/>
                <a:cs typeface="Arial" charset="0"/>
                <a:sym typeface="Arial" charset="0"/>
              </a:rPr>
              <a:t>		&lt;percent&gt; </a:t>
            </a:r>
          </a:p>
        </p:txBody>
      </p:sp>
      <p:sp>
        <p:nvSpPr>
          <p:cNvPr id="16393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73A391E-DF9B-134E-A177-3B4555548BFC}" type="slidenum">
              <a:rPr lang="en-US"/>
              <a:pPr/>
              <a:t>43</a:t>
            </a:fld>
            <a:endParaRPr lang="en-US"/>
          </a:p>
        </p:txBody>
      </p:sp>
      <p:sp>
        <p:nvSpPr>
          <p:cNvPr id="16394" name="Footer Placeholder 9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412552181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45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46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46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462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Common Pitfall</a:t>
            </a:r>
          </a:p>
        </p:txBody>
      </p:sp>
      <p:sp>
        <p:nvSpPr>
          <p:cNvPr id="19463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Returning a variable in stack memory from a function</a:t>
            </a:r>
          </a:p>
          <a:p>
            <a:pPr marL="928688" lvl="1"/>
            <a:r>
              <a:rPr lang="en-US">
                <a:latin typeface="Arial" charset="0"/>
              </a:rPr>
              <a:t>What is stack memory?</a:t>
            </a:r>
          </a:p>
        </p:txBody>
      </p:sp>
      <p:sp>
        <p:nvSpPr>
          <p:cNvPr id="19464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69AD4A2-F287-604B-BFD6-DC7F2443E9CF}" type="slidenum">
              <a:rPr lang="en-US"/>
              <a:pPr/>
              <a:t>44</a:t>
            </a:fld>
            <a:endParaRPr lang="en-US"/>
          </a:p>
        </p:txBody>
      </p:sp>
      <p:sp>
        <p:nvSpPr>
          <p:cNvPr id="19465" name="Footer Placeholder 8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303154612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48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48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48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486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Sample layout for program image in main memory</a:t>
            </a:r>
          </a:p>
        </p:txBody>
      </p:sp>
      <p:grpSp>
        <p:nvGrpSpPr>
          <p:cNvPr id="20487" name="Group 9"/>
          <p:cNvGrpSpPr>
            <a:grpSpLocks/>
          </p:cNvGrpSpPr>
          <p:nvPr/>
        </p:nvGrpSpPr>
        <p:grpSpPr bwMode="auto">
          <a:xfrm>
            <a:off x="2133600" y="2057400"/>
            <a:ext cx="2286000" cy="533400"/>
            <a:chOff x="0" y="0"/>
            <a:chExt cx="1440" cy="336"/>
          </a:xfrm>
        </p:grpSpPr>
        <p:sp>
          <p:nvSpPr>
            <p:cNvPr id="20513" name="Rectangle 10"/>
            <p:cNvSpPr>
              <a:spLocks/>
            </p:cNvSpPr>
            <p:nvPr/>
          </p:nvSpPr>
          <p:spPr bwMode="auto">
            <a:xfrm>
              <a:off x="0" y="0"/>
              <a:ext cx="1440" cy="336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0514" name="Rectangle 11"/>
            <p:cNvSpPr>
              <a:spLocks/>
            </p:cNvSpPr>
            <p:nvPr/>
          </p:nvSpPr>
          <p:spPr bwMode="auto">
            <a:xfrm>
              <a:off x="0" y="8"/>
              <a:ext cx="1440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 anchor="ctr"/>
            <a:lstStyle/>
            <a:p>
              <a:pPr marL="39688"/>
              <a:r>
                <a:rPr lang="en-US" sz="1400">
                  <a:latin typeface="Arial" charset="0"/>
                  <a:cs typeface="Arial" charset="0"/>
                  <a:sym typeface="Arial" charset="0"/>
                </a:rPr>
                <a:t>Command-line arguments and environment variables</a:t>
              </a:r>
            </a:p>
          </p:txBody>
        </p:sp>
      </p:grpSp>
      <p:sp>
        <p:nvSpPr>
          <p:cNvPr id="20488" name="Rectangle 12"/>
          <p:cNvSpPr>
            <a:spLocks/>
          </p:cNvSpPr>
          <p:nvPr/>
        </p:nvSpPr>
        <p:spPr bwMode="auto">
          <a:xfrm>
            <a:off x="2133600" y="2590800"/>
            <a:ext cx="2286000" cy="2133600"/>
          </a:xfrm>
          <a:prstGeom prst="rect">
            <a:avLst/>
          </a:prstGeom>
          <a:solidFill>
            <a:srgbClr val="FFF0C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20489" name="Group 13"/>
          <p:cNvGrpSpPr>
            <a:grpSpLocks/>
          </p:cNvGrpSpPr>
          <p:nvPr/>
        </p:nvGrpSpPr>
        <p:grpSpPr bwMode="auto">
          <a:xfrm>
            <a:off x="2133600" y="4724400"/>
            <a:ext cx="2286000" cy="533400"/>
            <a:chOff x="0" y="0"/>
            <a:chExt cx="1440" cy="336"/>
          </a:xfrm>
        </p:grpSpPr>
        <p:sp>
          <p:nvSpPr>
            <p:cNvPr id="20511" name="Rectangle 14"/>
            <p:cNvSpPr>
              <a:spLocks/>
            </p:cNvSpPr>
            <p:nvPr/>
          </p:nvSpPr>
          <p:spPr bwMode="auto">
            <a:xfrm>
              <a:off x="0" y="0"/>
              <a:ext cx="1440" cy="336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0512" name="Rectangle 15"/>
            <p:cNvSpPr>
              <a:spLocks/>
            </p:cNvSpPr>
            <p:nvPr/>
          </p:nvSpPr>
          <p:spPr bwMode="auto">
            <a:xfrm>
              <a:off x="0" y="72"/>
              <a:ext cx="14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 anchor="ctr"/>
            <a:lstStyle/>
            <a:p>
              <a:pPr marL="39688"/>
              <a:r>
                <a:rPr lang="en-US" sz="1400">
                  <a:latin typeface="Arial" charset="0"/>
                  <a:cs typeface="Arial" charset="0"/>
                  <a:sym typeface="Arial" charset="0"/>
                </a:rPr>
                <a:t>Uninitialized static data</a:t>
              </a:r>
            </a:p>
          </p:txBody>
        </p:sp>
      </p:grpSp>
      <p:grpSp>
        <p:nvGrpSpPr>
          <p:cNvPr id="20490" name="Group 16"/>
          <p:cNvGrpSpPr>
            <a:grpSpLocks/>
          </p:cNvGrpSpPr>
          <p:nvPr/>
        </p:nvGrpSpPr>
        <p:grpSpPr bwMode="auto">
          <a:xfrm>
            <a:off x="2133600" y="5257800"/>
            <a:ext cx="2286000" cy="533400"/>
            <a:chOff x="0" y="0"/>
            <a:chExt cx="1440" cy="336"/>
          </a:xfrm>
        </p:grpSpPr>
        <p:sp>
          <p:nvSpPr>
            <p:cNvPr id="20509" name="Rectangle 17"/>
            <p:cNvSpPr>
              <a:spLocks/>
            </p:cNvSpPr>
            <p:nvPr/>
          </p:nvSpPr>
          <p:spPr bwMode="auto">
            <a:xfrm>
              <a:off x="0" y="0"/>
              <a:ext cx="1440" cy="336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0510" name="Rectangle 18"/>
            <p:cNvSpPr>
              <a:spLocks/>
            </p:cNvSpPr>
            <p:nvPr/>
          </p:nvSpPr>
          <p:spPr bwMode="auto">
            <a:xfrm>
              <a:off x="0" y="72"/>
              <a:ext cx="14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 anchor="ctr"/>
            <a:lstStyle/>
            <a:p>
              <a:pPr marL="39688"/>
              <a:r>
                <a:rPr lang="en-US" sz="1400">
                  <a:latin typeface="Arial" charset="0"/>
                  <a:cs typeface="Arial" charset="0"/>
                  <a:sym typeface="Arial" charset="0"/>
                </a:rPr>
                <a:t>Initialized static data</a:t>
              </a:r>
            </a:p>
          </p:txBody>
        </p:sp>
      </p:grpSp>
      <p:grpSp>
        <p:nvGrpSpPr>
          <p:cNvPr id="20491" name="Group 19"/>
          <p:cNvGrpSpPr>
            <a:grpSpLocks/>
          </p:cNvGrpSpPr>
          <p:nvPr/>
        </p:nvGrpSpPr>
        <p:grpSpPr bwMode="auto">
          <a:xfrm>
            <a:off x="2133600" y="5791200"/>
            <a:ext cx="2286000" cy="533400"/>
            <a:chOff x="0" y="0"/>
            <a:chExt cx="1440" cy="336"/>
          </a:xfrm>
        </p:grpSpPr>
        <p:sp>
          <p:nvSpPr>
            <p:cNvPr id="20507" name="Rectangle 20"/>
            <p:cNvSpPr>
              <a:spLocks/>
            </p:cNvSpPr>
            <p:nvPr/>
          </p:nvSpPr>
          <p:spPr bwMode="auto">
            <a:xfrm>
              <a:off x="0" y="0"/>
              <a:ext cx="1440" cy="336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0508" name="Rectangle 21"/>
            <p:cNvSpPr>
              <a:spLocks/>
            </p:cNvSpPr>
            <p:nvPr/>
          </p:nvSpPr>
          <p:spPr bwMode="auto">
            <a:xfrm>
              <a:off x="0" y="72"/>
              <a:ext cx="14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 anchor="ctr"/>
            <a:lstStyle/>
            <a:p>
              <a:pPr marL="39688"/>
              <a:r>
                <a:rPr lang="en-US" sz="1400">
                  <a:latin typeface="Arial" charset="0"/>
                  <a:cs typeface="Arial" charset="0"/>
                  <a:sym typeface="Arial" charset="0"/>
                </a:rPr>
                <a:t>Program text</a:t>
              </a:r>
            </a:p>
          </p:txBody>
        </p:sp>
      </p:grpSp>
      <p:sp>
        <p:nvSpPr>
          <p:cNvPr id="20492" name="Rectangle 22"/>
          <p:cNvSpPr>
            <a:spLocks/>
          </p:cNvSpPr>
          <p:nvPr/>
        </p:nvSpPr>
        <p:spPr bwMode="auto">
          <a:xfrm>
            <a:off x="4800600" y="5257800"/>
            <a:ext cx="40513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lnSpc>
                <a:spcPct val="90000"/>
              </a:lnSpc>
            </a:pPr>
            <a:r>
              <a:rPr lang="en-US" sz="2400">
                <a:latin typeface="Arial" charset="0"/>
                <a:cs typeface="Arial" charset="0"/>
                <a:sym typeface="Arial" charset="0"/>
              </a:rPr>
              <a:t>Processes have three segments: text, data, stack</a:t>
            </a:r>
          </a:p>
        </p:txBody>
      </p:sp>
      <p:sp>
        <p:nvSpPr>
          <p:cNvPr id="20493" name="Rectangle 23"/>
          <p:cNvSpPr>
            <a:spLocks/>
          </p:cNvSpPr>
          <p:nvPr/>
        </p:nvSpPr>
        <p:spPr bwMode="auto">
          <a:xfrm>
            <a:off x="2895600" y="2667000"/>
            <a:ext cx="68738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stack</a:t>
            </a:r>
          </a:p>
        </p:txBody>
      </p:sp>
      <p:sp>
        <p:nvSpPr>
          <p:cNvPr id="20494" name="Rectangle 24"/>
          <p:cNvSpPr>
            <a:spLocks/>
          </p:cNvSpPr>
          <p:nvPr/>
        </p:nvSpPr>
        <p:spPr bwMode="auto">
          <a:xfrm>
            <a:off x="2906713" y="4278313"/>
            <a:ext cx="661987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heap</a:t>
            </a:r>
          </a:p>
        </p:txBody>
      </p:sp>
      <p:sp>
        <p:nvSpPr>
          <p:cNvPr id="20495" name="Line 25"/>
          <p:cNvSpPr>
            <a:spLocks noChangeShapeType="1"/>
          </p:cNvSpPr>
          <p:nvPr/>
        </p:nvSpPr>
        <p:spPr bwMode="auto">
          <a:xfrm flipH="1">
            <a:off x="3238500" y="2971800"/>
            <a:ext cx="1588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496" name="Line 26"/>
          <p:cNvSpPr>
            <a:spLocks noChangeShapeType="1"/>
          </p:cNvSpPr>
          <p:nvPr/>
        </p:nvSpPr>
        <p:spPr bwMode="auto">
          <a:xfrm rot="10800000">
            <a:off x="3238500" y="4038600"/>
            <a:ext cx="1588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497" name="Rectangle 27"/>
          <p:cNvSpPr>
            <a:spLocks/>
          </p:cNvSpPr>
          <p:nvPr/>
        </p:nvSpPr>
        <p:spPr bwMode="auto">
          <a:xfrm>
            <a:off x="4800600" y="4648200"/>
            <a:ext cx="33432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Allocations from</a:t>
            </a:r>
            <a:r>
              <a:rPr lang="en-US">
                <a:cs typeface="Tahoma" charset="0"/>
              </a:rPr>
              <a:t> </a:t>
            </a:r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malloc</a:t>
            </a:r>
            <a:r>
              <a:rPr lang="en-US">
                <a:cs typeface="Tahoma" charset="0"/>
              </a:rPr>
              <a:t> </a:t>
            </a:r>
            <a:r>
              <a:rPr lang="en-US">
                <a:latin typeface="Arial" charset="0"/>
                <a:cs typeface="Arial" charset="0"/>
                <a:sym typeface="Arial" charset="0"/>
              </a:rPr>
              <a:t>family</a:t>
            </a:r>
          </a:p>
        </p:txBody>
      </p:sp>
      <p:sp>
        <p:nvSpPr>
          <p:cNvPr id="20498" name="Rectangle 28"/>
          <p:cNvSpPr>
            <a:spLocks/>
          </p:cNvSpPr>
          <p:nvPr/>
        </p:nvSpPr>
        <p:spPr bwMode="auto">
          <a:xfrm>
            <a:off x="4799013" y="2514600"/>
            <a:ext cx="3878262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Activation record for function calls</a:t>
            </a:r>
          </a:p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(return address, parameters, </a:t>
            </a:r>
          </a:p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saved registers, automatic variables)</a:t>
            </a:r>
          </a:p>
        </p:txBody>
      </p:sp>
      <p:sp>
        <p:nvSpPr>
          <p:cNvPr id="20499" name="Rectangle 29"/>
          <p:cNvSpPr>
            <a:spLocks/>
          </p:cNvSpPr>
          <p:nvPr/>
        </p:nvSpPr>
        <p:spPr bwMode="auto">
          <a:xfrm>
            <a:off x="4800600" y="2133600"/>
            <a:ext cx="29114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argc, argv</a:t>
            </a:r>
            <a:r>
              <a:rPr lang="en-US">
                <a:latin typeface="Arial" charset="0"/>
                <a:cs typeface="Arial" charset="0"/>
                <a:sym typeface="Arial" charset="0"/>
              </a:rPr>
              <a:t>, environment</a:t>
            </a:r>
          </a:p>
        </p:txBody>
      </p:sp>
      <p:sp>
        <p:nvSpPr>
          <p:cNvPr id="20500" name="Rectangle 30"/>
          <p:cNvSpPr>
            <a:spLocks/>
          </p:cNvSpPr>
          <p:nvPr/>
        </p:nvSpPr>
        <p:spPr bwMode="auto">
          <a:xfrm>
            <a:off x="631825" y="2133600"/>
            <a:ext cx="150336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High address</a:t>
            </a:r>
          </a:p>
        </p:txBody>
      </p:sp>
      <p:sp>
        <p:nvSpPr>
          <p:cNvPr id="20501" name="Rectangle 31"/>
          <p:cNvSpPr>
            <a:spLocks/>
          </p:cNvSpPr>
          <p:nvPr/>
        </p:nvSpPr>
        <p:spPr bwMode="auto">
          <a:xfrm>
            <a:off x="685800" y="5867400"/>
            <a:ext cx="14509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Low address</a:t>
            </a:r>
          </a:p>
        </p:txBody>
      </p:sp>
      <p:sp>
        <p:nvSpPr>
          <p:cNvPr id="20502" name="Line 32"/>
          <p:cNvSpPr>
            <a:spLocks noChangeShapeType="1"/>
          </p:cNvSpPr>
          <p:nvPr/>
        </p:nvSpPr>
        <p:spPr bwMode="auto">
          <a:xfrm flipH="1">
            <a:off x="4495800" y="4800600"/>
            <a:ext cx="30480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503" name="Line 33"/>
          <p:cNvSpPr>
            <a:spLocks noChangeShapeType="1"/>
          </p:cNvSpPr>
          <p:nvPr/>
        </p:nvSpPr>
        <p:spPr bwMode="auto">
          <a:xfrm flipH="1">
            <a:off x="4495800" y="2743200"/>
            <a:ext cx="30480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504" name="Line 34"/>
          <p:cNvSpPr>
            <a:spLocks noChangeShapeType="1"/>
          </p:cNvSpPr>
          <p:nvPr/>
        </p:nvSpPr>
        <p:spPr bwMode="auto">
          <a:xfrm flipH="1">
            <a:off x="4495800" y="2286000"/>
            <a:ext cx="30480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505" name="Slide Number Placeholder 3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7F39EAD-A297-0347-8089-42CB010AFFFB}" type="slidenum">
              <a:rPr lang="en-US"/>
              <a:pPr/>
              <a:t>45</a:t>
            </a:fld>
            <a:endParaRPr lang="en-US"/>
          </a:p>
        </p:txBody>
      </p:sp>
      <p:sp>
        <p:nvSpPr>
          <p:cNvPr id="20506" name="Footer Placeholder 3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395155741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50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50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50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510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Example</a:t>
            </a:r>
          </a:p>
        </p:txBody>
      </p:sp>
      <p:sp>
        <p:nvSpPr>
          <p:cNvPr id="21511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b()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/* … */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a()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/* … */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b();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main(int argc, 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**argv)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/* … */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a();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grpSp>
        <p:nvGrpSpPr>
          <p:cNvPr id="21512" name="Group 10"/>
          <p:cNvGrpSpPr>
            <a:grpSpLocks/>
          </p:cNvGrpSpPr>
          <p:nvPr/>
        </p:nvGrpSpPr>
        <p:grpSpPr bwMode="auto">
          <a:xfrm>
            <a:off x="6019800" y="5334000"/>
            <a:ext cx="2286000" cy="1066800"/>
            <a:chOff x="0" y="0"/>
            <a:chExt cx="1440" cy="672"/>
          </a:xfrm>
        </p:grpSpPr>
        <p:sp>
          <p:nvSpPr>
            <p:cNvPr id="21518" name="Rectangle 11"/>
            <p:cNvSpPr>
              <a:spLocks/>
            </p:cNvSpPr>
            <p:nvPr/>
          </p:nvSpPr>
          <p:spPr bwMode="auto">
            <a:xfrm>
              <a:off x="0" y="0"/>
              <a:ext cx="1440" cy="672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1519" name="Rectangle 12"/>
            <p:cNvSpPr>
              <a:spLocks/>
            </p:cNvSpPr>
            <p:nvPr/>
          </p:nvSpPr>
          <p:spPr bwMode="auto">
            <a:xfrm>
              <a:off x="0" y="0"/>
              <a:ext cx="144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main()</a:t>
              </a:r>
            </a:p>
          </p:txBody>
        </p:sp>
      </p:grpSp>
      <p:sp>
        <p:nvSpPr>
          <p:cNvPr id="21513" name="Rectangle 13"/>
          <p:cNvSpPr>
            <a:spLocks/>
          </p:cNvSpPr>
          <p:nvPr/>
        </p:nvSpPr>
        <p:spPr bwMode="auto">
          <a:xfrm>
            <a:off x="5029200" y="4953000"/>
            <a:ext cx="167798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Stack Memory:</a:t>
            </a:r>
          </a:p>
        </p:txBody>
      </p:sp>
      <p:sp>
        <p:nvSpPr>
          <p:cNvPr id="21514" name="Rectangle 14"/>
          <p:cNvSpPr>
            <a:spLocks/>
          </p:cNvSpPr>
          <p:nvPr/>
        </p:nvSpPr>
        <p:spPr bwMode="auto">
          <a:xfrm>
            <a:off x="4876800" y="1752600"/>
            <a:ext cx="4051300" cy="119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400">
                <a:latin typeface="Arial" charset="0"/>
                <a:cs typeface="Arial" charset="0"/>
                <a:sym typeface="Arial" charset="0"/>
              </a:rPr>
              <a:t>At the beginning of the program, the OS creates a stack frame for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main()</a:t>
            </a:r>
          </a:p>
        </p:txBody>
      </p:sp>
      <p:sp>
        <p:nvSpPr>
          <p:cNvPr id="21515" name="AutoShape 15"/>
          <p:cNvSpPr>
            <a:spLocks/>
          </p:cNvSpPr>
          <p:nvPr/>
        </p:nvSpPr>
        <p:spPr bwMode="auto">
          <a:xfrm>
            <a:off x="0" y="4876800"/>
            <a:ext cx="914400" cy="4572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0" y="5400"/>
                </a:lnTo>
                <a:lnTo>
                  <a:pt x="2700" y="10800"/>
                </a:lnTo>
                <a:lnTo>
                  <a:pt x="0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  <a:moveTo>
                  <a:pt x="16200" y="0"/>
                </a:moveTo>
              </a:path>
            </a:pathLst>
          </a:cu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516" name="Slide Number Placeholder 1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AB39868-E2CB-234E-AA84-10F6C1F58B69}" type="slidenum">
              <a:rPr lang="en-US"/>
              <a:pPr/>
              <a:t>46</a:t>
            </a:fld>
            <a:endParaRPr lang="en-US"/>
          </a:p>
        </p:txBody>
      </p:sp>
      <p:sp>
        <p:nvSpPr>
          <p:cNvPr id="21517" name="Footer Placeholder 1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135350921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531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532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533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534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Example</a:t>
            </a:r>
          </a:p>
        </p:txBody>
      </p:sp>
      <p:sp>
        <p:nvSpPr>
          <p:cNvPr id="22535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b()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/* … */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a()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/* … */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b();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main(int argc, 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**argv)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/* … */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a();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grpSp>
        <p:nvGrpSpPr>
          <p:cNvPr id="22536" name="Group 10"/>
          <p:cNvGrpSpPr>
            <a:grpSpLocks/>
          </p:cNvGrpSpPr>
          <p:nvPr/>
        </p:nvGrpSpPr>
        <p:grpSpPr bwMode="auto">
          <a:xfrm>
            <a:off x="6019800" y="5334000"/>
            <a:ext cx="2286000" cy="1066800"/>
            <a:chOff x="0" y="0"/>
            <a:chExt cx="1440" cy="672"/>
          </a:xfrm>
        </p:grpSpPr>
        <p:sp>
          <p:nvSpPr>
            <p:cNvPr id="22546" name="Rectangle 11"/>
            <p:cNvSpPr>
              <a:spLocks/>
            </p:cNvSpPr>
            <p:nvPr/>
          </p:nvSpPr>
          <p:spPr bwMode="auto">
            <a:xfrm>
              <a:off x="0" y="0"/>
              <a:ext cx="1440" cy="672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2547" name="Rectangle 12"/>
            <p:cNvSpPr>
              <a:spLocks/>
            </p:cNvSpPr>
            <p:nvPr/>
          </p:nvSpPr>
          <p:spPr bwMode="auto">
            <a:xfrm>
              <a:off x="0" y="0"/>
              <a:ext cx="144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main()</a:t>
              </a:r>
            </a:p>
          </p:txBody>
        </p:sp>
      </p:grpSp>
      <p:sp>
        <p:nvSpPr>
          <p:cNvPr id="22537" name="Rectangle 13"/>
          <p:cNvSpPr>
            <a:spLocks/>
          </p:cNvSpPr>
          <p:nvPr/>
        </p:nvSpPr>
        <p:spPr bwMode="auto">
          <a:xfrm>
            <a:off x="4876800" y="1752600"/>
            <a:ext cx="40513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400">
                <a:latin typeface="Arial" charset="0"/>
                <a:cs typeface="Arial" charset="0"/>
                <a:sym typeface="Arial" charset="0"/>
              </a:rPr>
              <a:t>When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a() </a:t>
            </a:r>
            <a:r>
              <a:rPr lang="en-US" sz="2400">
                <a:latin typeface="Arial" charset="0"/>
                <a:cs typeface="Arial" charset="0"/>
                <a:sym typeface="Arial" charset="0"/>
              </a:rPr>
              <a:t>is called, the OS creates a new stack frame for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a()</a:t>
            </a:r>
          </a:p>
        </p:txBody>
      </p:sp>
      <p:sp>
        <p:nvSpPr>
          <p:cNvPr id="22538" name="AutoShape 14"/>
          <p:cNvSpPr>
            <a:spLocks/>
          </p:cNvSpPr>
          <p:nvPr/>
        </p:nvSpPr>
        <p:spPr bwMode="auto">
          <a:xfrm>
            <a:off x="381000" y="5867400"/>
            <a:ext cx="914400" cy="4572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0" y="5400"/>
                </a:lnTo>
                <a:lnTo>
                  <a:pt x="2700" y="10800"/>
                </a:lnTo>
                <a:lnTo>
                  <a:pt x="0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  <a:moveTo>
                  <a:pt x="16200" y="0"/>
                </a:moveTo>
              </a:path>
            </a:pathLst>
          </a:cu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539" name="Rectangle 15"/>
          <p:cNvSpPr>
            <a:spLocks/>
          </p:cNvSpPr>
          <p:nvPr/>
        </p:nvSpPr>
        <p:spPr bwMode="auto">
          <a:xfrm>
            <a:off x="5029200" y="4343400"/>
            <a:ext cx="167798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Stack Memory:</a:t>
            </a:r>
          </a:p>
        </p:txBody>
      </p:sp>
      <p:grpSp>
        <p:nvGrpSpPr>
          <p:cNvPr id="22540" name="Group 16"/>
          <p:cNvGrpSpPr>
            <a:grpSpLocks/>
          </p:cNvGrpSpPr>
          <p:nvPr/>
        </p:nvGrpSpPr>
        <p:grpSpPr bwMode="auto">
          <a:xfrm>
            <a:off x="6019800" y="4724400"/>
            <a:ext cx="2286000" cy="609600"/>
            <a:chOff x="0" y="0"/>
            <a:chExt cx="1440" cy="384"/>
          </a:xfrm>
        </p:grpSpPr>
        <p:sp>
          <p:nvSpPr>
            <p:cNvPr id="22544" name="Rectangle 17"/>
            <p:cNvSpPr>
              <a:spLocks/>
            </p:cNvSpPr>
            <p:nvPr/>
          </p:nvSpPr>
          <p:spPr bwMode="auto">
            <a:xfrm>
              <a:off x="0" y="0"/>
              <a:ext cx="1440" cy="38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2545" name="Rectangle 18"/>
            <p:cNvSpPr>
              <a:spLocks/>
            </p:cNvSpPr>
            <p:nvPr/>
          </p:nvSpPr>
          <p:spPr bwMode="auto">
            <a:xfrm>
              <a:off x="0" y="0"/>
              <a:ext cx="144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a()</a:t>
              </a:r>
            </a:p>
          </p:txBody>
        </p:sp>
      </p:grpSp>
      <p:sp>
        <p:nvSpPr>
          <p:cNvPr id="22541" name="AutoShape 19"/>
          <p:cNvSpPr>
            <a:spLocks/>
          </p:cNvSpPr>
          <p:nvPr/>
        </p:nvSpPr>
        <p:spPr bwMode="auto">
          <a:xfrm>
            <a:off x="0" y="3200400"/>
            <a:ext cx="914400" cy="4572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0" y="5400"/>
                </a:lnTo>
                <a:lnTo>
                  <a:pt x="2700" y="10800"/>
                </a:lnTo>
                <a:lnTo>
                  <a:pt x="0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  <a:moveTo>
                  <a:pt x="16200" y="0"/>
                </a:moveTo>
              </a:path>
            </a:pathLst>
          </a:cu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542" name="Slide Number Placeholder 1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98D752F-9CB0-0042-8DB9-69CEA15035C8}" type="slidenum">
              <a:rPr lang="en-US"/>
              <a:pPr/>
              <a:t>47</a:t>
            </a:fld>
            <a:endParaRPr lang="en-US"/>
          </a:p>
        </p:txBody>
      </p:sp>
      <p:sp>
        <p:nvSpPr>
          <p:cNvPr id="22543" name="Footer Placeholder 18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104480861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55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55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55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558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Example</a:t>
            </a:r>
          </a:p>
        </p:txBody>
      </p:sp>
      <p:sp>
        <p:nvSpPr>
          <p:cNvPr id="23559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b()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/* … */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a()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/* … */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b();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main(int argc, 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**argv)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/* … */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a();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grpSp>
        <p:nvGrpSpPr>
          <p:cNvPr id="23560" name="Group 10"/>
          <p:cNvGrpSpPr>
            <a:grpSpLocks/>
          </p:cNvGrpSpPr>
          <p:nvPr/>
        </p:nvGrpSpPr>
        <p:grpSpPr bwMode="auto">
          <a:xfrm>
            <a:off x="6019800" y="5334000"/>
            <a:ext cx="2286000" cy="1066800"/>
            <a:chOff x="0" y="0"/>
            <a:chExt cx="1440" cy="672"/>
          </a:xfrm>
        </p:grpSpPr>
        <p:sp>
          <p:nvSpPr>
            <p:cNvPr id="23574" name="Rectangle 11"/>
            <p:cNvSpPr>
              <a:spLocks/>
            </p:cNvSpPr>
            <p:nvPr/>
          </p:nvSpPr>
          <p:spPr bwMode="auto">
            <a:xfrm>
              <a:off x="0" y="0"/>
              <a:ext cx="1440" cy="672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3575" name="Rectangle 12"/>
            <p:cNvSpPr>
              <a:spLocks/>
            </p:cNvSpPr>
            <p:nvPr/>
          </p:nvSpPr>
          <p:spPr bwMode="auto">
            <a:xfrm>
              <a:off x="0" y="0"/>
              <a:ext cx="144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main()</a:t>
              </a:r>
            </a:p>
          </p:txBody>
        </p:sp>
      </p:grpSp>
      <p:sp>
        <p:nvSpPr>
          <p:cNvPr id="23561" name="Rectangle 13"/>
          <p:cNvSpPr>
            <a:spLocks/>
          </p:cNvSpPr>
          <p:nvPr/>
        </p:nvSpPr>
        <p:spPr bwMode="auto">
          <a:xfrm>
            <a:off x="4876800" y="1752600"/>
            <a:ext cx="40513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400">
                <a:latin typeface="Arial" charset="0"/>
                <a:cs typeface="Arial" charset="0"/>
                <a:sym typeface="Arial" charset="0"/>
              </a:rPr>
              <a:t>Same for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b() </a:t>
            </a:r>
            <a:r>
              <a:rPr lang="en-US" sz="2400">
                <a:cs typeface="Tahoma" charset="0"/>
              </a:rPr>
              <a:t>…</a:t>
            </a:r>
          </a:p>
        </p:txBody>
      </p:sp>
      <p:sp>
        <p:nvSpPr>
          <p:cNvPr id="23562" name="AutoShape 14"/>
          <p:cNvSpPr>
            <a:spLocks/>
          </p:cNvSpPr>
          <p:nvPr/>
        </p:nvSpPr>
        <p:spPr bwMode="auto">
          <a:xfrm>
            <a:off x="381000" y="5867400"/>
            <a:ext cx="914400" cy="4572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0" y="5400"/>
                </a:lnTo>
                <a:lnTo>
                  <a:pt x="2700" y="10800"/>
                </a:lnTo>
                <a:lnTo>
                  <a:pt x="0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  <a:moveTo>
                  <a:pt x="16200" y="0"/>
                </a:moveTo>
              </a:path>
            </a:pathLst>
          </a:cu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23563" name="Group 15"/>
          <p:cNvGrpSpPr>
            <a:grpSpLocks/>
          </p:cNvGrpSpPr>
          <p:nvPr/>
        </p:nvGrpSpPr>
        <p:grpSpPr bwMode="auto">
          <a:xfrm>
            <a:off x="6019800" y="4724400"/>
            <a:ext cx="2286000" cy="609600"/>
            <a:chOff x="0" y="0"/>
            <a:chExt cx="1440" cy="384"/>
          </a:xfrm>
        </p:grpSpPr>
        <p:sp>
          <p:nvSpPr>
            <p:cNvPr id="23572" name="Rectangle 16"/>
            <p:cNvSpPr>
              <a:spLocks/>
            </p:cNvSpPr>
            <p:nvPr/>
          </p:nvSpPr>
          <p:spPr bwMode="auto">
            <a:xfrm>
              <a:off x="0" y="0"/>
              <a:ext cx="1440" cy="38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3573" name="Rectangle 17"/>
            <p:cNvSpPr>
              <a:spLocks/>
            </p:cNvSpPr>
            <p:nvPr/>
          </p:nvSpPr>
          <p:spPr bwMode="auto">
            <a:xfrm>
              <a:off x="0" y="0"/>
              <a:ext cx="144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a()</a:t>
              </a:r>
            </a:p>
          </p:txBody>
        </p:sp>
      </p:grpSp>
      <p:sp>
        <p:nvSpPr>
          <p:cNvPr id="23564" name="AutoShape 18"/>
          <p:cNvSpPr>
            <a:spLocks/>
          </p:cNvSpPr>
          <p:nvPr/>
        </p:nvSpPr>
        <p:spPr bwMode="auto">
          <a:xfrm>
            <a:off x="381000" y="3886200"/>
            <a:ext cx="914400" cy="4572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0" y="5400"/>
                </a:lnTo>
                <a:lnTo>
                  <a:pt x="2700" y="10800"/>
                </a:lnTo>
                <a:lnTo>
                  <a:pt x="0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  <a:moveTo>
                  <a:pt x="16200" y="0"/>
                </a:moveTo>
              </a:path>
            </a:pathLst>
          </a:cu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565" name="Rectangle 19"/>
          <p:cNvSpPr>
            <a:spLocks/>
          </p:cNvSpPr>
          <p:nvPr/>
        </p:nvSpPr>
        <p:spPr bwMode="auto">
          <a:xfrm>
            <a:off x="5181600" y="3733800"/>
            <a:ext cx="167798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Stack Memory:</a:t>
            </a:r>
          </a:p>
        </p:txBody>
      </p:sp>
      <p:sp>
        <p:nvSpPr>
          <p:cNvPr id="23566" name="AutoShape 20"/>
          <p:cNvSpPr>
            <a:spLocks/>
          </p:cNvSpPr>
          <p:nvPr/>
        </p:nvSpPr>
        <p:spPr bwMode="auto">
          <a:xfrm>
            <a:off x="0" y="1905000"/>
            <a:ext cx="914400" cy="4572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0" y="5400"/>
                </a:lnTo>
                <a:lnTo>
                  <a:pt x="2700" y="10800"/>
                </a:lnTo>
                <a:lnTo>
                  <a:pt x="0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  <a:moveTo>
                  <a:pt x="16200" y="0"/>
                </a:moveTo>
              </a:path>
            </a:pathLst>
          </a:cu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23567" name="Group 21"/>
          <p:cNvGrpSpPr>
            <a:grpSpLocks/>
          </p:cNvGrpSpPr>
          <p:nvPr/>
        </p:nvGrpSpPr>
        <p:grpSpPr bwMode="auto">
          <a:xfrm>
            <a:off x="6019800" y="4114800"/>
            <a:ext cx="2286000" cy="609600"/>
            <a:chOff x="0" y="0"/>
            <a:chExt cx="1440" cy="384"/>
          </a:xfrm>
        </p:grpSpPr>
        <p:sp>
          <p:nvSpPr>
            <p:cNvPr id="23570" name="Rectangle 22"/>
            <p:cNvSpPr>
              <a:spLocks/>
            </p:cNvSpPr>
            <p:nvPr/>
          </p:nvSpPr>
          <p:spPr bwMode="auto">
            <a:xfrm>
              <a:off x="0" y="0"/>
              <a:ext cx="1440" cy="38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3571" name="Rectangle 23"/>
            <p:cNvSpPr>
              <a:spLocks/>
            </p:cNvSpPr>
            <p:nvPr/>
          </p:nvSpPr>
          <p:spPr bwMode="auto">
            <a:xfrm>
              <a:off x="0" y="0"/>
              <a:ext cx="144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b()</a:t>
              </a:r>
            </a:p>
          </p:txBody>
        </p:sp>
      </p:grpSp>
      <p:sp>
        <p:nvSpPr>
          <p:cNvPr id="23568" name="Slide Number Placeholder 2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B163D96-DE3F-D44A-828C-C4C5BC9A4DDA}" type="slidenum">
              <a:rPr lang="en-US"/>
              <a:pPr/>
              <a:t>48</a:t>
            </a:fld>
            <a:endParaRPr lang="en-US"/>
          </a:p>
        </p:txBody>
      </p:sp>
      <p:sp>
        <p:nvSpPr>
          <p:cNvPr id="23569" name="Footer Placeholder 2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232298746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57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58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58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582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Example</a:t>
            </a:r>
          </a:p>
        </p:txBody>
      </p:sp>
      <p:sp>
        <p:nvSpPr>
          <p:cNvPr id="24583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b()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/* … */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a()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/* … */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b();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main(int argc, 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**argv)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/* … */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a();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grpSp>
        <p:nvGrpSpPr>
          <p:cNvPr id="24584" name="Group 10"/>
          <p:cNvGrpSpPr>
            <a:grpSpLocks/>
          </p:cNvGrpSpPr>
          <p:nvPr/>
        </p:nvGrpSpPr>
        <p:grpSpPr bwMode="auto">
          <a:xfrm>
            <a:off x="6019800" y="5334000"/>
            <a:ext cx="2286000" cy="1066800"/>
            <a:chOff x="0" y="0"/>
            <a:chExt cx="1440" cy="672"/>
          </a:xfrm>
        </p:grpSpPr>
        <p:sp>
          <p:nvSpPr>
            <p:cNvPr id="24599" name="Rectangle 11"/>
            <p:cNvSpPr>
              <a:spLocks/>
            </p:cNvSpPr>
            <p:nvPr/>
          </p:nvSpPr>
          <p:spPr bwMode="auto">
            <a:xfrm>
              <a:off x="0" y="0"/>
              <a:ext cx="1440" cy="672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4600" name="Rectangle 12"/>
            <p:cNvSpPr>
              <a:spLocks/>
            </p:cNvSpPr>
            <p:nvPr/>
          </p:nvSpPr>
          <p:spPr bwMode="auto">
            <a:xfrm>
              <a:off x="0" y="0"/>
              <a:ext cx="144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main()</a:t>
              </a:r>
            </a:p>
          </p:txBody>
        </p:sp>
      </p:grpSp>
      <p:sp>
        <p:nvSpPr>
          <p:cNvPr id="24585" name="Rectangle 13"/>
          <p:cNvSpPr>
            <a:spLocks/>
          </p:cNvSpPr>
          <p:nvPr/>
        </p:nvSpPr>
        <p:spPr bwMode="auto">
          <a:xfrm>
            <a:off x="4876800" y="1752600"/>
            <a:ext cx="40513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400">
                <a:latin typeface="Arial" charset="0"/>
                <a:cs typeface="Arial" charset="0"/>
                <a:sym typeface="Arial" charset="0"/>
              </a:rPr>
              <a:t>When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b() </a:t>
            </a:r>
            <a:r>
              <a:rPr lang="en-US" sz="2400">
                <a:cs typeface="Tahoma" charset="0"/>
              </a:rPr>
              <a:t>finishes running, its stack frame is removed!</a:t>
            </a:r>
          </a:p>
        </p:txBody>
      </p:sp>
      <p:sp>
        <p:nvSpPr>
          <p:cNvPr id="24586" name="AutoShape 14"/>
          <p:cNvSpPr>
            <a:spLocks/>
          </p:cNvSpPr>
          <p:nvPr/>
        </p:nvSpPr>
        <p:spPr bwMode="auto">
          <a:xfrm>
            <a:off x="381000" y="5867400"/>
            <a:ext cx="914400" cy="4572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0" y="5400"/>
                </a:lnTo>
                <a:lnTo>
                  <a:pt x="2700" y="10800"/>
                </a:lnTo>
                <a:lnTo>
                  <a:pt x="0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  <a:moveTo>
                  <a:pt x="16200" y="0"/>
                </a:moveTo>
              </a:path>
            </a:pathLst>
          </a:cu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24587" name="Group 15"/>
          <p:cNvGrpSpPr>
            <a:grpSpLocks/>
          </p:cNvGrpSpPr>
          <p:nvPr/>
        </p:nvGrpSpPr>
        <p:grpSpPr bwMode="auto">
          <a:xfrm>
            <a:off x="6019800" y="4724400"/>
            <a:ext cx="2286000" cy="609600"/>
            <a:chOff x="0" y="0"/>
            <a:chExt cx="1440" cy="384"/>
          </a:xfrm>
        </p:grpSpPr>
        <p:sp>
          <p:nvSpPr>
            <p:cNvPr id="24597" name="Rectangle 16"/>
            <p:cNvSpPr>
              <a:spLocks/>
            </p:cNvSpPr>
            <p:nvPr/>
          </p:nvSpPr>
          <p:spPr bwMode="auto">
            <a:xfrm>
              <a:off x="0" y="0"/>
              <a:ext cx="1440" cy="38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4598" name="Rectangle 17"/>
            <p:cNvSpPr>
              <a:spLocks/>
            </p:cNvSpPr>
            <p:nvPr/>
          </p:nvSpPr>
          <p:spPr bwMode="auto">
            <a:xfrm>
              <a:off x="0" y="0"/>
              <a:ext cx="144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a()</a:t>
              </a:r>
            </a:p>
          </p:txBody>
        </p:sp>
      </p:grpSp>
      <p:sp>
        <p:nvSpPr>
          <p:cNvPr id="24588" name="AutoShape 18"/>
          <p:cNvSpPr>
            <a:spLocks/>
          </p:cNvSpPr>
          <p:nvPr/>
        </p:nvSpPr>
        <p:spPr bwMode="auto">
          <a:xfrm>
            <a:off x="381000" y="3886200"/>
            <a:ext cx="914400" cy="4572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0" y="5400"/>
                </a:lnTo>
                <a:lnTo>
                  <a:pt x="2700" y="10800"/>
                </a:lnTo>
                <a:lnTo>
                  <a:pt x="0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  <a:moveTo>
                  <a:pt x="16200" y="0"/>
                </a:moveTo>
              </a:path>
            </a:pathLst>
          </a:cu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589" name="Rectangle 19"/>
          <p:cNvSpPr>
            <a:spLocks/>
          </p:cNvSpPr>
          <p:nvPr/>
        </p:nvSpPr>
        <p:spPr bwMode="auto">
          <a:xfrm>
            <a:off x="5181600" y="3733800"/>
            <a:ext cx="167798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Stack Memory:</a:t>
            </a:r>
          </a:p>
        </p:txBody>
      </p:sp>
      <p:sp>
        <p:nvSpPr>
          <p:cNvPr id="24590" name="AutoShape 20"/>
          <p:cNvSpPr>
            <a:spLocks/>
          </p:cNvSpPr>
          <p:nvPr/>
        </p:nvSpPr>
        <p:spPr bwMode="auto">
          <a:xfrm>
            <a:off x="0" y="2590800"/>
            <a:ext cx="914400" cy="4572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0" y="5400"/>
                </a:lnTo>
                <a:lnTo>
                  <a:pt x="2700" y="10800"/>
                </a:lnTo>
                <a:lnTo>
                  <a:pt x="0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  <a:moveTo>
                  <a:pt x="16200" y="0"/>
                </a:moveTo>
              </a:path>
            </a:pathLst>
          </a:cu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24591" name="Group 21"/>
          <p:cNvGrpSpPr>
            <a:grpSpLocks/>
          </p:cNvGrpSpPr>
          <p:nvPr/>
        </p:nvGrpSpPr>
        <p:grpSpPr bwMode="auto">
          <a:xfrm>
            <a:off x="6019800" y="4114800"/>
            <a:ext cx="2286000" cy="609600"/>
            <a:chOff x="0" y="0"/>
            <a:chExt cx="1440" cy="384"/>
          </a:xfrm>
        </p:grpSpPr>
        <p:sp>
          <p:nvSpPr>
            <p:cNvPr id="24595" name="Rectangle 22"/>
            <p:cNvSpPr>
              <a:spLocks/>
            </p:cNvSpPr>
            <p:nvPr/>
          </p:nvSpPr>
          <p:spPr bwMode="auto">
            <a:xfrm>
              <a:off x="0" y="0"/>
              <a:ext cx="1440" cy="38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4596" name="Rectangle 23"/>
            <p:cNvSpPr>
              <a:spLocks/>
            </p:cNvSpPr>
            <p:nvPr/>
          </p:nvSpPr>
          <p:spPr bwMode="auto">
            <a:xfrm>
              <a:off x="0" y="0"/>
              <a:ext cx="144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b()</a:t>
              </a:r>
            </a:p>
          </p:txBody>
        </p:sp>
      </p:grpSp>
      <p:sp>
        <p:nvSpPr>
          <p:cNvPr id="24592" name="Rectangle 24"/>
          <p:cNvSpPr>
            <a:spLocks/>
          </p:cNvSpPr>
          <p:nvPr/>
        </p:nvSpPr>
        <p:spPr bwMode="auto">
          <a:xfrm>
            <a:off x="4876800" y="2674938"/>
            <a:ext cx="40513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400">
                <a:latin typeface="Arial" charset="0"/>
                <a:cs typeface="Arial" charset="0"/>
                <a:sym typeface="Arial" charset="0"/>
              </a:rPr>
              <a:t>What happens to the memory?</a:t>
            </a:r>
          </a:p>
        </p:txBody>
      </p:sp>
      <p:sp>
        <p:nvSpPr>
          <p:cNvPr id="24593" name="Slide Number Placeholder 2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60F9B28-3794-ED4A-9CB0-F233AE5485BC}" type="slidenum">
              <a:rPr lang="en-US"/>
              <a:pPr/>
              <a:t>49</a:t>
            </a:fld>
            <a:endParaRPr lang="en-US"/>
          </a:p>
        </p:txBody>
      </p:sp>
      <p:sp>
        <p:nvSpPr>
          <p:cNvPr id="24594" name="Footer Placeholder 2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326067021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60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60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60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606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Example</a:t>
            </a:r>
          </a:p>
        </p:txBody>
      </p:sp>
      <p:sp>
        <p:nvSpPr>
          <p:cNvPr id="25607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b()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/* … */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a()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/* … */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b();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main(int argc, 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**argv)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/* … */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a();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grpSp>
        <p:nvGrpSpPr>
          <p:cNvPr id="25608" name="Group 10"/>
          <p:cNvGrpSpPr>
            <a:grpSpLocks/>
          </p:cNvGrpSpPr>
          <p:nvPr/>
        </p:nvGrpSpPr>
        <p:grpSpPr bwMode="auto">
          <a:xfrm>
            <a:off x="6019800" y="5334000"/>
            <a:ext cx="2286000" cy="1066800"/>
            <a:chOff x="0" y="0"/>
            <a:chExt cx="1440" cy="672"/>
          </a:xfrm>
        </p:grpSpPr>
        <p:sp>
          <p:nvSpPr>
            <p:cNvPr id="25621" name="Rectangle 11"/>
            <p:cNvSpPr>
              <a:spLocks/>
            </p:cNvSpPr>
            <p:nvPr/>
          </p:nvSpPr>
          <p:spPr bwMode="auto">
            <a:xfrm>
              <a:off x="0" y="0"/>
              <a:ext cx="1440" cy="672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5622" name="Rectangle 12"/>
            <p:cNvSpPr>
              <a:spLocks/>
            </p:cNvSpPr>
            <p:nvPr/>
          </p:nvSpPr>
          <p:spPr bwMode="auto">
            <a:xfrm>
              <a:off x="0" y="0"/>
              <a:ext cx="144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main()</a:t>
              </a:r>
            </a:p>
          </p:txBody>
        </p:sp>
      </p:grpSp>
      <p:sp>
        <p:nvSpPr>
          <p:cNvPr id="25609" name="Rectangle 13"/>
          <p:cNvSpPr>
            <a:spLocks/>
          </p:cNvSpPr>
          <p:nvPr/>
        </p:nvSpPr>
        <p:spPr bwMode="auto">
          <a:xfrm>
            <a:off x="4876800" y="1752600"/>
            <a:ext cx="40513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400">
                <a:latin typeface="Arial" charset="0"/>
                <a:cs typeface="Arial" charset="0"/>
                <a:sym typeface="Arial" charset="0"/>
              </a:rPr>
              <a:t>When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b() </a:t>
            </a:r>
            <a:r>
              <a:rPr lang="en-US" sz="2400">
                <a:cs typeface="Tahoma" charset="0"/>
              </a:rPr>
              <a:t>finishes running, its stack frame is removed!</a:t>
            </a:r>
          </a:p>
        </p:txBody>
      </p:sp>
      <p:sp>
        <p:nvSpPr>
          <p:cNvPr id="25610" name="AutoShape 14"/>
          <p:cNvSpPr>
            <a:spLocks/>
          </p:cNvSpPr>
          <p:nvPr/>
        </p:nvSpPr>
        <p:spPr bwMode="auto">
          <a:xfrm>
            <a:off x="381000" y="5867400"/>
            <a:ext cx="914400" cy="4572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0" y="5400"/>
                </a:lnTo>
                <a:lnTo>
                  <a:pt x="2700" y="10800"/>
                </a:lnTo>
                <a:lnTo>
                  <a:pt x="0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  <a:moveTo>
                  <a:pt x="16200" y="0"/>
                </a:moveTo>
              </a:path>
            </a:pathLst>
          </a:cu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25611" name="Group 15"/>
          <p:cNvGrpSpPr>
            <a:grpSpLocks/>
          </p:cNvGrpSpPr>
          <p:nvPr/>
        </p:nvGrpSpPr>
        <p:grpSpPr bwMode="auto">
          <a:xfrm>
            <a:off x="6019800" y="4724400"/>
            <a:ext cx="2286000" cy="609600"/>
            <a:chOff x="0" y="0"/>
            <a:chExt cx="1440" cy="384"/>
          </a:xfrm>
        </p:grpSpPr>
        <p:sp>
          <p:nvSpPr>
            <p:cNvPr id="25619" name="Rectangle 16"/>
            <p:cNvSpPr>
              <a:spLocks/>
            </p:cNvSpPr>
            <p:nvPr/>
          </p:nvSpPr>
          <p:spPr bwMode="auto">
            <a:xfrm>
              <a:off x="0" y="0"/>
              <a:ext cx="1440" cy="38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5620" name="Rectangle 17"/>
            <p:cNvSpPr>
              <a:spLocks/>
            </p:cNvSpPr>
            <p:nvPr/>
          </p:nvSpPr>
          <p:spPr bwMode="auto">
            <a:xfrm>
              <a:off x="0" y="0"/>
              <a:ext cx="144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a()</a:t>
              </a:r>
            </a:p>
          </p:txBody>
        </p:sp>
      </p:grpSp>
      <p:sp>
        <p:nvSpPr>
          <p:cNvPr id="25612" name="AutoShape 18"/>
          <p:cNvSpPr>
            <a:spLocks/>
          </p:cNvSpPr>
          <p:nvPr/>
        </p:nvSpPr>
        <p:spPr bwMode="auto">
          <a:xfrm>
            <a:off x="381000" y="3886200"/>
            <a:ext cx="914400" cy="4572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0" y="5400"/>
                </a:lnTo>
                <a:lnTo>
                  <a:pt x="2700" y="10800"/>
                </a:lnTo>
                <a:lnTo>
                  <a:pt x="0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  <a:moveTo>
                  <a:pt x="16200" y="0"/>
                </a:moveTo>
              </a:path>
            </a:pathLst>
          </a:cu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613" name="Rectangle 19"/>
          <p:cNvSpPr>
            <a:spLocks/>
          </p:cNvSpPr>
          <p:nvPr/>
        </p:nvSpPr>
        <p:spPr bwMode="auto">
          <a:xfrm>
            <a:off x="5181600" y="3733800"/>
            <a:ext cx="167798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Stack Memory:</a:t>
            </a:r>
          </a:p>
        </p:txBody>
      </p:sp>
      <p:sp>
        <p:nvSpPr>
          <p:cNvPr id="25614" name="AutoShape 20"/>
          <p:cNvSpPr>
            <a:spLocks/>
          </p:cNvSpPr>
          <p:nvPr/>
        </p:nvSpPr>
        <p:spPr bwMode="auto">
          <a:xfrm>
            <a:off x="0" y="2590800"/>
            <a:ext cx="914400" cy="4572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0" y="5400"/>
                </a:lnTo>
                <a:lnTo>
                  <a:pt x="2700" y="10800"/>
                </a:lnTo>
                <a:lnTo>
                  <a:pt x="0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  <a:moveTo>
                  <a:pt x="16200" y="0"/>
                </a:moveTo>
              </a:path>
            </a:pathLst>
          </a:cu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6019800" y="4114800"/>
            <a:ext cx="2286000" cy="609600"/>
            <a:chOff x="0" y="0"/>
            <a:chExt cx="1440" cy="384"/>
          </a:xfrm>
          <a:noFill/>
        </p:grpSpPr>
        <p:sp>
          <p:nvSpPr>
            <p:cNvPr id="24595" name="Rectangle 22"/>
            <p:cNvSpPr>
              <a:spLocks/>
            </p:cNvSpPr>
            <p:nvPr/>
          </p:nvSpPr>
          <p:spPr bwMode="auto">
            <a:xfrm>
              <a:off x="0" y="0"/>
              <a:ext cx="1440" cy="38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ea typeface="+mn-ea"/>
              </a:endParaRPr>
            </a:p>
          </p:txBody>
        </p:sp>
        <p:sp>
          <p:nvSpPr>
            <p:cNvPr id="24596" name="Rectangle 23"/>
            <p:cNvSpPr>
              <a:spLocks/>
            </p:cNvSpPr>
            <p:nvPr/>
          </p:nvSpPr>
          <p:spPr bwMode="auto">
            <a:xfrm>
              <a:off x="0" y="0"/>
              <a:ext cx="1440" cy="224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lIns="0" tIns="0" rIns="40639" bIns="0"/>
            <a:lstStyle/>
            <a:p>
              <a:pPr marL="39688" algn="ctr">
                <a:defRPr/>
              </a:pPr>
              <a:r>
                <a:rPr lang="en-US">
                  <a:solidFill>
                    <a:srgbClr val="000000"/>
                  </a:solidFill>
                  <a:latin typeface="Courier New Bold" charset="0"/>
                  <a:ea typeface="+mn-ea"/>
                  <a:cs typeface="Courier New Bold" charset="0"/>
                  <a:sym typeface="Courier New Bold" charset="0"/>
                </a:rPr>
                <a:t>b()</a:t>
              </a:r>
            </a:p>
          </p:txBody>
        </p:sp>
      </p:grpSp>
      <p:sp>
        <p:nvSpPr>
          <p:cNvPr id="25616" name="Rectangle 24"/>
          <p:cNvSpPr>
            <a:spLocks/>
          </p:cNvSpPr>
          <p:nvPr/>
        </p:nvSpPr>
        <p:spPr bwMode="auto">
          <a:xfrm>
            <a:off x="4876800" y="2674938"/>
            <a:ext cx="40513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400">
                <a:latin typeface="Arial" charset="0"/>
                <a:cs typeface="Arial" charset="0"/>
                <a:sym typeface="Arial" charset="0"/>
              </a:rPr>
              <a:t>What happens to the memory?</a:t>
            </a:r>
          </a:p>
        </p:txBody>
      </p:sp>
      <p:sp>
        <p:nvSpPr>
          <p:cNvPr id="25617" name="Slide Number Placeholder 2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B4DA534-B108-1443-A4C2-EC4197927A2A}" type="slidenum">
              <a:rPr lang="en-US"/>
              <a:pPr/>
              <a:t>50</a:t>
            </a:fld>
            <a:endParaRPr lang="en-US"/>
          </a:p>
        </p:txBody>
      </p:sp>
      <p:sp>
        <p:nvSpPr>
          <p:cNvPr id="25618" name="Footer Placeholder 2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61505683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2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2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2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0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Example</a:t>
            </a:r>
          </a:p>
        </p:txBody>
      </p:sp>
      <p:sp>
        <p:nvSpPr>
          <p:cNvPr id="26631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b()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/* … */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a()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/* … */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b();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main(int argc, 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**argv)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/* … */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a();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grpSp>
        <p:nvGrpSpPr>
          <p:cNvPr id="26632" name="Group 10"/>
          <p:cNvGrpSpPr>
            <a:grpSpLocks/>
          </p:cNvGrpSpPr>
          <p:nvPr/>
        </p:nvGrpSpPr>
        <p:grpSpPr bwMode="auto">
          <a:xfrm>
            <a:off x="6019800" y="5334000"/>
            <a:ext cx="2286000" cy="1066800"/>
            <a:chOff x="0" y="0"/>
            <a:chExt cx="1440" cy="672"/>
          </a:xfrm>
        </p:grpSpPr>
        <p:sp>
          <p:nvSpPr>
            <p:cNvPr id="26646" name="Rectangle 11"/>
            <p:cNvSpPr>
              <a:spLocks/>
            </p:cNvSpPr>
            <p:nvPr/>
          </p:nvSpPr>
          <p:spPr bwMode="auto">
            <a:xfrm>
              <a:off x="0" y="0"/>
              <a:ext cx="1440" cy="672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6647" name="Rectangle 12"/>
            <p:cNvSpPr>
              <a:spLocks/>
            </p:cNvSpPr>
            <p:nvPr/>
          </p:nvSpPr>
          <p:spPr bwMode="auto">
            <a:xfrm>
              <a:off x="0" y="0"/>
              <a:ext cx="144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FFFFFF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main()</a:t>
              </a:r>
            </a:p>
          </p:txBody>
        </p:sp>
      </p:grpSp>
      <p:sp>
        <p:nvSpPr>
          <p:cNvPr id="26633" name="Rectangle 13"/>
          <p:cNvSpPr>
            <a:spLocks/>
          </p:cNvSpPr>
          <p:nvPr/>
        </p:nvSpPr>
        <p:spPr bwMode="auto">
          <a:xfrm>
            <a:off x="4876800" y="1752600"/>
            <a:ext cx="40513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400">
                <a:latin typeface="Arial" charset="0"/>
                <a:cs typeface="Arial" charset="0"/>
                <a:sym typeface="Arial" charset="0"/>
              </a:rPr>
              <a:t>And so on …</a:t>
            </a:r>
          </a:p>
        </p:txBody>
      </p:sp>
      <p:sp>
        <p:nvSpPr>
          <p:cNvPr id="26634" name="AutoShape 14"/>
          <p:cNvSpPr>
            <a:spLocks/>
          </p:cNvSpPr>
          <p:nvPr/>
        </p:nvSpPr>
        <p:spPr bwMode="auto">
          <a:xfrm>
            <a:off x="381000" y="5867400"/>
            <a:ext cx="914400" cy="4572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0" y="5400"/>
                </a:lnTo>
                <a:lnTo>
                  <a:pt x="2700" y="10800"/>
                </a:lnTo>
                <a:lnTo>
                  <a:pt x="0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  <a:moveTo>
                  <a:pt x="16200" y="0"/>
                </a:moveTo>
              </a:path>
            </a:pathLst>
          </a:cu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26635" name="Group 15"/>
          <p:cNvGrpSpPr>
            <a:grpSpLocks/>
          </p:cNvGrpSpPr>
          <p:nvPr/>
        </p:nvGrpSpPr>
        <p:grpSpPr bwMode="auto">
          <a:xfrm>
            <a:off x="6019800" y="4724400"/>
            <a:ext cx="2286000" cy="609600"/>
            <a:chOff x="0" y="0"/>
            <a:chExt cx="1440" cy="384"/>
          </a:xfrm>
        </p:grpSpPr>
        <p:sp>
          <p:nvSpPr>
            <p:cNvPr id="26644" name="Rectangle 16"/>
            <p:cNvSpPr>
              <a:spLocks/>
            </p:cNvSpPr>
            <p:nvPr/>
          </p:nvSpPr>
          <p:spPr bwMode="auto">
            <a:xfrm>
              <a:off x="0" y="0"/>
              <a:ext cx="1440" cy="38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6645" name="Rectangle 17"/>
            <p:cNvSpPr>
              <a:spLocks/>
            </p:cNvSpPr>
            <p:nvPr/>
          </p:nvSpPr>
          <p:spPr bwMode="auto">
            <a:xfrm>
              <a:off x="0" y="0"/>
              <a:ext cx="144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FF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a()</a:t>
              </a:r>
            </a:p>
          </p:txBody>
        </p:sp>
      </p:grpSp>
      <p:sp>
        <p:nvSpPr>
          <p:cNvPr id="26636" name="AutoShape 18"/>
          <p:cNvSpPr>
            <a:spLocks/>
          </p:cNvSpPr>
          <p:nvPr/>
        </p:nvSpPr>
        <p:spPr bwMode="auto">
          <a:xfrm>
            <a:off x="0" y="4191000"/>
            <a:ext cx="914400" cy="4572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0" y="5400"/>
                </a:lnTo>
                <a:lnTo>
                  <a:pt x="2700" y="10800"/>
                </a:lnTo>
                <a:lnTo>
                  <a:pt x="0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  <a:moveTo>
                  <a:pt x="16200" y="0"/>
                </a:moveTo>
              </a:path>
            </a:pathLst>
          </a:cu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7" name="Rectangle 19"/>
          <p:cNvSpPr>
            <a:spLocks/>
          </p:cNvSpPr>
          <p:nvPr/>
        </p:nvSpPr>
        <p:spPr bwMode="auto">
          <a:xfrm>
            <a:off x="5181600" y="3733800"/>
            <a:ext cx="167798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Stack Memory:</a:t>
            </a:r>
          </a:p>
        </p:txBody>
      </p:sp>
      <p:sp>
        <p:nvSpPr>
          <p:cNvPr id="26638" name="AutoShape 20"/>
          <p:cNvSpPr>
            <a:spLocks/>
          </p:cNvSpPr>
          <p:nvPr/>
        </p:nvSpPr>
        <p:spPr bwMode="auto">
          <a:xfrm>
            <a:off x="0" y="2590800"/>
            <a:ext cx="914400" cy="4572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0" y="5400"/>
                </a:lnTo>
                <a:lnTo>
                  <a:pt x="2700" y="10800"/>
                </a:lnTo>
                <a:lnTo>
                  <a:pt x="0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  <a:moveTo>
                  <a:pt x="16200" y="0"/>
                </a:moveTo>
              </a:path>
            </a:pathLst>
          </a:cu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26639" name="Group 21"/>
          <p:cNvGrpSpPr>
            <a:grpSpLocks/>
          </p:cNvGrpSpPr>
          <p:nvPr/>
        </p:nvGrpSpPr>
        <p:grpSpPr bwMode="auto">
          <a:xfrm>
            <a:off x="6019800" y="4114800"/>
            <a:ext cx="2286000" cy="609600"/>
            <a:chOff x="0" y="0"/>
            <a:chExt cx="1440" cy="384"/>
          </a:xfrm>
        </p:grpSpPr>
        <p:sp>
          <p:nvSpPr>
            <p:cNvPr id="26642" name="Rectangle 22"/>
            <p:cNvSpPr>
              <a:spLocks/>
            </p:cNvSpPr>
            <p:nvPr/>
          </p:nvSpPr>
          <p:spPr bwMode="auto">
            <a:xfrm>
              <a:off x="0" y="0"/>
              <a:ext cx="1440" cy="38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6643" name="Rectangle 23"/>
            <p:cNvSpPr>
              <a:spLocks/>
            </p:cNvSpPr>
            <p:nvPr/>
          </p:nvSpPr>
          <p:spPr bwMode="auto">
            <a:xfrm>
              <a:off x="0" y="0"/>
              <a:ext cx="144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FF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b()</a:t>
              </a:r>
            </a:p>
          </p:txBody>
        </p:sp>
      </p:grpSp>
      <p:sp>
        <p:nvSpPr>
          <p:cNvPr id="26640" name="Slide Number Placeholder 2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541F1EA-FF5D-6F4E-95AD-CD465B006B82}" type="slidenum">
              <a:rPr lang="en-US"/>
              <a:pPr/>
              <a:t>51</a:t>
            </a:fld>
            <a:endParaRPr lang="en-US"/>
          </a:p>
        </p:txBody>
      </p:sp>
      <p:sp>
        <p:nvSpPr>
          <p:cNvPr id="26641" name="Footer Placeholder 2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235428058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51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52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53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54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Example</a:t>
            </a:r>
          </a:p>
        </p:txBody>
      </p:sp>
      <p:sp>
        <p:nvSpPr>
          <p:cNvPr id="27655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b()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/* … */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a()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/* … */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b();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main(int argc, 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**argv)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/* … */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a();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grpSp>
        <p:nvGrpSpPr>
          <p:cNvPr id="27656" name="Group 10"/>
          <p:cNvGrpSpPr>
            <a:grpSpLocks/>
          </p:cNvGrpSpPr>
          <p:nvPr/>
        </p:nvGrpSpPr>
        <p:grpSpPr bwMode="auto">
          <a:xfrm>
            <a:off x="6019800" y="5334000"/>
            <a:ext cx="2286000" cy="1066800"/>
            <a:chOff x="0" y="0"/>
            <a:chExt cx="1440" cy="672"/>
          </a:xfrm>
        </p:grpSpPr>
        <p:sp>
          <p:nvSpPr>
            <p:cNvPr id="27671" name="Rectangle 11"/>
            <p:cNvSpPr>
              <a:spLocks/>
            </p:cNvSpPr>
            <p:nvPr/>
          </p:nvSpPr>
          <p:spPr bwMode="auto">
            <a:xfrm>
              <a:off x="0" y="0"/>
              <a:ext cx="1440" cy="6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" name="Rectangle 12"/>
            <p:cNvSpPr>
              <a:spLocks/>
            </p:cNvSpPr>
            <p:nvPr/>
          </p:nvSpPr>
          <p:spPr bwMode="auto">
            <a:xfrm>
              <a:off x="0" y="0"/>
              <a:ext cx="144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FF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main()</a:t>
              </a:r>
            </a:p>
          </p:txBody>
        </p:sp>
      </p:grpSp>
      <p:sp>
        <p:nvSpPr>
          <p:cNvPr id="27657" name="Rectangle 13"/>
          <p:cNvSpPr>
            <a:spLocks/>
          </p:cNvSpPr>
          <p:nvPr/>
        </p:nvSpPr>
        <p:spPr bwMode="auto">
          <a:xfrm>
            <a:off x="4876800" y="1752600"/>
            <a:ext cx="40513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400">
                <a:latin typeface="Arial" charset="0"/>
                <a:cs typeface="Arial" charset="0"/>
                <a:sym typeface="Arial" charset="0"/>
              </a:rPr>
              <a:t>And so on …</a:t>
            </a:r>
          </a:p>
        </p:txBody>
      </p:sp>
      <p:sp>
        <p:nvSpPr>
          <p:cNvPr id="27658" name="AutoShape 14"/>
          <p:cNvSpPr>
            <a:spLocks/>
          </p:cNvSpPr>
          <p:nvPr/>
        </p:nvSpPr>
        <p:spPr bwMode="auto">
          <a:xfrm>
            <a:off x="0" y="6172200"/>
            <a:ext cx="914400" cy="4572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0" y="5400"/>
                </a:lnTo>
                <a:lnTo>
                  <a:pt x="2700" y="10800"/>
                </a:lnTo>
                <a:lnTo>
                  <a:pt x="0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  <a:moveTo>
                  <a:pt x="16200" y="0"/>
                </a:moveTo>
              </a:path>
            </a:pathLst>
          </a:cu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27659" name="Group 15"/>
          <p:cNvGrpSpPr>
            <a:grpSpLocks/>
          </p:cNvGrpSpPr>
          <p:nvPr/>
        </p:nvGrpSpPr>
        <p:grpSpPr bwMode="auto">
          <a:xfrm>
            <a:off x="6019800" y="4724400"/>
            <a:ext cx="2286000" cy="609600"/>
            <a:chOff x="0" y="0"/>
            <a:chExt cx="1440" cy="384"/>
          </a:xfrm>
        </p:grpSpPr>
        <p:sp>
          <p:nvSpPr>
            <p:cNvPr id="27669" name="Rectangle 16"/>
            <p:cNvSpPr>
              <a:spLocks/>
            </p:cNvSpPr>
            <p:nvPr/>
          </p:nvSpPr>
          <p:spPr bwMode="auto">
            <a:xfrm>
              <a:off x="0" y="0"/>
              <a:ext cx="1440" cy="38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7670" name="Rectangle 17"/>
            <p:cNvSpPr>
              <a:spLocks/>
            </p:cNvSpPr>
            <p:nvPr/>
          </p:nvSpPr>
          <p:spPr bwMode="auto">
            <a:xfrm>
              <a:off x="0" y="0"/>
              <a:ext cx="144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FF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a()</a:t>
              </a:r>
            </a:p>
          </p:txBody>
        </p:sp>
      </p:grpSp>
      <p:sp>
        <p:nvSpPr>
          <p:cNvPr id="27660" name="AutoShape 18"/>
          <p:cNvSpPr>
            <a:spLocks/>
          </p:cNvSpPr>
          <p:nvPr/>
        </p:nvSpPr>
        <p:spPr bwMode="auto">
          <a:xfrm>
            <a:off x="0" y="4191000"/>
            <a:ext cx="914400" cy="4572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0" y="5400"/>
                </a:lnTo>
                <a:lnTo>
                  <a:pt x="2700" y="10800"/>
                </a:lnTo>
                <a:lnTo>
                  <a:pt x="0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  <a:moveTo>
                  <a:pt x="16200" y="0"/>
                </a:moveTo>
              </a:path>
            </a:pathLst>
          </a:cu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61" name="Rectangle 19"/>
          <p:cNvSpPr>
            <a:spLocks/>
          </p:cNvSpPr>
          <p:nvPr/>
        </p:nvSpPr>
        <p:spPr bwMode="auto">
          <a:xfrm>
            <a:off x="5181600" y="3733800"/>
            <a:ext cx="167798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Stack Memory:</a:t>
            </a:r>
          </a:p>
        </p:txBody>
      </p:sp>
      <p:sp>
        <p:nvSpPr>
          <p:cNvPr id="27662" name="AutoShape 20"/>
          <p:cNvSpPr>
            <a:spLocks/>
          </p:cNvSpPr>
          <p:nvPr/>
        </p:nvSpPr>
        <p:spPr bwMode="auto">
          <a:xfrm>
            <a:off x="0" y="2590800"/>
            <a:ext cx="914400" cy="4572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0" y="5400"/>
                </a:lnTo>
                <a:lnTo>
                  <a:pt x="2700" y="10800"/>
                </a:lnTo>
                <a:lnTo>
                  <a:pt x="0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  <a:moveTo>
                  <a:pt x="16200" y="0"/>
                </a:moveTo>
              </a:path>
            </a:pathLst>
          </a:cu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27663" name="Group 21"/>
          <p:cNvGrpSpPr>
            <a:grpSpLocks/>
          </p:cNvGrpSpPr>
          <p:nvPr/>
        </p:nvGrpSpPr>
        <p:grpSpPr bwMode="auto">
          <a:xfrm>
            <a:off x="6019800" y="4114800"/>
            <a:ext cx="2286000" cy="609600"/>
            <a:chOff x="0" y="0"/>
            <a:chExt cx="1440" cy="384"/>
          </a:xfrm>
        </p:grpSpPr>
        <p:sp>
          <p:nvSpPr>
            <p:cNvPr id="27667" name="Rectangle 22"/>
            <p:cNvSpPr>
              <a:spLocks/>
            </p:cNvSpPr>
            <p:nvPr/>
          </p:nvSpPr>
          <p:spPr bwMode="auto">
            <a:xfrm>
              <a:off x="0" y="0"/>
              <a:ext cx="1440" cy="38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7668" name="Rectangle 23"/>
            <p:cNvSpPr>
              <a:spLocks/>
            </p:cNvSpPr>
            <p:nvPr/>
          </p:nvSpPr>
          <p:spPr bwMode="auto">
            <a:xfrm>
              <a:off x="0" y="0"/>
              <a:ext cx="144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FF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b()</a:t>
              </a:r>
            </a:p>
          </p:txBody>
        </p:sp>
      </p:grpSp>
      <p:sp>
        <p:nvSpPr>
          <p:cNvPr id="27672" name="Rectangle 24"/>
          <p:cNvSpPr>
            <a:spLocks/>
          </p:cNvSpPr>
          <p:nvPr/>
        </p:nvSpPr>
        <p:spPr bwMode="auto">
          <a:xfrm>
            <a:off x="3276600" y="2895600"/>
            <a:ext cx="2290763" cy="711200"/>
          </a:xfrm>
          <a:prstGeom prst="rect">
            <a:avLst/>
          </a:prstGeom>
          <a:solidFill>
            <a:srgbClr val="C1F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4000">
                <a:cs typeface="Tahoma" charset="0"/>
              </a:rPr>
              <a:t>So What?</a:t>
            </a:r>
          </a:p>
        </p:txBody>
      </p:sp>
      <p:sp>
        <p:nvSpPr>
          <p:cNvPr id="27665" name="Slide Number Placeholder 2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B3AE7D0-E395-BA45-8CFE-D8A20E3A32B2}" type="slidenum">
              <a:rPr lang="en-US"/>
              <a:pPr/>
              <a:t>52</a:t>
            </a:fld>
            <a:endParaRPr lang="en-US"/>
          </a:p>
        </p:txBody>
      </p:sp>
      <p:sp>
        <p:nvSpPr>
          <p:cNvPr id="27666" name="Footer Placeholder 2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22680334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72" grpId="0" animBg="1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7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7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7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78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Better Example</a:t>
            </a:r>
          </a:p>
        </p:txBody>
      </p:sp>
      <p:sp>
        <p:nvSpPr>
          <p:cNvPr id="28679" name="Rectangle 7"/>
          <p:cNvSpPr>
            <a:spLocks noChangeArrowheads="1"/>
          </p:cNvSpPr>
          <p:nvPr>
            <p:ph type="body" idx="1"/>
          </p:nvPr>
        </p:nvSpPr>
        <p:spPr>
          <a:xfrm>
            <a:off x="949325" y="1981200"/>
            <a:ext cx="3754438" cy="4876800"/>
          </a:xfrm>
        </p:spPr>
        <p:txBody>
          <a:bodyPr rIns="132080"/>
          <a:lstStyle/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my_queue * b()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my_queue q;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return &amp;q;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a(int yourVal)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int myVal;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my_queue *myQueue;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myVal = yourVal + 3;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myQueue = b();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return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 remove_int(myQueue);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28680" name="Rectangle 8"/>
          <p:cNvSpPr>
            <a:spLocks/>
          </p:cNvSpPr>
          <p:nvPr/>
        </p:nvSpPr>
        <p:spPr bwMode="auto">
          <a:xfrm>
            <a:off x="5143500" y="1981200"/>
            <a:ext cx="37719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main(int argc,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char **argv) {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int myVal = 3;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a(myVal);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</a:p>
        </p:txBody>
      </p:sp>
      <p:sp>
        <p:nvSpPr>
          <p:cNvPr id="28681" name="Rectangle 11"/>
          <p:cNvSpPr>
            <a:spLocks/>
          </p:cNvSpPr>
          <p:nvPr/>
        </p:nvSpPr>
        <p:spPr bwMode="auto">
          <a:xfrm>
            <a:off x="4343400" y="3700463"/>
            <a:ext cx="4660900" cy="2057400"/>
          </a:xfrm>
          <a:prstGeom prst="rect">
            <a:avLst/>
          </a:prstGeom>
          <a:solidFill>
            <a:srgbClr val="C1F3FF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40639" bIns="0"/>
          <a:lstStyle/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main()</a:t>
            </a:r>
            <a:r>
              <a:rPr lang="en-US" sz="2400">
                <a:latin typeface="Arial" charset="0"/>
                <a:cs typeface="Arial" charset="0"/>
                <a:sym typeface="Arial" charset="0"/>
              </a:rPr>
              <a:t> still calls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a()</a:t>
            </a:r>
          </a:p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a()</a:t>
            </a:r>
            <a:r>
              <a:rPr lang="en-US" sz="2400">
                <a:latin typeface="Arial" charset="0"/>
                <a:cs typeface="Arial" charset="0"/>
                <a:sym typeface="Arial" charset="0"/>
              </a:rPr>
              <a:t> still calls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b()</a:t>
            </a:r>
            <a:r>
              <a:rPr lang="en-US" sz="2400">
                <a:latin typeface="Arial" charset="0"/>
                <a:sym typeface="Arial" charset="0"/>
              </a:rPr>
              <a:t/>
            </a:r>
            <a:br>
              <a:rPr lang="en-US" sz="2400">
                <a:latin typeface="Arial" charset="0"/>
                <a:sym typeface="Arial" charset="0"/>
              </a:rPr>
            </a:b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b()</a:t>
            </a:r>
            <a:r>
              <a:rPr lang="en-US" sz="2400">
                <a:latin typeface="Arial" charset="0"/>
                <a:cs typeface="Arial" charset="0"/>
                <a:sym typeface="Arial" charset="0"/>
              </a:rPr>
              <a:t> returns a pointer to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a()</a:t>
            </a:r>
            <a:r>
              <a:rPr lang="en-US" sz="2400">
                <a:latin typeface="Arial" charset="0"/>
                <a:sym typeface="Arial" charset="0"/>
              </a:rPr>
              <a:t/>
            </a:r>
            <a:br>
              <a:rPr lang="en-US" sz="2400">
                <a:latin typeface="Arial" charset="0"/>
                <a:sym typeface="Arial" charset="0"/>
              </a:rPr>
            </a:br>
            <a:r>
              <a:rPr lang="en-US" sz="2400">
                <a:latin typeface="Arial" charset="0"/>
                <a:sym typeface="Arial" charset="0"/>
              </a:rPr>
              <a:t>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a()</a:t>
            </a:r>
            <a:r>
              <a:rPr lang="en-US" sz="2400">
                <a:latin typeface="Arial" charset="0"/>
                <a:cs typeface="Arial" charset="0"/>
                <a:sym typeface="Arial" charset="0"/>
              </a:rPr>
              <a:t> returns an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sz="2400">
                <a:latin typeface="Arial" charset="0"/>
                <a:cs typeface="Arial" charset="0"/>
                <a:sym typeface="Arial" charset="0"/>
              </a:rPr>
              <a:t> to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main()</a:t>
            </a:r>
          </a:p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my_queue</a:t>
            </a:r>
            <a:r>
              <a:rPr lang="en-US" sz="2400">
                <a:latin typeface="Arial" charset="0"/>
                <a:cs typeface="Arial" charset="0"/>
                <a:sym typeface="Arial" charset="0"/>
              </a:rPr>
              <a:t> is a custom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struct</a:t>
            </a:r>
          </a:p>
        </p:txBody>
      </p:sp>
      <p:sp>
        <p:nvSpPr>
          <p:cNvPr id="28682" name="Slide Number Placeholder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35430F1-E806-0849-ADF3-9AAF269B988D}" type="slidenum">
              <a:rPr lang="en-US"/>
              <a:pPr/>
              <a:t>53</a:t>
            </a:fld>
            <a:endParaRPr lang="en-US"/>
          </a:p>
        </p:txBody>
      </p:sp>
      <p:sp>
        <p:nvSpPr>
          <p:cNvPr id="28683" name="Footer Placeholder 10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1730096535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69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0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0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02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Better Example</a:t>
            </a:r>
          </a:p>
        </p:txBody>
      </p:sp>
      <p:sp>
        <p:nvSpPr>
          <p:cNvPr id="29703" name="Rectangle 7"/>
          <p:cNvSpPr>
            <a:spLocks noChangeArrowheads="1"/>
          </p:cNvSpPr>
          <p:nvPr>
            <p:ph type="body" idx="1"/>
          </p:nvPr>
        </p:nvSpPr>
        <p:spPr>
          <a:xfrm>
            <a:off x="949325" y="1981200"/>
            <a:ext cx="3754438" cy="4876800"/>
          </a:xfrm>
        </p:spPr>
        <p:txBody>
          <a:bodyPr rIns="132080"/>
          <a:lstStyle/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my_queue * b()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my_queue q;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return &amp;q;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a(int yourVal)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int myVal;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my_queue *myQueue;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myVal = yourVal + 3;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myQueue = b();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return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 remove_int(myQueue);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29704" name="Rectangle 8"/>
          <p:cNvSpPr>
            <a:spLocks/>
          </p:cNvSpPr>
          <p:nvPr/>
        </p:nvSpPr>
        <p:spPr bwMode="auto">
          <a:xfrm>
            <a:off x="5143500" y="1981200"/>
            <a:ext cx="37719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main(int argc,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char **argv) {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int myVal = 3;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a(myVal);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</a:p>
        </p:txBody>
      </p:sp>
      <p:sp>
        <p:nvSpPr>
          <p:cNvPr id="29705" name="AutoShape 11"/>
          <p:cNvSpPr>
            <a:spLocks/>
          </p:cNvSpPr>
          <p:nvPr/>
        </p:nvSpPr>
        <p:spPr bwMode="auto">
          <a:xfrm>
            <a:off x="4114800" y="1981200"/>
            <a:ext cx="685800" cy="3048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800" y="0"/>
                </a:moveTo>
                <a:lnTo>
                  <a:pt x="16800" y="5400"/>
                </a:lnTo>
                <a:lnTo>
                  <a:pt x="0" y="5400"/>
                </a:lnTo>
                <a:lnTo>
                  <a:pt x="2400" y="10800"/>
                </a:lnTo>
                <a:lnTo>
                  <a:pt x="0" y="16200"/>
                </a:lnTo>
                <a:lnTo>
                  <a:pt x="16800" y="16200"/>
                </a:lnTo>
                <a:lnTo>
                  <a:pt x="16800" y="21600"/>
                </a:lnTo>
                <a:lnTo>
                  <a:pt x="21600" y="10800"/>
                </a:lnTo>
                <a:close/>
                <a:moveTo>
                  <a:pt x="16800" y="0"/>
                </a:moveTo>
              </a:path>
            </a:pathLst>
          </a:cu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29706" name="Group 12"/>
          <p:cNvGrpSpPr>
            <a:grpSpLocks/>
          </p:cNvGrpSpPr>
          <p:nvPr/>
        </p:nvGrpSpPr>
        <p:grpSpPr bwMode="auto">
          <a:xfrm>
            <a:off x="4953000" y="6019800"/>
            <a:ext cx="2514600" cy="381000"/>
            <a:chOff x="0" y="0"/>
            <a:chExt cx="1584" cy="240"/>
          </a:xfrm>
        </p:grpSpPr>
        <p:sp>
          <p:nvSpPr>
            <p:cNvPr id="29714" name="Rectangle 13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9715" name="Rectangle 14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argc (4 bytes)</a:t>
              </a:r>
            </a:p>
          </p:txBody>
        </p:sp>
      </p:grpSp>
      <p:grpSp>
        <p:nvGrpSpPr>
          <p:cNvPr id="29707" name="Group 15"/>
          <p:cNvGrpSpPr>
            <a:grpSpLocks/>
          </p:cNvGrpSpPr>
          <p:nvPr/>
        </p:nvGrpSpPr>
        <p:grpSpPr bwMode="auto">
          <a:xfrm>
            <a:off x="4953000" y="5410200"/>
            <a:ext cx="2514600" cy="609600"/>
            <a:chOff x="0" y="0"/>
            <a:chExt cx="1584" cy="384"/>
          </a:xfrm>
        </p:grpSpPr>
        <p:sp>
          <p:nvSpPr>
            <p:cNvPr id="29712" name="Rectangle 16"/>
            <p:cNvSpPr>
              <a:spLocks/>
            </p:cNvSpPr>
            <p:nvPr/>
          </p:nvSpPr>
          <p:spPr bwMode="auto">
            <a:xfrm>
              <a:off x="0" y="0"/>
              <a:ext cx="1584" cy="38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9713" name="Rectangle 17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**argv (8 bytes)</a:t>
              </a:r>
            </a:p>
          </p:txBody>
        </p:sp>
      </p:grpSp>
      <p:sp>
        <p:nvSpPr>
          <p:cNvPr id="29708" name="Rectangle 18"/>
          <p:cNvSpPr>
            <a:spLocks/>
          </p:cNvSpPr>
          <p:nvPr/>
        </p:nvSpPr>
        <p:spPr bwMode="auto">
          <a:xfrm>
            <a:off x="7620000" y="60198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1</a:t>
            </a:r>
          </a:p>
        </p:txBody>
      </p:sp>
      <p:sp>
        <p:nvSpPr>
          <p:cNvPr id="29709" name="Rectangle 19"/>
          <p:cNvSpPr>
            <a:spLocks/>
          </p:cNvSpPr>
          <p:nvPr/>
        </p:nvSpPr>
        <p:spPr bwMode="auto">
          <a:xfrm>
            <a:off x="7620000" y="5410200"/>
            <a:ext cx="5651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0x…</a:t>
            </a:r>
          </a:p>
        </p:txBody>
      </p:sp>
      <p:sp>
        <p:nvSpPr>
          <p:cNvPr id="29710" name="Slide Number Placeholder 1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18F0A49-B80C-B74A-B43A-048EED00A282}" type="slidenum">
              <a:rPr lang="en-US"/>
              <a:pPr/>
              <a:t>54</a:t>
            </a:fld>
            <a:endParaRPr lang="en-US"/>
          </a:p>
        </p:txBody>
      </p:sp>
      <p:sp>
        <p:nvSpPr>
          <p:cNvPr id="29711" name="Footer Placeholder 18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119355708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2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2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2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26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Better Example</a:t>
            </a:r>
          </a:p>
        </p:txBody>
      </p:sp>
      <p:sp>
        <p:nvSpPr>
          <p:cNvPr id="30727" name="Rectangle 7"/>
          <p:cNvSpPr>
            <a:spLocks noChangeArrowheads="1"/>
          </p:cNvSpPr>
          <p:nvPr>
            <p:ph type="body" idx="1"/>
          </p:nvPr>
        </p:nvSpPr>
        <p:spPr>
          <a:xfrm>
            <a:off x="949325" y="1981200"/>
            <a:ext cx="3754438" cy="4876800"/>
          </a:xfrm>
        </p:spPr>
        <p:txBody>
          <a:bodyPr rIns="132080"/>
          <a:lstStyle/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my_queue * b()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my_queue q;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return &amp;q;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a(int yourVal)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int myVal;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my_queue *myQueue;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myVal = yourVal + 3;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myQueue = b();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return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 remove_int(myQueue);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30728" name="Rectangle 8"/>
          <p:cNvSpPr>
            <a:spLocks/>
          </p:cNvSpPr>
          <p:nvPr/>
        </p:nvSpPr>
        <p:spPr bwMode="auto">
          <a:xfrm>
            <a:off x="5143500" y="1981200"/>
            <a:ext cx="37719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main(int argc,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char **argv) {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int myVal = 3;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a(myVal);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</a:p>
        </p:txBody>
      </p:sp>
      <p:sp>
        <p:nvSpPr>
          <p:cNvPr id="30729" name="AutoShape 11"/>
          <p:cNvSpPr>
            <a:spLocks/>
          </p:cNvSpPr>
          <p:nvPr/>
        </p:nvSpPr>
        <p:spPr bwMode="auto">
          <a:xfrm>
            <a:off x="4648200" y="2590800"/>
            <a:ext cx="685800" cy="3048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800" y="0"/>
                </a:moveTo>
                <a:lnTo>
                  <a:pt x="16800" y="5400"/>
                </a:lnTo>
                <a:lnTo>
                  <a:pt x="0" y="5400"/>
                </a:lnTo>
                <a:lnTo>
                  <a:pt x="2400" y="10800"/>
                </a:lnTo>
                <a:lnTo>
                  <a:pt x="0" y="16200"/>
                </a:lnTo>
                <a:lnTo>
                  <a:pt x="16800" y="16200"/>
                </a:lnTo>
                <a:lnTo>
                  <a:pt x="16800" y="21600"/>
                </a:lnTo>
                <a:lnTo>
                  <a:pt x="21600" y="10800"/>
                </a:lnTo>
                <a:close/>
                <a:moveTo>
                  <a:pt x="16800" y="0"/>
                </a:moveTo>
              </a:path>
            </a:pathLst>
          </a:cu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0730" name="Group 12"/>
          <p:cNvGrpSpPr>
            <a:grpSpLocks/>
          </p:cNvGrpSpPr>
          <p:nvPr/>
        </p:nvGrpSpPr>
        <p:grpSpPr bwMode="auto">
          <a:xfrm>
            <a:off x="4953000" y="6019800"/>
            <a:ext cx="2514600" cy="381000"/>
            <a:chOff x="0" y="0"/>
            <a:chExt cx="1584" cy="240"/>
          </a:xfrm>
        </p:grpSpPr>
        <p:sp>
          <p:nvSpPr>
            <p:cNvPr id="30742" name="Rectangle 13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0743" name="Rectangle 14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argc (4 bytes)</a:t>
              </a:r>
            </a:p>
          </p:txBody>
        </p:sp>
      </p:grpSp>
      <p:grpSp>
        <p:nvGrpSpPr>
          <p:cNvPr id="30731" name="Group 15"/>
          <p:cNvGrpSpPr>
            <a:grpSpLocks/>
          </p:cNvGrpSpPr>
          <p:nvPr/>
        </p:nvGrpSpPr>
        <p:grpSpPr bwMode="auto">
          <a:xfrm>
            <a:off x="4953000" y="5410200"/>
            <a:ext cx="2514600" cy="609600"/>
            <a:chOff x="0" y="0"/>
            <a:chExt cx="1584" cy="384"/>
          </a:xfrm>
        </p:grpSpPr>
        <p:sp>
          <p:nvSpPr>
            <p:cNvPr id="30740" name="Rectangle 16"/>
            <p:cNvSpPr>
              <a:spLocks/>
            </p:cNvSpPr>
            <p:nvPr/>
          </p:nvSpPr>
          <p:spPr bwMode="auto">
            <a:xfrm>
              <a:off x="0" y="0"/>
              <a:ext cx="1584" cy="38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0741" name="Rectangle 17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**argv (8 bytes)</a:t>
              </a:r>
            </a:p>
          </p:txBody>
        </p:sp>
      </p:grpSp>
      <p:sp>
        <p:nvSpPr>
          <p:cNvPr id="30732" name="Rectangle 18"/>
          <p:cNvSpPr>
            <a:spLocks/>
          </p:cNvSpPr>
          <p:nvPr/>
        </p:nvSpPr>
        <p:spPr bwMode="auto">
          <a:xfrm>
            <a:off x="7620000" y="60198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1</a:t>
            </a:r>
          </a:p>
        </p:txBody>
      </p:sp>
      <p:sp>
        <p:nvSpPr>
          <p:cNvPr id="30733" name="Rectangle 19"/>
          <p:cNvSpPr>
            <a:spLocks/>
          </p:cNvSpPr>
          <p:nvPr/>
        </p:nvSpPr>
        <p:spPr bwMode="auto">
          <a:xfrm>
            <a:off x="7620000" y="5410200"/>
            <a:ext cx="5651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0x…</a:t>
            </a:r>
          </a:p>
        </p:txBody>
      </p:sp>
      <p:grpSp>
        <p:nvGrpSpPr>
          <p:cNvPr id="30734" name="Group 20"/>
          <p:cNvGrpSpPr>
            <a:grpSpLocks/>
          </p:cNvGrpSpPr>
          <p:nvPr/>
        </p:nvGrpSpPr>
        <p:grpSpPr bwMode="auto">
          <a:xfrm>
            <a:off x="4953000" y="5029200"/>
            <a:ext cx="2514600" cy="381000"/>
            <a:chOff x="0" y="0"/>
            <a:chExt cx="1584" cy="240"/>
          </a:xfrm>
        </p:grpSpPr>
        <p:sp>
          <p:nvSpPr>
            <p:cNvPr id="30738" name="Rectangle 21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0739" name="Rectangle 22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myVal (4 bytes)</a:t>
              </a:r>
            </a:p>
          </p:txBody>
        </p:sp>
      </p:grpSp>
      <p:sp>
        <p:nvSpPr>
          <p:cNvPr id="30735" name="Rectangle 23"/>
          <p:cNvSpPr>
            <a:spLocks/>
          </p:cNvSpPr>
          <p:nvPr/>
        </p:nvSpPr>
        <p:spPr bwMode="auto">
          <a:xfrm>
            <a:off x="7620000" y="50292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3</a:t>
            </a:r>
          </a:p>
        </p:txBody>
      </p:sp>
      <p:sp>
        <p:nvSpPr>
          <p:cNvPr id="30736" name="Slide Number Placeholder 2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DE363E6-68F3-2A4B-AAE5-CE7C81E8DD19}" type="slidenum">
              <a:rPr lang="en-US"/>
              <a:pPr/>
              <a:t>55</a:t>
            </a:fld>
            <a:endParaRPr lang="en-US"/>
          </a:p>
        </p:txBody>
      </p:sp>
      <p:sp>
        <p:nvSpPr>
          <p:cNvPr id="30737" name="Footer Placeholder 2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173714073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4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4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4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50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Better Example</a:t>
            </a:r>
          </a:p>
        </p:txBody>
      </p:sp>
      <p:sp>
        <p:nvSpPr>
          <p:cNvPr id="31751" name="Rectangle 7"/>
          <p:cNvSpPr>
            <a:spLocks noChangeArrowheads="1"/>
          </p:cNvSpPr>
          <p:nvPr>
            <p:ph type="body" idx="1"/>
          </p:nvPr>
        </p:nvSpPr>
        <p:spPr>
          <a:xfrm>
            <a:off x="949325" y="1981200"/>
            <a:ext cx="3754438" cy="4876800"/>
          </a:xfrm>
        </p:spPr>
        <p:txBody>
          <a:bodyPr rIns="132080"/>
          <a:lstStyle/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my_queue * b()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my_queue q;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return &amp;q;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a(int yourVal)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int myVal;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my_queue *myQueue;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myVal = yourVal + 3;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myQueue = b();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return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 remove_int(myQueue);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31752" name="Rectangle 8"/>
          <p:cNvSpPr>
            <a:spLocks/>
          </p:cNvSpPr>
          <p:nvPr/>
        </p:nvSpPr>
        <p:spPr bwMode="auto">
          <a:xfrm>
            <a:off x="5143500" y="1981200"/>
            <a:ext cx="37719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main(int argc,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char **argv) {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int myVal = 3;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a(myVal);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</a:p>
        </p:txBody>
      </p:sp>
      <p:sp>
        <p:nvSpPr>
          <p:cNvPr id="31753" name="AutoShape 11"/>
          <p:cNvSpPr>
            <a:spLocks/>
          </p:cNvSpPr>
          <p:nvPr/>
        </p:nvSpPr>
        <p:spPr bwMode="auto">
          <a:xfrm>
            <a:off x="4648200" y="2590800"/>
            <a:ext cx="685800" cy="3048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800" y="0"/>
                </a:moveTo>
                <a:lnTo>
                  <a:pt x="16800" y="5400"/>
                </a:lnTo>
                <a:lnTo>
                  <a:pt x="0" y="5400"/>
                </a:lnTo>
                <a:lnTo>
                  <a:pt x="2400" y="10800"/>
                </a:lnTo>
                <a:lnTo>
                  <a:pt x="0" y="16200"/>
                </a:lnTo>
                <a:lnTo>
                  <a:pt x="16800" y="16200"/>
                </a:lnTo>
                <a:lnTo>
                  <a:pt x="16800" y="21600"/>
                </a:lnTo>
                <a:lnTo>
                  <a:pt x="21600" y="10800"/>
                </a:lnTo>
                <a:close/>
                <a:moveTo>
                  <a:pt x="16800" y="0"/>
                </a:moveTo>
              </a:path>
            </a:pathLst>
          </a:cu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1754" name="Group 12"/>
          <p:cNvGrpSpPr>
            <a:grpSpLocks/>
          </p:cNvGrpSpPr>
          <p:nvPr/>
        </p:nvGrpSpPr>
        <p:grpSpPr bwMode="auto">
          <a:xfrm>
            <a:off x="4953000" y="6019800"/>
            <a:ext cx="2514600" cy="381000"/>
            <a:chOff x="0" y="0"/>
            <a:chExt cx="1584" cy="240"/>
          </a:xfrm>
        </p:grpSpPr>
        <p:sp>
          <p:nvSpPr>
            <p:cNvPr id="31771" name="Rectangle 13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1772" name="Rectangle 14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argc (4 bytes)</a:t>
              </a:r>
            </a:p>
          </p:txBody>
        </p:sp>
      </p:grpSp>
      <p:grpSp>
        <p:nvGrpSpPr>
          <p:cNvPr id="31755" name="Group 15"/>
          <p:cNvGrpSpPr>
            <a:grpSpLocks/>
          </p:cNvGrpSpPr>
          <p:nvPr/>
        </p:nvGrpSpPr>
        <p:grpSpPr bwMode="auto">
          <a:xfrm>
            <a:off x="4953000" y="5410200"/>
            <a:ext cx="2514600" cy="609600"/>
            <a:chOff x="0" y="0"/>
            <a:chExt cx="1584" cy="384"/>
          </a:xfrm>
        </p:grpSpPr>
        <p:sp>
          <p:nvSpPr>
            <p:cNvPr id="31769" name="Rectangle 16"/>
            <p:cNvSpPr>
              <a:spLocks/>
            </p:cNvSpPr>
            <p:nvPr/>
          </p:nvSpPr>
          <p:spPr bwMode="auto">
            <a:xfrm>
              <a:off x="0" y="0"/>
              <a:ext cx="1584" cy="38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1770" name="Rectangle 17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**argv (8 bytes)</a:t>
              </a:r>
            </a:p>
          </p:txBody>
        </p:sp>
      </p:grpSp>
      <p:sp>
        <p:nvSpPr>
          <p:cNvPr id="31756" name="Rectangle 18"/>
          <p:cNvSpPr>
            <a:spLocks/>
          </p:cNvSpPr>
          <p:nvPr/>
        </p:nvSpPr>
        <p:spPr bwMode="auto">
          <a:xfrm>
            <a:off x="7620000" y="60198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1</a:t>
            </a:r>
          </a:p>
        </p:txBody>
      </p:sp>
      <p:sp>
        <p:nvSpPr>
          <p:cNvPr id="31757" name="Rectangle 19"/>
          <p:cNvSpPr>
            <a:spLocks/>
          </p:cNvSpPr>
          <p:nvPr/>
        </p:nvSpPr>
        <p:spPr bwMode="auto">
          <a:xfrm>
            <a:off x="7620000" y="5410200"/>
            <a:ext cx="5651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0x…</a:t>
            </a:r>
          </a:p>
        </p:txBody>
      </p:sp>
      <p:grpSp>
        <p:nvGrpSpPr>
          <p:cNvPr id="31758" name="Group 20"/>
          <p:cNvGrpSpPr>
            <a:grpSpLocks/>
          </p:cNvGrpSpPr>
          <p:nvPr/>
        </p:nvGrpSpPr>
        <p:grpSpPr bwMode="auto">
          <a:xfrm>
            <a:off x="4953000" y="5029200"/>
            <a:ext cx="2514600" cy="381000"/>
            <a:chOff x="0" y="0"/>
            <a:chExt cx="1584" cy="240"/>
          </a:xfrm>
        </p:grpSpPr>
        <p:sp>
          <p:nvSpPr>
            <p:cNvPr id="31767" name="Rectangle 21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1768" name="Rectangle 22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myVal (4 bytes)</a:t>
              </a:r>
            </a:p>
          </p:txBody>
        </p:sp>
      </p:grpSp>
      <p:sp>
        <p:nvSpPr>
          <p:cNvPr id="31759" name="Rectangle 23"/>
          <p:cNvSpPr>
            <a:spLocks/>
          </p:cNvSpPr>
          <p:nvPr/>
        </p:nvSpPr>
        <p:spPr bwMode="auto">
          <a:xfrm>
            <a:off x="7620000" y="50292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3</a:t>
            </a:r>
          </a:p>
        </p:txBody>
      </p:sp>
      <p:grpSp>
        <p:nvGrpSpPr>
          <p:cNvPr id="31760" name="Group 24"/>
          <p:cNvGrpSpPr>
            <a:grpSpLocks/>
          </p:cNvGrpSpPr>
          <p:nvPr/>
        </p:nvGrpSpPr>
        <p:grpSpPr bwMode="auto">
          <a:xfrm>
            <a:off x="4953000" y="4648200"/>
            <a:ext cx="2514600" cy="381000"/>
            <a:chOff x="0" y="0"/>
            <a:chExt cx="1584" cy="240"/>
          </a:xfrm>
        </p:grpSpPr>
        <p:sp>
          <p:nvSpPr>
            <p:cNvPr id="31765" name="Rectangle 25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1766" name="Rectangle 26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yourVal(4 bytes)</a:t>
              </a:r>
            </a:p>
          </p:txBody>
        </p:sp>
      </p:grpSp>
      <p:sp>
        <p:nvSpPr>
          <p:cNvPr id="31761" name="Rectangle 27"/>
          <p:cNvSpPr>
            <a:spLocks/>
          </p:cNvSpPr>
          <p:nvPr/>
        </p:nvSpPr>
        <p:spPr bwMode="auto">
          <a:xfrm>
            <a:off x="7620000" y="46482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3</a:t>
            </a:r>
          </a:p>
        </p:txBody>
      </p:sp>
      <p:sp>
        <p:nvSpPr>
          <p:cNvPr id="31762" name="AutoShape 28"/>
          <p:cNvSpPr>
            <a:spLocks/>
          </p:cNvSpPr>
          <p:nvPr/>
        </p:nvSpPr>
        <p:spPr bwMode="auto">
          <a:xfrm>
            <a:off x="228600" y="3657600"/>
            <a:ext cx="685800" cy="3048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800" y="0"/>
                </a:moveTo>
                <a:lnTo>
                  <a:pt x="16800" y="5400"/>
                </a:lnTo>
                <a:lnTo>
                  <a:pt x="0" y="5400"/>
                </a:lnTo>
                <a:lnTo>
                  <a:pt x="2400" y="10800"/>
                </a:lnTo>
                <a:lnTo>
                  <a:pt x="0" y="16200"/>
                </a:lnTo>
                <a:lnTo>
                  <a:pt x="16800" y="16200"/>
                </a:lnTo>
                <a:lnTo>
                  <a:pt x="16800" y="21600"/>
                </a:lnTo>
                <a:lnTo>
                  <a:pt x="21600" y="10800"/>
                </a:lnTo>
                <a:close/>
                <a:moveTo>
                  <a:pt x="16800" y="0"/>
                </a:moveTo>
              </a:path>
            </a:pathLst>
          </a:cu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63" name="Slide Number Placeholder 2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6FC279F-BC3E-2043-9CF1-280AD2C968E9}" type="slidenum">
              <a:rPr lang="en-US"/>
              <a:pPr/>
              <a:t>56</a:t>
            </a:fld>
            <a:endParaRPr lang="en-US"/>
          </a:p>
        </p:txBody>
      </p:sp>
      <p:sp>
        <p:nvSpPr>
          <p:cNvPr id="31764" name="Footer Placeholder 27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29741741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71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72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73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74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Better Example</a:t>
            </a:r>
          </a:p>
        </p:txBody>
      </p:sp>
      <p:sp>
        <p:nvSpPr>
          <p:cNvPr id="32775" name="Rectangle 7"/>
          <p:cNvSpPr>
            <a:spLocks noChangeArrowheads="1"/>
          </p:cNvSpPr>
          <p:nvPr>
            <p:ph type="body" idx="1"/>
          </p:nvPr>
        </p:nvSpPr>
        <p:spPr>
          <a:xfrm>
            <a:off x="949325" y="1981200"/>
            <a:ext cx="3754438" cy="4876800"/>
          </a:xfrm>
        </p:spPr>
        <p:txBody>
          <a:bodyPr rIns="132080"/>
          <a:lstStyle/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my_queue * b()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my_queue q;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return &amp;q;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a(int yourVal)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int myVal;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my_queue *myQueue;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myVal = yourVal + 3;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myQueue = b();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return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 remove_int(myQueue);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32776" name="Rectangle 8"/>
          <p:cNvSpPr>
            <a:spLocks/>
          </p:cNvSpPr>
          <p:nvPr/>
        </p:nvSpPr>
        <p:spPr bwMode="auto">
          <a:xfrm>
            <a:off x="5143500" y="1981200"/>
            <a:ext cx="37719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main(int argc,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char **argv) {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int myVal = 3;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a(myVal);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</a:p>
        </p:txBody>
      </p:sp>
      <p:sp>
        <p:nvSpPr>
          <p:cNvPr id="32777" name="AutoShape 11"/>
          <p:cNvSpPr>
            <a:spLocks/>
          </p:cNvSpPr>
          <p:nvPr/>
        </p:nvSpPr>
        <p:spPr bwMode="auto">
          <a:xfrm>
            <a:off x="4648200" y="2590800"/>
            <a:ext cx="685800" cy="3048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800" y="0"/>
                </a:moveTo>
                <a:lnTo>
                  <a:pt x="16800" y="5400"/>
                </a:lnTo>
                <a:lnTo>
                  <a:pt x="0" y="5400"/>
                </a:lnTo>
                <a:lnTo>
                  <a:pt x="2400" y="10800"/>
                </a:lnTo>
                <a:lnTo>
                  <a:pt x="0" y="16200"/>
                </a:lnTo>
                <a:lnTo>
                  <a:pt x="16800" y="16200"/>
                </a:lnTo>
                <a:lnTo>
                  <a:pt x="16800" y="21600"/>
                </a:lnTo>
                <a:lnTo>
                  <a:pt x="21600" y="10800"/>
                </a:lnTo>
                <a:close/>
                <a:moveTo>
                  <a:pt x="16800" y="0"/>
                </a:moveTo>
              </a:path>
            </a:pathLst>
          </a:cu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2778" name="Group 12"/>
          <p:cNvGrpSpPr>
            <a:grpSpLocks/>
          </p:cNvGrpSpPr>
          <p:nvPr/>
        </p:nvGrpSpPr>
        <p:grpSpPr bwMode="auto">
          <a:xfrm>
            <a:off x="4953000" y="6019800"/>
            <a:ext cx="2514600" cy="381000"/>
            <a:chOff x="0" y="0"/>
            <a:chExt cx="1584" cy="240"/>
          </a:xfrm>
        </p:grpSpPr>
        <p:sp>
          <p:nvSpPr>
            <p:cNvPr id="32799" name="Rectangle 13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2800" name="Rectangle 14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argc (4 bytes)</a:t>
              </a:r>
            </a:p>
          </p:txBody>
        </p:sp>
      </p:grpSp>
      <p:grpSp>
        <p:nvGrpSpPr>
          <p:cNvPr id="32779" name="Group 15"/>
          <p:cNvGrpSpPr>
            <a:grpSpLocks/>
          </p:cNvGrpSpPr>
          <p:nvPr/>
        </p:nvGrpSpPr>
        <p:grpSpPr bwMode="auto">
          <a:xfrm>
            <a:off x="4953000" y="5410200"/>
            <a:ext cx="2514600" cy="609600"/>
            <a:chOff x="0" y="0"/>
            <a:chExt cx="1584" cy="384"/>
          </a:xfrm>
        </p:grpSpPr>
        <p:sp>
          <p:nvSpPr>
            <p:cNvPr id="32797" name="Rectangle 16"/>
            <p:cNvSpPr>
              <a:spLocks/>
            </p:cNvSpPr>
            <p:nvPr/>
          </p:nvSpPr>
          <p:spPr bwMode="auto">
            <a:xfrm>
              <a:off x="0" y="0"/>
              <a:ext cx="1584" cy="38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2798" name="Rectangle 17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**argv (8 bytes)</a:t>
              </a:r>
            </a:p>
          </p:txBody>
        </p:sp>
      </p:grpSp>
      <p:sp>
        <p:nvSpPr>
          <p:cNvPr id="32780" name="Rectangle 18"/>
          <p:cNvSpPr>
            <a:spLocks/>
          </p:cNvSpPr>
          <p:nvPr/>
        </p:nvSpPr>
        <p:spPr bwMode="auto">
          <a:xfrm>
            <a:off x="7620000" y="60198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1</a:t>
            </a:r>
          </a:p>
        </p:txBody>
      </p:sp>
      <p:sp>
        <p:nvSpPr>
          <p:cNvPr id="32781" name="Rectangle 19"/>
          <p:cNvSpPr>
            <a:spLocks/>
          </p:cNvSpPr>
          <p:nvPr/>
        </p:nvSpPr>
        <p:spPr bwMode="auto">
          <a:xfrm>
            <a:off x="7620000" y="5410200"/>
            <a:ext cx="5651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0x…</a:t>
            </a:r>
          </a:p>
        </p:txBody>
      </p:sp>
      <p:grpSp>
        <p:nvGrpSpPr>
          <p:cNvPr id="32782" name="Group 20"/>
          <p:cNvGrpSpPr>
            <a:grpSpLocks/>
          </p:cNvGrpSpPr>
          <p:nvPr/>
        </p:nvGrpSpPr>
        <p:grpSpPr bwMode="auto">
          <a:xfrm>
            <a:off x="4953000" y="5029200"/>
            <a:ext cx="2514600" cy="381000"/>
            <a:chOff x="0" y="0"/>
            <a:chExt cx="1584" cy="240"/>
          </a:xfrm>
        </p:grpSpPr>
        <p:sp>
          <p:nvSpPr>
            <p:cNvPr id="32795" name="Rectangle 21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2796" name="Rectangle 22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myVal (4 bytes)</a:t>
              </a:r>
            </a:p>
          </p:txBody>
        </p:sp>
      </p:grpSp>
      <p:sp>
        <p:nvSpPr>
          <p:cNvPr id="32783" name="Rectangle 23"/>
          <p:cNvSpPr>
            <a:spLocks/>
          </p:cNvSpPr>
          <p:nvPr/>
        </p:nvSpPr>
        <p:spPr bwMode="auto">
          <a:xfrm>
            <a:off x="7620000" y="50292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3</a:t>
            </a:r>
          </a:p>
        </p:txBody>
      </p:sp>
      <p:grpSp>
        <p:nvGrpSpPr>
          <p:cNvPr id="32784" name="Group 24"/>
          <p:cNvGrpSpPr>
            <a:grpSpLocks/>
          </p:cNvGrpSpPr>
          <p:nvPr/>
        </p:nvGrpSpPr>
        <p:grpSpPr bwMode="auto">
          <a:xfrm>
            <a:off x="4953000" y="4648200"/>
            <a:ext cx="2514600" cy="381000"/>
            <a:chOff x="0" y="0"/>
            <a:chExt cx="1584" cy="240"/>
          </a:xfrm>
        </p:grpSpPr>
        <p:sp>
          <p:nvSpPr>
            <p:cNvPr id="32793" name="Rectangle 25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2794" name="Rectangle 26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yourVal(4 bytes)</a:t>
              </a:r>
            </a:p>
          </p:txBody>
        </p:sp>
      </p:grpSp>
      <p:sp>
        <p:nvSpPr>
          <p:cNvPr id="32785" name="Rectangle 27"/>
          <p:cNvSpPr>
            <a:spLocks/>
          </p:cNvSpPr>
          <p:nvPr/>
        </p:nvSpPr>
        <p:spPr bwMode="auto">
          <a:xfrm>
            <a:off x="7620000" y="46482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3</a:t>
            </a:r>
          </a:p>
        </p:txBody>
      </p:sp>
      <p:sp>
        <p:nvSpPr>
          <p:cNvPr id="32786" name="AutoShape 28"/>
          <p:cNvSpPr>
            <a:spLocks/>
          </p:cNvSpPr>
          <p:nvPr/>
        </p:nvSpPr>
        <p:spPr bwMode="auto">
          <a:xfrm>
            <a:off x="609600" y="3962400"/>
            <a:ext cx="685800" cy="3048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800" y="0"/>
                </a:moveTo>
                <a:lnTo>
                  <a:pt x="16800" y="5400"/>
                </a:lnTo>
                <a:lnTo>
                  <a:pt x="0" y="5400"/>
                </a:lnTo>
                <a:lnTo>
                  <a:pt x="2400" y="10800"/>
                </a:lnTo>
                <a:lnTo>
                  <a:pt x="0" y="16200"/>
                </a:lnTo>
                <a:lnTo>
                  <a:pt x="16800" y="16200"/>
                </a:lnTo>
                <a:lnTo>
                  <a:pt x="16800" y="21600"/>
                </a:lnTo>
                <a:lnTo>
                  <a:pt x="21600" y="10800"/>
                </a:lnTo>
                <a:close/>
                <a:moveTo>
                  <a:pt x="16800" y="0"/>
                </a:moveTo>
              </a:path>
            </a:pathLst>
          </a:cu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2787" name="Group 29"/>
          <p:cNvGrpSpPr>
            <a:grpSpLocks/>
          </p:cNvGrpSpPr>
          <p:nvPr/>
        </p:nvGrpSpPr>
        <p:grpSpPr bwMode="auto">
          <a:xfrm>
            <a:off x="4953000" y="4267200"/>
            <a:ext cx="2514600" cy="381000"/>
            <a:chOff x="0" y="0"/>
            <a:chExt cx="1584" cy="240"/>
          </a:xfrm>
        </p:grpSpPr>
        <p:sp>
          <p:nvSpPr>
            <p:cNvPr id="32791" name="Rectangle 30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2792" name="Rectangle 31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myVal (4 bytes)</a:t>
              </a:r>
            </a:p>
          </p:txBody>
        </p:sp>
      </p:grpSp>
      <p:sp>
        <p:nvSpPr>
          <p:cNvPr id="32788" name="Rectangle 32"/>
          <p:cNvSpPr>
            <a:spLocks/>
          </p:cNvSpPr>
          <p:nvPr/>
        </p:nvSpPr>
        <p:spPr bwMode="auto">
          <a:xfrm>
            <a:off x="7620000" y="4267200"/>
            <a:ext cx="11144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???????</a:t>
            </a:r>
          </a:p>
        </p:txBody>
      </p:sp>
      <p:sp>
        <p:nvSpPr>
          <p:cNvPr id="32789" name="Slide Number Placeholder 3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CD6C03D-E54D-9E41-AE77-4AF87B66615A}" type="slidenum">
              <a:rPr lang="en-US"/>
              <a:pPr/>
              <a:t>57</a:t>
            </a:fld>
            <a:endParaRPr lang="en-US"/>
          </a:p>
        </p:txBody>
      </p:sp>
      <p:sp>
        <p:nvSpPr>
          <p:cNvPr id="32790" name="Footer Placeholder 3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331846465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79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79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79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798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Better Example</a:t>
            </a:r>
          </a:p>
        </p:txBody>
      </p:sp>
      <p:sp>
        <p:nvSpPr>
          <p:cNvPr id="33799" name="Rectangle 7"/>
          <p:cNvSpPr>
            <a:spLocks noChangeArrowheads="1"/>
          </p:cNvSpPr>
          <p:nvPr>
            <p:ph type="body" idx="1"/>
          </p:nvPr>
        </p:nvSpPr>
        <p:spPr>
          <a:xfrm>
            <a:off x="949325" y="1981200"/>
            <a:ext cx="3754438" cy="4876800"/>
          </a:xfrm>
        </p:spPr>
        <p:txBody>
          <a:bodyPr rIns="132080"/>
          <a:lstStyle/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my_queue * b()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my_queue q;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return &amp;q;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a(int yourVal)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int myVal;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my_queue *myQueue;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myVal = yourVal + 3;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myQueue = b();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return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 remove_int(myQueue);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33800" name="Rectangle 8"/>
          <p:cNvSpPr>
            <a:spLocks/>
          </p:cNvSpPr>
          <p:nvPr/>
        </p:nvSpPr>
        <p:spPr bwMode="auto">
          <a:xfrm>
            <a:off x="5143500" y="1981200"/>
            <a:ext cx="37719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main(int argc,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char **argv) {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int myVal = 3;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a(myVal);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</a:p>
        </p:txBody>
      </p:sp>
      <p:sp>
        <p:nvSpPr>
          <p:cNvPr id="33801" name="AutoShape 11"/>
          <p:cNvSpPr>
            <a:spLocks/>
          </p:cNvSpPr>
          <p:nvPr/>
        </p:nvSpPr>
        <p:spPr bwMode="auto">
          <a:xfrm>
            <a:off x="4648200" y="2590800"/>
            <a:ext cx="685800" cy="3048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800" y="0"/>
                </a:moveTo>
                <a:lnTo>
                  <a:pt x="16800" y="5400"/>
                </a:lnTo>
                <a:lnTo>
                  <a:pt x="0" y="5400"/>
                </a:lnTo>
                <a:lnTo>
                  <a:pt x="2400" y="10800"/>
                </a:lnTo>
                <a:lnTo>
                  <a:pt x="0" y="16200"/>
                </a:lnTo>
                <a:lnTo>
                  <a:pt x="16800" y="16200"/>
                </a:lnTo>
                <a:lnTo>
                  <a:pt x="16800" y="21600"/>
                </a:lnTo>
                <a:lnTo>
                  <a:pt x="21600" y="10800"/>
                </a:lnTo>
                <a:close/>
                <a:moveTo>
                  <a:pt x="16800" y="0"/>
                </a:moveTo>
              </a:path>
            </a:pathLst>
          </a:cu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3802" name="Group 12"/>
          <p:cNvGrpSpPr>
            <a:grpSpLocks/>
          </p:cNvGrpSpPr>
          <p:nvPr/>
        </p:nvGrpSpPr>
        <p:grpSpPr bwMode="auto">
          <a:xfrm>
            <a:off x="4953000" y="6019800"/>
            <a:ext cx="2514600" cy="381000"/>
            <a:chOff x="0" y="0"/>
            <a:chExt cx="1584" cy="240"/>
          </a:xfrm>
        </p:grpSpPr>
        <p:sp>
          <p:nvSpPr>
            <p:cNvPr id="33827" name="Rectangle 13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3828" name="Rectangle 14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argc (4 bytes)</a:t>
              </a:r>
            </a:p>
          </p:txBody>
        </p:sp>
      </p:grpSp>
      <p:grpSp>
        <p:nvGrpSpPr>
          <p:cNvPr id="33803" name="Group 15"/>
          <p:cNvGrpSpPr>
            <a:grpSpLocks/>
          </p:cNvGrpSpPr>
          <p:nvPr/>
        </p:nvGrpSpPr>
        <p:grpSpPr bwMode="auto">
          <a:xfrm>
            <a:off x="4953000" y="5410200"/>
            <a:ext cx="2514600" cy="609600"/>
            <a:chOff x="0" y="0"/>
            <a:chExt cx="1584" cy="384"/>
          </a:xfrm>
        </p:grpSpPr>
        <p:sp>
          <p:nvSpPr>
            <p:cNvPr id="33825" name="Rectangle 16"/>
            <p:cNvSpPr>
              <a:spLocks/>
            </p:cNvSpPr>
            <p:nvPr/>
          </p:nvSpPr>
          <p:spPr bwMode="auto">
            <a:xfrm>
              <a:off x="0" y="0"/>
              <a:ext cx="1584" cy="38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3826" name="Rectangle 17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**argv (8 bytes)</a:t>
              </a:r>
            </a:p>
          </p:txBody>
        </p:sp>
      </p:grpSp>
      <p:sp>
        <p:nvSpPr>
          <p:cNvPr id="33804" name="Rectangle 18"/>
          <p:cNvSpPr>
            <a:spLocks/>
          </p:cNvSpPr>
          <p:nvPr/>
        </p:nvSpPr>
        <p:spPr bwMode="auto">
          <a:xfrm>
            <a:off x="7620000" y="60198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1</a:t>
            </a:r>
          </a:p>
        </p:txBody>
      </p:sp>
      <p:sp>
        <p:nvSpPr>
          <p:cNvPr id="33805" name="Rectangle 19"/>
          <p:cNvSpPr>
            <a:spLocks/>
          </p:cNvSpPr>
          <p:nvPr/>
        </p:nvSpPr>
        <p:spPr bwMode="auto">
          <a:xfrm>
            <a:off x="7620000" y="5410200"/>
            <a:ext cx="5651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0x…</a:t>
            </a:r>
          </a:p>
        </p:txBody>
      </p:sp>
      <p:grpSp>
        <p:nvGrpSpPr>
          <p:cNvPr id="33806" name="Group 20"/>
          <p:cNvGrpSpPr>
            <a:grpSpLocks/>
          </p:cNvGrpSpPr>
          <p:nvPr/>
        </p:nvGrpSpPr>
        <p:grpSpPr bwMode="auto">
          <a:xfrm>
            <a:off x="4953000" y="5029200"/>
            <a:ext cx="2514600" cy="381000"/>
            <a:chOff x="0" y="0"/>
            <a:chExt cx="1584" cy="240"/>
          </a:xfrm>
        </p:grpSpPr>
        <p:sp>
          <p:nvSpPr>
            <p:cNvPr id="33823" name="Rectangle 21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3824" name="Rectangle 22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myVal (4 bytes)</a:t>
              </a:r>
            </a:p>
          </p:txBody>
        </p:sp>
      </p:grpSp>
      <p:sp>
        <p:nvSpPr>
          <p:cNvPr id="33807" name="Rectangle 23"/>
          <p:cNvSpPr>
            <a:spLocks/>
          </p:cNvSpPr>
          <p:nvPr/>
        </p:nvSpPr>
        <p:spPr bwMode="auto">
          <a:xfrm>
            <a:off x="7620000" y="50292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3</a:t>
            </a:r>
          </a:p>
        </p:txBody>
      </p:sp>
      <p:grpSp>
        <p:nvGrpSpPr>
          <p:cNvPr id="33808" name="Group 24"/>
          <p:cNvGrpSpPr>
            <a:grpSpLocks/>
          </p:cNvGrpSpPr>
          <p:nvPr/>
        </p:nvGrpSpPr>
        <p:grpSpPr bwMode="auto">
          <a:xfrm>
            <a:off x="4953000" y="4648200"/>
            <a:ext cx="2514600" cy="381000"/>
            <a:chOff x="0" y="0"/>
            <a:chExt cx="1584" cy="240"/>
          </a:xfrm>
        </p:grpSpPr>
        <p:sp>
          <p:nvSpPr>
            <p:cNvPr id="33821" name="Rectangle 25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3822" name="Rectangle 26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yourVal(4 bytes)</a:t>
              </a:r>
            </a:p>
          </p:txBody>
        </p:sp>
      </p:grpSp>
      <p:sp>
        <p:nvSpPr>
          <p:cNvPr id="33809" name="Rectangle 27"/>
          <p:cNvSpPr>
            <a:spLocks/>
          </p:cNvSpPr>
          <p:nvPr/>
        </p:nvSpPr>
        <p:spPr bwMode="auto">
          <a:xfrm>
            <a:off x="7620000" y="46482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3</a:t>
            </a:r>
          </a:p>
        </p:txBody>
      </p:sp>
      <p:sp>
        <p:nvSpPr>
          <p:cNvPr id="33810" name="AutoShape 28"/>
          <p:cNvSpPr>
            <a:spLocks/>
          </p:cNvSpPr>
          <p:nvPr/>
        </p:nvSpPr>
        <p:spPr bwMode="auto">
          <a:xfrm>
            <a:off x="609600" y="4267200"/>
            <a:ext cx="685800" cy="3048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800" y="0"/>
                </a:moveTo>
                <a:lnTo>
                  <a:pt x="16800" y="5400"/>
                </a:lnTo>
                <a:lnTo>
                  <a:pt x="0" y="5400"/>
                </a:lnTo>
                <a:lnTo>
                  <a:pt x="2400" y="10800"/>
                </a:lnTo>
                <a:lnTo>
                  <a:pt x="0" y="16200"/>
                </a:lnTo>
                <a:lnTo>
                  <a:pt x="16800" y="16200"/>
                </a:lnTo>
                <a:lnTo>
                  <a:pt x="16800" y="21600"/>
                </a:lnTo>
                <a:lnTo>
                  <a:pt x="21600" y="10800"/>
                </a:lnTo>
                <a:close/>
                <a:moveTo>
                  <a:pt x="16800" y="0"/>
                </a:moveTo>
              </a:path>
            </a:pathLst>
          </a:cu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3811" name="Group 29"/>
          <p:cNvGrpSpPr>
            <a:grpSpLocks/>
          </p:cNvGrpSpPr>
          <p:nvPr/>
        </p:nvGrpSpPr>
        <p:grpSpPr bwMode="auto">
          <a:xfrm>
            <a:off x="4953000" y="4267200"/>
            <a:ext cx="2514600" cy="381000"/>
            <a:chOff x="0" y="0"/>
            <a:chExt cx="1584" cy="240"/>
          </a:xfrm>
        </p:grpSpPr>
        <p:sp>
          <p:nvSpPr>
            <p:cNvPr id="33819" name="Rectangle 30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3820" name="Rectangle 31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myVal (4 bytes)</a:t>
              </a:r>
            </a:p>
          </p:txBody>
        </p:sp>
      </p:grpSp>
      <p:sp>
        <p:nvSpPr>
          <p:cNvPr id="33812" name="Rectangle 32"/>
          <p:cNvSpPr>
            <a:spLocks/>
          </p:cNvSpPr>
          <p:nvPr/>
        </p:nvSpPr>
        <p:spPr bwMode="auto">
          <a:xfrm>
            <a:off x="7620000" y="4267200"/>
            <a:ext cx="11144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???????</a:t>
            </a:r>
          </a:p>
        </p:txBody>
      </p:sp>
      <p:grpSp>
        <p:nvGrpSpPr>
          <p:cNvPr id="33813" name="Group 33"/>
          <p:cNvGrpSpPr>
            <a:grpSpLocks/>
          </p:cNvGrpSpPr>
          <p:nvPr/>
        </p:nvGrpSpPr>
        <p:grpSpPr bwMode="auto">
          <a:xfrm>
            <a:off x="4953000" y="3657600"/>
            <a:ext cx="2514600" cy="609600"/>
            <a:chOff x="0" y="0"/>
            <a:chExt cx="1584" cy="384"/>
          </a:xfrm>
        </p:grpSpPr>
        <p:sp>
          <p:nvSpPr>
            <p:cNvPr id="33817" name="Rectangle 34"/>
            <p:cNvSpPr>
              <a:spLocks/>
            </p:cNvSpPr>
            <p:nvPr/>
          </p:nvSpPr>
          <p:spPr bwMode="auto">
            <a:xfrm>
              <a:off x="0" y="0"/>
              <a:ext cx="1584" cy="38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3818" name="Rectangle 35"/>
            <p:cNvSpPr>
              <a:spLocks/>
            </p:cNvSpPr>
            <p:nvPr/>
          </p:nvSpPr>
          <p:spPr bwMode="auto">
            <a:xfrm>
              <a:off x="0" y="0"/>
              <a:ext cx="1583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*myQueue (8 bytes)</a:t>
              </a:r>
            </a:p>
          </p:txBody>
        </p:sp>
      </p:grpSp>
      <p:sp>
        <p:nvSpPr>
          <p:cNvPr id="33814" name="Rectangle 36"/>
          <p:cNvSpPr>
            <a:spLocks/>
          </p:cNvSpPr>
          <p:nvPr/>
        </p:nvSpPr>
        <p:spPr bwMode="auto">
          <a:xfrm>
            <a:off x="7620000" y="3657600"/>
            <a:ext cx="11144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???????</a:t>
            </a:r>
          </a:p>
        </p:txBody>
      </p:sp>
      <p:sp>
        <p:nvSpPr>
          <p:cNvPr id="33815" name="Slide Number Placeholder 3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AF4DCDA-D1D2-2A4C-853B-6BE5A80F176F}" type="slidenum">
              <a:rPr lang="en-US"/>
              <a:pPr/>
              <a:t>58</a:t>
            </a:fld>
            <a:endParaRPr lang="en-US"/>
          </a:p>
        </p:txBody>
      </p:sp>
      <p:sp>
        <p:nvSpPr>
          <p:cNvPr id="33816" name="Footer Placeholder 3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352927559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481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482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482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4822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Better Example</a:t>
            </a:r>
          </a:p>
        </p:txBody>
      </p:sp>
      <p:sp>
        <p:nvSpPr>
          <p:cNvPr id="34823" name="Rectangle 7"/>
          <p:cNvSpPr>
            <a:spLocks noChangeArrowheads="1"/>
          </p:cNvSpPr>
          <p:nvPr>
            <p:ph type="body" idx="1"/>
          </p:nvPr>
        </p:nvSpPr>
        <p:spPr>
          <a:xfrm>
            <a:off x="949325" y="1981200"/>
            <a:ext cx="3754438" cy="4876800"/>
          </a:xfrm>
        </p:spPr>
        <p:txBody>
          <a:bodyPr rIns="132080"/>
          <a:lstStyle/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my_queue * b()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my_queue q;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return &amp;q;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a(int yourVal)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int myVal;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my_queue *myQueue;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myVal = yourVal + 3;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myQueue = b();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return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 remove_int(myQueue);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34824" name="Rectangle 8"/>
          <p:cNvSpPr>
            <a:spLocks/>
          </p:cNvSpPr>
          <p:nvPr/>
        </p:nvSpPr>
        <p:spPr bwMode="auto">
          <a:xfrm>
            <a:off x="5143500" y="1981200"/>
            <a:ext cx="37719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main(int argc,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char **argv) {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int myVal = 3;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a(myVal);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</a:p>
        </p:txBody>
      </p:sp>
      <p:sp>
        <p:nvSpPr>
          <p:cNvPr id="34825" name="AutoShape 11"/>
          <p:cNvSpPr>
            <a:spLocks/>
          </p:cNvSpPr>
          <p:nvPr/>
        </p:nvSpPr>
        <p:spPr bwMode="auto">
          <a:xfrm>
            <a:off x="4648200" y="2590800"/>
            <a:ext cx="685800" cy="3048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800" y="0"/>
                </a:moveTo>
                <a:lnTo>
                  <a:pt x="16800" y="5400"/>
                </a:lnTo>
                <a:lnTo>
                  <a:pt x="0" y="5400"/>
                </a:lnTo>
                <a:lnTo>
                  <a:pt x="2400" y="10800"/>
                </a:lnTo>
                <a:lnTo>
                  <a:pt x="0" y="16200"/>
                </a:lnTo>
                <a:lnTo>
                  <a:pt x="16800" y="16200"/>
                </a:lnTo>
                <a:lnTo>
                  <a:pt x="16800" y="21600"/>
                </a:lnTo>
                <a:lnTo>
                  <a:pt x="21600" y="10800"/>
                </a:lnTo>
                <a:close/>
                <a:moveTo>
                  <a:pt x="16800" y="0"/>
                </a:moveTo>
              </a:path>
            </a:pathLst>
          </a:cu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4826" name="Group 12"/>
          <p:cNvGrpSpPr>
            <a:grpSpLocks/>
          </p:cNvGrpSpPr>
          <p:nvPr/>
        </p:nvGrpSpPr>
        <p:grpSpPr bwMode="auto">
          <a:xfrm>
            <a:off x="4953000" y="6019800"/>
            <a:ext cx="2514600" cy="381000"/>
            <a:chOff x="0" y="0"/>
            <a:chExt cx="1584" cy="240"/>
          </a:xfrm>
        </p:grpSpPr>
        <p:sp>
          <p:nvSpPr>
            <p:cNvPr id="34851" name="Rectangle 13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4852" name="Rectangle 14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argc (4 bytes)</a:t>
              </a:r>
            </a:p>
          </p:txBody>
        </p:sp>
      </p:grpSp>
      <p:grpSp>
        <p:nvGrpSpPr>
          <p:cNvPr id="34827" name="Group 15"/>
          <p:cNvGrpSpPr>
            <a:grpSpLocks/>
          </p:cNvGrpSpPr>
          <p:nvPr/>
        </p:nvGrpSpPr>
        <p:grpSpPr bwMode="auto">
          <a:xfrm>
            <a:off x="4953000" y="5410200"/>
            <a:ext cx="2514600" cy="609600"/>
            <a:chOff x="0" y="0"/>
            <a:chExt cx="1584" cy="384"/>
          </a:xfrm>
        </p:grpSpPr>
        <p:sp>
          <p:nvSpPr>
            <p:cNvPr id="34849" name="Rectangle 16"/>
            <p:cNvSpPr>
              <a:spLocks/>
            </p:cNvSpPr>
            <p:nvPr/>
          </p:nvSpPr>
          <p:spPr bwMode="auto">
            <a:xfrm>
              <a:off x="0" y="0"/>
              <a:ext cx="1584" cy="38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4850" name="Rectangle 17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**argv (8 bytes)</a:t>
              </a:r>
            </a:p>
          </p:txBody>
        </p:sp>
      </p:grpSp>
      <p:sp>
        <p:nvSpPr>
          <p:cNvPr id="34828" name="Rectangle 18"/>
          <p:cNvSpPr>
            <a:spLocks/>
          </p:cNvSpPr>
          <p:nvPr/>
        </p:nvSpPr>
        <p:spPr bwMode="auto">
          <a:xfrm>
            <a:off x="7620000" y="60198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1</a:t>
            </a:r>
          </a:p>
        </p:txBody>
      </p:sp>
      <p:sp>
        <p:nvSpPr>
          <p:cNvPr id="34829" name="Rectangle 19"/>
          <p:cNvSpPr>
            <a:spLocks/>
          </p:cNvSpPr>
          <p:nvPr/>
        </p:nvSpPr>
        <p:spPr bwMode="auto">
          <a:xfrm>
            <a:off x="7620000" y="5410200"/>
            <a:ext cx="5651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0x…</a:t>
            </a:r>
          </a:p>
        </p:txBody>
      </p:sp>
      <p:grpSp>
        <p:nvGrpSpPr>
          <p:cNvPr id="34830" name="Group 20"/>
          <p:cNvGrpSpPr>
            <a:grpSpLocks/>
          </p:cNvGrpSpPr>
          <p:nvPr/>
        </p:nvGrpSpPr>
        <p:grpSpPr bwMode="auto">
          <a:xfrm>
            <a:off x="4953000" y="5029200"/>
            <a:ext cx="2514600" cy="381000"/>
            <a:chOff x="0" y="0"/>
            <a:chExt cx="1584" cy="240"/>
          </a:xfrm>
        </p:grpSpPr>
        <p:sp>
          <p:nvSpPr>
            <p:cNvPr id="34847" name="Rectangle 21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4848" name="Rectangle 22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myVal (4 bytes)</a:t>
              </a:r>
            </a:p>
          </p:txBody>
        </p:sp>
      </p:grpSp>
      <p:sp>
        <p:nvSpPr>
          <p:cNvPr id="34831" name="Rectangle 23"/>
          <p:cNvSpPr>
            <a:spLocks/>
          </p:cNvSpPr>
          <p:nvPr/>
        </p:nvSpPr>
        <p:spPr bwMode="auto">
          <a:xfrm>
            <a:off x="7620000" y="50292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3</a:t>
            </a:r>
          </a:p>
        </p:txBody>
      </p:sp>
      <p:grpSp>
        <p:nvGrpSpPr>
          <p:cNvPr id="34832" name="Group 24"/>
          <p:cNvGrpSpPr>
            <a:grpSpLocks/>
          </p:cNvGrpSpPr>
          <p:nvPr/>
        </p:nvGrpSpPr>
        <p:grpSpPr bwMode="auto">
          <a:xfrm>
            <a:off x="4953000" y="4648200"/>
            <a:ext cx="2514600" cy="381000"/>
            <a:chOff x="0" y="0"/>
            <a:chExt cx="1584" cy="240"/>
          </a:xfrm>
        </p:grpSpPr>
        <p:sp>
          <p:nvSpPr>
            <p:cNvPr id="34845" name="Rectangle 25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4846" name="Rectangle 26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yourVal(4 bytes)</a:t>
              </a:r>
            </a:p>
          </p:txBody>
        </p:sp>
      </p:grpSp>
      <p:sp>
        <p:nvSpPr>
          <p:cNvPr id="34833" name="AutoShape 27"/>
          <p:cNvSpPr>
            <a:spLocks/>
          </p:cNvSpPr>
          <p:nvPr/>
        </p:nvSpPr>
        <p:spPr bwMode="auto">
          <a:xfrm>
            <a:off x="609600" y="4648200"/>
            <a:ext cx="685800" cy="3048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800" y="0"/>
                </a:moveTo>
                <a:lnTo>
                  <a:pt x="16800" y="5400"/>
                </a:lnTo>
                <a:lnTo>
                  <a:pt x="0" y="5400"/>
                </a:lnTo>
                <a:lnTo>
                  <a:pt x="2400" y="10800"/>
                </a:lnTo>
                <a:lnTo>
                  <a:pt x="0" y="16200"/>
                </a:lnTo>
                <a:lnTo>
                  <a:pt x="16800" y="16200"/>
                </a:lnTo>
                <a:lnTo>
                  <a:pt x="16800" y="21600"/>
                </a:lnTo>
                <a:lnTo>
                  <a:pt x="21600" y="10800"/>
                </a:lnTo>
                <a:close/>
                <a:moveTo>
                  <a:pt x="16800" y="0"/>
                </a:moveTo>
              </a:path>
            </a:pathLst>
          </a:cu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4834" name="Group 28"/>
          <p:cNvGrpSpPr>
            <a:grpSpLocks/>
          </p:cNvGrpSpPr>
          <p:nvPr/>
        </p:nvGrpSpPr>
        <p:grpSpPr bwMode="auto">
          <a:xfrm>
            <a:off x="4953000" y="4267200"/>
            <a:ext cx="2514600" cy="381000"/>
            <a:chOff x="0" y="0"/>
            <a:chExt cx="1584" cy="240"/>
          </a:xfrm>
        </p:grpSpPr>
        <p:sp>
          <p:nvSpPr>
            <p:cNvPr id="34843" name="Rectangle 29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4844" name="Rectangle 30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myVal (4 bytes)</a:t>
              </a:r>
            </a:p>
          </p:txBody>
        </p:sp>
      </p:grpSp>
      <p:sp>
        <p:nvSpPr>
          <p:cNvPr id="34835" name="Rectangle 31"/>
          <p:cNvSpPr>
            <a:spLocks/>
          </p:cNvSpPr>
          <p:nvPr/>
        </p:nvSpPr>
        <p:spPr bwMode="auto">
          <a:xfrm>
            <a:off x="7620000" y="4267200"/>
            <a:ext cx="292100" cy="3556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6</a:t>
            </a:r>
          </a:p>
        </p:txBody>
      </p:sp>
      <p:grpSp>
        <p:nvGrpSpPr>
          <p:cNvPr id="34836" name="Group 32"/>
          <p:cNvGrpSpPr>
            <a:grpSpLocks/>
          </p:cNvGrpSpPr>
          <p:nvPr/>
        </p:nvGrpSpPr>
        <p:grpSpPr bwMode="auto">
          <a:xfrm>
            <a:off x="4953000" y="3657600"/>
            <a:ext cx="2514600" cy="609600"/>
            <a:chOff x="0" y="0"/>
            <a:chExt cx="1584" cy="384"/>
          </a:xfrm>
        </p:grpSpPr>
        <p:sp>
          <p:nvSpPr>
            <p:cNvPr id="34841" name="Rectangle 33"/>
            <p:cNvSpPr>
              <a:spLocks/>
            </p:cNvSpPr>
            <p:nvPr/>
          </p:nvSpPr>
          <p:spPr bwMode="auto">
            <a:xfrm>
              <a:off x="0" y="0"/>
              <a:ext cx="1584" cy="38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4842" name="Rectangle 34"/>
            <p:cNvSpPr>
              <a:spLocks/>
            </p:cNvSpPr>
            <p:nvPr/>
          </p:nvSpPr>
          <p:spPr bwMode="auto">
            <a:xfrm>
              <a:off x="0" y="0"/>
              <a:ext cx="1583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*myQueue (8 bytes)</a:t>
              </a:r>
            </a:p>
          </p:txBody>
        </p:sp>
      </p:grpSp>
      <p:sp>
        <p:nvSpPr>
          <p:cNvPr id="34837" name="Rectangle 35"/>
          <p:cNvSpPr>
            <a:spLocks/>
          </p:cNvSpPr>
          <p:nvPr/>
        </p:nvSpPr>
        <p:spPr bwMode="auto">
          <a:xfrm>
            <a:off x="7620000" y="3657600"/>
            <a:ext cx="11144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???????</a:t>
            </a:r>
          </a:p>
        </p:txBody>
      </p:sp>
      <p:sp>
        <p:nvSpPr>
          <p:cNvPr id="34838" name="Rectangle 36"/>
          <p:cNvSpPr>
            <a:spLocks/>
          </p:cNvSpPr>
          <p:nvPr/>
        </p:nvSpPr>
        <p:spPr bwMode="auto">
          <a:xfrm>
            <a:off x="7620000" y="46482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3</a:t>
            </a:r>
          </a:p>
        </p:txBody>
      </p:sp>
      <p:sp>
        <p:nvSpPr>
          <p:cNvPr id="34839" name="Slide Number Placeholder 3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985E546-69C7-E747-940E-AEA7518B3780}" type="slidenum">
              <a:rPr lang="en-US"/>
              <a:pPr/>
              <a:t>59</a:t>
            </a:fld>
            <a:endParaRPr lang="en-US"/>
          </a:p>
        </p:txBody>
      </p:sp>
      <p:sp>
        <p:nvSpPr>
          <p:cNvPr id="34840" name="Footer Placeholder 3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399410507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4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4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4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46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Better Example</a:t>
            </a:r>
          </a:p>
        </p:txBody>
      </p:sp>
      <p:sp>
        <p:nvSpPr>
          <p:cNvPr id="35847" name="Rectangle 7"/>
          <p:cNvSpPr>
            <a:spLocks noChangeArrowheads="1"/>
          </p:cNvSpPr>
          <p:nvPr>
            <p:ph type="body" idx="1"/>
          </p:nvPr>
        </p:nvSpPr>
        <p:spPr>
          <a:xfrm>
            <a:off x="949325" y="1981200"/>
            <a:ext cx="3754438" cy="4876800"/>
          </a:xfrm>
        </p:spPr>
        <p:txBody>
          <a:bodyPr rIns="132080"/>
          <a:lstStyle/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my_queue * b()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my_queue q;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return &amp;q;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a(int yourVal)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int myVal;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my_queue *myQueue;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myVal = yourVal + 3;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myQueue = b();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return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 remove_int(myQueue);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35848" name="Rectangle 8"/>
          <p:cNvSpPr>
            <a:spLocks/>
          </p:cNvSpPr>
          <p:nvPr/>
        </p:nvSpPr>
        <p:spPr bwMode="auto">
          <a:xfrm>
            <a:off x="5143500" y="1981200"/>
            <a:ext cx="37719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main(int argc,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char **argv) {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int myVal = 3;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a(myVal);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</a:p>
        </p:txBody>
      </p:sp>
      <p:sp>
        <p:nvSpPr>
          <p:cNvPr id="35849" name="AutoShape 11"/>
          <p:cNvSpPr>
            <a:spLocks/>
          </p:cNvSpPr>
          <p:nvPr/>
        </p:nvSpPr>
        <p:spPr bwMode="auto">
          <a:xfrm>
            <a:off x="4648200" y="2590800"/>
            <a:ext cx="685800" cy="3048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800" y="0"/>
                </a:moveTo>
                <a:lnTo>
                  <a:pt x="16800" y="5400"/>
                </a:lnTo>
                <a:lnTo>
                  <a:pt x="0" y="5400"/>
                </a:lnTo>
                <a:lnTo>
                  <a:pt x="2400" y="10800"/>
                </a:lnTo>
                <a:lnTo>
                  <a:pt x="0" y="16200"/>
                </a:lnTo>
                <a:lnTo>
                  <a:pt x="16800" y="16200"/>
                </a:lnTo>
                <a:lnTo>
                  <a:pt x="16800" y="21600"/>
                </a:lnTo>
                <a:lnTo>
                  <a:pt x="21600" y="10800"/>
                </a:lnTo>
                <a:close/>
                <a:moveTo>
                  <a:pt x="16800" y="0"/>
                </a:moveTo>
              </a:path>
            </a:pathLst>
          </a:cu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5850" name="Group 12"/>
          <p:cNvGrpSpPr>
            <a:grpSpLocks/>
          </p:cNvGrpSpPr>
          <p:nvPr/>
        </p:nvGrpSpPr>
        <p:grpSpPr bwMode="auto">
          <a:xfrm>
            <a:off x="4953000" y="6019800"/>
            <a:ext cx="2514600" cy="381000"/>
            <a:chOff x="0" y="0"/>
            <a:chExt cx="1584" cy="240"/>
          </a:xfrm>
        </p:grpSpPr>
        <p:sp>
          <p:nvSpPr>
            <p:cNvPr id="35880" name="Rectangle 13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5881" name="Rectangle 14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argc (4 bytes)</a:t>
              </a:r>
            </a:p>
          </p:txBody>
        </p:sp>
      </p:grpSp>
      <p:grpSp>
        <p:nvGrpSpPr>
          <p:cNvPr id="35851" name="Group 15"/>
          <p:cNvGrpSpPr>
            <a:grpSpLocks/>
          </p:cNvGrpSpPr>
          <p:nvPr/>
        </p:nvGrpSpPr>
        <p:grpSpPr bwMode="auto">
          <a:xfrm>
            <a:off x="4953000" y="5410200"/>
            <a:ext cx="2514600" cy="609600"/>
            <a:chOff x="0" y="0"/>
            <a:chExt cx="1584" cy="384"/>
          </a:xfrm>
        </p:grpSpPr>
        <p:sp>
          <p:nvSpPr>
            <p:cNvPr id="35878" name="Rectangle 16"/>
            <p:cNvSpPr>
              <a:spLocks/>
            </p:cNvSpPr>
            <p:nvPr/>
          </p:nvSpPr>
          <p:spPr bwMode="auto">
            <a:xfrm>
              <a:off x="0" y="0"/>
              <a:ext cx="1584" cy="38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5879" name="Rectangle 17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**argv (8 bytes)</a:t>
              </a:r>
            </a:p>
          </p:txBody>
        </p:sp>
      </p:grpSp>
      <p:sp>
        <p:nvSpPr>
          <p:cNvPr id="35852" name="Rectangle 18"/>
          <p:cNvSpPr>
            <a:spLocks/>
          </p:cNvSpPr>
          <p:nvPr/>
        </p:nvSpPr>
        <p:spPr bwMode="auto">
          <a:xfrm>
            <a:off x="7620000" y="60198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1</a:t>
            </a:r>
          </a:p>
        </p:txBody>
      </p:sp>
      <p:sp>
        <p:nvSpPr>
          <p:cNvPr id="35853" name="Rectangle 19"/>
          <p:cNvSpPr>
            <a:spLocks/>
          </p:cNvSpPr>
          <p:nvPr/>
        </p:nvSpPr>
        <p:spPr bwMode="auto">
          <a:xfrm>
            <a:off x="7620000" y="5410200"/>
            <a:ext cx="5651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0x…</a:t>
            </a:r>
          </a:p>
        </p:txBody>
      </p:sp>
      <p:grpSp>
        <p:nvGrpSpPr>
          <p:cNvPr id="35854" name="Group 20"/>
          <p:cNvGrpSpPr>
            <a:grpSpLocks/>
          </p:cNvGrpSpPr>
          <p:nvPr/>
        </p:nvGrpSpPr>
        <p:grpSpPr bwMode="auto">
          <a:xfrm>
            <a:off x="4953000" y="5029200"/>
            <a:ext cx="2514600" cy="381000"/>
            <a:chOff x="0" y="0"/>
            <a:chExt cx="1584" cy="240"/>
          </a:xfrm>
        </p:grpSpPr>
        <p:sp>
          <p:nvSpPr>
            <p:cNvPr id="35876" name="Rectangle 21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5877" name="Rectangle 22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myVal (4 bytes)</a:t>
              </a:r>
            </a:p>
          </p:txBody>
        </p:sp>
      </p:grpSp>
      <p:sp>
        <p:nvSpPr>
          <p:cNvPr id="35855" name="Rectangle 23"/>
          <p:cNvSpPr>
            <a:spLocks/>
          </p:cNvSpPr>
          <p:nvPr/>
        </p:nvSpPr>
        <p:spPr bwMode="auto">
          <a:xfrm>
            <a:off x="7620000" y="50292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3</a:t>
            </a:r>
          </a:p>
        </p:txBody>
      </p:sp>
      <p:grpSp>
        <p:nvGrpSpPr>
          <p:cNvPr id="35856" name="Group 24"/>
          <p:cNvGrpSpPr>
            <a:grpSpLocks/>
          </p:cNvGrpSpPr>
          <p:nvPr/>
        </p:nvGrpSpPr>
        <p:grpSpPr bwMode="auto">
          <a:xfrm>
            <a:off x="4953000" y="4648200"/>
            <a:ext cx="2514600" cy="381000"/>
            <a:chOff x="0" y="0"/>
            <a:chExt cx="1584" cy="240"/>
          </a:xfrm>
        </p:grpSpPr>
        <p:sp>
          <p:nvSpPr>
            <p:cNvPr id="35874" name="Rectangle 25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5875" name="Rectangle 26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yourVal(4 bytes)</a:t>
              </a:r>
            </a:p>
          </p:txBody>
        </p:sp>
      </p:grpSp>
      <p:sp>
        <p:nvSpPr>
          <p:cNvPr id="35857" name="AutoShape 27"/>
          <p:cNvSpPr>
            <a:spLocks/>
          </p:cNvSpPr>
          <p:nvPr/>
        </p:nvSpPr>
        <p:spPr bwMode="auto">
          <a:xfrm>
            <a:off x="609600" y="4953000"/>
            <a:ext cx="685800" cy="3048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800" y="0"/>
                </a:moveTo>
                <a:lnTo>
                  <a:pt x="16800" y="5400"/>
                </a:lnTo>
                <a:lnTo>
                  <a:pt x="0" y="5400"/>
                </a:lnTo>
                <a:lnTo>
                  <a:pt x="2400" y="10800"/>
                </a:lnTo>
                <a:lnTo>
                  <a:pt x="0" y="16200"/>
                </a:lnTo>
                <a:lnTo>
                  <a:pt x="16800" y="16200"/>
                </a:lnTo>
                <a:lnTo>
                  <a:pt x="16800" y="21600"/>
                </a:lnTo>
                <a:lnTo>
                  <a:pt x="21600" y="10800"/>
                </a:lnTo>
                <a:close/>
                <a:moveTo>
                  <a:pt x="16800" y="0"/>
                </a:moveTo>
              </a:path>
            </a:pathLst>
          </a:cu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5858" name="Group 28"/>
          <p:cNvGrpSpPr>
            <a:grpSpLocks/>
          </p:cNvGrpSpPr>
          <p:nvPr/>
        </p:nvGrpSpPr>
        <p:grpSpPr bwMode="auto">
          <a:xfrm>
            <a:off x="4953000" y="4267200"/>
            <a:ext cx="2514600" cy="381000"/>
            <a:chOff x="0" y="0"/>
            <a:chExt cx="1584" cy="240"/>
          </a:xfrm>
        </p:grpSpPr>
        <p:sp>
          <p:nvSpPr>
            <p:cNvPr id="35872" name="Rectangle 29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5873" name="Rectangle 30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myVal (4 bytes)</a:t>
              </a:r>
            </a:p>
          </p:txBody>
        </p:sp>
      </p:grpSp>
      <p:sp>
        <p:nvSpPr>
          <p:cNvPr id="35859" name="Rectangle 31"/>
          <p:cNvSpPr>
            <a:spLocks/>
          </p:cNvSpPr>
          <p:nvPr/>
        </p:nvSpPr>
        <p:spPr bwMode="auto">
          <a:xfrm>
            <a:off x="7620000" y="4267200"/>
            <a:ext cx="292100" cy="3556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6</a:t>
            </a:r>
          </a:p>
        </p:txBody>
      </p:sp>
      <p:grpSp>
        <p:nvGrpSpPr>
          <p:cNvPr id="35860" name="Group 32"/>
          <p:cNvGrpSpPr>
            <a:grpSpLocks/>
          </p:cNvGrpSpPr>
          <p:nvPr/>
        </p:nvGrpSpPr>
        <p:grpSpPr bwMode="auto">
          <a:xfrm>
            <a:off x="4953000" y="3657600"/>
            <a:ext cx="2514600" cy="609600"/>
            <a:chOff x="0" y="0"/>
            <a:chExt cx="1584" cy="384"/>
          </a:xfrm>
        </p:grpSpPr>
        <p:sp>
          <p:nvSpPr>
            <p:cNvPr id="35870" name="Rectangle 33"/>
            <p:cNvSpPr>
              <a:spLocks/>
            </p:cNvSpPr>
            <p:nvPr/>
          </p:nvSpPr>
          <p:spPr bwMode="auto">
            <a:xfrm>
              <a:off x="0" y="0"/>
              <a:ext cx="1584" cy="38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5871" name="Rectangle 34"/>
            <p:cNvSpPr>
              <a:spLocks/>
            </p:cNvSpPr>
            <p:nvPr/>
          </p:nvSpPr>
          <p:spPr bwMode="auto">
            <a:xfrm>
              <a:off x="0" y="0"/>
              <a:ext cx="1583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*myQueue (8 bytes)</a:t>
              </a:r>
            </a:p>
          </p:txBody>
        </p:sp>
      </p:grpSp>
      <p:sp>
        <p:nvSpPr>
          <p:cNvPr id="35861" name="Rectangle 35"/>
          <p:cNvSpPr>
            <a:spLocks/>
          </p:cNvSpPr>
          <p:nvPr/>
        </p:nvSpPr>
        <p:spPr bwMode="auto">
          <a:xfrm>
            <a:off x="7620000" y="3657600"/>
            <a:ext cx="11144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???????</a:t>
            </a:r>
          </a:p>
        </p:txBody>
      </p:sp>
      <p:sp>
        <p:nvSpPr>
          <p:cNvPr id="35862" name="AutoShape 36"/>
          <p:cNvSpPr>
            <a:spLocks/>
          </p:cNvSpPr>
          <p:nvPr/>
        </p:nvSpPr>
        <p:spPr bwMode="auto">
          <a:xfrm>
            <a:off x="228600" y="1981200"/>
            <a:ext cx="685800" cy="3048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800" y="0"/>
                </a:moveTo>
                <a:lnTo>
                  <a:pt x="16800" y="5400"/>
                </a:lnTo>
                <a:lnTo>
                  <a:pt x="0" y="5400"/>
                </a:lnTo>
                <a:lnTo>
                  <a:pt x="2400" y="10800"/>
                </a:lnTo>
                <a:lnTo>
                  <a:pt x="0" y="16200"/>
                </a:lnTo>
                <a:lnTo>
                  <a:pt x="16800" y="16200"/>
                </a:lnTo>
                <a:lnTo>
                  <a:pt x="16800" y="21600"/>
                </a:lnTo>
                <a:lnTo>
                  <a:pt x="21600" y="10800"/>
                </a:lnTo>
                <a:close/>
                <a:moveTo>
                  <a:pt x="16800" y="0"/>
                </a:moveTo>
              </a:path>
            </a:pathLst>
          </a:cu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5863" name="Group 37"/>
          <p:cNvGrpSpPr>
            <a:grpSpLocks/>
          </p:cNvGrpSpPr>
          <p:nvPr/>
        </p:nvGrpSpPr>
        <p:grpSpPr bwMode="auto">
          <a:xfrm>
            <a:off x="4953000" y="2362200"/>
            <a:ext cx="2514600" cy="1295400"/>
            <a:chOff x="0" y="0"/>
            <a:chExt cx="1584" cy="816"/>
          </a:xfrm>
        </p:grpSpPr>
        <p:sp>
          <p:nvSpPr>
            <p:cNvPr id="35868" name="Rectangle 38"/>
            <p:cNvSpPr>
              <a:spLocks/>
            </p:cNvSpPr>
            <p:nvPr/>
          </p:nvSpPr>
          <p:spPr bwMode="auto">
            <a:xfrm>
              <a:off x="0" y="0"/>
              <a:ext cx="1584" cy="81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5869" name="Rectangle 39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q (? bytes)</a:t>
              </a:r>
            </a:p>
          </p:txBody>
        </p:sp>
      </p:grpSp>
      <p:sp>
        <p:nvSpPr>
          <p:cNvPr id="35864" name="Rectangle 40"/>
          <p:cNvSpPr>
            <a:spLocks/>
          </p:cNvSpPr>
          <p:nvPr/>
        </p:nvSpPr>
        <p:spPr bwMode="auto">
          <a:xfrm>
            <a:off x="7543800" y="2362200"/>
            <a:ext cx="147796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(struct </a:t>
            </a:r>
            <a:br>
              <a:rPr lang="en-US">
                <a:latin typeface="Courier New Bold" charset="0"/>
                <a:cs typeface="Courier New Bold" charset="0"/>
                <a:sym typeface="Courier New Bold" charset="0"/>
              </a:rPr>
            </a:br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data)</a:t>
            </a:r>
          </a:p>
        </p:txBody>
      </p:sp>
      <p:sp>
        <p:nvSpPr>
          <p:cNvPr id="35865" name="Rectangle 41"/>
          <p:cNvSpPr>
            <a:spLocks/>
          </p:cNvSpPr>
          <p:nvPr/>
        </p:nvSpPr>
        <p:spPr bwMode="auto">
          <a:xfrm>
            <a:off x="7620000" y="46482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3</a:t>
            </a:r>
          </a:p>
        </p:txBody>
      </p:sp>
      <p:sp>
        <p:nvSpPr>
          <p:cNvPr id="35866" name="Slide Number Placeholder 3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20414D6-5805-9549-BB1C-59DA513B790C}" type="slidenum">
              <a:rPr lang="en-US"/>
              <a:pPr/>
              <a:t>60</a:t>
            </a:fld>
            <a:endParaRPr lang="en-US"/>
          </a:p>
        </p:txBody>
      </p:sp>
      <p:sp>
        <p:nvSpPr>
          <p:cNvPr id="35867" name="Footer Placeholder 40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317873119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686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686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686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6870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Better Example</a:t>
            </a:r>
          </a:p>
        </p:txBody>
      </p:sp>
      <p:sp>
        <p:nvSpPr>
          <p:cNvPr id="36871" name="Rectangle 7"/>
          <p:cNvSpPr>
            <a:spLocks noChangeArrowheads="1"/>
          </p:cNvSpPr>
          <p:nvPr>
            <p:ph type="body" idx="1"/>
          </p:nvPr>
        </p:nvSpPr>
        <p:spPr>
          <a:xfrm>
            <a:off x="949325" y="1981200"/>
            <a:ext cx="3754438" cy="4876800"/>
          </a:xfrm>
        </p:spPr>
        <p:txBody>
          <a:bodyPr rIns="132080"/>
          <a:lstStyle/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my_queue * b()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my_queue q;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return &amp;q;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a(int yourVal)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int myVal;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my_queue *myQueue;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myVal = yourVal + 3;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myQueue = b();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return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 remove_int(myQueue);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36872" name="Rectangle 8"/>
          <p:cNvSpPr>
            <a:spLocks/>
          </p:cNvSpPr>
          <p:nvPr/>
        </p:nvSpPr>
        <p:spPr bwMode="auto">
          <a:xfrm>
            <a:off x="5143500" y="1981200"/>
            <a:ext cx="37719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main(int argc,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char **argv) {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int myVal = 3;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a(myVal);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</a:p>
        </p:txBody>
      </p:sp>
      <p:sp>
        <p:nvSpPr>
          <p:cNvPr id="36873" name="AutoShape 11"/>
          <p:cNvSpPr>
            <a:spLocks/>
          </p:cNvSpPr>
          <p:nvPr/>
        </p:nvSpPr>
        <p:spPr bwMode="auto">
          <a:xfrm>
            <a:off x="4648200" y="2590800"/>
            <a:ext cx="685800" cy="3048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800" y="0"/>
                </a:moveTo>
                <a:lnTo>
                  <a:pt x="16800" y="5400"/>
                </a:lnTo>
                <a:lnTo>
                  <a:pt x="0" y="5400"/>
                </a:lnTo>
                <a:lnTo>
                  <a:pt x="2400" y="10800"/>
                </a:lnTo>
                <a:lnTo>
                  <a:pt x="0" y="16200"/>
                </a:lnTo>
                <a:lnTo>
                  <a:pt x="16800" y="16200"/>
                </a:lnTo>
                <a:lnTo>
                  <a:pt x="16800" y="21600"/>
                </a:lnTo>
                <a:lnTo>
                  <a:pt x="21600" y="10800"/>
                </a:lnTo>
                <a:close/>
                <a:moveTo>
                  <a:pt x="16800" y="0"/>
                </a:moveTo>
              </a:path>
            </a:pathLst>
          </a:cu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6874" name="Group 12"/>
          <p:cNvGrpSpPr>
            <a:grpSpLocks/>
          </p:cNvGrpSpPr>
          <p:nvPr/>
        </p:nvGrpSpPr>
        <p:grpSpPr bwMode="auto">
          <a:xfrm>
            <a:off x="4953000" y="6019800"/>
            <a:ext cx="2514600" cy="381000"/>
            <a:chOff x="0" y="0"/>
            <a:chExt cx="1584" cy="240"/>
          </a:xfrm>
        </p:grpSpPr>
        <p:sp>
          <p:nvSpPr>
            <p:cNvPr id="36905" name="Rectangle 13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906" name="Rectangle 14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argc (4 bytes)</a:t>
              </a:r>
            </a:p>
          </p:txBody>
        </p:sp>
      </p:grpSp>
      <p:grpSp>
        <p:nvGrpSpPr>
          <p:cNvPr id="36875" name="Group 15"/>
          <p:cNvGrpSpPr>
            <a:grpSpLocks/>
          </p:cNvGrpSpPr>
          <p:nvPr/>
        </p:nvGrpSpPr>
        <p:grpSpPr bwMode="auto">
          <a:xfrm>
            <a:off x="4953000" y="5410200"/>
            <a:ext cx="2514600" cy="609600"/>
            <a:chOff x="0" y="0"/>
            <a:chExt cx="1584" cy="384"/>
          </a:xfrm>
        </p:grpSpPr>
        <p:sp>
          <p:nvSpPr>
            <p:cNvPr id="36903" name="Rectangle 16"/>
            <p:cNvSpPr>
              <a:spLocks/>
            </p:cNvSpPr>
            <p:nvPr/>
          </p:nvSpPr>
          <p:spPr bwMode="auto">
            <a:xfrm>
              <a:off x="0" y="0"/>
              <a:ext cx="1584" cy="38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904" name="Rectangle 17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**argv (8 bytes)</a:t>
              </a:r>
            </a:p>
          </p:txBody>
        </p:sp>
      </p:grpSp>
      <p:sp>
        <p:nvSpPr>
          <p:cNvPr id="36876" name="Rectangle 18"/>
          <p:cNvSpPr>
            <a:spLocks/>
          </p:cNvSpPr>
          <p:nvPr/>
        </p:nvSpPr>
        <p:spPr bwMode="auto">
          <a:xfrm>
            <a:off x="7620000" y="60198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1</a:t>
            </a:r>
          </a:p>
        </p:txBody>
      </p:sp>
      <p:sp>
        <p:nvSpPr>
          <p:cNvPr id="36877" name="Rectangle 19"/>
          <p:cNvSpPr>
            <a:spLocks/>
          </p:cNvSpPr>
          <p:nvPr/>
        </p:nvSpPr>
        <p:spPr bwMode="auto">
          <a:xfrm>
            <a:off x="7620000" y="5410200"/>
            <a:ext cx="5651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0x…</a:t>
            </a:r>
          </a:p>
        </p:txBody>
      </p:sp>
      <p:grpSp>
        <p:nvGrpSpPr>
          <p:cNvPr id="36878" name="Group 20"/>
          <p:cNvGrpSpPr>
            <a:grpSpLocks/>
          </p:cNvGrpSpPr>
          <p:nvPr/>
        </p:nvGrpSpPr>
        <p:grpSpPr bwMode="auto">
          <a:xfrm>
            <a:off x="4953000" y="5029200"/>
            <a:ext cx="2514600" cy="381000"/>
            <a:chOff x="0" y="0"/>
            <a:chExt cx="1584" cy="240"/>
          </a:xfrm>
        </p:grpSpPr>
        <p:sp>
          <p:nvSpPr>
            <p:cNvPr id="36901" name="Rectangle 21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902" name="Rectangle 22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myVal (4 bytes)</a:t>
              </a:r>
            </a:p>
          </p:txBody>
        </p:sp>
      </p:grpSp>
      <p:sp>
        <p:nvSpPr>
          <p:cNvPr id="36879" name="Rectangle 23"/>
          <p:cNvSpPr>
            <a:spLocks/>
          </p:cNvSpPr>
          <p:nvPr/>
        </p:nvSpPr>
        <p:spPr bwMode="auto">
          <a:xfrm>
            <a:off x="7620000" y="50292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3</a:t>
            </a:r>
          </a:p>
        </p:txBody>
      </p:sp>
      <p:grpSp>
        <p:nvGrpSpPr>
          <p:cNvPr id="36880" name="Group 24"/>
          <p:cNvGrpSpPr>
            <a:grpSpLocks/>
          </p:cNvGrpSpPr>
          <p:nvPr/>
        </p:nvGrpSpPr>
        <p:grpSpPr bwMode="auto">
          <a:xfrm>
            <a:off x="4953000" y="4648200"/>
            <a:ext cx="2514600" cy="381000"/>
            <a:chOff x="0" y="0"/>
            <a:chExt cx="1584" cy="240"/>
          </a:xfrm>
        </p:grpSpPr>
        <p:sp>
          <p:nvSpPr>
            <p:cNvPr id="36899" name="Rectangle 25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900" name="Rectangle 26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yourVal(4 bytes)</a:t>
              </a:r>
            </a:p>
          </p:txBody>
        </p:sp>
      </p:grpSp>
      <p:sp>
        <p:nvSpPr>
          <p:cNvPr id="36881" name="AutoShape 27"/>
          <p:cNvSpPr>
            <a:spLocks/>
          </p:cNvSpPr>
          <p:nvPr/>
        </p:nvSpPr>
        <p:spPr bwMode="auto">
          <a:xfrm>
            <a:off x="609600" y="4953000"/>
            <a:ext cx="685800" cy="3048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800" y="0"/>
                </a:moveTo>
                <a:lnTo>
                  <a:pt x="16800" y="5400"/>
                </a:lnTo>
                <a:lnTo>
                  <a:pt x="0" y="5400"/>
                </a:lnTo>
                <a:lnTo>
                  <a:pt x="2400" y="10800"/>
                </a:lnTo>
                <a:lnTo>
                  <a:pt x="0" y="16200"/>
                </a:lnTo>
                <a:lnTo>
                  <a:pt x="16800" y="16200"/>
                </a:lnTo>
                <a:lnTo>
                  <a:pt x="16800" y="21600"/>
                </a:lnTo>
                <a:lnTo>
                  <a:pt x="21600" y="10800"/>
                </a:lnTo>
                <a:close/>
                <a:moveTo>
                  <a:pt x="16800" y="0"/>
                </a:moveTo>
              </a:path>
            </a:pathLst>
          </a:cu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6882" name="Group 28"/>
          <p:cNvGrpSpPr>
            <a:grpSpLocks/>
          </p:cNvGrpSpPr>
          <p:nvPr/>
        </p:nvGrpSpPr>
        <p:grpSpPr bwMode="auto">
          <a:xfrm>
            <a:off x="4953000" y="4267200"/>
            <a:ext cx="2514600" cy="381000"/>
            <a:chOff x="0" y="0"/>
            <a:chExt cx="1584" cy="240"/>
          </a:xfrm>
        </p:grpSpPr>
        <p:sp>
          <p:nvSpPr>
            <p:cNvPr id="36897" name="Rectangle 29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98" name="Rectangle 30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myVal (4 bytes)</a:t>
              </a:r>
            </a:p>
          </p:txBody>
        </p:sp>
      </p:grpSp>
      <p:sp>
        <p:nvSpPr>
          <p:cNvPr id="36883" name="Rectangle 31"/>
          <p:cNvSpPr>
            <a:spLocks/>
          </p:cNvSpPr>
          <p:nvPr/>
        </p:nvSpPr>
        <p:spPr bwMode="auto">
          <a:xfrm>
            <a:off x="7620000" y="4267200"/>
            <a:ext cx="292100" cy="3556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6</a:t>
            </a:r>
          </a:p>
        </p:txBody>
      </p:sp>
      <p:grpSp>
        <p:nvGrpSpPr>
          <p:cNvPr id="36884" name="Group 32"/>
          <p:cNvGrpSpPr>
            <a:grpSpLocks/>
          </p:cNvGrpSpPr>
          <p:nvPr/>
        </p:nvGrpSpPr>
        <p:grpSpPr bwMode="auto">
          <a:xfrm>
            <a:off x="4953000" y="3657600"/>
            <a:ext cx="2514600" cy="609600"/>
            <a:chOff x="0" y="0"/>
            <a:chExt cx="1584" cy="384"/>
          </a:xfrm>
        </p:grpSpPr>
        <p:sp>
          <p:nvSpPr>
            <p:cNvPr id="36895" name="Rectangle 33"/>
            <p:cNvSpPr>
              <a:spLocks/>
            </p:cNvSpPr>
            <p:nvPr/>
          </p:nvSpPr>
          <p:spPr bwMode="auto">
            <a:xfrm>
              <a:off x="0" y="0"/>
              <a:ext cx="1584" cy="38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96" name="Rectangle 34"/>
            <p:cNvSpPr>
              <a:spLocks/>
            </p:cNvSpPr>
            <p:nvPr/>
          </p:nvSpPr>
          <p:spPr bwMode="auto">
            <a:xfrm>
              <a:off x="0" y="0"/>
              <a:ext cx="1583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*myQueue (8 bytes)</a:t>
              </a:r>
            </a:p>
          </p:txBody>
        </p:sp>
      </p:grpSp>
      <p:sp>
        <p:nvSpPr>
          <p:cNvPr id="36885" name="Rectangle 35"/>
          <p:cNvSpPr>
            <a:spLocks/>
          </p:cNvSpPr>
          <p:nvPr/>
        </p:nvSpPr>
        <p:spPr bwMode="auto">
          <a:xfrm>
            <a:off x="7620000" y="3657600"/>
            <a:ext cx="4286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0x</a:t>
            </a:r>
          </a:p>
        </p:txBody>
      </p:sp>
      <p:sp>
        <p:nvSpPr>
          <p:cNvPr id="36886" name="AutoShape 36"/>
          <p:cNvSpPr>
            <a:spLocks/>
          </p:cNvSpPr>
          <p:nvPr/>
        </p:nvSpPr>
        <p:spPr bwMode="auto">
          <a:xfrm>
            <a:off x="609600" y="2590800"/>
            <a:ext cx="685800" cy="3048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800" y="0"/>
                </a:moveTo>
                <a:lnTo>
                  <a:pt x="16800" y="5400"/>
                </a:lnTo>
                <a:lnTo>
                  <a:pt x="0" y="5400"/>
                </a:lnTo>
                <a:lnTo>
                  <a:pt x="2400" y="10800"/>
                </a:lnTo>
                <a:lnTo>
                  <a:pt x="0" y="16200"/>
                </a:lnTo>
                <a:lnTo>
                  <a:pt x="16800" y="16200"/>
                </a:lnTo>
                <a:lnTo>
                  <a:pt x="16800" y="21600"/>
                </a:lnTo>
                <a:lnTo>
                  <a:pt x="21600" y="10800"/>
                </a:lnTo>
                <a:close/>
                <a:moveTo>
                  <a:pt x="16800" y="0"/>
                </a:moveTo>
              </a:path>
            </a:pathLst>
          </a:cu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6887" name="Group 37"/>
          <p:cNvGrpSpPr>
            <a:grpSpLocks/>
          </p:cNvGrpSpPr>
          <p:nvPr/>
        </p:nvGrpSpPr>
        <p:grpSpPr bwMode="auto">
          <a:xfrm>
            <a:off x="4953000" y="2362200"/>
            <a:ext cx="2514600" cy="1295400"/>
            <a:chOff x="0" y="0"/>
            <a:chExt cx="1584" cy="816"/>
          </a:xfrm>
        </p:grpSpPr>
        <p:sp>
          <p:nvSpPr>
            <p:cNvPr id="36893" name="Rectangle 38"/>
            <p:cNvSpPr>
              <a:spLocks/>
            </p:cNvSpPr>
            <p:nvPr/>
          </p:nvSpPr>
          <p:spPr bwMode="auto">
            <a:xfrm>
              <a:off x="0" y="0"/>
              <a:ext cx="1584" cy="8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94" name="Rectangle 39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FF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q (? bytes)</a:t>
              </a:r>
            </a:p>
          </p:txBody>
        </p:sp>
      </p:grpSp>
      <p:sp>
        <p:nvSpPr>
          <p:cNvPr id="36888" name="Rectangle 40"/>
          <p:cNvSpPr>
            <a:spLocks/>
          </p:cNvSpPr>
          <p:nvPr/>
        </p:nvSpPr>
        <p:spPr bwMode="auto">
          <a:xfrm>
            <a:off x="7543800" y="2362200"/>
            <a:ext cx="147796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(struct </a:t>
            </a:r>
            <a:br>
              <a:rPr lang="en-US">
                <a:latin typeface="Courier New Bold" charset="0"/>
                <a:cs typeface="Courier New Bold" charset="0"/>
                <a:sym typeface="Courier New Bold" charset="0"/>
              </a:rPr>
            </a:br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data)</a:t>
            </a:r>
          </a:p>
        </p:txBody>
      </p:sp>
      <p:sp>
        <p:nvSpPr>
          <p:cNvPr id="36889" name="Rectangle 41"/>
          <p:cNvSpPr>
            <a:spLocks/>
          </p:cNvSpPr>
          <p:nvPr/>
        </p:nvSpPr>
        <p:spPr bwMode="auto">
          <a:xfrm>
            <a:off x="7620000" y="46482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3</a:t>
            </a:r>
          </a:p>
        </p:txBody>
      </p:sp>
      <p:sp>
        <p:nvSpPr>
          <p:cNvPr id="36890" name="Freeform 42"/>
          <p:cNvSpPr>
            <a:spLocks/>
          </p:cNvSpPr>
          <p:nvPr/>
        </p:nvSpPr>
        <p:spPr bwMode="auto">
          <a:xfrm rot="10800000">
            <a:off x="7467600" y="3009900"/>
            <a:ext cx="1016000" cy="83185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0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4852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6891" name="Slide Number Placeholder 4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9F4A85F-840E-7245-B31A-0DB2E6431A67}" type="slidenum">
              <a:rPr lang="en-US"/>
              <a:pPr/>
              <a:t>61</a:t>
            </a:fld>
            <a:endParaRPr lang="en-US"/>
          </a:p>
        </p:txBody>
      </p:sp>
      <p:sp>
        <p:nvSpPr>
          <p:cNvPr id="36892" name="Footer Placeholder 4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3407794035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7891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7892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7893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7894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Better Example</a:t>
            </a:r>
          </a:p>
        </p:txBody>
      </p:sp>
      <p:sp>
        <p:nvSpPr>
          <p:cNvPr id="37895" name="Rectangle 7"/>
          <p:cNvSpPr>
            <a:spLocks noChangeArrowheads="1"/>
          </p:cNvSpPr>
          <p:nvPr>
            <p:ph type="body" idx="1"/>
          </p:nvPr>
        </p:nvSpPr>
        <p:spPr>
          <a:xfrm>
            <a:off x="949325" y="1981200"/>
            <a:ext cx="3754438" cy="4876800"/>
          </a:xfrm>
        </p:spPr>
        <p:txBody>
          <a:bodyPr rIns="132080"/>
          <a:lstStyle/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my_queue * b()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my_queue q;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return &amp;q;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a(int yourVal) {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int myVal;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my_queue *myQueue;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myVal = yourVal + 3;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myQueue = b();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return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 remove_int(myQueue);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1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37896" name="Rectangle 8"/>
          <p:cNvSpPr>
            <a:spLocks/>
          </p:cNvSpPr>
          <p:nvPr/>
        </p:nvSpPr>
        <p:spPr bwMode="auto">
          <a:xfrm>
            <a:off x="4856163" y="1981200"/>
            <a:ext cx="37719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main(int argc,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char **argv) {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int myVal = 3;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a(myVal);</a:t>
            </a:r>
          </a:p>
          <a:p>
            <a:pPr marL="487363" indent="-447675">
              <a:spcBef>
                <a:spcPts val="400"/>
              </a:spcBef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</a:p>
        </p:txBody>
      </p:sp>
      <p:sp>
        <p:nvSpPr>
          <p:cNvPr id="37897" name="AutoShape 11"/>
          <p:cNvSpPr>
            <a:spLocks/>
          </p:cNvSpPr>
          <p:nvPr/>
        </p:nvSpPr>
        <p:spPr bwMode="auto">
          <a:xfrm>
            <a:off x="4648200" y="2590800"/>
            <a:ext cx="685800" cy="3048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800" y="0"/>
                </a:moveTo>
                <a:lnTo>
                  <a:pt x="16800" y="5400"/>
                </a:lnTo>
                <a:lnTo>
                  <a:pt x="0" y="5400"/>
                </a:lnTo>
                <a:lnTo>
                  <a:pt x="2400" y="10800"/>
                </a:lnTo>
                <a:lnTo>
                  <a:pt x="0" y="16200"/>
                </a:lnTo>
                <a:lnTo>
                  <a:pt x="16800" y="16200"/>
                </a:lnTo>
                <a:lnTo>
                  <a:pt x="16800" y="21600"/>
                </a:lnTo>
                <a:lnTo>
                  <a:pt x="21600" y="10800"/>
                </a:lnTo>
                <a:close/>
                <a:moveTo>
                  <a:pt x="16800" y="0"/>
                </a:moveTo>
              </a:path>
            </a:pathLst>
          </a:cu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7898" name="Group 12"/>
          <p:cNvGrpSpPr>
            <a:grpSpLocks/>
          </p:cNvGrpSpPr>
          <p:nvPr/>
        </p:nvGrpSpPr>
        <p:grpSpPr bwMode="auto">
          <a:xfrm>
            <a:off x="4953000" y="6019800"/>
            <a:ext cx="2514600" cy="381000"/>
            <a:chOff x="0" y="0"/>
            <a:chExt cx="1584" cy="240"/>
          </a:xfrm>
        </p:grpSpPr>
        <p:sp>
          <p:nvSpPr>
            <p:cNvPr id="37930" name="Rectangle 13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7931" name="Rectangle 14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argc (4 bytes)</a:t>
              </a:r>
            </a:p>
          </p:txBody>
        </p:sp>
      </p:grpSp>
      <p:grpSp>
        <p:nvGrpSpPr>
          <p:cNvPr id="37899" name="Group 15"/>
          <p:cNvGrpSpPr>
            <a:grpSpLocks/>
          </p:cNvGrpSpPr>
          <p:nvPr/>
        </p:nvGrpSpPr>
        <p:grpSpPr bwMode="auto">
          <a:xfrm>
            <a:off x="4953000" y="5410200"/>
            <a:ext cx="2514600" cy="609600"/>
            <a:chOff x="0" y="0"/>
            <a:chExt cx="1584" cy="384"/>
          </a:xfrm>
        </p:grpSpPr>
        <p:sp>
          <p:nvSpPr>
            <p:cNvPr id="37928" name="Rectangle 16"/>
            <p:cNvSpPr>
              <a:spLocks/>
            </p:cNvSpPr>
            <p:nvPr/>
          </p:nvSpPr>
          <p:spPr bwMode="auto">
            <a:xfrm>
              <a:off x="0" y="0"/>
              <a:ext cx="1584" cy="38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7929" name="Rectangle 17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**argv (8 bytes)</a:t>
              </a:r>
            </a:p>
          </p:txBody>
        </p:sp>
      </p:grpSp>
      <p:sp>
        <p:nvSpPr>
          <p:cNvPr id="37900" name="Rectangle 18"/>
          <p:cNvSpPr>
            <a:spLocks/>
          </p:cNvSpPr>
          <p:nvPr/>
        </p:nvSpPr>
        <p:spPr bwMode="auto">
          <a:xfrm>
            <a:off x="7620000" y="60198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1</a:t>
            </a:r>
          </a:p>
        </p:txBody>
      </p:sp>
      <p:sp>
        <p:nvSpPr>
          <p:cNvPr id="37901" name="Rectangle 19"/>
          <p:cNvSpPr>
            <a:spLocks/>
          </p:cNvSpPr>
          <p:nvPr/>
        </p:nvSpPr>
        <p:spPr bwMode="auto">
          <a:xfrm>
            <a:off x="7620000" y="5410200"/>
            <a:ext cx="5651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0x…</a:t>
            </a:r>
          </a:p>
        </p:txBody>
      </p:sp>
      <p:grpSp>
        <p:nvGrpSpPr>
          <p:cNvPr id="37902" name="Group 20"/>
          <p:cNvGrpSpPr>
            <a:grpSpLocks/>
          </p:cNvGrpSpPr>
          <p:nvPr/>
        </p:nvGrpSpPr>
        <p:grpSpPr bwMode="auto">
          <a:xfrm>
            <a:off x="4953000" y="5029200"/>
            <a:ext cx="2514600" cy="381000"/>
            <a:chOff x="0" y="0"/>
            <a:chExt cx="1584" cy="240"/>
          </a:xfrm>
        </p:grpSpPr>
        <p:sp>
          <p:nvSpPr>
            <p:cNvPr id="37926" name="Rectangle 21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7927" name="Rectangle 22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myVal (4 bytes)</a:t>
              </a:r>
            </a:p>
          </p:txBody>
        </p:sp>
      </p:grpSp>
      <p:sp>
        <p:nvSpPr>
          <p:cNvPr id="37903" name="Rectangle 23"/>
          <p:cNvSpPr>
            <a:spLocks/>
          </p:cNvSpPr>
          <p:nvPr/>
        </p:nvSpPr>
        <p:spPr bwMode="auto">
          <a:xfrm>
            <a:off x="7620000" y="50292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3</a:t>
            </a:r>
          </a:p>
        </p:txBody>
      </p:sp>
      <p:grpSp>
        <p:nvGrpSpPr>
          <p:cNvPr id="37904" name="Group 24"/>
          <p:cNvGrpSpPr>
            <a:grpSpLocks/>
          </p:cNvGrpSpPr>
          <p:nvPr/>
        </p:nvGrpSpPr>
        <p:grpSpPr bwMode="auto">
          <a:xfrm>
            <a:off x="4953000" y="4648200"/>
            <a:ext cx="2514600" cy="381000"/>
            <a:chOff x="0" y="0"/>
            <a:chExt cx="1584" cy="240"/>
          </a:xfrm>
        </p:grpSpPr>
        <p:sp>
          <p:nvSpPr>
            <p:cNvPr id="37924" name="Rectangle 25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7925" name="Rectangle 26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yourVal(4 bytes)</a:t>
              </a:r>
            </a:p>
          </p:txBody>
        </p:sp>
      </p:grpSp>
      <p:sp>
        <p:nvSpPr>
          <p:cNvPr id="37905" name="AutoShape 27"/>
          <p:cNvSpPr>
            <a:spLocks/>
          </p:cNvSpPr>
          <p:nvPr/>
        </p:nvSpPr>
        <p:spPr bwMode="auto">
          <a:xfrm>
            <a:off x="609600" y="4953000"/>
            <a:ext cx="685800" cy="3048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800" y="0"/>
                </a:moveTo>
                <a:lnTo>
                  <a:pt x="16800" y="5400"/>
                </a:lnTo>
                <a:lnTo>
                  <a:pt x="0" y="5400"/>
                </a:lnTo>
                <a:lnTo>
                  <a:pt x="2400" y="10800"/>
                </a:lnTo>
                <a:lnTo>
                  <a:pt x="0" y="16200"/>
                </a:lnTo>
                <a:lnTo>
                  <a:pt x="16800" y="16200"/>
                </a:lnTo>
                <a:lnTo>
                  <a:pt x="16800" y="21600"/>
                </a:lnTo>
                <a:lnTo>
                  <a:pt x="21600" y="10800"/>
                </a:lnTo>
                <a:close/>
                <a:moveTo>
                  <a:pt x="16800" y="0"/>
                </a:moveTo>
              </a:path>
            </a:pathLst>
          </a:cu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7906" name="Group 28"/>
          <p:cNvGrpSpPr>
            <a:grpSpLocks/>
          </p:cNvGrpSpPr>
          <p:nvPr/>
        </p:nvGrpSpPr>
        <p:grpSpPr bwMode="auto">
          <a:xfrm>
            <a:off x="4953000" y="4267200"/>
            <a:ext cx="2514600" cy="381000"/>
            <a:chOff x="0" y="0"/>
            <a:chExt cx="1584" cy="240"/>
          </a:xfrm>
        </p:grpSpPr>
        <p:sp>
          <p:nvSpPr>
            <p:cNvPr id="37922" name="Rectangle 29"/>
            <p:cNvSpPr>
              <a:spLocks/>
            </p:cNvSpPr>
            <p:nvPr/>
          </p:nvSpPr>
          <p:spPr bwMode="auto">
            <a:xfrm>
              <a:off x="0" y="0"/>
              <a:ext cx="15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7923" name="Rectangle 30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myVal (4 bytes)</a:t>
              </a:r>
            </a:p>
          </p:txBody>
        </p:sp>
      </p:grpSp>
      <p:sp>
        <p:nvSpPr>
          <p:cNvPr id="37907" name="Rectangle 31"/>
          <p:cNvSpPr>
            <a:spLocks/>
          </p:cNvSpPr>
          <p:nvPr/>
        </p:nvSpPr>
        <p:spPr bwMode="auto">
          <a:xfrm>
            <a:off x="7620000" y="4267200"/>
            <a:ext cx="292100" cy="3556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6</a:t>
            </a:r>
          </a:p>
        </p:txBody>
      </p:sp>
      <p:grpSp>
        <p:nvGrpSpPr>
          <p:cNvPr id="37908" name="Group 32"/>
          <p:cNvGrpSpPr>
            <a:grpSpLocks/>
          </p:cNvGrpSpPr>
          <p:nvPr/>
        </p:nvGrpSpPr>
        <p:grpSpPr bwMode="auto">
          <a:xfrm>
            <a:off x="4953000" y="3657600"/>
            <a:ext cx="2514600" cy="609600"/>
            <a:chOff x="0" y="0"/>
            <a:chExt cx="1584" cy="384"/>
          </a:xfrm>
        </p:grpSpPr>
        <p:sp>
          <p:nvSpPr>
            <p:cNvPr id="37920" name="Rectangle 33"/>
            <p:cNvSpPr>
              <a:spLocks/>
            </p:cNvSpPr>
            <p:nvPr/>
          </p:nvSpPr>
          <p:spPr bwMode="auto">
            <a:xfrm>
              <a:off x="0" y="0"/>
              <a:ext cx="1584" cy="38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7921" name="Rectangle 34"/>
            <p:cNvSpPr>
              <a:spLocks/>
            </p:cNvSpPr>
            <p:nvPr/>
          </p:nvSpPr>
          <p:spPr bwMode="auto">
            <a:xfrm>
              <a:off x="0" y="0"/>
              <a:ext cx="1583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00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*myQueue (8 bytes)</a:t>
              </a:r>
            </a:p>
          </p:txBody>
        </p:sp>
      </p:grpSp>
      <p:sp>
        <p:nvSpPr>
          <p:cNvPr id="37909" name="Rectangle 35"/>
          <p:cNvSpPr>
            <a:spLocks/>
          </p:cNvSpPr>
          <p:nvPr/>
        </p:nvSpPr>
        <p:spPr bwMode="auto">
          <a:xfrm>
            <a:off x="7620000" y="3657600"/>
            <a:ext cx="4286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0x</a:t>
            </a:r>
          </a:p>
        </p:txBody>
      </p:sp>
      <p:sp>
        <p:nvSpPr>
          <p:cNvPr id="37910" name="AutoShape 36"/>
          <p:cNvSpPr>
            <a:spLocks/>
          </p:cNvSpPr>
          <p:nvPr/>
        </p:nvSpPr>
        <p:spPr bwMode="auto">
          <a:xfrm>
            <a:off x="609600" y="2590800"/>
            <a:ext cx="685800" cy="304800"/>
          </a:xfrm>
          <a:custGeom>
            <a:avLst/>
            <a:gdLst>
              <a:gd name="T0" fmla="*/ 0 w 21600"/>
              <a:gd name="T1" fmla="*/ 0 h 21600"/>
              <a:gd name="T2" fmla="*/ 21600 w 21600"/>
              <a:gd name="T3" fmla="*/ 21600 h 21600"/>
            </a:gdLst>
            <a:ahLst/>
            <a:cxnLst/>
            <a:rect l="T0" t="T1" r="T2" b="T3"/>
            <a:pathLst>
              <a:path w="21600" h="21600">
                <a:moveTo>
                  <a:pt x="16800" y="0"/>
                </a:moveTo>
                <a:lnTo>
                  <a:pt x="16800" y="5400"/>
                </a:lnTo>
                <a:lnTo>
                  <a:pt x="0" y="5400"/>
                </a:lnTo>
                <a:lnTo>
                  <a:pt x="2400" y="10800"/>
                </a:lnTo>
                <a:lnTo>
                  <a:pt x="0" y="16200"/>
                </a:lnTo>
                <a:lnTo>
                  <a:pt x="16800" y="16200"/>
                </a:lnTo>
                <a:lnTo>
                  <a:pt x="16800" y="21600"/>
                </a:lnTo>
                <a:lnTo>
                  <a:pt x="21600" y="10800"/>
                </a:lnTo>
                <a:close/>
                <a:moveTo>
                  <a:pt x="16800" y="0"/>
                </a:moveTo>
              </a:path>
            </a:pathLst>
          </a:cu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7911" name="Group 37"/>
          <p:cNvGrpSpPr>
            <a:grpSpLocks/>
          </p:cNvGrpSpPr>
          <p:nvPr/>
        </p:nvGrpSpPr>
        <p:grpSpPr bwMode="auto">
          <a:xfrm>
            <a:off x="4953000" y="2362200"/>
            <a:ext cx="2514600" cy="1295400"/>
            <a:chOff x="0" y="0"/>
            <a:chExt cx="1584" cy="816"/>
          </a:xfrm>
        </p:grpSpPr>
        <p:sp>
          <p:nvSpPr>
            <p:cNvPr id="37918" name="Rectangle 38"/>
            <p:cNvSpPr>
              <a:spLocks/>
            </p:cNvSpPr>
            <p:nvPr/>
          </p:nvSpPr>
          <p:spPr bwMode="auto">
            <a:xfrm>
              <a:off x="0" y="0"/>
              <a:ext cx="1584" cy="8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7919" name="Rectangle 39"/>
            <p:cNvSpPr>
              <a:spLocks/>
            </p:cNvSpPr>
            <p:nvPr/>
          </p:nvSpPr>
          <p:spPr bwMode="auto">
            <a:xfrm>
              <a:off x="0" y="0"/>
              <a:ext cx="15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marL="39688" algn="ctr"/>
              <a:r>
                <a:rPr lang="en-US">
                  <a:solidFill>
                    <a:srgbClr val="0000FF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q (? bytes)</a:t>
              </a:r>
            </a:p>
          </p:txBody>
        </p:sp>
      </p:grpSp>
      <p:sp>
        <p:nvSpPr>
          <p:cNvPr id="37912" name="Rectangle 40"/>
          <p:cNvSpPr>
            <a:spLocks/>
          </p:cNvSpPr>
          <p:nvPr/>
        </p:nvSpPr>
        <p:spPr bwMode="auto">
          <a:xfrm>
            <a:off x="7543800" y="2362200"/>
            <a:ext cx="147796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(struct </a:t>
            </a:r>
            <a:br>
              <a:rPr lang="en-US">
                <a:latin typeface="Courier New Bold" charset="0"/>
                <a:cs typeface="Courier New Bold" charset="0"/>
                <a:sym typeface="Courier New Bold" charset="0"/>
              </a:rPr>
            </a:br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data)</a:t>
            </a:r>
          </a:p>
        </p:txBody>
      </p:sp>
      <p:sp>
        <p:nvSpPr>
          <p:cNvPr id="37913" name="Rectangle 41"/>
          <p:cNvSpPr>
            <a:spLocks/>
          </p:cNvSpPr>
          <p:nvPr/>
        </p:nvSpPr>
        <p:spPr bwMode="auto">
          <a:xfrm>
            <a:off x="7620000" y="46482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3</a:t>
            </a:r>
          </a:p>
        </p:txBody>
      </p:sp>
      <p:sp>
        <p:nvSpPr>
          <p:cNvPr id="37914" name="Freeform 42"/>
          <p:cNvSpPr>
            <a:spLocks/>
          </p:cNvSpPr>
          <p:nvPr/>
        </p:nvSpPr>
        <p:spPr bwMode="auto">
          <a:xfrm rot="10800000">
            <a:off x="7467600" y="3009900"/>
            <a:ext cx="1016000" cy="83185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0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4852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7915" name="Oval 43"/>
          <p:cNvSpPr>
            <a:spLocks/>
          </p:cNvSpPr>
          <p:nvPr/>
        </p:nvSpPr>
        <p:spPr bwMode="auto">
          <a:xfrm>
            <a:off x="825500" y="5410200"/>
            <a:ext cx="3949700" cy="914400"/>
          </a:xfrm>
          <a:prstGeom prst="ellips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7916" name="Slide Number Placeholder 4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012DDE3-5320-E143-B852-E0B4F3539A07}" type="slidenum">
              <a:rPr lang="en-US"/>
              <a:pPr/>
              <a:t>62</a:t>
            </a:fld>
            <a:endParaRPr lang="en-US"/>
          </a:p>
        </p:txBody>
      </p:sp>
      <p:sp>
        <p:nvSpPr>
          <p:cNvPr id="37917" name="Footer Placeholder 4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286811912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1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1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1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18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Use your stack wisely</a:t>
            </a:r>
          </a:p>
        </p:txBody>
      </p:sp>
      <p:sp>
        <p:nvSpPr>
          <p:cNvPr id="38919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Returning a pointer to a stack variable results in unpredictable behavior</a:t>
            </a:r>
          </a:p>
          <a:p>
            <a:r>
              <a:rPr lang="en-US">
                <a:latin typeface="Arial" charset="0"/>
              </a:rPr>
              <a:t>Three </a:t>
            </a:r>
            <a:r>
              <a:rPr lang="ja-JP" altLang="en-US">
                <a:latin typeface="Arial" charset="0"/>
              </a:rPr>
              <a:t>‘</a:t>
            </a:r>
            <a:r>
              <a:rPr lang="en-US">
                <a:latin typeface="Arial" charset="0"/>
              </a:rPr>
              <a:t>common</a:t>
            </a:r>
            <a:r>
              <a:rPr lang="ja-JP" altLang="en-US">
                <a:latin typeface="Arial" charset="0"/>
              </a:rPr>
              <a:t>’</a:t>
            </a:r>
            <a:r>
              <a:rPr lang="en-US">
                <a:latin typeface="Arial" charset="0"/>
              </a:rPr>
              <a:t> fixes</a:t>
            </a:r>
          </a:p>
          <a:p>
            <a:pPr marL="928688" lvl="1"/>
            <a:r>
              <a:rPr lang="en-US">
                <a:latin typeface="Arial" charset="0"/>
              </a:rPr>
              <a:t>Good: Pass in a pointer to the variable you want to use</a:t>
            </a:r>
          </a:p>
          <a:p>
            <a:pPr marL="928688" lvl="1"/>
            <a:r>
              <a:rPr lang="en-US">
                <a:latin typeface="Arial" charset="0"/>
              </a:rPr>
              <a:t>Good: Use a heap variable</a:t>
            </a:r>
          </a:p>
          <a:p>
            <a:pPr marL="928688" lvl="1"/>
            <a:r>
              <a:rPr lang="en-US">
                <a:latin typeface="Arial" charset="0"/>
              </a:rPr>
              <a:t>Very Bad (usually): Use a global variable</a:t>
            </a:r>
          </a:p>
        </p:txBody>
      </p:sp>
      <p:sp>
        <p:nvSpPr>
          <p:cNvPr id="38920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F217C14-F764-AA4C-81FA-6D486F1130DC}" type="slidenum">
              <a:rPr lang="en-US"/>
              <a:pPr/>
              <a:t>63</a:t>
            </a:fld>
            <a:endParaRPr lang="en-US"/>
          </a:p>
        </p:txBody>
      </p:sp>
      <p:sp>
        <p:nvSpPr>
          <p:cNvPr id="38921" name="Footer Placeholder 8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  <p:extLst>
      <p:ext uri="{BB962C8B-B14F-4D97-AF65-F5344CB8AC3E}">
        <p14:creationId xmlns:p14="http://schemas.microsoft.com/office/powerpoint/2010/main" val="301836248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Ax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4804</TotalTime>
  <Words>4204</Words>
  <Application>Microsoft Macintosh PowerPoint</Application>
  <PresentationFormat>On-screen Show (4:3)</PresentationFormat>
  <Paragraphs>991</Paragraphs>
  <Slides>63</Slides>
  <Notes>17</Notes>
  <HiddenSlides>5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4" baseType="lpstr">
      <vt:lpstr>Theme1</vt:lpstr>
      <vt:lpstr>C Reference slides</vt:lpstr>
      <vt:lpstr>String Operations</vt:lpstr>
      <vt:lpstr>strcpy, strlen</vt:lpstr>
      <vt:lpstr>strcpy, strlen</vt:lpstr>
      <vt:lpstr>strncpy</vt:lpstr>
      <vt:lpstr>strncpy</vt:lpstr>
      <vt:lpstr>strcat</vt:lpstr>
      <vt:lpstr>strcat</vt:lpstr>
      <vt:lpstr>strcat Example</vt:lpstr>
      <vt:lpstr>strcat Example</vt:lpstr>
      <vt:lpstr>strcat</vt:lpstr>
      <vt:lpstr>strcmp</vt:lpstr>
      <vt:lpstr>Other operations</vt:lpstr>
      <vt:lpstr>Increment &amp; decrement</vt:lpstr>
      <vt:lpstr>Math: Increment and Decrement Operators</vt:lpstr>
      <vt:lpstr>Math: Increment and Decrement Operators</vt:lpstr>
      <vt:lpstr>Math: Increment and Decrement Operators on Pointers</vt:lpstr>
      <vt:lpstr>Math: Increment and Decrement Operators on Pointers</vt:lpstr>
      <vt:lpstr>Logic: Relational (Condition) Operators</vt:lpstr>
      <vt:lpstr>Logic Example</vt:lpstr>
      <vt:lpstr>Review</vt:lpstr>
      <vt:lpstr>Review</vt:lpstr>
      <vt:lpstr>Review</vt:lpstr>
      <vt:lpstr>Review</vt:lpstr>
      <vt:lpstr>Review</vt:lpstr>
      <vt:lpstr>Review: Debugging</vt:lpstr>
      <vt:lpstr>Review: Debugging</vt:lpstr>
      <vt:lpstr>Review: Debugging</vt:lpstr>
      <vt:lpstr>Review: Debugging</vt:lpstr>
      <vt:lpstr>PowerPoint Presentation</vt:lpstr>
      <vt:lpstr>C  No Evil</vt:lpstr>
      <vt:lpstr>Playing with fire</vt:lpstr>
      <vt:lpstr>ARGCount ARGValues</vt:lpstr>
      <vt:lpstr>ARGCount ARGValues</vt:lpstr>
      <vt:lpstr>ARGCount ARGValues</vt:lpstr>
      <vt:lpstr>ARGCount ARGValues</vt:lpstr>
      <vt:lpstr>Type questions</vt:lpstr>
      <vt:lpstr>Review</vt:lpstr>
      <vt:lpstr>Output</vt:lpstr>
      <vt:lpstr>printf Format Identifiers</vt:lpstr>
      <vt:lpstr>printf Basic Data Types</vt:lpstr>
      <vt:lpstr>printf Basic Data Types</vt:lpstr>
      <vt:lpstr>printf Escape Sequences</vt:lpstr>
      <vt:lpstr>Common Pitfall</vt:lpstr>
      <vt:lpstr>Sample layout for program image in main memory</vt:lpstr>
      <vt:lpstr>Example</vt:lpstr>
      <vt:lpstr>Example</vt:lpstr>
      <vt:lpstr>Example</vt:lpstr>
      <vt:lpstr>Example</vt:lpstr>
      <vt:lpstr>Example</vt:lpstr>
      <vt:lpstr>Example</vt:lpstr>
      <vt:lpstr>Example</vt:lpstr>
      <vt:lpstr>Better Example</vt:lpstr>
      <vt:lpstr>Better Example</vt:lpstr>
      <vt:lpstr>Better Example</vt:lpstr>
      <vt:lpstr>Better Example</vt:lpstr>
      <vt:lpstr>Better Example</vt:lpstr>
      <vt:lpstr>Better Example</vt:lpstr>
      <vt:lpstr>Better Example</vt:lpstr>
      <vt:lpstr>Better Example</vt:lpstr>
      <vt:lpstr>Better Example</vt:lpstr>
      <vt:lpstr>Better Example</vt:lpstr>
      <vt:lpstr>Use your stack wisely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rhk</dc:creator>
  <cp:lastModifiedBy>Philip Godfrey</cp:lastModifiedBy>
  <cp:revision>199</cp:revision>
  <cp:lastPrinted>2012-01-20T14:08:03Z</cp:lastPrinted>
  <dcterms:created xsi:type="dcterms:W3CDTF">2009-04-22T19:24:48Z</dcterms:created>
  <dcterms:modified xsi:type="dcterms:W3CDTF">2012-01-23T10:57:44Z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