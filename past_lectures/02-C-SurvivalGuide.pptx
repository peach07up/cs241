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01"/>
  </p:notesMasterIdLst>
  <p:sldIdLst>
    <p:sldId id="370" r:id="rId2"/>
    <p:sldId id="540" r:id="rId3"/>
    <p:sldId id="420" r:id="rId4"/>
    <p:sldId id="421" r:id="rId5"/>
    <p:sldId id="545" r:id="rId6"/>
    <p:sldId id="422" r:id="rId7"/>
    <p:sldId id="529" r:id="rId8"/>
    <p:sldId id="530" r:id="rId9"/>
    <p:sldId id="531" r:id="rId10"/>
    <p:sldId id="443" r:id="rId11"/>
    <p:sldId id="444" r:id="rId12"/>
    <p:sldId id="372" r:id="rId13"/>
    <p:sldId id="373" r:id="rId14"/>
    <p:sldId id="375" r:id="rId15"/>
    <p:sldId id="445" r:id="rId16"/>
    <p:sldId id="446" r:id="rId17"/>
    <p:sldId id="541" r:id="rId18"/>
    <p:sldId id="542" r:id="rId19"/>
    <p:sldId id="543" r:id="rId20"/>
    <p:sldId id="544" r:id="rId21"/>
    <p:sldId id="447" r:id="rId22"/>
    <p:sldId id="448" r:id="rId23"/>
    <p:sldId id="449" r:id="rId24"/>
    <p:sldId id="450" r:id="rId25"/>
    <p:sldId id="451" r:id="rId26"/>
    <p:sldId id="452" r:id="rId27"/>
    <p:sldId id="453" r:id="rId28"/>
    <p:sldId id="454" r:id="rId29"/>
    <p:sldId id="455" r:id="rId30"/>
    <p:sldId id="519" r:id="rId31"/>
    <p:sldId id="520" r:id="rId32"/>
    <p:sldId id="521" r:id="rId33"/>
    <p:sldId id="522" r:id="rId34"/>
    <p:sldId id="523" r:id="rId35"/>
    <p:sldId id="461" r:id="rId36"/>
    <p:sldId id="462" r:id="rId37"/>
    <p:sldId id="463" r:id="rId38"/>
    <p:sldId id="546" r:id="rId39"/>
    <p:sldId id="532" r:id="rId40"/>
    <p:sldId id="466" r:id="rId41"/>
    <p:sldId id="533" r:id="rId42"/>
    <p:sldId id="535" r:id="rId43"/>
    <p:sldId id="534" r:id="rId44"/>
    <p:sldId id="536" r:id="rId45"/>
    <p:sldId id="537" r:id="rId46"/>
    <p:sldId id="538" r:id="rId47"/>
    <p:sldId id="539" r:id="rId48"/>
    <p:sldId id="467" r:id="rId49"/>
    <p:sldId id="468" r:id="rId50"/>
    <p:sldId id="469" r:id="rId51"/>
    <p:sldId id="471" r:id="rId52"/>
    <p:sldId id="472" r:id="rId53"/>
    <p:sldId id="473" r:id="rId54"/>
    <p:sldId id="474" r:id="rId55"/>
    <p:sldId id="516" r:id="rId56"/>
    <p:sldId id="476" r:id="rId57"/>
    <p:sldId id="524" r:id="rId58"/>
    <p:sldId id="525" r:id="rId59"/>
    <p:sldId id="526" r:id="rId60"/>
    <p:sldId id="527" r:id="rId61"/>
    <p:sldId id="478" r:id="rId62"/>
    <p:sldId id="479" r:id="rId63"/>
    <p:sldId id="480" r:id="rId64"/>
    <p:sldId id="481" r:id="rId65"/>
    <p:sldId id="482" r:id="rId66"/>
    <p:sldId id="483" r:id="rId67"/>
    <p:sldId id="484" r:id="rId68"/>
    <p:sldId id="485" r:id="rId69"/>
    <p:sldId id="486" r:id="rId70"/>
    <p:sldId id="487" r:id="rId71"/>
    <p:sldId id="488" r:id="rId72"/>
    <p:sldId id="489" r:id="rId73"/>
    <p:sldId id="490" r:id="rId74"/>
    <p:sldId id="491" r:id="rId75"/>
    <p:sldId id="492" r:id="rId76"/>
    <p:sldId id="528" r:id="rId77"/>
    <p:sldId id="493" r:id="rId78"/>
    <p:sldId id="494" r:id="rId79"/>
    <p:sldId id="495" r:id="rId80"/>
    <p:sldId id="496" r:id="rId81"/>
    <p:sldId id="497" r:id="rId82"/>
    <p:sldId id="498" r:id="rId83"/>
    <p:sldId id="499" r:id="rId84"/>
    <p:sldId id="500" r:id="rId85"/>
    <p:sldId id="501" r:id="rId86"/>
    <p:sldId id="502" r:id="rId87"/>
    <p:sldId id="503" r:id="rId88"/>
    <p:sldId id="504" r:id="rId89"/>
    <p:sldId id="505" r:id="rId90"/>
    <p:sldId id="506" r:id="rId91"/>
    <p:sldId id="507" r:id="rId92"/>
    <p:sldId id="508" r:id="rId93"/>
    <p:sldId id="509" r:id="rId94"/>
    <p:sldId id="510" r:id="rId95"/>
    <p:sldId id="511" r:id="rId96"/>
    <p:sldId id="512" r:id="rId97"/>
    <p:sldId id="513" r:id="rId98"/>
    <p:sldId id="514" r:id="rId99"/>
    <p:sldId id="515" r:id="rId10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00FF"/>
    <a:srgbClr val="C1F3FF"/>
    <a:srgbClr val="FFFFCC"/>
    <a:srgbClr val="FFFF00"/>
    <a:srgbClr val="C1C1C1"/>
    <a:srgbClr val="00CCFF"/>
    <a:srgbClr val="66FF33"/>
    <a:srgbClr val="FBD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6" autoAdjust="0"/>
    <p:restoredTop sz="71804" autoAdjust="0"/>
  </p:normalViewPr>
  <p:slideViewPr>
    <p:cSldViewPr>
      <p:cViewPr>
        <p:scale>
          <a:sx n="70" d="100"/>
          <a:sy n="70" d="100"/>
        </p:scale>
        <p:origin x="-1008" y="-88"/>
      </p:cViewPr>
      <p:guideLst>
        <p:guide orient="horz"/>
        <p:guide pos="27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29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01" Type="http://schemas.openxmlformats.org/officeDocument/2006/relationships/notesMaster" Target="notesMasters/notesMaster1.xml"/><Relationship Id="rId102" Type="http://schemas.openxmlformats.org/officeDocument/2006/relationships/printerSettings" Target="printerSettings/printerSettings1.bin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100" Type="http://schemas.openxmlformats.org/officeDocument/2006/relationships/slide" Target="slides/slide99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fld id="{F4D761D3-9055-8E45-BE22-861A564B1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464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7EF2B87-37D2-E34E-8035-927B317BE3BA}" type="slidenum">
              <a:rPr lang="en-US">
                <a:latin typeface="Arial" charset="0"/>
              </a:rPr>
              <a:pPr/>
              <a:t>1</a:t>
            </a:fld>
            <a:endParaRPr lang="en-US">
              <a:latin typeface="Arial" charset="0"/>
            </a:endParaRPr>
          </a:p>
        </p:txBody>
      </p:sp>
      <p:sp>
        <p:nvSpPr>
          <p:cNvPr id="1054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6240902-A0A4-3847-9F9A-CFE9F94240BC}" type="slidenum">
              <a:rPr lang="en-US">
                <a:latin typeface="Arial" charset="0"/>
              </a:rPr>
              <a:pPr/>
              <a:t>3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returning p – returning a local variable</a:t>
            </a:r>
          </a:p>
          <a:p>
            <a:r>
              <a:rPr lang="en-US"/>
              <a:t>p =0 – dereferencing garbage pointer</a:t>
            </a:r>
          </a:p>
          <a:p>
            <a:r>
              <a:rPr lang="en-US"/>
              <a:t>c provides you a lot of control, enough to hang yourself</a:t>
            </a:r>
          </a:p>
          <a:p>
            <a:endParaRPr lang="en-US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598C538-7271-634F-B786-823E263A0B3F}" type="slidenum">
              <a:rPr lang="en-US">
                <a:latin typeface="Arial" charset="0"/>
              </a:rPr>
              <a:pPr/>
              <a:t>4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returning p – returning a local variable</a:t>
            </a:r>
          </a:p>
          <a:p>
            <a:r>
              <a:rPr lang="en-US"/>
              <a:t>p =0 – dereferencing garbage pointer</a:t>
            </a:r>
          </a:p>
          <a:p>
            <a:r>
              <a:rPr lang="en-US"/>
              <a:t>c provides you a lot of control, enough to hang yourself</a:t>
            </a:r>
          </a:p>
          <a:p>
            <a:endParaRPr lang="en-US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598C538-7271-634F-B786-823E263A0B3F}" type="slidenum">
              <a:rPr lang="en-US">
                <a:latin typeface="Arial" charset="0"/>
              </a:rPr>
              <a:pPr/>
              <a:t>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[http://</a:t>
            </a:r>
            <a:r>
              <a:rPr lang="en-US" dirty="0" err="1"/>
              <a:t>www.tiobe.com</a:t>
            </a:r>
            <a:r>
              <a:rPr lang="en-US" dirty="0"/>
              <a:t>/</a:t>
            </a:r>
            <a:r>
              <a:rPr lang="en-US" dirty="0" err="1"/>
              <a:t>index.php</a:t>
            </a:r>
            <a:r>
              <a:rPr lang="en-US" dirty="0"/>
              <a:t>/content/</a:t>
            </a:r>
            <a:r>
              <a:rPr lang="en-US" dirty="0" err="1"/>
              <a:t>paperinfo</a:t>
            </a:r>
            <a:r>
              <a:rPr lang="en-US" dirty="0"/>
              <a:t>/</a:t>
            </a:r>
            <a:r>
              <a:rPr lang="en-US" dirty="0" err="1"/>
              <a:t>tpci</a:t>
            </a:r>
            <a:r>
              <a:rPr lang="en-US" dirty="0"/>
              <a:t>/</a:t>
            </a:r>
            <a:r>
              <a:rPr lang="en-US" dirty="0" err="1"/>
              <a:t>index.html</a:t>
            </a:r>
            <a:r>
              <a:rPr lang="en-US" dirty="0"/>
              <a:t>]</a:t>
            </a:r>
          </a:p>
          <a:p>
            <a:r>
              <a:rPr lang="en-US" dirty="0"/>
              <a:t>[add defensive programming]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dirty="0" err="1"/>
              <a:t>ou</a:t>
            </a:r>
            <a:r>
              <a:rPr lang="en-US" dirty="0"/>
              <a:t> just compile and test, learn how to read code for problems</a:t>
            </a:r>
          </a:p>
          <a:p>
            <a:r>
              <a:rPr lang="en-US" dirty="0"/>
              <a:t>why use c, exposes how to use </a:t>
            </a:r>
            <a:r>
              <a:rPr lang="en-US" dirty="0" smtClean="0"/>
              <a:t>finer-grained </a:t>
            </a:r>
            <a:r>
              <a:rPr lang="en-US" dirty="0"/>
              <a:t>control over functions, you can use other </a:t>
            </a:r>
            <a:r>
              <a:rPr lang="en-US" dirty="0" err="1"/>
              <a:t>pls</a:t>
            </a:r>
            <a:r>
              <a:rPr lang="en-US" dirty="0"/>
              <a:t> in the future , </a:t>
            </a:r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E7219CB-A6AD-7D4D-A08B-DE03BAE39B4F}" type="slidenum">
              <a:rPr lang="en-US">
                <a:latin typeface="Arial" charset="0"/>
              </a:rPr>
              <a:pPr/>
              <a:t>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Matt: do they know </a:t>
            </a:r>
            <a:r>
              <a:rPr lang="en-US" dirty="0" smtClean="0"/>
              <a:t>java</a:t>
            </a:r>
          </a:p>
          <a:p>
            <a:endParaRPr lang="en-US" dirty="0" smtClean="0"/>
          </a:p>
          <a:p>
            <a:r>
              <a:rPr lang="en-US" dirty="0" smtClean="0"/>
              <a:t>Brighten:</a:t>
            </a:r>
            <a:r>
              <a:rPr lang="en-US" baseline="0" dirty="0" smtClean="0"/>
              <a:t> </a:t>
            </a:r>
            <a:r>
              <a:rPr lang="en-US" dirty="0" smtClean="0"/>
              <a:t>Old text – I didn’t really understand some of it (levels tour / services tour):</a:t>
            </a:r>
          </a:p>
          <a:p>
            <a:pPr lvl="1"/>
            <a:r>
              <a:rPr lang="en-US" sz="2000" dirty="0" smtClean="0">
                <a:latin typeface="Arial" charset="0"/>
              </a:rPr>
              <a:t>C facilitates language levels tour</a:t>
            </a:r>
          </a:p>
          <a:p>
            <a:pPr lvl="2"/>
            <a:r>
              <a:rPr lang="en-US" sz="1800" dirty="0" smtClean="0">
                <a:latin typeface="Arial" charset="0"/>
              </a:rPr>
              <a:t>C is closely related to assembly language</a:t>
            </a:r>
          </a:p>
          <a:p>
            <a:pPr lvl="1"/>
            <a:r>
              <a:rPr lang="en-US" sz="2000" dirty="0" smtClean="0">
                <a:latin typeface="Arial" charset="0"/>
              </a:rPr>
              <a:t>C facilitates services tour</a:t>
            </a:r>
          </a:p>
          <a:p>
            <a:pPr lvl="2"/>
            <a:r>
              <a:rPr lang="en-US" sz="1800" dirty="0" smtClean="0">
                <a:latin typeface="Arial" charset="0"/>
              </a:rPr>
              <a:t>Many existing servers/systems written in C</a:t>
            </a:r>
          </a:p>
          <a:p>
            <a:endParaRPr lang="en-US" dirty="0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676D29B-C979-2649-BED5-C7E906464392}" type="slidenum">
              <a:rPr lang="en-US">
                <a:latin typeface="Arial" charset="0"/>
              </a:rPr>
              <a:pPr/>
              <a:t>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Matt: Which object oriented languages were slow? Is this true?</a:t>
            </a:r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1C76293-7E98-5B40-81F8-40CA75007D19}" type="slidenum">
              <a:rPr lang="en-US">
                <a:latin typeface="Arial" charset="0"/>
              </a:rPr>
              <a:pPr/>
              <a:t>10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E21E91B-FF3D-1F41-BC58-ADC572B9A2E9}" type="slidenum">
              <a:rPr lang="en-US">
                <a:latin typeface="Arial" charset="0"/>
              </a:rPr>
              <a:pPr/>
              <a:t>12</a:t>
            </a:fld>
            <a:endParaRPr lang="en-US">
              <a:latin typeface="Arial" charset="0"/>
            </a:endParaRPr>
          </a:p>
        </p:txBody>
      </p:sp>
      <p:sp>
        <p:nvSpPr>
          <p:cNvPr id="1116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/>
              <a:t>[know preprocessor/compiler/linker, etc]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7B9E694-B280-C54B-A737-BFF6F304916A}" type="slidenum">
              <a:rPr lang="en-US">
                <a:latin typeface="Arial" charset="0"/>
              </a:rPr>
              <a:pPr/>
              <a:t>13</a:t>
            </a:fld>
            <a:endParaRPr lang="en-US">
              <a:latin typeface="Arial" charset="0"/>
            </a:endParaRPr>
          </a:p>
        </p:txBody>
      </p:sp>
      <p:sp>
        <p:nvSpPr>
          <p:cNvPr id="1126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3BAD262-DE9A-2E47-B8FE-0B94A15378B4}" type="slidenum">
              <a:rPr lang="en-US">
                <a:latin typeface="Arial" charset="0"/>
              </a:rPr>
              <a:pPr/>
              <a:t>14</a:t>
            </a:fld>
            <a:endParaRPr lang="en-US">
              <a:latin typeface="Arial" charset="0"/>
            </a:endParaRPr>
          </a:p>
        </p:txBody>
      </p:sp>
      <p:sp>
        <p:nvSpPr>
          <p:cNvPr id="1146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we</a:t>
            </a:r>
            <a:r>
              <a:rPr lang="ja-JP" altLang="en-US"/>
              <a:t>’</a:t>
            </a:r>
            <a:r>
              <a:rPr lang="en-US"/>
              <a:t>re going to show you a few things that are different bt c and c++</a:t>
            </a:r>
          </a:p>
          <a:p>
            <a:r>
              <a:rPr lang="en-US"/>
              <a:t>theme is how memory really works bc c gives you much tihger access to mem</a:t>
            </a:r>
          </a:p>
          <a:p>
            <a:r>
              <a:rPr lang="en-US"/>
              <a:t>	through ptrs arrays and strings – if you do ptr arith , etc you have to undrestand how memworks</a:t>
            </a:r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81AA8C2-4CC6-BA49-919B-E89DD31E6AD3}" type="slidenum">
              <a:rPr lang="en-US">
                <a:latin typeface="Arial" charset="0"/>
              </a:rPr>
              <a:pPr/>
              <a:t>15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what do you need to know</a:t>
            </a:r>
          </a:p>
          <a:p>
            <a:endParaRPr lang="en-US"/>
          </a:p>
          <a:p>
            <a:r>
              <a:rPr lang="en-US"/>
              <a:t>diff bt automatic variables</a:t>
            </a:r>
          </a:p>
          <a:p>
            <a:r>
              <a:rPr lang="en-US"/>
              <a:t>c you have to initialize everythign</a:t>
            </a:r>
          </a:p>
          <a:p>
            <a:endParaRPr lang="en-US"/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375506A-8DD4-4049-BDDE-E5B3BBB08F97}" type="slidenum">
              <a:rPr lang="en-US">
                <a:latin typeface="Arial" charset="0"/>
              </a:rPr>
              <a:pPr/>
              <a:t>16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what do you need to know</a:t>
            </a:r>
          </a:p>
          <a:p>
            <a:endParaRPr lang="en-US"/>
          </a:p>
          <a:p>
            <a:r>
              <a:rPr lang="en-US"/>
              <a:t>diff bt automatic variables</a:t>
            </a:r>
          </a:p>
          <a:p>
            <a:r>
              <a:rPr lang="en-US"/>
              <a:t>c you have to initialize everythign</a:t>
            </a:r>
          </a:p>
          <a:p>
            <a:endParaRPr lang="en-US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C96DE19-B07F-1B46-966B-89B3F76B1541}" type="slidenum">
              <a:rPr lang="en-US">
                <a:latin typeface="Arial" charset="0"/>
              </a:rPr>
              <a:pPr/>
              <a:t>17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what do you need to know</a:t>
            </a:r>
          </a:p>
          <a:p>
            <a:endParaRPr lang="en-US"/>
          </a:p>
          <a:p>
            <a:r>
              <a:rPr lang="en-US"/>
              <a:t>diff bt automatic variables</a:t>
            </a:r>
          </a:p>
          <a:p>
            <a:r>
              <a:rPr lang="en-US"/>
              <a:t>c you have to initialize everythign</a:t>
            </a:r>
          </a:p>
          <a:p>
            <a:endParaRPr lang="en-US"/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EF82E03-B4F8-284F-809C-F783B914B465}" type="slidenum">
              <a:rPr lang="en-US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what do you need to know</a:t>
            </a:r>
          </a:p>
          <a:p>
            <a:endParaRPr lang="en-US"/>
          </a:p>
          <a:p>
            <a:r>
              <a:rPr lang="en-US"/>
              <a:t>diff bt automatic variables</a:t>
            </a:r>
          </a:p>
          <a:p>
            <a:r>
              <a:rPr lang="en-US"/>
              <a:t>c you have to initialize everythign</a:t>
            </a:r>
          </a:p>
          <a:p>
            <a:endParaRPr lang="en-US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028BFDA-A3FF-754A-86A6-3D867261416E}" type="slidenum">
              <a:rPr lang="en-US">
                <a:latin typeface="Arial" charset="0"/>
              </a:rPr>
              <a:pPr/>
              <a:t>19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what do you need to know</a:t>
            </a:r>
          </a:p>
          <a:p>
            <a:endParaRPr lang="en-US"/>
          </a:p>
          <a:p>
            <a:r>
              <a:rPr lang="en-US"/>
              <a:t>diff bt automatic variables</a:t>
            </a:r>
          </a:p>
          <a:p>
            <a:r>
              <a:rPr lang="en-US"/>
              <a:t>c you have to initialize everythign</a:t>
            </a:r>
          </a:p>
          <a:p>
            <a:endParaRPr lang="en-US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4D7788A-349F-874D-9C12-53B27C5B0E86}" type="slidenum">
              <a:rPr lang="en-US">
                <a:latin typeface="Arial" charset="0"/>
              </a:rPr>
              <a:pPr/>
              <a:t>20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6101A6E-16DE-EF43-A84A-3CDDA7E64F75}" type="slidenum">
              <a:rPr lang="en-US">
                <a:latin typeface="Arial" charset="0"/>
              </a:rPr>
              <a:pPr/>
              <a:t>21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Matt: do they know what the heap is, when they enter this class? Don</a:t>
            </a:r>
            <a:r>
              <a:rPr lang="ja-JP" altLang="en-US"/>
              <a:t>’</a:t>
            </a:r>
            <a:r>
              <a:rPr lang="en-US"/>
              <a:t>t</a:t>
            </a:r>
            <a:r>
              <a:rPr lang="ja-JP" altLang="en-US"/>
              <a:t>’</a:t>
            </a:r>
            <a:r>
              <a:rPr lang="en-US"/>
              <a:t> we need to explain it (talk about heap and stack)?</a:t>
            </a:r>
          </a:p>
          <a:p>
            <a:r>
              <a:rPr lang="en-US"/>
              <a:t>http://jgao2008.wordpress.com/2009/01/23/c-heap-vs-stack/</a:t>
            </a:r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08DB25C-9B7A-D14F-A0EB-38927FA6BFDB}" type="slidenum">
              <a:rPr lang="en-US">
                <a:latin typeface="Arial" charset="0"/>
              </a:rPr>
              <a:pPr/>
              <a:t>22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4C11739-AF07-704C-9D0A-D3CB04AFAA7D}" type="slidenum">
              <a:rPr lang="en-US">
                <a:latin typeface="Arial" charset="0"/>
              </a:rPr>
              <a:pPr/>
              <a:t>23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err="1"/>
              <a:t>Mattx</a:t>
            </a:r>
            <a:r>
              <a:rPr lang="en-US" dirty="0"/>
              <a:t>: </a:t>
            </a:r>
            <a:r>
              <a:rPr lang="en-US" dirty="0" err="1"/>
              <a:t>shouldn</a:t>
            </a:r>
            <a:r>
              <a:rPr lang="ja-JP" altLang="en-US" dirty="0"/>
              <a:t>’</a:t>
            </a:r>
            <a:r>
              <a:rPr lang="en-US" dirty="0"/>
              <a:t>t the variables differ by 4?</a:t>
            </a:r>
          </a:p>
        </p:txBody>
      </p:sp>
      <p:sp>
        <p:nvSpPr>
          <p:cNvPr id="1249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0C39EBA-BF2F-D344-8CB0-D8146FBB4074}" type="slidenum">
              <a:rPr lang="en-US">
                <a:latin typeface="Arial" charset="0"/>
              </a:rPr>
              <a:pPr/>
              <a:t>25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7C96748-E2FC-804C-9ADA-EE613C28B1A9}" type="slidenum">
              <a:rPr lang="en-US">
                <a:latin typeface="Arial" charset="0"/>
              </a:rPr>
              <a:pPr/>
              <a:t>29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todo: want to hide these detailed answer slides</a:t>
            </a:r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A9758D3-8B34-C04B-9CF8-D98A43285BE3}" type="slidenum">
              <a:rPr lang="en-US">
                <a:latin typeface="Arial" charset="0"/>
              </a:rPr>
              <a:pPr/>
              <a:t>30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todo: hide</a:t>
            </a:r>
          </a:p>
          <a:p>
            <a:endParaRPr lang="en-US"/>
          </a:p>
        </p:txBody>
      </p:sp>
      <p:sp>
        <p:nvSpPr>
          <p:cNvPr id="1280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079B08C-5419-B345-9016-4D0CBB28C52F}" type="slidenum">
              <a:rPr lang="en-US">
                <a:latin typeface="Arial" charset="0"/>
              </a:rPr>
              <a:pPr/>
              <a:t>36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 sure about</a:t>
            </a:r>
            <a:r>
              <a:rPr lang="en-US" baseline="0" dirty="0" smtClean="0"/>
              <a:t> the first point – I guess this means that </a:t>
            </a:r>
            <a:r>
              <a:rPr lang="en-US" i="1" baseline="0" dirty="0" smtClean="0"/>
              <a:t>in a language like C which is not </a:t>
            </a:r>
            <a:r>
              <a:rPr lang="en-US" i="1" baseline="0" dirty="0" err="1" smtClean="0"/>
              <a:t>typesafe</a:t>
            </a:r>
            <a:r>
              <a:rPr lang="en-US" i="0" baseline="0" dirty="0" smtClean="0"/>
              <a:t>, we don’t know where the programmer could be storing pointers.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D761D3-9055-8E45-BE22-861A564B1EC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35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[why do we need both a stack and a heap in the runtime? Oh yeah, and where is the stack/heap (runtime) and why do they put it there? Also talk about heap vs stack grow together http://www.maxi-pedia.com/what+is+heap+and+stack  http://www.learncpp.com/cpp-tutorial/79-the-stack-and-the-heap/]</a:t>
            </a:r>
          </a:p>
        </p:txBody>
      </p:sp>
      <p:sp>
        <p:nvSpPr>
          <p:cNvPr id="1290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3BD170D-F72E-384F-9921-3A54E805DDA4}" type="slidenum">
              <a:rPr lang="en-US">
                <a:latin typeface="Arial" charset="0"/>
              </a:rPr>
              <a:pPr/>
              <a:t>48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A83074F-960E-8741-B36E-58E7D205F6C5}" type="slidenum">
              <a:rPr lang="en-US">
                <a:latin typeface="Arial" charset="0"/>
              </a:rPr>
              <a:pPr/>
              <a:t>49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first one has nothing allocated</a:t>
            </a:r>
          </a:p>
          <a:p>
            <a:endParaRPr lang="en-US"/>
          </a:p>
          <a:p>
            <a:r>
              <a:rPr lang="en-US"/>
              <a:t>second one has only 2 spaces</a:t>
            </a:r>
          </a:p>
        </p:txBody>
      </p:sp>
      <p:sp>
        <p:nvSpPr>
          <p:cNvPr id="1310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56C7AE8-6C9C-4F41-AD7F-37BD5D18B8D9}" type="slidenum">
              <a:rPr lang="en-US">
                <a:latin typeface="Arial" charset="0"/>
              </a:rPr>
              <a:pPr/>
              <a:t>56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Matt: we should probably mention strncat, etc</a:t>
            </a:r>
          </a:p>
        </p:txBody>
      </p:sp>
      <p:sp>
        <p:nvSpPr>
          <p:cNvPr id="133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84ACD2E-D8DD-F14D-870C-09C7A7E24E65}" type="slidenum">
              <a:rPr lang="en-US">
                <a:latin typeface="Arial" charset="0"/>
              </a:rPr>
              <a:pPr/>
              <a:t>65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7CF230C-CE2F-6540-B741-6D6A7D8FEFA9}" type="slidenum">
              <a:rPr lang="en-US">
                <a:latin typeface="Arial" charset="0"/>
              </a:rPr>
              <a:pPr/>
              <a:t>67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matt: constant strings</a:t>
            </a:r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73D4576-BC4F-D943-A287-9D0D61755269}" type="slidenum">
              <a:rPr lang="en-US">
                <a:latin typeface="Arial" charset="0"/>
              </a:rPr>
              <a:pPr/>
              <a:t>71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todo: run this, or change to 10</a:t>
            </a:r>
          </a:p>
        </p:txBody>
      </p:sp>
      <p:sp>
        <p:nvSpPr>
          <p:cNvPr id="136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4FFE18A-3787-5B4A-B960-9D9C017E8D20}" type="slidenum">
              <a:rPr lang="en-US">
                <a:latin typeface="Arial" charset="0"/>
              </a:rPr>
              <a:pPr/>
              <a:t>72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matt: force four chars into an int</a:t>
            </a:r>
          </a:p>
        </p:txBody>
      </p:sp>
      <p:sp>
        <p:nvSpPr>
          <p:cNvPr id="137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8575014-53FF-164D-9060-9EE3657DCE25}" type="slidenum">
              <a:rPr lang="en-US">
                <a:latin typeface="Arial" charset="0"/>
              </a:rPr>
              <a:pPr/>
              <a:t>80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todo: hide answer at bottom</a:t>
            </a:r>
          </a:p>
        </p:txBody>
      </p:sp>
      <p:sp>
        <p:nvSpPr>
          <p:cNvPr id="138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BD02658-F4D3-C546-807A-10A8C072B014}" type="slidenum">
              <a:rPr lang="en-US">
                <a:latin typeface="Arial" charset="0"/>
              </a:rPr>
              <a:pPr/>
              <a:t>85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2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E4CC8E0-5293-E945-A0A4-F47DD5A82CA2}" type="slidenum">
              <a:rPr lang="en-US">
                <a:latin typeface="Arial" charset="0"/>
              </a:rPr>
              <a:pPr/>
              <a:t>87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todo: hide answer</a:t>
            </a:r>
          </a:p>
        </p:txBody>
      </p:sp>
      <p:sp>
        <p:nvSpPr>
          <p:cNvPr id="140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E1CEC6B-A803-C046-B459-4C926EE2D9B5}" type="slidenum">
              <a:rPr lang="en-US">
                <a:latin typeface="Arial" charset="0"/>
              </a:rPr>
              <a:pPr/>
              <a:t>89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Matt: what</a:t>
            </a:r>
            <a:r>
              <a:rPr lang="ja-JP" altLang="en-US"/>
              <a:t>’</a:t>
            </a:r>
            <a:r>
              <a:rPr lang="en-US"/>
              <a:t>s the point here?</a:t>
            </a:r>
          </a:p>
        </p:txBody>
      </p:sp>
      <p:sp>
        <p:nvSpPr>
          <p:cNvPr id="141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4A34759-3A96-B544-9DB1-8DDE312B9660}" type="slidenum">
              <a:rPr lang="en-US">
                <a:latin typeface="Arial" charset="0"/>
              </a:rPr>
              <a:pPr/>
              <a:t>95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Matt: do I really need to go this far? Can I stop earlier?</a:t>
            </a:r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47B7F7E-2F48-8047-B979-0AC7A27CAB30}" type="slidenum">
              <a:rPr lang="en-US">
                <a:latin typeface="Arial" charset="0"/>
              </a:rPr>
              <a:pPr/>
              <a:t>96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Matt: what</a:t>
            </a:r>
            <a:r>
              <a:rPr lang="ja-JP" altLang="en-US"/>
              <a:t>’</a:t>
            </a:r>
            <a:r>
              <a:rPr lang="en-US"/>
              <a:t>s problem here?</a:t>
            </a:r>
          </a:p>
        </p:txBody>
      </p:sp>
      <p:sp>
        <p:nvSpPr>
          <p:cNvPr id="143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FF0082A-6631-384F-8177-B2B46A70CE61}" type="slidenum">
              <a:rPr lang="en-US">
                <a:latin typeface="Arial" charset="0"/>
              </a:rPr>
              <a:pPr/>
              <a:t>97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144" y="576"/>
              <a:ext cx="1584" cy="158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Tahoma" pitchFamily="-32" charset="0"/>
                <a:ea typeface="+mn-ea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hidden"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  <a:ea typeface="+mn-ea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hidden"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  <a:ea typeface="+mn-ea"/>
              </a:endParaRPr>
            </a:p>
          </p:txBody>
        </p:sp>
        <p:sp>
          <p:nvSpPr>
            <p:cNvPr id="8" name="Freeform 10"/>
            <p:cNvSpPr>
              <a:spLocks noChangeArrowheads="1"/>
            </p:cNvSpPr>
            <p:nvPr/>
          </p:nvSpPr>
          <p:spPr bwMode="auto">
            <a:xfrm>
              <a:off x="384" y="960"/>
              <a:ext cx="144" cy="913"/>
            </a:xfrm>
            <a:custGeom>
              <a:avLst/>
              <a:gdLst/>
              <a:ahLst/>
              <a:cxnLst>
                <a:cxn ang="0">
                  <a:pos x="1000" y="1000"/>
                </a:cxn>
                <a:cxn ang="0">
                  <a:pos x="0" y="1000"/>
                </a:cxn>
                <a:cxn ang="0">
                  <a:pos x="0" y="0"/>
                </a:cxn>
                <a:cxn ang="0">
                  <a:pos x="1000" y="0"/>
                </a:cxn>
              </a:cxnLst>
              <a:rect l="0" t="0" r="r" b="b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mpd="sng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Tahoma" pitchFamily="-32" charset="0"/>
                <a:ea typeface="+mn-ea"/>
              </a:endParaRPr>
            </a:p>
          </p:txBody>
        </p:sp>
        <p:sp>
          <p:nvSpPr>
            <p:cNvPr id="9" name="Freeform 11"/>
            <p:cNvSpPr>
              <a:spLocks noChangeArrowheads="1"/>
            </p:cNvSpPr>
            <p:nvPr/>
          </p:nvSpPr>
          <p:spPr bwMode="auto">
            <a:xfrm>
              <a:off x="4944" y="762"/>
              <a:ext cx="165" cy="8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0" y="0"/>
                </a:cxn>
                <a:cxn ang="0">
                  <a:pos x="1000" y="1000"/>
                </a:cxn>
                <a:cxn ang="0">
                  <a:pos x="0" y="1000"/>
                </a:cxn>
              </a:cxnLst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Tahoma" pitchFamily="-32" charset="0"/>
                <a:ea typeface="+mn-ea"/>
              </a:endParaRPr>
            </a:p>
          </p:txBody>
        </p:sp>
      </p:grpSp>
      <p:sp>
        <p:nvSpPr>
          <p:cNvPr id="1597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597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477000"/>
            <a:ext cx="39624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2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C5112404-32C0-D045-BC5B-7C5BA7AC491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76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DA0040-F5F7-8D46-B162-C909415831D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6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0BBB76-04F5-E047-A3D7-D8F0F926DA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37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6063F3-C45A-EF4F-8D98-8DDAD8A34BD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2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FCD1D9-6C86-A54A-B238-3865983690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39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FFCC9E-06BA-0B44-9840-37A1E35FFB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48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D8CC1F-6941-CA4C-B122-9C510CAD5EA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8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F33750-92D5-0B4C-B89B-3373BFD77B5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3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3F851F-6A4D-F746-94EA-FFD577AFDBC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1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F48824-F6F9-284B-BE2A-6D4C0E18DBF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7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1313" y="96838"/>
            <a:ext cx="1919287" cy="59991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07050" cy="59991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EA6EE6-6972-D344-A062-446CCB6FBD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4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ChangeArrowheads="1"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  <a:ea typeface="+mn-ea"/>
            </a:endParaRPr>
          </a:p>
        </p:txBody>
      </p:sp>
      <p:sp>
        <p:nvSpPr>
          <p:cNvPr id="158723" name="Rectangle 3"/>
          <p:cNvSpPr>
            <a:spLocks noChangeArrowheads="1"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  <a:ea typeface="+mn-ea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31863" y="96838"/>
            <a:ext cx="7158037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4615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Tahoma" pitchFamily="-32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477000"/>
            <a:ext cx="3886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587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EDD7C34F-DA26-7C47-980C-D528A86A4A5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58729" name="Freeform 9"/>
          <p:cNvSpPr>
            <a:spLocks noChangeArrowheads="1"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/>
            <a:ahLst/>
            <a:cxnLst>
              <a:cxn ang="0">
                <a:pos x="1000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tx2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Tahoma" pitchFamily="-32" charset="0"/>
              <a:ea typeface="+mn-ea"/>
            </a:endParaRPr>
          </a:p>
        </p:txBody>
      </p:sp>
      <p:sp>
        <p:nvSpPr>
          <p:cNvPr id="158730" name="Freeform 10"/>
          <p:cNvSpPr>
            <a:spLocks noChangeArrowheads="1"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1000"/>
              </a:cxn>
              <a:cxn ang="0">
                <a:pos x="0" y="1000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Tahoma" pitchFamily="-32" charset="0"/>
              <a:ea typeface="+mn-ea"/>
            </a:endParaRPr>
          </a:p>
        </p:txBody>
      </p:sp>
      <p:pic>
        <p:nvPicPr>
          <p:cNvPr id="1035" name="Picture 11" descr="uiuc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iming>
    <p:tnLst>
      <p:par>
        <p:cTn xmlns:p14="http://schemas.microsoft.com/office/powerpoint/2010/main"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889000" indent="-439738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charset="0"/>
        <a:buChar char="¡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293813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81163" indent="-3857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charset="0"/>
        <a:buChar char="¡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e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e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e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e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e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e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e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e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e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e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e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e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dirty="0" smtClean="0">
                <a:latin typeface="Arial" charset="0"/>
              </a:rPr>
              <a:t>CS 241</a:t>
            </a:r>
          </a:p>
          <a:p>
            <a:pPr eaLnBrk="1" hangingPunct="1">
              <a:buFont typeface="Wingdings" charset="0"/>
              <a:buNone/>
            </a:pPr>
            <a:r>
              <a:rPr lang="en-US" dirty="0" smtClean="0">
                <a:latin typeface="Arial" charset="0"/>
              </a:rPr>
              <a:t>January 20, 2012</a:t>
            </a:r>
            <a:endParaRPr lang="en-US" dirty="0">
              <a:latin typeface="Arial" charset="0"/>
            </a:endParaRPr>
          </a:p>
        </p:txBody>
      </p:sp>
      <p:sp>
        <p:nvSpPr>
          <p:cNvPr id="3075" name="Rectangle 15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076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C012457-52A8-CC47-A53F-757B826020AA}" type="slidenum">
              <a:rPr lang="en-US"/>
              <a:pPr/>
              <a:t>1</a:t>
            </a:fld>
            <a:endParaRPr lang="en-US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imes New Roman Bold Italic" charset="0"/>
                <a:cs typeface="Times New Roman Bold Italic" charset="0"/>
                <a:sym typeface="Times New Roman Bold Italic" charset="0"/>
              </a:rPr>
              <a:t>C</a:t>
            </a:r>
            <a:r>
              <a:rPr lang="en-US">
                <a:latin typeface="Arial" charset="0"/>
              </a:rPr>
              <a:t>  Survival Guide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Announcements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Piazza </a:t>
            </a:r>
            <a:r>
              <a:rPr lang="en-US" dirty="0">
                <a:latin typeface="Arial" charset="0"/>
              </a:rPr>
              <a:t>access code: </a:t>
            </a:r>
            <a:r>
              <a:rPr lang="en-US" dirty="0" smtClean="0">
                <a:latin typeface="Arial" charset="0"/>
              </a:rPr>
              <a:t>________</a:t>
            </a:r>
            <a:endParaRPr lang="en-US" dirty="0">
              <a:latin typeface="Arial" charset="0"/>
            </a:endParaRPr>
          </a:p>
          <a:p>
            <a:endParaRPr lang="en-US" dirty="0" smtClean="0">
              <a:latin typeface="Arial" charset="0"/>
            </a:endParaRPr>
          </a:p>
          <a:p>
            <a:r>
              <a:rPr lang="en-US" dirty="0" smtClean="0">
                <a:latin typeface="Arial" charset="0"/>
              </a:rPr>
              <a:t>Registered?</a:t>
            </a:r>
          </a:p>
          <a:p>
            <a:endParaRPr lang="en-US" dirty="0">
              <a:latin typeface="Arial" charset="0"/>
            </a:endParaRPr>
          </a:p>
          <a:p>
            <a:r>
              <a:rPr lang="en-US" dirty="0" smtClean="0">
                <a:latin typeface="Arial" charset="0"/>
              </a:rPr>
              <a:t>Lecture videos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FEA2E53-9818-2C4F-B898-F356A1704720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Good news: Writing C code is easy!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b="1">
                <a:solidFill>
                  <a:srgbClr val="0000FF"/>
                </a:solidFill>
                <a:latin typeface="Courier New" charset="0"/>
                <a:cs typeface="Courier New" charset="0"/>
              </a:rPr>
              <a:t>void* myfunction() {</a:t>
            </a:r>
          </a:p>
          <a:p>
            <a:pPr eaLnBrk="1" hangingPunct="1">
              <a:buFont typeface="Wingdings" charset="0"/>
              <a:buNone/>
            </a:pPr>
            <a:r>
              <a:rPr lang="en-US" b="1">
                <a:solidFill>
                  <a:srgbClr val="0000FF"/>
                </a:solidFill>
                <a:latin typeface="Courier New" charset="0"/>
                <a:cs typeface="Courier New" charset="0"/>
              </a:rPr>
              <a:t>		char *p;</a:t>
            </a:r>
          </a:p>
          <a:p>
            <a:pPr eaLnBrk="1" hangingPunct="1">
              <a:buFont typeface="Wingdings" charset="0"/>
              <a:buNone/>
            </a:pPr>
            <a:r>
              <a:rPr lang="en-US" b="1">
                <a:solidFill>
                  <a:srgbClr val="0000FF"/>
                </a:solidFill>
                <a:latin typeface="Courier New" charset="0"/>
                <a:cs typeface="Courier New" charset="0"/>
              </a:rPr>
              <a:t>    *p = 0;</a:t>
            </a:r>
          </a:p>
          <a:p>
            <a:pPr eaLnBrk="1" hangingPunct="1">
              <a:buFont typeface="Wingdings" charset="0"/>
              <a:buNone/>
            </a:pPr>
            <a:r>
              <a:rPr lang="en-US" b="1">
                <a:solidFill>
                  <a:srgbClr val="0000FF"/>
                </a:solidFill>
                <a:latin typeface="Courier New" charset="0"/>
                <a:cs typeface="Courier New" charset="0"/>
              </a:rPr>
              <a:t>    return (void*) &amp;p;</a:t>
            </a:r>
          </a:p>
          <a:p>
            <a:pPr eaLnBrk="1" hangingPunct="1">
              <a:buFont typeface="Wingdings" charset="0"/>
              <a:buNone/>
            </a:pPr>
            <a:r>
              <a:rPr lang="en-US" b="1">
                <a:solidFill>
                  <a:srgbClr val="0000FF"/>
                </a:solidFill>
                <a:latin typeface="Courier New" charset="0"/>
                <a:cs typeface="Courier New" charset="0"/>
              </a:rPr>
              <a:t>}</a:t>
            </a:r>
          </a:p>
          <a:p>
            <a:pPr eaLnBrk="1" hangingPunct="1">
              <a:buFont typeface="Wingdings" charset="0"/>
              <a:buNone/>
            </a:pPr>
            <a:endParaRPr lang="en-US" b="1">
              <a:solidFill>
                <a:srgbClr val="0000FF"/>
              </a:solidFill>
              <a:latin typeface="Courier New" charset="0"/>
              <a:cs typeface="Courier New" charset="0"/>
            </a:endParaRPr>
          </a:p>
        </p:txBody>
      </p:sp>
      <p:sp>
        <p:nvSpPr>
          <p:cNvPr id="51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1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C97EB3F-00AD-5D4F-A4FE-841F02D56F5D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Bad news: Writing BAD C code is easy!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b="1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void* </a:t>
            </a:r>
            <a:r>
              <a:rPr lang="en-US" b="1" dirty="0" err="1">
                <a:solidFill>
                  <a:srgbClr val="0000FF"/>
                </a:solidFill>
                <a:latin typeface="Courier New" charset="0"/>
                <a:cs typeface="Courier New" charset="0"/>
              </a:rPr>
              <a:t>myfunction</a:t>
            </a:r>
            <a:r>
              <a:rPr lang="en-US" b="1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() {</a:t>
            </a:r>
          </a:p>
          <a:p>
            <a:pPr eaLnBrk="1" hangingPunct="1">
              <a:buFont typeface="Wingdings" charset="0"/>
              <a:buNone/>
            </a:pPr>
            <a:r>
              <a:rPr lang="en-US" b="1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		char *p;</a:t>
            </a:r>
          </a:p>
          <a:p>
            <a:pPr eaLnBrk="1" hangingPunct="1">
              <a:buFont typeface="Wingdings" charset="0"/>
              <a:buNone/>
            </a:pPr>
            <a:r>
              <a:rPr lang="en-US" b="1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    *p = 0;</a:t>
            </a:r>
          </a:p>
          <a:p>
            <a:pPr eaLnBrk="1" hangingPunct="1">
              <a:buFont typeface="Wingdings" charset="0"/>
              <a:buNone/>
            </a:pPr>
            <a:r>
              <a:rPr lang="en-US" b="1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    return (void*) &amp;p;</a:t>
            </a:r>
          </a:p>
          <a:p>
            <a:pPr eaLnBrk="1" hangingPunct="1">
              <a:buFont typeface="Wingdings" charset="0"/>
              <a:buNone/>
            </a:pPr>
            <a:r>
              <a:rPr lang="en-US" b="1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}</a:t>
            </a:r>
          </a:p>
          <a:p>
            <a:pPr eaLnBrk="1" hangingPunct="1">
              <a:buFont typeface="Wingdings" charset="0"/>
              <a:buNone/>
            </a:pPr>
            <a:endParaRPr lang="en-US" b="1" dirty="0">
              <a:solidFill>
                <a:srgbClr val="0000FF"/>
              </a:solidFill>
              <a:latin typeface="Courier New" charset="0"/>
              <a:cs typeface="Courier New" charset="0"/>
            </a:endParaRP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E2AD66A-6255-5E4B-AEB4-9E5842C541C6}" type="slidenum">
              <a:rPr lang="en-US"/>
              <a:pPr/>
              <a:t>4</a:t>
            </a:fld>
            <a:endParaRPr lang="en-US"/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3733800" y="4724400"/>
            <a:ext cx="2133600" cy="16002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2800" dirty="0">
                <a:latin typeface="Arial" charset="0"/>
              </a:rPr>
              <a:t>What is wrong with this code?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Bad news: Writing BAD C code is easy!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b="1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void* </a:t>
            </a:r>
            <a:r>
              <a:rPr lang="en-US" b="1" dirty="0" err="1">
                <a:solidFill>
                  <a:srgbClr val="0000FF"/>
                </a:solidFill>
                <a:latin typeface="Courier New" charset="0"/>
                <a:cs typeface="Courier New" charset="0"/>
              </a:rPr>
              <a:t>myfunction</a:t>
            </a:r>
            <a:r>
              <a:rPr lang="en-US" b="1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() {</a:t>
            </a:r>
          </a:p>
          <a:p>
            <a:pPr eaLnBrk="1" hangingPunct="1">
              <a:buFont typeface="Wingdings" charset="0"/>
              <a:buNone/>
            </a:pPr>
            <a:r>
              <a:rPr lang="en-US" b="1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		char *p;</a:t>
            </a:r>
          </a:p>
          <a:p>
            <a:pPr eaLnBrk="1" hangingPunct="1">
              <a:buFont typeface="Wingdings" charset="0"/>
              <a:buNone/>
            </a:pPr>
            <a:r>
              <a:rPr lang="en-US" b="1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    *p = 0;</a:t>
            </a:r>
          </a:p>
          <a:p>
            <a:pPr eaLnBrk="1" hangingPunct="1">
              <a:buFont typeface="Wingdings" charset="0"/>
              <a:buNone/>
            </a:pPr>
            <a:r>
              <a:rPr lang="en-US" b="1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    return (void*) &amp;p;</a:t>
            </a:r>
          </a:p>
          <a:p>
            <a:pPr eaLnBrk="1" hangingPunct="1">
              <a:buFont typeface="Wingdings" charset="0"/>
              <a:buNone/>
            </a:pPr>
            <a:r>
              <a:rPr lang="en-US" b="1" dirty="0">
                <a:solidFill>
                  <a:srgbClr val="0000FF"/>
                </a:solidFill>
                <a:latin typeface="Courier New" charset="0"/>
                <a:cs typeface="Courier New" charset="0"/>
              </a:rPr>
              <a:t>}</a:t>
            </a:r>
          </a:p>
          <a:p>
            <a:pPr eaLnBrk="1" hangingPunct="1">
              <a:buFont typeface="Wingdings" charset="0"/>
              <a:buNone/>
            </a:pPr>
            <a:endParaRPr lang="en-US" b="1" dirty="0">
              <a:solidFill>
                <a:srgbClr val="0000FF"/>
              </a:solidFill>
              <a:latin typeface="Courier New" charset="0"/>
              <a:cs typeface="Courier New" charset="0"/>
            </a:endParaRP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E2AD66A-6255-5E4B-AEB4-9E5842C541C6}" type="slidenum">
              <a:rPr lang="en-US"/>
              <a:pPr/>
              <a:t>5</a:t>
            </a:fld>
            <a:endParaRPr lang="en-US"/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3733800" y="4724400"/>
            <a:ext cx="2133600" cy="16002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2800" dirty="0">
                <a:latin typeface="Arial" charset="0"/>
              </a:rPr>
              <a:t>What is wrong with this code?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900" y="1828800"/>
            <a:ext cx="3797300" cy="1689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3352800"/>
            <a:ext cx="40005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02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How do I write good C programs?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3000" dirty="0">
                <a:latin typeface="Arial" charset="0"/>
              </a:rPr>
              <a:t>Fluency in C syntax</a:t>
            </a:r>
          </a:p>
          <a:p>
            <a:pPr>
              <a:lnSpc>
                <a:spcPct val="90000"/>
              </a:lnSpc>
            </a:pPr>
            <a:r>
              <a:rPr lang="en-US" sz="3000" dirty="0">
                <a:latin typeface="Arial" charset="0"/>
              </a:rPr>
              <a:t>Stack (static) vs. Heap (dynamic) memory allocation</a:t>
            </a:r>
          </a:p>
          <a:p>
            <a:pPr>
              <a:lnSpc>
                <a:spcPct val="90000"/>
              </a:lnSpc>
            </a:pPr>
            <a:r>
              <a:rPr lang="en-US" sz="3000" dirty="0">
                <a:latin typeface="Arial" charset="0"/>
              </a:rPr>
              <a:t>Key skill: read code for bugs</a:t>
            </a:r>
          </a:p>
          <a:p>
            <a:pPr lvl="1">
              <a:lnSpc>
                <a:spcPct val="90000"/>
              </a:lnSpc>
            </a:pPr>
            <a:r>
              <a:rPr lang="en-US" sz="2600" dirty="0">
                <a:latin typeface="Arial" charset="0"/>
              </a:rPr>
              <a:t>Do not rely solely on compiler warnings, if any, and testing</a:t>
            </a:r>
          </a:p>
          <a:p>
            <a:pPr>
              <a:lnSpc>
                <a:spcPct val="90000"/>
              </a:lnSpc>
            </a:pPr>
            <a:r>
              <a:rPr lang="en-US" sz="3000" dirty="0">
                <a:latin typeface="Arial" charset="0"/>
              </a:rPr>
              <a:t>Key skill: debugging</a:t>
            </a:r>
          </a:p>
          <a:p>
            <a:pPr lvl="1">
              <a:lnSpc>
                <a:spcPct val="90000"/>
              </a:lnSpc>
            </a:pPr>
            <a:r>
              <a:rPr lang="en-US" sz="2600" dirty="0">
                <a:latin typeface="Arial" charset="0"/>
              </a:rPr>
              <a:t>Learn to use a </a:t>
            </a:r>
            <a:r>
              <a:rPr lang="en-US" sz="2600" dirty="0" smtClean="0">
                <a:latin typeface="Arial" charset="0"/>
              </a:rPr>
              <a:t>debugger, not just </a:t>
            </a:r>
            <a:r>
              <a:rPr lang="en-US" sz="2600" b="1" dirty="0" err="1">
                <a:latin typeface="Courier New" charset="0"/>
                <a:cs typeface="Courier New" charset="0"/>
              </a:rPr>
              <a:t>printf</a:t>
            </a:r>
            <a:r>
              <a:rPr lang="en-US" sz="2600" dirty="0" err="1">
                <a:latin typeface="Arial" charset="0"/>
              </a:rPr>
              <a:t>s</a:t>
            </a:r>
            <a:r>
              <a:rPr lang="en-US" sz="2600" dirty="0" smtClean="0">
                <a:latin typeface="Arial" charset="0"/>
              </a:rPr>
              <a:t>!</a:t>
            </a:r>
          </a:p>
          <a:p>
            <a:pPr>
              <a:lnSpc>
                <a:spcPct val="90000"/>
              </a:lnSpc>
            </a:pPr>
            <a:r>
              <a:rPr lang="en-US" sz="3000" dirty="0" smtClean="0">
                <a:latin typeface="Arial" charset="0"/>
              </a:rPr>
              <a:t>Key skill: defensive programming</a:t>
            </a:r>
          </a:p>
          <a:p>
            <a:pPr lvl="1">
              <a:lnSpc>
                <a:spcPct val="90000"/>
              </a:lnSpc>
            </a:pPr>
            <a:r>
              <a:rPr lang="en-US" sz="2600" dirty="0" smtClean="0">
                <a:latin typeface="Arial" charset="0"/>
              </a:rPr>
              <a:t>Avoid assumptions about what is probably true</a:t>
            </a:r>
            <a:endParaRPr lang="en-US" sz="2600" dirty="0">
              <a:latin typeface="Arial" charset="0"/>
            </a:endParaRP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C7F111D-FBF6-494A-9CB1-DDC704177A2E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Why C instead of Java?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949325" y="1752600"/>
            <a:ext cx="7661275" cy="4343400"/>
          </a:xfrm>
        </p:spPr>
        <p:txBody>
          <a:bodyPr/>
          <a:lstStyle/>
          <a:p>
            <a:r>
              <a:rPr lang="en-US" sz="2800" dirty="0" smtClean="0">
                <a:latin typeface="Arial" charset="0"/>
              </a:rPr>
              <a:t>C helps you get </a:t>
            </a:r>
            <a:r>
              <a:rPr lang="ja-JP" altLang="en-US" sz="2800" dirty="0" smtClean="0">
                <a:latin typeface="Arial" charset="0"/>
              </a:rPr>
              <a:t>“</a:t>
            </a:r>
            <a:r>
              <a:rPr lang="en-US" sz="2800" dirty="0" smtClean="0">
                <a:latin typeface="Arial" charset="0"/>
              </a:rPr>
              <a:t>under the hood</a:t>
            </a:r>
            <a:r>
              <a:rPr lang="ja-JP" altLang="en-US" sz="2800" dirty="0" smtClean="0">
                <a:latin typeface="Arial" charset="0"/>
              </a:rPr>
              <a:t>”</a:t>
            </a:r>
            <a:endParaRPr lang="en-US" sz="2800" dirty="0" smtClean="0">
              <a:latin typeface="Arial" charset="0"/>
            </a:endParaRPr>
          </a:p>
          <a:p>
            <a:pPr lvl="1"/>
            <a:r>
              <a:rPr lang="en-US" sz="2400" dirty="0" smtClean="0">
                <a:latin typeface="Arial" charset="0"/>
              </a:rPr>
              <a:t>One step up from assembly language</a:t>
            </a:r>
          </a:p>
          <a:p>
            <a:pPr lvl="1"/>
            <a:r>
              <a:rPr lang="en-US" sz="2400" dirty="0" smtClean="0">
                <a:latin typeface="Arial" charset="0"/>
              </a:rPr>
              <a:t>Many existing servers/systems written in C</a:t>
            </a:r>
          </a:p>
          <a:p>
            <a:endParaRPr lang="en-US" sz="2800" dirty="0" smtClean="0">
              <a:latin typeface="Arial" charset="0"/>
            </a:endParaRPr>
          </a:p>
          <a:p>
            <a:r>
              <a:rPr lang="en-US" sz="2800" dirty="0" smtClean="0">
                <a:latin typeface="Arial" charset="0"/>
              </a:rPr>
              <a:t>C </a:t>
            </a:r>
            <a:r>
              <a:rPr lang="en-US" sz="2800" dirty="0">
                <a:latin typeface="Arial" charset="0"/>
              </a:rPr>
              <a:t>helps you learn how to write large-scale programs</a:t>
            </a:r>
          </a:p>
          <a:p>
            <a:pPr lvl="1"/>
            <a:r>
              <a:rPr lang="en-US" sz="2400" dirty="0">
                <a:latin typeface="Arial" charset="0"/>
              </a:rPr>
              <a:t>C is lower-</a:t>
            </a:r>
            <a:r>
              <a:rPr lang="en-US" sz="2400" dirty="0" smtClean="0">
                <a:latin typeface="Arial" charset="0"/>
              </a:rPr>
              <a:t>level: provides </a:t>
            </a:r>
            <a:r>
              <a:rPr lang="en-US" sz="2400" dirty="0">
                <a:latin typeface="Arial" charset="0"/>
              </a:rPr>
              <a:t>more opportunities to create abstractions</a:t>
            </a:r>
          </a:p>
          <a:p>
            <a:pPr lvl="1"/>
            <a:r>
              <a:rPr lang="en-US" sz="2400" dirty="0">
                <a:latin typeface="Arial" charset="0"/>
              </a:rPr>
              <a:t>C has some </a:t>
            </a:r>
            <a:r>
              <a:rPr lang="en-US" sz="2400" dirty="0" smtClean="0">
                <a:latin typeface="Arial" charset="0"/>
              </a:rPr>
              <a:t>flaws: motivates </a:t>
            </a:r>
            <a:r>
              <a:rPr lang="en-US" sz="2400" dirty="0">
                <a:latin typeface="Arial" charset="0"/>
              </a:rPr>
              <a:t>discussions of software engineering </a:t>
            </a:r>
            <a:r>
              <a:rPr lang="en-US" sz="2400" dirty="0" smtClean="0">
                <a:latin typeface="Arial" charset="0"/>
              </a:rPr>
              <a:t>principles</a:t>
            </a:r>
          </a:p>
        </p:txBody>
      </p:sp>
      <p:sp>
        <p:nvSpPr>
          <p:cNvPr id="81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CCA60C9-C1C0-AE44-8F49-00A23891EC7E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C vs. Java: Design Goals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</a:rPr>
              <a:t>Java design goals</a:t>
            </a:r>
          </a:p>
          <a:p>
            <a:pPr lvl="1"/>
            <a:r>
              <a:rPr lang="en-US" sz="2000" dirty="0">
                <a:latin typeface="Arial" charset="0"/>
              </a:rPr>
              <a:t>Support 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object-oriented</a:t>
            </a:r>
            <a:r>
              <a:rPr lang="en-US" sz="2000" dirty="0">
                <a:latin typeface="Arial" charset="0"/>
              </a:rPr>
              <a:t> programming</a:t>
            </a:r>
          </a:p>
          <a:p>
            <a:pPr lvl="1"/>
            <a:r>
              <a:rPr lang="en-US" sz="2000" dirty="0">
                <a:latin typeface="Arial" charset="0"/>
              </a:rPr>
              <a:t>Allow same program to run on 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multiple operating systems</a:t>
            </a:r>
          </a:p>
          <a:p>
            <a:pPr lvl="1"/>
            <a:r>
              <a:rPr lang="en-US" sz="2000" dirty="0">
                <a:latin typeface="Arial" charset="0"/>
              </a:rPr>
              <a:t>Support using 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computer networks</a:t>
            </a:r>
          </a:p>
          <a:p>
            <a:pPr lvl="1"/>
            <a:r>
              <a:rPr lang="en-US" sz="2000" dirty="0">
                <a:latin typeface="Arial" charset="0"/>
              </a:rPr>
              <a:t>Execute code from 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remote sources securely</a:t>
            </a:r>
          </a:p>
          <a:p>
            <a:pPr lvl="1"/>
            <a:r>
              <a:rPr lang="en-US" sz="2000" dirty="0">
                <a:latin typeface="Arial" charset="0"/>
              </a:rPr>
              <a:t>Adopt the good parts of 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other languages</a:t>
            </a:r>
          </a:p>
          <a:p>
            <a:r>
              <a:rPr lang="en-US" sz="2400" dirty="0">
                <a:latin typeface="Arial" charset="0"/>
              </a:rPr>
              <a:t>Implications for Java</a:t>
            </a:r>
          </a:p>
          <a:p>
            <a:pPr lvl="1"/>
            <a:r>
              <a:rPr lang="en-US" sz="2000" dirty="0">
                <a:latin typeface="Arial" charset="0"/>
              </a:rPr>
              <a:t>Good for 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application-level</a:t>
            </a:r>
            <a:r>
              <a:rPr lang="en-US" sz="2000" dirty="0">
                <a:latin typeface="Arial" charset="0"/>
              </a:rPr>
              <a:t> programming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charset="0"/>
              </a:rPr>
              <a:t>High-level</a:t>
            </a:r>
            <a:r>
              <a:rPr lang="en-US" sz="2000" dirty="0">
                <a:latin typeface="Arial" charset="0"/>
              </a:rPr>
              <a:t> (insulates from assembly language, hardware)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charset="0"/>
              </a:rPr>
              <a:t>Portability over efficiency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charset="0"/>
              </a:rPr>
              <a:t>Security over efficiency</a:t>
            </a:r>
          </a:p>
        </p:txBody>
      </p:sp>
      <p:sp>
        <p:nvSpPr>
          <p:cNvPr id="92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AFBF448-ADFB-3A47-B6B3-A872479F142F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C vs. Java: Design Goals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</a:rPr>
              <a:t>C design goals</a:t>
            </a:r>
          </a:p>
          <a:p>
            <a:pPr lvl="1"/>
            <a:r>
              <a:rPr lang="en-US" sz="2000" dirty="0">
                <a:latin typeface="Arial" charset="0"/>
              </a:rPr>
              <a:t>Support 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structured</a:t>
            </a:r>
            <a:r>
              <a:rPr lang="en-US" sz="2000" dirty="0">
                <a:latin typeface="Arial" charset="0"/>
              </a:rPr>
              <a:t> programming</a:t>
            </a:r>
          </a:p>
          <a:p>
            <a:pPr lvl="1"/>
            <a:r>
              <a:rPr lang="en-US" sz="2000" dirty="0">
                <a:latin typeface="Arial" charset="0"/>
              </a:rPr>
              <a:t>Support 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development of the Unix OS</a:t>
            </a:r>
            <a:r>
              <a:rPr lang="en-US" sz="2000" dirty="0">
                <a:latin typeface="Arial" charset="0"/>
              </a:rPr>
              <a:t> and Unix tools</a:t>
            </a:r>
          </a:p>
          <a:p>
            <a:pPr lvl="2"/>
            <a:r>
              <a:rPr lang="en-US" sz="1600" dirty="0">
                <a:latin typeface="Arial" charset="0"/>
              </a:rPr>
              <a:t>As Unix became popular, so did C</a:t>
            </a:r>
            <a:endParaRPr lang="en-US" sz="2000" dirty="0">
              <a:latin typeface="Arial" charset="0"/>
            </a:endParaRPr>
          </a:p>
          <a:p>
            <a:r>
              <a:rPr lang="en-US" sz="2400" dirty="0">
                <a:latin typeface="Arial" charset="0"/>
              </a:rPr>
              <a:t>Implications for C</a:t>
            </a:r>
          </a:p>
          <a:p>
            <a:pPr lvl="1"/>
            <a:r>
              <a:rPr lang="en-US" sz="2000" dirty="0">
                <a:latin typeface="Arial" charset="0"/>
              </a:rPr>
              <a:t>Good for </a:t>
            </a:r>
            <a:r>
              <a:rPr lang="en-US" sz="2000" dirty="0">
                <a:solidFill>
                  <a:srgbClr val="FF0000"/>
                </a:solidFill>
                <a:latin typeface="Arial" charset="0"/>
              </a:rPr>
              <a:t>systems-level</a:t>
            </a:r>
            <a:r>
              <a:rPr lang="en-US" sz="2000" dirty="0">
                <a:latin typeface="Arial" charset="0"/>
              </a:rPr>
              <a:t> programming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charset="0"/>
              </a:rPr>
              <a:t>Low-level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charset="0"/>
              </a:rPr>
              <a:t>Efficiency over portability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charset="0"/>
              </a:rPr>
              <a:t>Efficiency over security</a:t>
            </a:r>
          </a:p>
          <a:p>
            <a:r>
              <a:rPr lang="en-US" sz="2400" dirty="0">
                <a:latin typeface="Arial" charset="0"/>
              </a:rPr>
              <a:t>Anything you can do in Java you can do in C – it just might look ugly in C!</a:t>
            </a:r>
          </a:p>
        </p:txBody>
      </p:sp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02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C1A1278-3371-794D-B473-D00058769ED3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26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26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26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1270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Rectangle 6"/>
          <p:cNvSpPr>
            <a:spLocks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C vs. C++</a:t>
            </a:r>
          </a:p>
        </p:txBody>
      </p:sp>
      <p:sp>
        <p:nvSpPr>
          <p:cNvPr id="11272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7661275" cy="4267200"/>
          </a:xfrm>
        </p:spPr>
        <p:txBody>
          <a:bodyPr/>
          <a:lstStyle/>
          <a:p>
            <a:r>
              <a:rPr lang="en-US" sz="2400" dirty="0">
                <a:latin typeface="Arial"/>
                <a:cs typeface="Arial"/>
              </a:rPr>
              <a:t>C++ is </a:t>
            </a:r>
            <a:r>
              <a:rPr lang="ja-JP" altLang="en-US" sz="2400" dirty="0">
                <a:latin typeface="Arial"/>
                <a:cs typeface="Arial"/>
              </a:rPr>
              <a:t>“</a:t>
            </a:r>
            <a:r>
              <a:rPr lang="en-US" sz="2400" dirty="0">
                <a:latin typeface="Arial"/>
                <a:cs typeface="Arial"/>
              </a:rPr>
              <a:t>C with Classes</a:t>
            </a:r>
            <a:r>
              <a:rPr lang="ja-JP" altLang="en-US" sz="2400" dirty="0" smtClean="0">
                <a:latin typeface="Arial"/>
                <a:cs typeface="Arial"/>
              </a:rPr>
              <a:t>”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cs typeface="Arial"/>
              </a:rPr>
              <a:t>C </a:t>
            </a:r>
            <a:r>
              <a:rPr lang="en-US" sz="2400" dirty="0" smtClean="0">
                <a:latin typeface="Arial"/>
                <a:cs typeface="Arial"/>
              </a:rPr>
              <a:t>is </a:t>
            </a:r>
            <a:r>
              <a:rPr lang="en-US" sz="2400" dirty="0" smtClean="0">
                <a:solidFill>
                  <a:srgbClr val="FF6600"/>
                </a:solidFill>
                <a:latin typeface="Arial"/>
                <a:cs typeface="Arial"/>
              </a:rPr>
              <a:t>only</a:t>
            </a:r>
            <a:r>
              <a:rPr lang="en-US" sz="2400" dirty="0" smtClean="0">
                <a:latin typeface="Arial"/>
                <a:cs typeface="Arial"/>
              </a:rPr>
              <a:t> a subset of C</a:t>
            </a:r>
            <a:r>
              <a:rPr lang="en-US" sz="2400" dirty="0">
                <a:latin typeface="Arial"/>
                <a:cs typeface="Arial"/>
              </a:rPr>
              <a:t>++</a:t>
            </a:r>
          </a:p>
          <a:p>
            <a:pPr lvl="1"/>
            <a:r>
              <a:rPr lang="en-US" sz="2400" dirty="0">
                <a:latin typeface="Arial"/>
                <a:cs typeface="Arial"/>
              </a:rPr>
              <a:t>C++ has objects, a bigger standard library (e.g., STL), parameterized types, etc.</a:t>
            </a:r>
          </a:p>
          <a:p>
            <a:pPr lvl="1"/>
            <a:r>
              <a:rPr lang="en-US" sz="2400" dirty="0">
                <a:latin typeface="Arial"/>
                <a:cs typeface="Arial"/>
              </a:rPr>
              <a:t>C++ is a little bit more strongly </a:t>
            </a:r>
            <a:r>
              <a:rPr lang="en-US" sz="2400" dirty="0" smtClean="0">
                <a:latin typeface="Arial"/>
                <a:cs typeface="Arial"/>
              </a:rPr>
              <a:t>typed</a:t>
            </a:r>
            <a:endParaRPr lang="en-US" dirty="0">
              <a:latin typeface="Arial"/>
              <a:cs typeface="Arial"/>
            </a:endParaRPr>
          </a:p>
          <a:p>
            <a:r>
              <a:rPr lang="en-US" sz="2400" dirty="0" smtClean="0">
                <a:latin typeface="Arial"/>
                <a:cs typeface="Arial"/>
              </a:rPr>
              <a:t>C is </a:t>
            </a:r>
            <a:r>
              <a:rPr lang="en-US" sz="2400" dirty="0" smtClean="0">
                <a:solidFill>
                  <a:srgbClr val="FF6600"/>
                </a:solidFill>
                <a:latin typeface="Arial"/>
                <a:cs typeface="Arial"/>
              </a:rPr>
              <a:t>fortunately</a:t>
            </a:r>
            <a:r>
              <a:rPr lang="en-US" sz="2400" i="1" dirty="0" smtClean="0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lang="en-US" sz="2400" dirty="0" smtClean="0">
                <a:latin typeface="Arial"/>
                <a:cs typeface="Arial"/>
              </a:rPr>
              <a:t>a subset of C++</a:t>
            </a:r>
          </a:p>
          <a:p>
            <a:pPr lvl="1"/>
            <a:r>
              <a:rPr lang="en-US" sz="2400" dirty="0" smtClean="0">
                <a:latin typeface="Arial"/>
                <a:cs typeface="Arial"/>
              </a:rPr>
              <a:t>Can be simpler, more direct</a:t>
            </a:r>
          </a:p>
          <a:p>
            <a:r>
              <a:rPr lang="en-US" sz="2400" dirty="0" smtClean="0">
                <a:latin typeface="Arial"/>
                <a:cs typeface="Arial"/>
              </a:rPr>
              <a:t>C is a subset of C++</a:t>
            </a:r>
            <a:endParaRPr lang="en-US" sz="2400" dirty="0">
              <a:latin typeface="Arial"/>
              <a:cs typeface="Arial"/>
            </a:endParaRPr>
          </a:p>
          <a:p>
            <a:pPr lvl="1"/>
            <a:r>
              <a:rPr lang="en-US" sz="2400" dirty="0">
                <a:latin typeface="Arial"/>
                <a:cs typeface="Arial"/>
              </a:rPr>
              <a:t>All syntax you use in this class is valid for C++</a:t>
            </a:r>
          </a:p>
          <a:p>
            <a:pPr lvl="1"/>
            <a:r>
              <a:rPr lang="en-US" sz="2400" dirty="0">
                <a:latin typeface="Arial"/>
                <a:cs typeface="Arial"/>
              </a:rPr>
              <a:t>Not all C++ syntax </a:t>
            </a:r>
            <a:r>
              <a:rPr lang="en-US" sz="2400" dirty="0" smtClean="0">
                <a:latin typeface="Arial"/>
                <a:cs typeface="Arial"/>
              </a:rPr>
              <a:t>you’ve </a:t>
            </a:r>
            <a:r>
              <a:rPr lang="en-US" sz="2400" dirty="0">
                <a:latin typeface="Arial"/>
                <a:cs typeface="Arial"/>
              </a:rPr>
              <a:t>used, however, is valid for C</a:t>
            </a:r>
          </a:p>
        </p:txBody>
      </p:sp>
      <p:sp>
        <p:nvSpPr>
          <p:cNvPr id="11273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B31A33A-35B0-2745-9BC7-385566942F44}" type="slidenum">
              <a:rPr lang="en-US"/>
              <a:pPr/>
              <a:t>10</a:t>
            </a:fld>
            <a:endParaRPr lang="en-US"/>
          </a:p>
        </p:txBody>
      </p:sp>
      <p:sp>
        <p:nvSpPr>
          <p:cNvPr id="11274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29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29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29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2294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A Few Differences between C and C++</a:t>
            </a:r>
          </a:p>
        </p:txBody>
      </p:sp>
      <p:sp>
        <p:nvSpPr>
          <p:cNvPr id="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800" dirty="0" err="1">
                <a:latin typeface="Arial" charset="0"/>
              </a:rPr>
              <a:t>Input/Output</a:t>
            </a:r>
            <a:endParaRPr lang="en-US" sz="2800" dirty="0">
              <a:latin typeface="Arial" charset="0"/>
            </a:endParaRPr>
          </a:p>
          <a:p>
            <a:pPr marL="928688" lvl="1"/>
            <a:r>
              <a:rPr lang="en-US" sz="2400" dirty="0">
                <a:latin typeface="Arial" charset="0"/>
              </a:rPr>
              <a:t>C does not have </a:t>
            </a:r>
            <a:r>
              <a:rPr lang="ja-JP" altLang="en-US" sz="2400" dirty="0">
                <a:latin typeface="Arial" charset="0"/>
              </a:rPr>
              <a:t>“</a:t>
            </a:r>
            <a:r>
              <a:rPr lang="en-US" sz="2400" dirty="0" err="1">
                <a:latin typeface="Arial" charset="0"/>
              </a:rPr>
              <a:t>iostreams</a:t>
            </a:r>
            <a:r>
              <a:rPr lang="ja-JP" altLang="en-US" sz="2400" dirty="0">
                <a:latin typeface="Arial" charset="0"/>
              </a:rPr>
              <a:t>”</a:t>
            </a:r>
            <a:endParaRPr lang="en-US" sz="2400" dirty="0">
              <a:latin typeface="Arial" charset="0"/>
            </a:endParaRPr>
          </a:p>
          <a:p>
            <a:pPr marL="928688" lvl="1"/>
            <a:r>
              <a:rPr lang="en-US" sz="2400" dirty="0">
                <a:latin typeface="Arial" charset="0"/>
              </a:rPr>
              <a:t>C++: </a:t>
            </a:r>
            <a:r>
              <a:rPr lang="en-US" sz="2400" dirty="0" err="1">
                <a:solidFill>
                  <a:srgbClr val="C00000"/>
                </a:solidFill>
                <a:latin typeface="Courier New Bold" charset="0"/>
                <a:cs typeface="Courier New Bold" charset="0"/>
                <a:sym typeface="Courier New Bold" charset="0"/>
              </a:rPr>
              <a:t>cout</a:t>
            </a:r>
            <a:r>
              <a:rPr lang="en-US" sz="2400" dirty="0">
                <a:solidFill>
                  <a:srgbClr val="C00000"/>
                </a:solidFill>
                <a:latin typeface="Courier New Bold" charset="0"/>
                <a:cs typeface="Courier New Bold" charset="0"/>
                <a:sym typeface="Courier New Bold" charset="0"/>
              </a:rPr>
              <a:t>&lt;&lt;"hello world</a:t>
            </a:r>
            <a:r>
              <a:rPr lang="ja-JP" altLang="en-US" sz="2400" dirty="0">
                <a:solidFill>
                  <a:srgbClr val="C00000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400" dirty="0">
                <a:solidFill>
                  <a:srgbClr val="C00000"/>
                </a:solidFill>
                <a:latin typeface="Courier New Bold" charset="0"/>
                <a:cs typeface="Courier New Bold" charset="0"/>
                <a:sym typeface="Courier New Bold" charset="0"/>
              </a:rPr>
              <a:t>&lt;&lt;</a:t>
            </a:r>
            <a:r>
              <a:rPr lang="en-US" sz="2400" dirty="0" err="1">
                <a:solidFill>
                  <a:srgbClr val="C00000"/>
                </a:solidFill>
                <a:latin typeface="Courier New Bold" charset="0"/>
                <a:cs typeface="Courier New Bold" charset="0"/>
                <a:sym typeface="Courier New Bold" charset="0"/>
              </a:rPr>
              <a:t>endl</a:t>
            </a:r>
            <a:r>
              <a:rPr lang="en-US" sz="2400" dirty="0">
                <a:solidFill>
                  <a:srgbClr val="C00000"/>
                </a:solidFill>
                <a:latin typeface="Courier New Bold" charset="0"/>
                <a:cs typeface="Courier New Bold" charset="0"/>
                <a:sym typeface="Courier New Bold" charset="0"/>
              </a:rPr>
              <a:t>;</a:t>
            </a:r>
            <a:endParaRPr lang="en-US" sz="2400" dirty="0">
              <a:solidFill>
                <a:srgbClr val="C00000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400" dirty="0">
                <a:latin typeface="Arial" charset="0"/>
              </a:rPr>
              <a:t>C: </a:t>
            </a:r>
            <a:r>
              <a:rPr lang="en-US" sz="24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("hello world\n</a:t>
            </a:r>
            <a:r>
              <a:rPr lang="ja-JP" alt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); 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r>
              <a:rPr lang="en-US" sz="2800" dirty="0">
                <a:latin typeface="Arial" charset="0"/>
              </a:rPr>
              <a:t>Heap memory allocation</a:t>
            </a:r>
          </a:p>
          <a:p>
            <a:pPr marL="928688" lvl="1"/>
            <a:r>
              <a:rPr lang="en-US" sz="2400" dirty="0">
                <a:latin typeface="Arial" charset="0"/>
              </a:rPr>
              <a:t>C++:  </a:t>
            </a:r>
            <a:r>
              <a:rPr lang="en-US" sz="2400" dirty="0">
                <a:solidFill>
                  <a:srgbClr val="C00000"/>
                </a:solidFill>
                <a:latin typeface="Courier New Bold" charset="0"/>
                <a:cs typeface="Courier New Bold" charset="0"/>
                <a:sym typeface="Courier New Bold" charset="0"/>
              </a:rPr>
              <a:t>new/delete</a:t>
            </a:r>
            <a:endParaRPr lang="en-US" sz="2400" dirty="0">
              <a:solidFill>
                <a:srgbClr val="C00000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1333500" lvl="2"/>
            <a:r>
              <a:rPr lang="en-US" sz="2000" dirty="0" err="1">
                <a:solidFill>
                  <a:srgbClr val="C00000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000" dirty="0">
                <a:solidFill>
                  <a:srgbClr val="C00000"/>
                </a:solidFill>
                <a:latin typeface="Courier New Bold" charset="0"/>
                <a:cs typeface="Courier New Bold" charset="0"/>
                <a:sym typeface="Courier New Bold" charset="0"/>
              </a:rPr>
              <a:t> *x = new </a:t>
            </a:r>
            <a:r>
              <a:rPr lang="en-US" sz="2000" dirty="0" err="1">
                <a:solidFill>
                  <a:srgbClr val="C00000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000" dirty="0">
                <a:solidFill>
                  <a:srgbClr val="C00000"/>
                </a:solidFill>
                <a:latin typeface="Courier New Bold" charset="0"/>
                <a:cs typeface="Courier New Bold" charset="0"/>
                <a:sym typeface="Courier New Bold" charset="0"/>
              </a:rPr>
              <a:t>[8]; delete(x);</a:t>
            </a:r>
            <a:endParaRPr lang="en-US" sz="2000" dirty="0">
              <a:solidFill>
                <a:srgbClr val="C00000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400" dirty="0">
                <a:latin typeface="Arial" charset="0"/>
              </a:rPr>
              <a:t>C: </a:t>
            </a:r>
            <a:r>
              <a:rPr lang="en-US" sz="24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malloc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()/free()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1333500" lvl="2"/>
            <a:r>
              <a:rPr lang="en-US" sz="20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0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*x = </a:t>
            </a:r>
            <a:r>
              <a:rPr lang="en-US" sz="20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malloc</a:t>
            </a:r>
            <a:r>
              <a:rPr lang="en-US" sz="20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(8 * </a:t>
            </a:r>
            <a:r>
              <a:rPr lang="en-US" sz="20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sizeof</a:t>
            </a:r>
            <a:r>
              <a:rPr lang="en-US" sz="20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</a:t>
            </a:r>
            <a:r>
              <a:rPr lang="en-US" sz="20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0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));   free(x);</a:t>
            </a:r>
            <a:endParaRPr lang="en-US" sz="20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12297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63748A9-478F-2048-B4DC-4AA4CE7B9481}" type="slidenum">
              <a:rPr lang="en-US"/>
              <a:pPr/>
              <a:t>11</a:t>
            </a:fld>
            <a:endParaRPr lang="en-US"/>
          </a:p>
        </p:txBody>
      </p:sp>
      <p:sp>
        <p:nvSpPr>
          <p:cNvPr id="12298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Compiler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>
                <a:latin typeface="Arial" charset="0"/>
              </a:rPr>
              <a:t>gcc </a:t>
            </a:r>
          </a:p>
          <a:p>
            <a:pPr lvl="1" eaLnBrk="1" hangingPunct="1"/>
            <a:r>
              <a:rPr lang="en-US" sz="2000">
                <a:latin typeface="Arial" charset="0"/>
              </a:rPr>
              <a:t>Preprocessor</a:t>
            </a:r>
          </a:p>
          <a:p>
            <a:pPr lvl="1" eaLnBrk="1" hangingPunct="1"/>
            <a:r>
              <a:rPr lang="en-US" sz="2000">
                <a:latin typeface="Arial" charset="0"/>
              </a:rPr>
              <a:t>Compiler</a:t>
            </a:r>
          </a:p>
          <a:p>
            <a:pPr lvl="1" eaLnBrk="1" hangingPunct="1"/>
            <a:r>
              <a:rPr lang="en-US" sz="2000">
                <a:latin typeface="Arial" charset="0"/>
              </a:rPr>
              <a:t>Linker</a:t>
            </a:r>
          </a:p>
          <a:p>
            <a:pPr lvl="1" eaLnBrk="1" hangingPunct="1"/>
            <a:r>
              <a:rPr lang="en-US" sz="2000">
                <a:latin typeface="Arial" charset="0"/>
              </a:rPr>
              <a:t>See manual </a:t>
            </a:r>
            <a:r>
              <a:rPr lang="ja-JP" altLang="en-US" sz="2000">
                <a:latin typeface="Arial" charset="0"/>
              </a:rPr>
              <a:t>“</a:t>
            </a:r>
            <a:r>
              <a:rPr lang="en-US" sz="2000">
                <a:latin typeface="Arial" charset="0"/>
              </a:rPr>
              <a:t>man</a:t>
            </a:r>
            <a:r>
              <a:rPr lang="ja-JP" altLang="en-US" sz="2000">
                <a:latin typeface="Arial" charset="0"/>
              </a:rPr>
              <a:t>”</a:t>
            </a:r>
            <a:r>
              <a:rPr lang="en-US" sz="2000">
                <a:latin typeface="Arial" charset="0"/>
              </a:rPr>
              <a:t> for options: man gcc  </a:t>
            </a:r>
          </a:p>
          <a:p>
            <a:pPr lvl="1" eaLnBrk="1" hangingPunct="1"/>
            <a:endParaRPr lang="en-US" sz="2000">
              <a:latin typeface="Arial" charset="0"/>
            </a:endParaRPr>
          </a:p>
          <a:p>
            <a:pPr eaLnBrk="1" hangingPunct="1"/>
            <a:r>
              <a:rPr lang="en-US" sz="2400">
                <a:latin typeface="Arial" charset="0"/>
              </a:rPr>
              <a:t>"Ansi-C" standards C89 versus C99</a:t>
            </a:r>
          </a:p>
          <a:p>
            <a:pPr lvl="1" eaLnBrk="1" hangingPunct="1"/>
            <a:r>
              <a:rPr lang="en-US" sz="2000">
                <a:latin typeface="Arial" charset="0"/>
              </a:rPr>
              <a:t>C99: Mix variable declarations and code (for int i=…)</a:t>
            </a:r>
          </a:p>
          <a:p>
            <a:pPr lvl="1" eaLnBrk="1" hangingPunct="1"/>
            <a:r>
              <a:rPr lang="en-US" sz="2000">
                <a:latin typeface="Arial" charset="0"/>
              </a:rPr>
              <a:t>C++ inline comments //a comment</a:t>
            </a:r>
          </a:p>
          <a:p>
            <a:pPr lvl="1" eaLnBrk="1" hangingPunct="1"/>
            <a:endParaRPr lang="en-US" sz="2000">
              <a:latin typeface="Arial" charset="0"/>
            </a:endParaRPr>
          </a:p>
          <a:p>
            <a:pPr eaLnBrk="1" hangingPunct="1"/>
            <a:r>
              <a:rPr lang="en-US" sz="2400">
                <a:latin typeface="Arial" charset="0"/>
              </a:rPr>
              <a:t>make – a utility to build executables</a:t>
            </a:r>
          </a:p>
          <a:p>
            <a:pPr lvl="1" eaLnBrk="1" hangingPunct="1"/>
            <a:endParaRPr lang="en-US" sz="2000">
              <a:latin typeface="Arial" charset="0"/>
            </a:endParaRP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FEFFFC3-EAC2-C342-AA0C-C4F09BFABE1D}" type="slidenum">
              <a:rPr lang="en-US"/>
              <a:pPr/>
              <a:t>12</a:t>
            </a:fld>
            <a:endParaRPr lang="en-US"/>
          </a:p>
        </p:txBody>
      </p:sp>
      <p:sp>
        <p:nvSpPr>
          <p:cNvPr id="13317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Programming in C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C = Variables + Instructions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20A3C38-1FBF-6844-977F-9AFE05F890B3}" type="slidenum">
              <a:rPr lang="en-US"/>
              <a:pPr/>
              <a:t>13</a:t>
            </a:fld>
            <a:endParaRPr lang="en-US"/>
          </a:p>
        </p:txBody>
      </p:sp>
      <p:sp>
        <p:nvSpPr>
          <p:cNvPr id="14341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Programming in C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C = Variables + Instructions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09000" y="6400800"/>
            <a:ext cx="733425" cy="2746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A3D0974-5AD2-6946-8A09-846E439A32F2}" type="slidenum">
              <a:rPr lang="en-US"/>
              <a:pPr/>
              <a:t>14</a:t>
            </a:fld>
            <a:endParaRPr lang="en-US"/>
          </a:p>
        </p:txBody>
      </p:sp>
      <p:sp>
        <p:nvSpPr>
          <p:cNvPr id="212996" name="Line 4"/>
          <p:cNvSpPr>
            <a:spLocks noChangeShapeType="1"/>
          </p:cNvSpPr>
          <p:nvPr/>
        </p:nvSpPr>
        <p:spPr bwMode="auto">
          <a:xfrm>
            <a:off x="2735263" y="25146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12997" name="Line 5"/>
          <p:cNvSpPr>
            <a:spLocks noChangeShapeType="1"/>
          </p:cNvSpPr>
          <p:nvPr/>
        </p:nvSpPr>
        <p:spPr bwMode="auto">
          <a:xfrm>
            <a:off x="2735263" y="4800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12998" name="Line 6"/>
          <p:cNvSpPr>
            <a:spLocks noChangeShapeType="1"/>
          </p:cNvSpPr>
          <p:nvPr/>
        </p:nvSpPr>
        <p:spPr bwMode="auto">
          <a:xfrm>
            <a:off x="2735263" y="4191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12999" name="Line 7"/>
          <p:cNvSpPr>
            <a:spLocks noChangeShapeType="1"/>
          </p:cNvSpPr>
          <p:nvPr/>
        </p:nvSpPr>
        <p:spPr bwMode="auto">
          <a:xfrm>
            <a:off x="2735263" y="3581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13000" name="Line 8"/>
          <p:cNvSpPr>
            <a:spLocks noChangeShapeType="1"/>
          </p:cNvSpPr>
          <p:nvPr/>
        </p:nvSpPr>
        <p:spPr bwMode="auto">
          <a:xfrm>
            <a:off x="2735263" y="2971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13005" name="Text Box 13"/>
          <p:cNvSpPr txBox="1">
            <a:spLocks noChangeArrowheads="1"/>
          </p:cNvSpPr>
          <p:nvPr/>
        </p:nvSpPr>
        <p:spPr bwMode="auto">
          <a:xfrm>
            <a:off x="2506663" y="5819775"/>
            <a:ext cx="5159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>
                <a:latin typeface="Arial" charset="0"/>
              </a:rPr>
              <a:t>…</a:t>
            </a:r>
          </a:p>
        </p:txBody>
      </p:sp>
      <p:sp>
        <p:nvSpPr>
          <p:cNvPr id="213006" name="Line 14"/>
          <p:cNvSpPr>
            <a:spLocks noChangeShapeType="1"/>
          </p:cNvSpPr>
          <p:nvPr/>
        </p:nvSpPr>
        <p:spPr bwMode="auto">
          <a:xfrm>
            <a:off x="2735263" y="5410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13007" name="Line 15"/>
          <p:cNvSpPr>
            <a:spLocks noChangeShapeType="1"/>
          </p:cNvSpPr>
          <p:nvPr/>
        </p:nvSpPr>
        <p:spPr bwMode="auto">
          <a:xfrm>
            <a:off x="2735263" y="6019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13010" name="Line 18"/>
          <p:cNvSpPr>
            <a:spLocks noChangeShapeType="1"/>
          </p:cNvSpPr>
          <p:nvPr/>
        </p:nvSpPr>
        <p:spPr bwMode="auto">
          <a:xfrm>
            <a:off x="5562600" y="25146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13011" name="Line 19"/>
          <p:cNvSpPr>
            <a:spLocks noChangeShapeType="1"/>
          </p:cNvSpPr>
          <p:nvPr/>
        </p:nvSpPr>
        <p:spPr bwMode="auto">
          <a:xfrm>
            <a:off x="5562600" y="4800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13012" name="Line 20"/>
          <p:cNvSpPr>
            <a:spLocks noChangeShapeType="1"/>
          </p:cNvSpPr>
          <p:nvPr/>
        </p:nvSpPr>
        <p:spPr bwMode="auto">
          <a:xfrm>
            <a:off x="5562600" y="4191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13013" name="Line 21"/>
          <p:cNvSpPr>
            <a:spLocks noChangeShapeType="1"/>
          </p:cNvSpPr>
          <p:nvPr/>
        </p:nvSpPr>
        <p:spPr bwMode="auto">
          <a:xfrm>
            <a:off x="5562600" y="3581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13014" name="Line 22"/>
          <p:cNvSpPr>
            <a:spLocks noChangeShapeType="1"/>
          </p:cNvSpPr>
          <p:nvPr/>
        </p:nvSpPr>
        <p:spPr bwMode="auto">
          <a:xfrm>
            <a:off x="5562600" y="2971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402" name="Text Box 23"/>
          <p:cNvSpPr txBox="1">
            <a:spLocks noChangeArrowheads="1"/>
          </p:cNvSpPr>
          <p:nvPr/>
        </p:nvSpPr>
        <p:spPr bwMode="auto">
          <a:xfrm>
            <a:off x="5867400" y="3276600"/>
            <a:ext cx="3146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0000FF"/>
                </a:solidFill>
                <a:latin typeface="Courier New" charset="0"/>
                <a:cs typeface="Courier New" charset="0"/>
              </a:rPr>
              <a:t>printf/scanf</a:t>
            </a:r>
          </a:p>
        </p:txBody>
      </p:sp>
      <p:sp>
        <p:nvSpPr>
          <p:cNvPr id="16403" name="Text Box 24"/>
          <p:cNvSpPr txBox="1">
            <a:spLocks noChangeArrowheads="1"/>
          </p:cNvSpPr>
          <p:nvPr/>
        </p:nvSpPr>
        <p:spPr bwMode="auto">
          <a:xfrm>
            <a:off x="5867400" y="2667000"/>
            <a:ext cx="26527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0000FF"/>
                </a:solidFill>
                <a:latin typeface="Courier New" charset="0"/>
                <a:cs typeface="Courier New" charset="0"/>
              </a:rPr>
              <a:t>assignment</a:t>
            </a:r>
          </a:p>
        </p:txBody>
      </p:sp>
      <p:sp>
        <p:nvSpPr>
          <p:cNvPr id="16404" name="Text Box 25"/>
          <p:cNvSpPr txBox="1">
            <a:spLocks noChangeArrowheads="1"/>
          </p:cNvSpPr>
          <p:nvPr/>
        </p:nvSpPr>
        <p:spPr bwMode="auto">
          <a:xfrm>
            <a:off x="5867400" y="3886200"/>
            <a:ext cx="6778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0000FF"/>
                </a:solidFill>
                <a:latin typeface="Courier New" charset="0"/>
                <a:cs typeface="Courier New" charset="0"/>
              </a:rPr>
              <a:t>if</a:t>
            </a:r>
          </a:p>
        </p:txBody>
      </p:sp>
      <p:sp>
        <p:nvSpPr>
          <p:cNvPr id="16405" name="Text Box 26"/>
          <p:cNvSpPr txBox="1">
            <a:spLocks noChangeArrowheads="1"/>
          </p:cNvSpPr>
          <p:nvPr/>
        </p:nvSpPr>
        <p:spPr bwMode="auto">
          <a:xfrm>
            <a:off x="5867400" y="5759450"/>
            <a:ext cx="16652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0000FF"/>
                </a:solidFill>
                <a:latin typeface="Courier New" charset="0"/>
                <a:cs typeface="Courier New" charset="0"/>
              </a:rPr>
              <a:t>switch</a:t>
            </a:r>
          </a:p>
        </p:txBody>
      </p:sp>
      <p:sp>
        <p:nvSpPr>
          <p:cNvPr id="213019" name="Text Box 27"/>
          <p:cNvSpPr txBox="1">
            <a:spLocks noChangeArrowheads="1"/>
          </p:cNvSpPr>
          <p:nvPr/>
        </p:nvSpPr>
        <p:spPr bwMode="auto">
          <a:xfrm>
            <a:off x="5334000" y="5819775"/>
            <a:ext cx="5159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>
                <a:latin typeface="Arial" charset="0"/>
              </a:rPr>
              <a:t>…</a:t>
            </a:r>
          </a:p>
        </p:txBody>
      </p:sp>
      <p:sp>
        <p:nvSpPr>
          <p:cNvPr id="213020" name="Line 28"/>
          <p:cNvSpPr>
            <a:spLocks noChangeShapeType="1"/>
          </p:cNvSpPr>
          <p:nvPr/>
        </p:nvSpPr>
        <p:spPr bwMode="auto">
          <a:xfrm>
            <a:off x="5562600" y="5410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13021" name="Line 29"/>
          <p:cNvSpPr>
            <a:spLocks noChangeShapeType="1"/>
          </p:cNvSpPr>
          <p:nvPr/>
        </p:nvSpPr>
        <p:spPr bwMode="auto">
          <a:xfrm>
            <a:off x="5562600" y="6019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409" name="Text Box 30"/>
          <p:cNvSpPr txBox="1">
            <a:spLocks noChangeArrowheads="1"/>
          </p:cNvSpPr>
          <p:nvPr/>
        </p:nvSpPr>
        <p:spPr bwMode="auto">
          <a:xfrm>
            <a:off x="5867400" y="4495800"/>
            <a:ext cx="9255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0000FF"/>
                </a:solidFill>
                <a:latin typeface="Courier New" charset="0"/>
                <a:cs typeface="Courier New" charset="0"/>
              </a:rPr>
              <a:t>for</a:t>
            </a:r>
          </a:p>
        </p:txBody>
      </p:sp>
      <p:sp>
        <p:nvSpPr>
          <p:cNvPr id="16410" name="Text Box 31"/>
          <p:cNvSpPr txBox="1">
            <a:spLocks noChangeArrowheads="1"/>
          </p:cNvSpPr>
          <p:nvPr/>
        </p:nvSpPr>
        <p:spPr bwMode="auto">
          <a:xfrm>
            <a:off x="5867400" y="5105400"/>
            <a:ext cx="14192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0000FF"/>
                </a:solidFill>
                <a:latin typeface="Courier New" charset="0"/>
                <a:cs typeface="Courier New" charset="0"/>
              </a:rPr>
              <a:t>while</a:t>
            </a:r>
          </a:p>
        </p:txBody>
      </p:sp>
      <p:sp>
        <p:nvSpPr>
          <p:cNvPr id="16411" name="Text Box 9"/>
          <p:cNvSpPr txBox="1">
            <a:spLocks noChangeArrowheads="1"/>
          </p:cNvSpPr>
          <p:nvPr/>
        </p:nvSpPr>
        <p:spPr bwMode="auto">
          <a:xfrm>
            <a:off x="3040063" y="3276600"/>
            <a:ext cx="9255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0000FF"/>
                </a:solidFill>
                <a:latin typeface="Courier New" charset="0"/>
                <a:cs typeface="Courier New" charset="0"/>
              </a:rPr>
              <a:t>int</a:t>
            </a:r>
          </a:p>
        </p:txBody>
      </p:sp>
      <p:sp>
        <p:nvSpPr>
          <p:cNvPr id="16412" name="Text Box 10"/>
          <p:cNvSpPr txBox="1">
            <a:spLocks noChangeArrowheads="1"/>
          </p:cNvSpPr>
          <p:nvPr/>
        </p:nvSpPr>
        <p:spPr bwMode="auto">
          <a:xfrm>
            <a:off x="3040063" y="2667000"/>
            <a:ext cx="11715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0000FF"/>
                </a:solidFill>
                <a:latin typeface="Courier New" charset="0"/>
                <a:cs typeface="Courier New" charset="0"/>
              </a:rPr>
              <a:t>char</a:t>
            </a:r>
          </a:p>
        </p:txBody>
      </p:sp>
      <p:sp>
        <p:nvSpPr>
          <p:cNvPr id="16413" name="Text Box 11"/>
          <p:cNvSpPr txBox="1">
            <a:spLocks noChangeArrowheads="1"/>
          </p:cNvSpPr>
          <p:nvPr/>
        </p:nvSpPr>
        <p:spPr bwMode="auto">
          <a:xfrm>
            <a:off x="3040063" y="3886200"/>
            <a:ext cx="14192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0000FF"/>
                </a:solidFill>
                <a:latin typeface="Courier New" charset="0"/>
                <a:cs typeface="Courier New" charset="0"/>
              </a:rPr>
              <a:t>float</a:t>
            </a:r>
          </a:p>
        </p:txBody>
      </p:sp>
      <p:sp>
        <p:nvSpPr>
          <p:cNvPr id="16414" name="Text Box 12"/>
          <p:cNvSpPr txBox="1">
            <a:spLocks noChangeArrowheads="1"/>
          </p:cNvSpPr>
          <p:nvPr/>
        </p:nvSpPr>
        <p:spPr bwMode="auto">
          <a:xfrm>
            <a:off x="3040063" y="5759450"/>
            <a:ext cx="1665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0000FF"/>
                </a:solidFill>
                <a:latin typeface="Courier New" charset="0"/>
                <a:cs typeface="Courier New" charset="0"/>
              </a:rPr>
              <a:t>string</a:t>
            </a:r>
          </a:p>
        </p:txBody>
      </p:sp>
      <p:sp>
        <p:nvSpPr>
          <p:cNvPr id="16415" name="Text Box 16"/>
          <p:cNvSpPr txBox="1">
            <a:spLocks noChangeArrowheads="1"/>
          </p:cNvSpPr>
          <p:nvPr/>
        </p:nvSpPr>
        <p:spPr bwMode="auto">
          <a:xfrm>
            <a:off x="3040063" y="4495800"/>
            <a:ext cx="19129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0000FF"/>
                </a:solidFill>
                <a:latin typeface="Courier New" charset="0"/>
                <a:cs typeface="Courier New" charset="0"/>
              </a:rPr>
              <a:t>pointer</a:t>
            </a:r>
          </a:p>
        </p:txBody>
      </p:sp>
      <p:sp>
        <p:nvSpPr>
          <p:cNvPr id="16416" name="Text Box 17"/>
          <p:cNvSpPr txBox="1">
            <a:spLocks noChangeArrowheads="1"/>
          </p:cNvSpPr>
          <p:nvPr/>
        </p:nvSpPr>
        <p:spPr bwMode="auto">
          <a:xfrm>
            <a:off x="3040063" y="5105400"/>
            <a:ext cx="14192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b="1">
                <a:solidFill>
                  <a:srgbClr val="0000FF"/>
                </a:solidFill>
                <a:latin typeface="Courier New" charset="0"/>
                <a:cs typeface="Courier New" charset="0"/>
              </a:rPr>
              <a:t>array</a:t>
            </a:r>
          </a:p>
        </p:txBody>
      </p:sp>
      <p:sp>
        <p:nvSpPr>
          <p:cNvPr id="16417" name="Footer Placeholder 3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6418" name="Slide Number Placeholder 12"/>
          <p:cNvSpPr txBox="1">
            <a:spLocks/>
          </p:cNvSpPr>
          <p:nvPr/>
        </p:nvSpPr>
        <p:spPr bwMode="auto">
          <a:xfrm>
            <a:off x="6781800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 eaLnBrk="1" hangingPunct="1"/>
            <a:fld id="{1B11F722-0EDE-ED46-B74F-66234F3E5110}" type="slidenum">
              <a:rPr lang="en-US" sz="1000"/>
              <a:pPr algn="r" eaLnBrk="1" hangingPunct="1"/>
              <a:t>14</a:t>
            </a:fld>
            <a:endParaRPr lang="en-US" sz="10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What </a:t>
            </a:r>
            <a:r>
              <a:rPr lang="en-US" dirty="0" smtClean="0">
                <a:latin typeface="Arial" charset="0"/>
              </a:rPr>
              <a:t>we’ll </a:t>
            </a:r>
            <a:r>
              <a:rPr lang="en-US" dirty="0">
                <a:latin typeface="Arial" charset="0"/>
              </a:rPr>
              <a:t>show you</a:t>
            </a: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 smtClean="0">
                <a:ea typeface="+mn-ea"/>
              </a:rPr>
              <a:t>You already know a lot of C from C++: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 err="1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dirty="0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my_fav_function</a:t>
            </a:r>
            <a:r>
              <a:rPr lang="en-US" dirty="0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(</a:t>
            </a:r>
            <a:r>
              <a:rPr lang="en-US" dirty="0" err="1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dirty="0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 x) {</a:t>
            </a:r>
            <a:endParaRPr lang="en-US" dirty="0" smtClean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    return x+1; }</a:t>
            </a:r>
            <a:endParaRPr lang="en-US" dirty="0" smtClean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US" dirty="0" smtClean="0">
                <a:ea typeface="+mn-ea"/>
              </a:rPr>
              <a:t>Key concepts for this lecture:</a:t>
            </a:r>
          </a:p>
          <a:p>
            <a:pPr lvl="1">
              <a:buFont typeface="Wingdings" pitchFamily="2" charset="2"/>
              <a:buChar char="¡"/>
              <a:defRPr/>
            </a:pPr>
            <a:r>
              <a:rPr lang="en-US" dirty="0" smtClean="0"/>
              <a:t>Pointers</a:t>
            </a:r>
          </a:p>
          <a:p>
            <a:pPr lvl="1">
              <a:buFont typeface="Wingdings" pitchFamily="2" charset="2"/>
              <a:buChar char="¡"/>
              <a:defRPr/>
            </a:pPr>
            <a:r>
              <a:rPr lang="en-US" dirty="0" smtClean="0"/>
              <a:t>Memory allocation</a:t>
            </a:r>
          </a:p>
          <a:p>
            <a:pPr lvl="1">
              <a:buFont typeface="Wingdings" pitchFamily="2" charset="2"/>
              <a:buChar char="¡"/>
              <a:defRPr/>
            </a:pPr>
            <a:r>
              <a:rPr lang="en-US" dirty="0" smtClean="0"/>
              <a:t>Arrays</a:t>
            </a:r>
          </a:p>
          <a:p>
            <a:pPr lvl="1">
              <a:buFont typeface="Wingdings" pitchFamily="2" charset="2"/>
              <a:buChar char="¡"/>
              <a:defRPr/>
            </a:pPr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1741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41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41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41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7416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168900" y="4279900"/>
            <a:ext cx="2971800" cy="1866900"/>
            <a:chOff x="0" y="0"/>
            <a:chExt cx="1872" cy="1176"/>
          </a:xfrm>
        </p:grpSpPr>
        <p:sp>
          <p:nvSpPr>
            <p:cNvPr id="17420" name="Rectangle 10"/>
            <p:cNvSpPr>
              <a:spLocks/>
            </p:cNvSpPr>
            <p:nvPr/>
          </p:nvSpPr>
          <p:spPr bwMode="auto">
            <a:xfrm>
              <a:off x="0" y="0"/>
              <a:ext cx="1872" cy="117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421" name="Rectangle 11"/>
            <p:cNvSpPr>
              <a:spLocks/>
            </p:cNvSpPr>
            <p:nvPr/>
          </p:nvSpPr>
          <p:spPr bwMode="auto">
            <a:xfrm>
              <a:off x="88" y="56"/>
              <a:ext cx="1696" cy="1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algn="ctr">
                <a:spcBef>
                  <a:spcPts val="738"/>
                </a:spcBef>
              </a:pPr>
              <a:r>
                <a:rPr lang="en-US" sz="3200">
                  <a:latin typeface="Arial" charset="0"/>
                  <a:cs typeface="Arial" charset="0"/>
                  <a:sym typeface="Arial" charset="0"/>
                </a:rPr>
                <a:t>Theme:</a:t>
              </a:r>
            </a:p>
            <a:p>
              <a:pPr algn="ctr">
                <a:spcBef>
                  <a:spcPts val="738"/>
                </a:spcBef>
              </a:pPr>
              <a:r>
                <a:rPr lang="en-US" sz="3200">
                  <a:latin typeface="Arial" charset="0"/>
                  <a:cs typeface="Arial" charset="0"/>
                  <a:sym typeface="Arial" charset="0"/>
                </a:rPr>
                <a:t>how memory</a:t>
              </a:r>
            </a:p>
            <a:p>
              <a:pPr algn="ctr">
                <a:spcBef>
                  <a:spcPts val="738"/>
                </a:spcBef>
              </a:pPr>
              <a:r>
                <a:rPr lang="en-US" sz="3200" b="1">
                  <a:latin typeface="Arial Bold" charset="0"/>
                  <a:cs typeface="Arial Bold" charset="0"/>
                  <a:sym typeface="Arial Bold" charset="0"/>
                </a:rPr>
                <a:t>really</a:t>
              </a:r>
              <a:r>
                <a:rPr lang="en-US" sz="3200">
                  <a:latin typeface="Arial" charset="0"/>
                  <a:cs typeface="Arial" charset="0"/>
                  <a:sym typeface="Arial" charset="0"/>
                </a:rPr>
                <a:t> works</a:t>
              </a:r>
            </a:p>
          </p:txBody>
        </p:sp>
      </p:grpSp>
      <p:sp>
        <p:nvSpPr>
          <p:cNvPr id="17418" name="Slide Number Placeholder 1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B67E034-8E0A-D342-B25F-FC11F5C6AA60}" type="slidenum">
              <a:rPr lang="en-US"/>
              <a:pPr/>
              <a:t>15</a:t>
            </a:fld>
            <a:endParaRPr lang="en-US"/>
          </a:p>
        </p:txBody>
      </p:sp>
      <p:sp>
        <p:nvSpPr>
          <p:cNvPr id="17419" name="Footer Placeholder 1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43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43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43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8438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Instant C in 3 slides: Pointers</a:t>
            </a:r>
          </a:p>
        </p:txBody>
      </p:sp>
      <p:sp>
        <p:nvSpPr>
          <p:cNvPr id="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49325" y="1828800"/>
            <a:ext cx="7661275" cy="4800600"/>
          </a:xfrm>
        </p:spPr>
        <p:txBody>
          <a:bodyPr rIns="13208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Data type that </a:t>
            </a:r>
            <a:r>
              <a:rPr lang="ja-JP" altLang="en-US" sz="2200">
                <a:latin typeface="Arial" charset="0"/>
              </a:rPr>
              <a:t>“</a:t>
            </a:r>
            <a:r>
              <a:rPr lang="en-US" sz="2200">
                <a:latin typeface="Arial" charset="0"/>
              </a:rPr>
              <a:t>points to</a:t>
            </a:r>
            <a:r>
              <a:rPr lang="ja-JP" altLang="en-US" sz="2200">
                <a:latin typeface="Arial" charset="0"/>
              </a:rPr>
              <a:t>”</a:t>
            </a:r>
            <a:r>
              <a:rPr lang="en-US" sz="2200">
                <a:latin typeface="Arial" charset="0"/>
              </a:rPr>
              <a:t> a value in memory, using its address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Reference operator: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&amp;</a:t>
            </a:r>
            <a:r>
              <a:rPr lang="en-US" sz="2200">
                <a:latin typeface="Arial" charset="0"/>
              </a:rPr>
              <a:t>  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address-of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Dereference operator: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</a:t>
            </a:r>
            <a:r>
              <a:rPr lang="en-US" sz="2200">
                <a:latin typeface="Arial" charset="0"/>
              </a:rPr>
              <a:t>	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contents-of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Automatic variables 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Temporary and stored in the stack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Character pointers: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char* p;</a:t>
            </a:r>
            <a:endParaRPr lang="en-US" sz="22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lnSpc>
                <a:spcPct val="90000"/>
              </a:lnSpc>
            </a:pPr>
            <a:r>
              <a:rPr lang="en-US" sz="19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 =0;       </a:t>
            </a:r>
            <a:endParaRPr lang="en-US" sz="19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contents-of </a:t>
            </a:r>
            <a:r>
              <a:rPr lang="en-US" sz="19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  <a:r>
              <a:rPr lang="en-US" sz="1900">
                <a:latin typeface="Arial" charset="0"/>
              </a:rPr>
              <a:t> set to 0. (Kaboom!)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Initialization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Initialize a pointer to something before using it. (Doh!)</a:t>
            </a:r>
          </a:p>
        </p:txBody>
      </p:sp>
      <p:sp>
        <p:nvSpPr>
          <p:cNvPr id="18441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1FEAD52-3792-4D4B-A902-C585C3AFA9B0}" type="slidenum">
              <a:rPr lang="en-US"/>
              <a:pPr/>
              <a:t>16</a:t>
            </a:fld>
            <a:endParaRPr lang="en-US"/>
          </a:p>
        </p:txBody>
      </p:sp>
      <p:sp>
        <p:nvSpPr>
          <p:cNvPr id="18442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45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46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46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9462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Instant C in 3 slides: Pointers</a:t>
            </a:r>
          </a:p>
        </p:txBody>
      </p:sp>
      <p:sp>
        <p:nvSpPr>
          <p:cNvPr id="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49325" y="1828800"/>
            <a:ext cx="7661275" cy="4800600"/>
          </a:xfrm>
        </p:spPr>
        <p:txBody>
          <a:bodyPr rIns="13208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Data type that </a:t>
            </a:r>
            <a:r>
              <a:rPr lang="ja-JP" altLang="en-US" sz="2200">
                <a:latin typeface="Arial" charset="0"/>
              </a:rPr>
              <a:t>“</a:t>
            </a:r>
            <a:r>
              <a:rPr lang="en-US" sz="2200">
                <a:latin typeface="Arial" charset="0"/>
              </a:rPr>
              <a:t>points to</a:t>
            </a:r>
            <a:r>
              <a:rPr lang="ja-JP" altLang="en-US" sz="2200">
                <a:latin typeface="Arial" charset="0"/>
              </a:rPr>
              <a:t>”</a:t>
            </a:r>
            <a:r>
              <a:rPr lang="en-US" sz="2200">
                <a:latin typeface="Arial" charset="0"/>
              </a:rPr>
              <a:t> a value in memory, using its address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Reference operator: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&amp;</a:t>
            </a:r>
            <a:r>
              <a:rPr lang="en-US" sz="2200">
                <a:latin typeface="Arial" charset="0"/>
              </a:rPr>
              <a:t>  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address-of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Dereference operator: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</a:t>
            </a:r>
            <a:r>
              <a:rPr lang="en-US" sz="2200">
                <a:latin typeface="Arial" charset="0"/>
              </a:rPr>
              <a:t>	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contents-of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Automatic variables 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Temporary and stored in the stack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Character pointers: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char* p;</a:t>
            </a:r>
            <a:endParaRPr lang="en-US" sz="22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lnSpc>
                <a:spcPct val="90000"/>
              </a:lnSpc>
            </a:pPr>
            <a:r>
              <a:rPr lang="en-US" sz="19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 =0;       </a:t>
            </a:r>
            <a:endParaRPr lang="en-US" sz="19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contents-of </a:t>
            </a:r>
            <a:r>
              <a:rPr lang="en-US" sz="19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  <a:r>
              <a:rPr lang="en-US" sz="1900">
                <a:latin typeface="Arial" charset="0"/>
              </a:rPr>
              <a:t> set to 0. (Kaboom!)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Initialization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Initialize a pointer to something before using it. (Doh!)</a:t>
            </a:r>
          </a:p>
        </p:txBody>
      </p:sp>
      <p:sp>
        <p:nvSpPr>
          <p:cNvPr id="19465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811DCD2-9123-FA48-906A-CD06245ABD15}" type="slidenum">
              <a:rPr lang="en-US"/>
              <a:pPr/>
              <a:t>17</a:t>
            </a:fld>
            <a:endParaRPr lang="en-US"/>
          </a:p>
        </p:txBody>
      </p:sp>
      <p:sp>
        <p:nvSpPr>
          <p:cNvPr id="19466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5791200" y="2819400"/>
            <a:ext cx="3124200" cy="1828800"/>
          </a:xfrm>
          <a:prstGeom prst="wedgeRoundRectCallout">
            <a:avLst>
              <a:gd name="adj1" fmla="val -96910"/>
              <a:gd name="adj2" fmla="val -56836"/>
              <a:gd name="adj3" fmla="val 16667"/>
            </a:avLst>
          </a:prstGeom>
          <a:solidFill>
            <a:srgbClr val="C1F3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2400" b="1" dirty="0" err="1"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 x=4;</a:t>
            </a:r>
          </a:p>
          <a:p>
            <a:pPr>
              <a:defRPr/>
            </a:pPr>
            <a:r>
              <a:rPr lang="en-US" sz="2400" b="1" dirty="0" err="1"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 *y = &amp;x;</a:t>
            </a:r>
          </a:p>
          <a:p>
            <a:pPr>
              <a:defRPr/>
            </a:pPr>
            <a:endParaRPr lang="en-US" sz="2400" b="1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>
              <a:defRPr/>
            </a:pPr>
            <a:r>
              <a:rPr lang="en-US" sz="2000" dirty="0">
                <a:latin typeface="+mj-lt"/>
                <a:ea typeface="+mn-ea"/>
                <a:cs typeface="Courier New" pitchFamily="49" charset="0"/>
              </a:rPr>
              <a:t>Question: What is the value of y?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48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48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48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0486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Instant C in 3 slides: Pointers</a:t>
            </a:r>
          </a:p>
        </p:txBody>
      </p:sp>
      <p:sp>
        <p:nvSpPr>
          <p:cNvPr id="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49325" y="1828800"/>
            <a:ext cx="7661275" cy="4800600"/>
          </a:xfrm>
        </p:spPr>
        <p:txBody>
          <a:bodyPr rIns="13208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Data type that </a:t>
            </a:r>
            <a:r>
              <a:rPr lang="ja-JP" altLang="en-US" sz="2200">
                <a:latin typeface="Arial" charset="0"/>
              </a:rPr>
              <a:t>“</a:t>
            </a:r>
            <a:r>
              <a:rPr lang="en-US" sz="2200">
                <a:latin typeface="Arial" charset="0"/>
              </a:rPr>
              <a:t>points to</a:t>
            </a:r>
            <a:r>
              <a:rPr lang="ja-JP" altLang="en-US" sz="2200">
                <a:latin typeface="Arial" charset="0"/>
              </a:rPr>
              <a:t>”</a:t>
            </a:r>
            <a:r>
              <a:rPr lang="en-US" sz="2200">
                <a:latin typeface="Arial" charset="0"/>
              </a:rPr>
              <a:t> a value in memory, using its address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Reference operator: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&amp;</a:t>
            </a:r>
            <a:r>
              <a:rPr lang="en-US" sz="2200">
                <a:latin typeface="Arial" charset="0"/>
              </a:rPr>
              <a:t>  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address-of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Dereference operator: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</a:t>
            </a:r>
            <a:r>
              <a:rPr lang="en-US" sz="2200">
                <a:latin typeface="Arial" charset="0"/>
              </a:rPr>
              <a:t>	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contents-of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Automatic variables 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Temporary and stored in the stack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Character pointers: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char* p;</a:t>
            </a:r>
            <a:endParaRPr lang="en-US" sz="22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lnSpc>
                <a:spcPct val="90000"/>
              </a:lnSpc>
            </a:pPr>
            <a:r>
              <a:rPr lang="en-US" sz="19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 =0;       </a:t>
            </a:r>
            <a:endParaRPr lang="en-US" sz="19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contents-of </a:t>
            </a:r>
            <a:r>
              <a:rPr lang="en-US" sz="19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  <a:r>
              <a:rPr lang="en-US" sz="1900">
                <a:latin typeface="Arial" charset="0"/>
              </a:rPr>
              <a:t> set to 0. (Kaboom!)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Initialization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Initialize a pointer to something before using it. (Doh!)</a:t>
            </a:r>
          </a:p>
        </p:txBody>
      </p:sp>
      <p:sp>
        <p:nvSpPr>
          <p:cNvPr id="20489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9F9C1DF-EC93-2D41-B1B7-8A5F37B676B5}" type="slidenum">
              <a:rPr lang="en-US"/>
              <a:pPr/>
              <a:t>18</a:t>
            </a:fld>
            <a:endParaRPr lang="en-US"/>
          </a:p>
        </p:txBody>
      </p:sp>
      <p:sp>
        <p:nvSpPr>
          <p:cNvPr id="20490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5791200" y="2667000"/>
            <a:ext cx="3124200" cy="2667000"/>
          </a:xfrm>
          <a:prstGeom prst="wedgeRoundRectCallout">
            <a:avLst>
              <a:gd name="adj1" fmla="val -91231"/>
              <a:gd name="adj2" fmla="val -28139"/>
              <a:gd name="adj3" fmla="val 16667"/>
            </a:avLst>
          </a:prstGeom>
          <a:solidFill>
            <a:srgbClr val="C1F3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2400" b="1" dirty="0" err="1"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 x=4;</a:t>
            </a:r>
          </a:p>
          <a:p>
            <a:pPr>
              <a:defRPr/>
            </a:pPr>
            <a:r>
              <a:rPr lang="en-US" sz="2400" b="1" dirty="0" err="1"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 *y = &amp;x;</a:t>
            </a:r>
          </a:p>
          <a:p>
            <a:pPr>
              <a:defRPr/>
            </a:pPr>
            <a:r>
              <a:rPr lang="en-US" sz="2400" b="1" dirty="0" err="1"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 a = *y;</a:t>
            </a:r>
          </a:p>
          <a:p>
            <a:pPr>
              <a:defRPr/>
            </a:pPr>
            <a:r>
              <a:rPr lang="en-US" sz="2400" b="1" dirty="0" err="1"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 b = y;</a:t>
            </a:r>
          </a:p>
          <a:p>
            <a:pPr>
              <a:defRPr/>
            </a:pPr>
            <a:endParaRPr lang="en-US" sz="2400" b="1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>
              <a:defRPr/>
            </a:pPr>
            <a:r>
              <a:rPr lang="en-US" sz="2000" dirty="0">
                <a:latin typeface="+mj-lt"/>
                <a:ea typeface="+mn-ea"/>
                <a:cs typeface="Courier New" pitchFamily="49" charset="0"/>
              </a:rPr>
              <a:t>Question: What are the values of </a:t>
            </a:r>
            <a:r>
              <a:rPr lang="en-US" sz="2000" b="1" dirty="0">
                <a:latin typeface="Courier New" pitchFamily="49" charset="0"/>
                <a:ea typeface="+mn-ea"/>
                <a:cs typeface="Courier New" pitchFamily="49" charset="0"/>
              </a:rPr>
              <a:t>a</a:t>
            </a:r>
            <a:r>
              <a:rPr lang="en-US" sz="2000" dirty="0">
                <a:latin typeface="+mj-lt"/>
                <a:ea typeface="+mn-ea"/>
                <a:cs typeface="Courier New" pitchFamily="49" charset="0"/>
              </a:rPr>
              <a:t> and </a:t>
            </a:r>
            <a:r>
              <a:rPr lang="en-US" sz="2000" b="1" dirty="0">
                <a:latin typeface="Courier New" pitchFamily="49" charset="0"/>
                <a:ea typeface="+mn-ea"/>
                <a:cs typeface="Courier New" pitchFamily="49" charset="0"/>
              </a:rPr>
              <a:t>b</a:t>
            </a:r>
            <a:r>
              <a:rPr lang="en-US" sz="2000" dirty="0">
                <a:latin typeface="+mj-lt"/>
                <a:ea typeface="+mn-ea"/>
                <a:cs typeface="Courier New" pitchFamily="49" charset="0"/>
              </a:rPr>
              <a:t>?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50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50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50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1510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Instant C in 3 slides: Pointers</a:t>
            </a:r>
          </a:p>
        </p:txBody>
      </p:sp>
      <p:sp>
        <p:nvSpPr>
          <p:cNvPr id="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49325" y="1828800"/>
            <a:ext cx="7661275" cy="4800600"/>
          </a:xfrm>
        </p:spPr>
        <p:txBody>
          <a:bodyPr rIns="13208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Data type that </a:t>
            </a:r>
            <a:r>
              <a:rPr lang="ja-JP" altLang="en-US" sz="2200">
                <a:latin typeface="Arial" charset="0"/>
              </a:rPr>
              <a:t>“</a:t>
            </a:r>
            <a:r>
              <a:rPr lang="en-US" sz="2200">
                <a:latin typeface="Arial" charset="0"/>
              </a:rPr>
              <a:t>points to</a:t>
            </a:r>
            <a:r>
              <a:rPr lang="ja-JP" altLang="en-US" sz="2200">
                <a:latin typeface="Arial" charset="0"/>
              </a:rPr>
              <a:t>”</a:t>
            </a:r>
            <a:r>
              <a:rPr lang="en-US" sz="2200">
                <a:latin typeface="Arial" charset="0"/>
              </a:rPr>
              <a:t> a value in memory, using its address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Reference operator: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&amp;</a:t>
            </a:r>
            <a:r>
              <a:rPr lang="en-US" sz="2200">
                <a:latin typeface="Arial" charset="0"/>
              </a:rPr>
              <a:t>  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address-of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Dereference operator: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</a:t>
            </a:r>
            <a:r>
              <a:rPr lang="en-US" sz="2200">
                <a:latin typeface="Arial" charset="0"/>
              </a:rPr>
              <a:t>	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contents-of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Automatic variables 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Temporary and stored in the stack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Character pointers: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char* p;</a:t>
            </a:r>
            <a:endParaRPr lang="en-US" sz="22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lnSpc>
                <a:spcPct val="90000"/>
              </a:lnSpc>
            </a:pPr>
            <a:r>
              <a:rPr lang="en-US" sz="19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 =0;       </a:t>
            </a:r>
            <a:endParaRPr lang="en-US" sz="19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contents-of </a:t>
            </a:r>
            <a:r>
              <a:rPr lang="en-US" sz="19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  <a:r>
              <a:rPr lang="en-US" sz="1900">
                <a:latin typeface="Arial" charset="0"/>
              </a:rPr>
              <a:t> set to 0. (Kaboom!)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Initialization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Initialize a pointer to something before using it. (Doh!)</a:t>
            </a:r>
          </a:p>
        </p:txBody>
      </p:sp>
      <p:sp>
        <p:nvSpPr>
          <p:cNvPr id="21513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209724A-61A9-4A48-B070-5A3D924F2FFE}" type="slidenum">
              <a:rPr lang="en-US"/>
              <a:pPr/>
              <a:t>19</a:t>
            </a:fld>
            <a:endParaRPr lang="en-US"/>
          </a:p>
        </p:txBody>
      </p:sp>
      <p:sp>
        <p:nvSpPr>
          <p:cNvPr id="21514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5791200" y="2286000"/>
            <a:ext cx="3124200" cy="4191000"/>
          </a:xfrm>
          <a:prstGeom prst="wedgeRoundRectCallout">
            <a:avLst>
              <a:gd name="adj1" fmla="val -68516"/>
              <a:gd name="adj2" fmla="val 4332"/>
              <a:gd name="adj3" fmla="val 16667"/>
            </a:avLst>
          </a:prstGeom>
          <a:solidFill>
            <a:srgbClr val="C1F3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void main() {</a:t>
            </a:r>
          </a:p>
          <a:p>
            <a:pPr>
              <a:defRPr/>
            </a:pP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ea typeface="+mn-ea"/>
                <a:cs typeface="Courier New" pitchFamily="49" charset="0"/>
              </a:rPr>
              <a:t>func</a:t>
            </a: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sz="2400" b="1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>
              <a:defRPr/>
            </a:pP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void* </a:t>
            </a:r>
            <a:r>
              <a:rPr lang="en-US" sz="2400" b="1" dirty="0" err="1">
                <a:latin typeface="Courier New" pitchFamily="49" charset="0"/>
                <a:ea typeface="+mn-ea"/>
                <a:cs typeface="Courier New" pitchFamily="49" charset="0"/>
              </a:rPr>
              <a:t>func</a:t>
            </a: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() {</a:t>
            </a:r>
          </a:p>
          <a:p>
            <a:pPr>
              <a:defRPr/>
            </a:pP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 x=3;</a:t>
            </a:r>
          </a:p>
          <a:p>
            <a:pPr>
              <a:defRPr/>
            </a:pP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sz="2400" b="1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>
              <a:defRPr/>
            </a:pPr>
            <a:r>
              <a:rPr lang="en-US" sz="2000" dirty="0">
                <a:latin typeface="+mj-lt"/>
                <a:ea typeface="+mn-ea"/>
                <a:cs typeface="Courier New" pitchFamily="49" charset="0"/>
              </a:rPr>
              <a:t>Question: What happens to x after </a:t>
            </a:r>
            <a:r>
              <a:rPr lang="en-US" sz="2000" dirty="0" err="1">
                <a:latin typeface="+mj-lt"/>
                <a:ea typeface="+mn-ea"/>
                <a:cs typeface="Courier New" pitchFamily="49" charset="0"/>
              </a:rPr>
              <a:t>func</a:t>
            </a:r>
            <a:r>
              <a:rPr lang="en-US" sz="2000" dirty="0">
                <a:latin typeface="+mj-lt"/>
                <a:ea typeface="+mn-ea"/>
                <a:cs typeface="Courier New" pitchFamily="49" charset="0"/>
              </a:rPr>
              <a:t>() returns?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3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3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53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2534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Instant C in 3 slides: Pointers</a:t>
            </a:r>
          </a:p>
        </p:txBody>
      </p:sp>
      <p:sp>
        <p:nvSpPr>
          <p:cNvPr id="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49325" y="1828800"/>
            <a:ext cx="7661275" cy="4800600"/>
          </a:xfrm>
        </p:spPr>
        <p:txBody>
          <a:bodyPr rIns="13208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Data type that </a:t>
            </a:r>
            <a:r>
              <a:rPr lang="ja-JP" altLang="en-US" sz="2200">
                <a:latin typeface="Arial" charset="0"/>
              </a:rPr>
              <a:t>“</a:t>
            </a:r>
            <a:r>
              <a:rPr lang="en-US" sz="2200">
                <a:latin typeface="Arial" charset="0"/>
              </a:rPr>
              <a:t>points to</a:t>
            </a:r>
            <a:r>
              <a:rPr lang="ja-JP" altLang="en-US" sz="2200">
                <a:latin typeface="Arial" charset="0"/>
              </a:rPr>
              <a:t>”</a:t>
            </a:r>
            <a:r>
              <a:rPr lang="en-US" sz="2200">
                <a:latin typeface="Arial" charset="0"/>
              </a:rPr>
              <a:t> a value in memory, using its address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Reference operator: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&amp;</a:t>
            </a:r>
            <a:r>
              <a:rPr lang="en-US" sz="2200">
                <a:latin typeface="Arial" charset="0"/>
              </a:rPr>
              <a:t>  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address-of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Dereference operator: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</a:t>
            </a:r>
            <a:r>
              <a:rPr lang="en-US" sz="2200">
                <a:latin typeface="Arial" charset="0"/>
              </a:rPr>
              <a:t>	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contents-of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Automatic variables 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Temporary and stored in the stack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Character pointers: </a:t>
            </a:r>
            <a:r>
              <a:rPr lang="en-US" sz="22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char* p;</a:t>
            </a:r>
            <a:endParaRPr lang="en-US" sz="22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lnSpc>
                <a:spcPct val="90000"/>
              </a:lnSpc>
            </a:pPr>
            <a:r>
              <a:rPr lang="en-US" sz="19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 =0;       </a:t>
            </a:r>
            <a:endParaRPr lang="en-US" sz="19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contents-of </a:t>
            </a:r>
            <a:r>
              <a:rPr lang="en-US" sz="19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  <a:r>
              <a:rPr lang="en-US" sz="1900">
                <a:latin typeface="Arial" charset="0"/>
              </a:rPr>
              <a:t> set to 0. (Kaboom!)</a:t>
            </a:r>
          </a:p>
          <a:p>
            <a:pPr>
              <a:lnSpc>
                <a:spcPct val="90000"/>
              </a:lnSpc>
            </a:pPr>
            <a:r>
              <a:rPr lang="en-US" sz="2200">
                <a:latin typeface="Arial" charset="0"/>
              </a:rPr>
              <a:t>Initialization</a:t>
            </a:r>
          </a:p>
          <a:p>
            <a:pPr marL="928688" lvl="1">
              <a:lnSpc>
                <a:spcPct val="90000"/>
              </a:lnSpc>
            </a:pPr>
            <a:r>
              <a:rPr lang="en-US" sz="1900">
                <a:latin typeface="Arial" charset="0"/>
              </a:rPr>
              <a:t>Initialize a pointer to something before using it. (Doh!)</a:t>
            </a:r>
          </a:p>
        </p:txBody>
      </p:sp>
      <p:sp>
        <p:nvSpPr>
          <p:cNvPr id="22537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FF44FA0-F3B8-D54A-90CF-992D41F77070}" type="slidenum">
              <a:rPr lang="en-US"/>
              <a:pPr/>
              <a:t>20</a:t>
            </a:fld>
            <a:endParaRPr lang="en-US"/>
          </a:p>
        </p:txBody>
      </p:sp>
      <p:sp>
        <p:nvSpPr>
          <p:cNvPr id="22538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5791200" y="2590800"/>
            <a:ext cx="3124200" cy="3352800"/>
          </a:xfrm>
          <a:prstGeom prst="wedgeRoundRectCallout">
            <a:avLst>
              <a:gd name="adj1" fmla="val -76379"/>
              <a:gd name="adj2" fmla="val 13857"/>
              <a:gd name="adj3" fmla="val 16667"/>
            </a:avLst>
          </a:prstGeom>
          <a:solidFill>
            <a:srgbClr val="C1F3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void* </a:t>
            </a:r>
            <a:r>
              <a:rPr lang="en-US" sz="2400" b="1" dirty="0" err="1">
                <a:latin typeface="Courier New" pitchFamily="49" charset="0"/>
                <a:ea typeface="+mn-ea"/>
                <a:cs typeface="Courier New" pitchFamily="49" charset="0"/>
              </a:rPr>
              <a:t>func</a:t>
            </a: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() {</a:t>
            </a:r>
          </a:p>
          <a:p>
            <a:pPr>
              <a:defRPr/>
            </a:pP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* w;</a:t>
            </a:r>
          </a:p>
          <a:p>
            <a:pPr>
              <a:defRPr/>
            </a:pP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	*w = 0</a:t>
            </a:r>
          </a:p>
          <a:p>
            <a:pPr>
              <a:defRPr/>
            </a:pPr>
            <a:r>
              <a:rPr lang="en-US" sz="2400" b="1" dirty="0"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sz="2400" b="1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>
              <a:defRPr/>
            </a:pPr>
            <a:r>
              <a:rPr lang="en-US" sz="2000" dirty="0">
                <a:latin typeface="+mj-lt"/>
                <a:ea typeface="+mn-ea"/>
                <a:cs typeface="Courier New" pitchFamily="49" charset="0"/>
              </a:rPr>
              <a:t>Question: What does this code output?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5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5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55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3558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Instant C #2:  Strings</a:t>
            </a:r>
          </a:p>
        </p:txBody>
      </p:sp>
      <p:sp>
        <p:nvSpPr>
          <p:cNvPr id="1844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pitchFamily="2" charset="2"/>
              <a:buChar char="n"/>
              <a:defRPr/>
            </a:pPr>
            <a:r>
              <a:rPr lang="en-US" sz="2800" dirty="0" smtClean="0">
                <a:ea typeface="+mn-ea"/>
              </a:rPr>
              <a:t>Unlike C++ and Java, C does not have a native string type</a:t>
            </a:r>
          </a:p>
          <a:p>
            <a:pPr lvl="1">
              <a:buFont typeface="Wingdings" pitchFamily="2" charset="2"/>
              <a:buChar char="¡"/>
              <a:defRPr/>
            </a:pPr>
            <a:r>
              <a:rPr lang="en-US" sz="2400" dirty="0" smtClean="0"/>
              <a:t>Instead, use arrays of characters terminated with a null byte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sz="2800" dirty="0" smtClean="0">
                <a:ea typeface="+mn-ea"/>
              </a:rPr>
              <a:t>Functions</a:t>
            </a:r>
          </a:p>
          <a:p>
            <a:pPr marL="928688" lvl="1">
              <a:buFont typeface="Wingdings" pitchFamily="2" charset="2"/>
              <a:buChar char="¡"/>
              <a:defRPr/>
            </a:pPr>
            <a:r>
              <a:rPr lang="en-US" sz="2400" dirty="0" err="1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</a:t>
            </a:r>
            <a:r>
              <a:rPr lang="en-US" sz="24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("hello", "world") </a:t>
            </a:r>
            <a:r>
              <a:rPr lang="en-US" sz="2400" dirty="0" smtClean="0"/>
              <a:t>will crash</a:t>
            </a:r>
          </a:p>
          <a:p>
            <a:pPr marL="928688" lvl="1">
              <a:buFont typeface="Wingdings" pitchFamily="2" charset="2"/>
              <a:buChar char="¡"/>
              <a:defRPr/>
            </a:pPr>
            <a:r>
              <a:rPr lang="en-US" sz="2400" dirty="0" err="1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strcmp</a:t>
            </a:r>
            <a:r>
              <a:rPr lang="en-US" sz="24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(s1,s2)</a:t>
            </a:r>
            <a:r>
              <a:rPr lang="en-US" sz="2400" dirty="0" smtClean="0"/>
              <a:t> returns 0 if s1==s2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sz="2800" dirty="0" smtClean="0">
                <a:ea typeface="+mn-ea"/>
              </a:rPr>
              <a:t>Arguments</a:t>
            </a:r>
          </a:p>
          <a:p>
            <a:pPr marL="928688" lvl="1">
              <a:buFont typeface="Wingdings" pitchFamily="2" charset="2"/>
              <a:buChar char="¡"/>
              <a:defRPr/>
            </a:pPr>
            <a:r>
              <a:rPr lang="en-US" sz="2400" dirty="0" err="1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argv</a:t>
            </a:r>
            <a:r>
              <a:rPr lang="en-US" sz="24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[0]</a:t>
            </a:r>
            <a:r>
              <a:rPr lang="en-US" sz="2400" dirty="0" smtClean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sz="2400" dirty="0" smtClean="0"/>
              <a:t>is the name of the executable</a:t>
            </a:r>
          </a:p>
          <a:p>
            <a:pPr marL="928688" lvl="1">
              <a:buFont typeface="Wingdings" pitchFamily="2" charset="2"/>
              <a:buChar char="¡"/>
              <a:defRPr/>
            </a:pPr>
            <a:r>
              <a:rPr lang="en-US" sz="2400" dirty="0" err="1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argv</a:t>
            </a:r>
            <a:r>
              <a:rPr lang="en-US" sz="24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[</a:t>
            </a:r>
            <a:r>
              <a:rPr lang="en-US" sz="2400" dirty="0" err="1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argc</a:t>
            </a:r>
            <a:r>
              <a:rPr lang="en-US" sz="24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]</a:t>
            </a:r>
            <a:r>
              <a:rPr lang="en-US" sz="2400" dirty="0" smtClean="0"/>
              <a:t> is a null pointer</a:t>
            </a:r>
          </a:p>
        </p:txBody>
      </p:sp>
      <p:sp>
        <p:nvSpPr>
          <p:cNvPr id="23561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85D9337-229B-7648-BCDD-0408530D73D2}" type="slidenum">
              <a:rPr lang="en-US"/>
              <a:pPr/>
              <a:t>21</a:t>
            </a:fld>
            <a:endParaRPr lang="en-US"/>
          </a:p>
        </p:txBody>
      </p:sp>
      <p:sp>
        <p:nvSpPr>
          <p:cNvPr id="23562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7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8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8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4582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Instant C #3: Dynamic Memory Allocation</a:t>
            </a:r>
          </a:p>
        </p:txBody>
      </p:sp>
      <p:sp>
        <p:nvSpPr>
          <p:cNvPr id="1946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400">
                <a:latin typeface="Arial" charset="0"/>
              </a:rPr>
              <a:t>Allocation</a:t>
            </a: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malloc(bytes)</a:t>
            </a:r>
            <a:r>
              <a:rPr lang="en-US" sz="2000">
                <a:latin typeface="Arial" charset="0"/>
              </a:rPr>
              <a:t> to reserve memory</a:t>
            </a:r>
          </a:p>
          <a:p>
            <a:r>
              <a:rPr lang="en-US" sz="2400">
                <a:latin typeface="Arial" charset="0"/>
              </a:rPr>
              <a:t>Clean up</a:t>
            </a: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free(ptr)</a:t>
            </a:r>
            <a:r>
              <a:rPr lang="en-US" sz="2000">
                <a:latin typeface="Arial" charset="0"/>
              </a:rPr>
              <a:t> to free up memory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r>
              <a:rPr lang="en-US" sz="2400">
                <a:latin typeface="Arial" charset="0"/>
              </a:rPr>
              <a:t>Dynamically allocated memory is stored on the </a:t>
            </a:r>
            <a:r>
              <a:rPr lang="ja-JP" altLang="en-US" sz="2400">
                <a:latin typeface="Arial" charset="0"/>
              </a:rPr>
              <a:t>“</a:t>
            </a:r>
            <a:r>
              <a:rPr lang="en-US" sz="2400">
                <a:latin typeface="Arial" charset="0"/>
              </a:rPr>
              <a:t>heap</a:t>
            </a:r>
            <a:r>
              <a:rPr lang="ja-JP" altLang="en-US" sz="2400">
                <a:latin typeface="Arial" charset="0"/>
              </a:rPr>
              <a:t>”</a:t>
            </a:r>
            <a:endParaRPr lang="en-US" sz="2400">
              <a:latin typeface="Arial" charset="0"/>
            </a:endParaRPr>
          </a:p>
          <a:p>
            <a:pPr marL="928688" lvl="1"/>
            <a:r>
              <a:rPr lang="en-US" sz="2000">
                <a:latin typeface="Arial" charset="0"/>
              </a:rPr>
              <a:t>Static variables are stored on the </a:t>
            </a:r>
            <a:r>
              <a:rPr lang="ja-JP" altLang="en-US" sz="2000">
                <a:latin typeface="Arial" charset="0"/>
              </a:rPr>
              <a:t>“</a:t>
            </a:r>
            <a:r>
              <a:rPr lang="en-US" sz="2000">
                <a:latin typeface="Arial" charset="0"/>
              </a:rPr>
              <a:t>stack</a:t>
            </a:r>
            <a:r>
              <a:rPr lang="ja-JP" altLang="en-US" sz="2000">
                <a:latin typeface="Arial" charset="0"/>
              </a:rPr>
              <a:t>”</a:t>
            </a:r>
            <a:endParaRPr lang="en-US" sz="2000">
              <a:latin typeface="Arial" charset="0"/>
            </a:endParaRPr>
          </a:p>
          <a:p>
            <a:pPr marL="928688" lvl="1"/>
            <a:r>
              <a:rPr lang="en-US" sz="2000">
                <a:latin typeface="Arial" charset="0"/>
              </a:rPr>
              <a:t>You often use static variables (pointers) to refer to and manipulate heap memory</a:t>
            </a:r>
          </a:p>
          <a:p>
            <a:pPr marL="928688" lvl="1"/>
            <a:r>
              <a:rPr lang="en-US" sz="2000">
                <a:latin typeface="Arial" charset="0"/>
              </a:rPr>
              <a:t>e.g.,    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char* c = malloc(sizeof(char))</a:t>
            </a:r>
            <a:r>
              <a:rPr lang="en-US" sz="2000">
                <a:latin typeface="Arial" charset="0"/>
              </a:rPr>
              <a:t> </a:t>
            </a:r>
          </a:p>
        </p:txBody>
      </p:sp>
      <p:sp>
        <p:nvSpPr>
          <p:cNvPr id="24585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30018C0-8289-4245-B31E-501705B5DF5E}" type="slidenum">
              <a:rPr lang="en-US"/>
              <a:pPr/>
              <a:t>22</a:t>
            </a:fld>
            <a:endParaRPr lang="en-US"/>
          </a:p>
        </p:txBody>
      </p:sp>
      <p:sp>
        <p:nvSpPr>
          <p:cNvPr id="24586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0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0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0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5606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Common Causes of 'Death'</a:t>
            </a:r>
          </a:p>
        </p:txBody>
      </p:sp>
      <p:sp>
        <p:nvSpPr>
          <p:cNvPr id="25608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 marL="671513" indent="-514350">
              <a:buSzPct val="99000"/>
              <a:buFont typeface="Wingdings" charset="0"/>
              <a:buAutoNum type="arabicPeriod"/>
            </a:pPr>
            <a:r>
              <a:rPr lang="en-US" sz="2800">
                <a:latin typeface="Arial" charset="0"/>
              </a:rPr>
              <a:t>Uninitialized pointers</a:t>
            </a:r>
          </a:p>
          <a:p>
            <a:pPr marL="1112838" lvl="1" indent="-514350">
              <a:buSzPct val="99000"/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*dest;</a:t>
            </a:r>
          </a:p>
          <a:p>
            <a:pPr marL="1112838" lvl="1" indent="-514350">
              <a:buSzPct val="99000"/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strcpy(dest,"hello");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671513" indent="-514350">
              <a:buSzPct val="99000"/>
              <a:buFont typeface="Wingdings" charset="0"/>
              <a:buAutoNum type="arabicPeriod"/>
            </a:pPr>
            <a:r>
              <a:rPr lang="en-US" sz="2800">
                <a:latin typeface="Arial" charset="0"/>
              </a:rPr>
              <a:t>C Strings need a null byte at the end</a:t>
            </a:r>
          </a:p>
          <a:p>
            <a:pPr marL="671513" indent="-514350">
              <a:buSzPct val="99000"/>
              <a:buFont typeface="Wingdings" charset="0"/>
              <a:buAutoNum type="arabicPeriod"/>
            </a:pPr>
            <a:r>
              <a:rPr lang="en-US" sz="2800">
                <a:latin typeface="Arial" charset="0"/>
              </a:rPr>
              <a:t>Buffer overflow</a:t>
            </a:r>
          </a:p>
          <a:p>
            <a:pPr marL="671513" indent="-514350">
              <a:buSzPct val="99000"/>
              <a:buFont typeface="Wingdings" charset="0"/>
              <a:buAutoNum type="arabicPeriod"/>
            </a:pPr>
            <a:r>
              <a:rPr lang="en-US" sz="2800">
                <a:latin typeface="Arial" charset="0"/>
              </a:rPr>
              <a:t>Un-initialized memory</a:t>
            </a:r>
          </a:p>
          <a:p>
            <a:pPr marL="671513" indent="-514350">
              <a:buSzPct val="99000"/>
              <a:buFont typeface="Wingdings" charset="0"/>
              <a:buAutoNum type="arabicPeriod"/>
            </a:pPr>
            <a:r>
              <a:rPr lang="en-US" sz="2800">
                <a:latin typeface="Arial" charset="0"/>
              </a:rPr>
              <a:t>Too confident: not checking return values</a:t>
            </a:r>
          </a:p>
          <a:p>
            <a:pPr marL="671513" indent="-514350">
              <a:buSzPct val="99000"/>
              <a:buFont typeface="Wingdings" charset="0"/>
              <a:buAutoNum type="arabicPeriod"/>
            </a:pPr>
            <a:r>
              <a:rPr lang="en-US" sz="2800">
                <a:latin typeface="Arial" charset="0"/>
              </a:rPr>
              <a:t>Misuse of static vs. stack variables.</a:t>
            </a:r>
          </a:p>
        </p:txBody>
      </p:sp>
      <p:sp>
        <p:nvSpPr>
          <p:cNvPr id="25609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C35736A-CE46-214D-99B3-14BDE11BE0A1}" type="slidenum">
              <a:rPr lang="en-US"/>
              <a:pPr/>
              <a:t>23</a:t>
            </a:fld>
            <a:endParaRPr lang="en-US"/>
          </a:p>
        </p:txBody>
      </p:sp>
      <p:sp>
        <p:nvSpPr>
          <p:cNvPr id="25610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1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0"/>
            <a:chExt cx="5472" cy="1584"/>
          </a:xfrm>
        </p:grpSpPr>
        <p:sp>
          <p:nvSpPr>
            <p:cNvPr id="26631" name="Oval 2"/>
            <p:cNvSpPr>
              <a:spLocks/>
            </p:cNvSpPr>
            <p:nvPr/>
          </p:nvSpPr>
          <p:spPr bwMode="auto">
            <a:xfrm>
              <a:off x="144" y="0"/>
              <a:ext cx="1584" cy="1584"/>
            </a:xfrm>
            <a:prstGeom prst="ellipse">
              <a:avLst/>
            </a:prstGeom>
            <a:noFill/>
            <a:ln w="127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6632" name="Rectangle 3"/>
            <p:cNvSpPr>
              <a:spLocks/>
            </p:cNvSpPr>
            <p:nvPr/>
          </p:nvSpPr>
          <p:spPr bwMode="auto">
            <a:xfrm>
              <a:off x="0" y="480"/>
              <a:ext cx="2976" cy="720"/>
            </a:xfrm>
            <a:prstGeom prst="rect">
              <a:avLst/>
            </a:prstGeom>
            <a:solidFill>
              <a:srgbClr val="CC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6633" name="Rectangle 4"/>
            <p:cNvSpPr>
              <a:spLocks/>
            </p:cNvSpPr>
            <p:nvPr/>
          </p:nvSpPr>
          <p:spPr bwMode="auto">
            <a:xfrm>
              <a:off x="2496" y="480"/>
              <a:ext cx="2976" cy="720"/>
            </a:xfrm>
            <a:prstGeom prst="rect">
              <a:avLst/>
            </a:prstGeom>
            <a:gradFill rotWithShape="0">
              <a:gsLst>
                <a:gs pos="0">
                  <a:srgbClr val="CCCC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6634" name="Freeform 5"/>
            <p:cNvSpPr>
              <a:spLocks/>
            </p:cNvSpPr>
            <p:nvPr/>
          </p:nvSpPr>
          <p:spPr bwMode="auto">
            <a:xfrm>
              <a:off x="384" y="384"/>
              <a:ext cx="144" cy="9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6635" name="Freeform 6"/>
            <p:cNvSpPr>
              <a:spLocks/>
            </p:cNvSpPr>
            <p:nvPr/>
          </p:nvSpPr>
          <p:spPr bwMode="auto">
            <a:xfrm>
              <a:off x="4944" y="186"/>
              <a:ext cx="165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76200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6627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Pointers</a:t>
            </a:r>
          </a:p>
        </p:txBody>
      </p:sp>
      <p:sp>
        <p:nvSpPr>
          <p:cNvPr id="26628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pic>
        <p:nvPicPr>
          <p:cNvPr id="26629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2F67183-D101-144B-94BB-432C7AF8875D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5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5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5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7654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Variables</a:t>
            </a:r>
          </a:p>
        </p:txBody>
      </p:sp>
      <p:sp>
        <p:nvSpPr>
          <p:cNvPr id="27656" name="Rectangle 9"/>
          <p:cNvSpPr>
            <a:spLocks/>
          </p:cNvSpPr>
          <p:nvPr/>
        </p:nvSpPr>
        <p:spPr bwMode="auto">
          <a:xfrm>
            <a:off x="1828800" y="236220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10,000</a:t>
            </a:r>
          </a:p>
        </p:txBody>
      </p:sp>
      <p:sp>
        <p:nvSpPr>
          <p:cNvPr id="27657" name="Rectangle 10"/>
          <p:cNvSpPr>
            <a:spLocks/>
          </p:cNvSpPr>
          <p:nvPr/>
        </p:nvSpPr>
        <p:spPr bwMode="auto">
          <a:xfrm>
            <a:off x="1844675" y="30162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10,002</a:t>
            </a:r>
          </a:p>
        </p:txBody>
      </p:sp>
      <p:sp>
        <p:nvSpPr>
          <p:cNvPr id="27658" name="Rectangle 11"/>
          <p:cNvSpPr>
            <a:spLocks/>
          </p:cNvSpPr>
          <p:nvPr/>
        </p:nvSpPr>
        <p:spPr bwMode="auto">
          <a:xfrm>
            <a:off x="1844675" y="43116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10,008</a:t>
            </a:r>
          </a:p>
        </p:txBody>
      </p:sp>
      <p:sp>
        <p:nvSpPr>
          <p:cNvPr id="27659" name="Rectangle 12"/>
          <p:cNvSpPr>
            <a:spLocks/>
          </p:cNvSpPr>
          <p:nvPr/>
        </p:nvSpPr>
        <p:spPr bwMode="auto">
          <a:xfrm>
            <a:off x="1844675" y="48450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10,010</a:t>
            </a:r>
          </a:p>
        </p:txBody>
      </p:sp>
      <p:sp>
        <p:nvSpPr>
          <p:cNvPr id="27660" name="Rectangle 13"/>
          <p:cNvSpPr>
            <a:spLocks/>
          </p:cNvSpPr>
          <p:nvPr/>
        </p:nvSpPr>
        <p:spPr bwMode="auto">
          <a:xfrm>
            <a:off x="1844675" y="53784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10,012</a:t>
            </a:r>
          </a:p>
        </p:txBody>
      </p:sp>
      <p:sp>
        <p:nvSpPr>
          <p:cNvPr id="27661" name="Rectangle 14"/>
          <p:cNvSpPr>
            <a:spLocks/>
          </p:cNvSpPr>
          <p:nvPr/>
        </p:nvSpPr>
        <p:spPr bwMode="auto">
          <a:xfrm>
            <a:off x="2149475" y="5683250"/>
            <a:ext cx="560388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3200">
                <a:latin typeface="Arial" charset="0"/>
                <a:cs typeface="Arial" charset="0"/>
                <a:sym typeface="Arial" charset="0"/>
              </a:rPr>
              <a:t>…</a:t>
            </a:r>
          </a:p>
        </p:txBody>
      </p:sp>
      <p:sp>
        <p:nvSpPr>
          <p:cNvPr id="27662" name="Rectangle 15"/>
          <p:cNvSpPr>
            <a:spLocks/>
          </p:cNvSpPr>
          <p:nvPr/>
        </p:nvSpPr>
        <p:spPr bwMode="auto">
          <a:xfrm>
            <a:off x="2743200" y="2514600"/>
            <a:ext cx="2133600" cy="3581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3" name="Line 16"/>
          <p:cNvSpPr>
            <a:spLocks noChangeShapeType="1"/>
          </p:cNvSpPr>
          <p:nvPr/>
        </p:nvSpPr>
        <p:spPr bwMode="auto">
          <a:xfrm>
            <a:off x="2743200" y="32004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4" name="Line 17"/>
          <p:cNvSpPr>
            <a:spLocks noChangeShapeType="1"/>
          </p:cNvSpPr>
          <p:nvPr/>
        </p:nvSpPr>
        <p:spPr bwMode="auto">
          <a:xfrm>
            <a:off x="2743200" y="44958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5" name="Line 18"/>
          <p:cNvSpPr>
            <a:spLocks noChangeShapeType="1"/>
          </p:cNvSpPr>
          <p:nvPr/>
        </p:nvSpPr>
        <p:spPr bwMode="auto">
          <a:xfrm>
            <a:off x="2743200" y="50292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6" name="Line 19"/>
          <p:cNvSpPr>
            <a:spLocks noChangeShapeType="1"/>
          </p:cNvSpPr>
          <p:nvPr/>
        </p:nvSpPr>
        <p:spPr bwMode="auto">
          <a:xfrm>
            <a:off x="2743200" y="55626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667" name="Rectangle 20"/>
          <p:cNvSpPr>
            <a:spLocks/>
          </p:cNvSpPr>
          <p:nvPr/>
        </p:nvSpPr>
        <p:spPr bwMode="auto">
          <a:xfrm>
            <a:off x="3352800" y="26670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Value1</a:t>
            </a:r>
          </a:p>
        </p:txBody>
      </p:sp>
      <p:sp>
        <p:nvSpPr>
          <p:cNvPr id="27668" name="Rectangle 21"/>
          <p:cNvSpPr>
            <a:spLocks/>
          </p:cNvSpPr>
          <p:nvPr/>
        </p:nvSpPr>
        <p:spPr bwMode="auto">
          <a:xfrm>
            <a:off x="3352800" y="36576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Value2</a:t>
            </a:r>
          </a:p>
        </p:txBody>
      </p:sp>
      <p:sp>
        <p:nvSpPr>
          <p:cNvPr id="27669" name="Rectangle 22"/>
          <p:cNvSpPr>
            <a:spLocks/>
          </p:cNvSpPr>
          <p:nvPr/>
        </p:nvSpPr>
        <p:spPr bwMode="auto">
          <a:xfrm>
            <a:off x="3352800" y="45720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Value3</a:t>
            </a:r>
          </a:p>
        </p:txBody>
      </p:sp>
      <p:sp>
        <p:nvSpPr>
          <p:cNvPr id="27670" name="Rectangle 23"/>
          <p:cNvSpPr>
            <a:spLocks/>
          </p:cNvSpPr>
          <p:nvPr/>
        </p:nvSpPr>
        <p:spPr bwMode="auto">
          <a:xfrm>
            <a:off x="3352800" y="51054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Value4</a:t>
            </a:r>
          </a:p>
        </p:txBody>
      </p:sp>
      <p:sp>
        <p:nvSpPr>
          <p:cNvPr id="27671" name="Rectangle 24"/>
          <p:cNvSpPr>
            <a:spLocks/>
          </p:cNvSpPr>
          <p:nvPr/>
        </p:nvSpPr>
        <p:spPr bwMode="auto">
          <a:xfrm>
            <a:off x="3352800" y="56388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Value5</a:t>
            </a:r>
          </a:p>
        </p:txBody>
      </p:sp>
      <p:sp>
        <p:nvSpPr>
          <p:cNvPr id="27672" name="Rectangle 25"/>
          <p:cNvSpPr>
            <a:spLocks/>
          </p:cNvSpPr>
          <p:nvPr/>
        </p:nvSpPr>
        <p:spPr bwMode="auto">
          <a:xfrm>
            <a:off x="2743200" y="25146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</a:p>
        </p:txBody>
      </p:sp>
      <p:sp>
        <p:nvSpPr>
          <p:cNvPr id="27673" name="Rectangle 26"/>
          <p:cNvSpPr>
            <a:spLocks/>
          </p:cNvSpPr>
          <p:nvPr/>
        </p:nvSpPr>
        <p:spPr bwMode="auto">
          <a:xfrm>
            <a:off x="2743200" y="32004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</a:t>
            </a:r>
          </a:p>
        </p:txBody>
      </p:sp>
      <p:sp>
        <p:nvSpPr>
          <p:cNvPr id="27674" name="Rectangle 27"/>
          <p:cNvSpPr>
            <a:spLocks/>
          </p:cNvSpPr>
          <p:nvPr/>
        </p:nvSpPr>
        <p:spPr bwMode="auto">
          <a:xfrm>
            <a:off x="2743200" y="44958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</a:t>
            </a:r>
          </a:p>
        </p:txBody>
      </p:sp>
      <p:sp>
        <p:nvSpPr>
          <p:cNvPr id="27675" name="Rectangle 28"/>
          <p:cNvSpPr>
            <a:spLocks/>
          </p:cNvSpPr>
          <p:nvPr/>
        </p:nvSpPr>
        <p:spPr bwMode="auto">
          <a:xfrm>
            <a:off x="2743200" y="50292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</a:p>
        </p:txBody>
      </p:sp>
      <p:sp>
        <p:nvSpPr>
          <p:cNvPr id="27676" name="Rectangle 29"/>
          <p:cNvSpPr>
            <a:spLocks/>
          </p:cNvSpPr>
          <p:nvPr/>
        </p:nvSpPr>
        <p:spPr bwMode="auto">
          <a:xfrm>
            <a:off x="2743200" y="55626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</a:t>
            </a:r>
          </a:p>
        </p:txBody>
      </p:sp>
      <p:sp>
        <p:nvSpPr>
          <p:cNvPr id="27677" name="Line 30"/>
          <p:cNvSpPr>
            <a:spLocks noChangeShapeType="1"/>
          </p:cNvSpPr>
          <p:nvPr/>
        </p:nvSpPr>
        <p:spPr bwMode="auto">
          <a:xfrm>
            <a:off x="2743200" y="2514600"/>
            <a:ext cx="1588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511" name="Line 31"/>
          <p:cNvSpPr>
            <a:spLocks noChangeShapeType="1"/>
          </p:cNvSpPr>
          <p:nvPr/>
        </p:nvSpPr>
        <p:spPr bwMode="auto">
          <a:xfrm rot="10800000" flipH="1">
            <a:off x="1371600" y="3352800"/>
            <a:ext cx="5334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512" name="Rectangle 32"/>
          <p:cNvSpPr>
            <a:spLocks/>
          </p:cNvSpPr>
          <p:nvPr/>
        </p:nvSpPr>
        <p:spPr bwMode="auto">
          <a:xfrm>
            <a:off x="381000" y="3810000"/>
            <a:ext cx="99218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Memory</a:t>
            </a:r>
          </a:p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Address</a:t>
            </a:r>
          </a:p>
        </p:txBody>
      </p:sp>
      <p:sp>
        <p:nvSpPr>
          <p:cNvPr id="20513" name="Line 33"/>
          <p:cNvSpPr>
            <a:spLocks noChangeShapeType="1"/>
          </p:cNvSpPr>
          <p:nvPr/>
        </p:nvSpPr>
        <p:spPr bwMode="auto">
          <a:xfrm flipH="1">
            <a:off x="2971800" y="2209800"/>
            <a:ext cx="533400" cy="1066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514" name="Rectangle 34"/>
          <p:cNvSpPr>
            <a:spLocks/>
          </p:cNvSpPr>
          <p:nvPr/>
        </p:nvSpPr>
        <p:spPr bwMode="auto">
          <a:xfrm>
            <a:off x="3413125" y="1860550"/>
            <a:ext cx="7635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Name</a:t>
            </a:r>
          </a:p>
        </p:txBody>
      </p:sp>
      <p:sp>
        <p:nvSpPr>
          <p:cNvPr id="20515" name="Line 35"/>
          <p:cNvSpPr>
            <a:spLocks noChangeShapeType="1"/>
          </p:cNvSpPr>
          <p:nvPr/>
        </p:nvSpPr>
        <p:spPr bwMode="auto">
          <a:xfrm rot="10800000">
            <a:off x="4191000" y="3886200"/>
            <a:ext cx="13716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516" name="Rectangle 36"/>
          <p:cNvSpPr>
            <a:spLocks/>
          </p:cNvSpPr>
          <p:nvPr/>
        </p:nvSpPr>
        <p:spPr bwMode="auto">
          <a:xfrm>
            <a:off x="5546725" y="4070350"/>
            <a:ext cx="722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</a:t>
            </a:r>
          </a:p>
        </p:txBody>
      </p:sp>
      <p:sp>
        <p:nvSpPr>
          <p:cNvPr id="20517" name="Rectangle 37"/>
          <p:cNvSpPr>
            <a:spLocks/>
          </p:cNvSpPr>
          <p:nvPr/>
        </p:nvSpPr>
        <p:spPr bwMode="auto">
          <a:xfrm>
            <a:off x="6484938" y="3243263"/>
            <a:ext cx="24511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		x;</a:t>
            </a:r>
          </a:p>
          <a:p>
            <a:pPr marL="39688"/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double	y;</a:t>
            </a:r>
          </a:p>
          <a:p>
            <a:pPr marL="39688"/>
            <a:r>
              <a:rPr lang="en-US" sz="24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	z;</a:t>
            </a:r>
          </a:p>
          <a:p>
            <a:pPr marL="39688"/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double*	p;</a:t>
            </a:r>
          </a:p>
          <a:p>
            <a:pPr marL="39688"/>
            <a:r>
              <a:rPr lang="en-US" sz="24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		d;</a:t>
            </a:r>
          </a:p>
        </p:txBody>
      </p:sp>
      <p:sp>
        <p:nvSpPr>
          <p:cNvPr id="20518" name="Rectangle 38"/>
          <p:cNvSpPr>
            <a:spLocks/>
          </p:cNvSpPr>
          <p:nvPr/>
        </p:nvSpPr>
        <p:spPr bwMode="auto">
          <a:xfrm>
            <a:off x="6561138" y="2328863"/>
            <a:ext cx="239077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 Italic" charset="0"/>
                <a:cs typeface="Arial Italic" charset="0"/>
                <a:sym typeface="Arial Italic" charset="0"/>
              </a:rPr>
              <a:t>Type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 of each variable</a:t>
            </a:r>
          </a:p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(also determines size)</a:t>
            </a:r>
          </a:p>
        </p:txBody>
      </p:sp>
      <p:sp>
        <p:nvSpPr>
          <p:cNvPr id="27686" name="Slide Number Placeholder 3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A84A227-FB51-2343-916E-FCE847D0DD21}" type="slidenum">
              <a:rPr lang="en-US"/>
              <a:pPr/>
              <a:t>25</a:t>
            </a:fld>
            <a:endParaRPr lang="en-US"/>
          </a:p>
        </p:txBody>
      </p:sp>
      <p:sp>
        <p:nvSpPr>
          <p:cNvPr id="27687" name="Footer Placeholder 40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1" grpId="0" animBg="1"/>
      <p:bldP spid="20512" grpId="0"/>
      <p:bldP spid="20513" grpId="0" animBg="1"/>
      <p:bldP spid="20514" grpId="0"/>
      <p:bldP spid="20515" grpId="0" animBg="1"/>
      <p:bldP spid="20516" grpId="0"/>
      <p:bldP spid="20517" grpId="0"/>
      <p:bldP spid="205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7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7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7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8678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The </a:t>
            </a:r>
            <a:r>
              <a:rPr lang="ja-JP" altLang="en-US">
                <a:latin typeface="Arial" charset="0"/>
              </a:rPr>
              <a:t>“</a:t>
            </a:r>
            <a:r>
              <a:rPr lang="en-US">
                <a:latin typeface="Arial" charset="0"/>
              </a:rPr>
              <a:t>&amp;</a:t>
            </a:r>
            <a:r>
              <a:rPr lang="ja-JP" altLang="en-US">
                <a:latin typeface="Arial" charset="0"/>
              </a:rPr>
              <a:t>”</a:t>
            </a:r>
            <a:r>
              <a:rPr lang="en-US">
                <a:latin typeface="Arial" charset="0"/>
              </a:rPr>
              <a:t> Operator: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Reads </a:t>
            </a:r>
            <a:r>
              <a:rPr lang="ja-JP" altLang="en-US">
                <a:latin typeface="Arial" charset="0"/>
              </a:rPr>
              <a:t>“</a:t>
            </a:r>
            <a:r>
              <a:rPr lang="en-US">
                <a:latin typeface="Arial" charset="0"/>
              </a:rPr>
              <a:t>Address of</a:t>
            </a:r>
            <a:r>
              <a:rPr lang="ja-JP" altLang="en-US">
                <a:latin typeface="Arial" charset="0"/>
              </a:rPr>
              <a:t>”</a:t>
            </a:r>
            <a:endParaRPr lang="en-US">
              <a:latin typeface="Arial" charset="0"/>
            </a:endParaRPr>
          </a:p>
        </p:txBody>
      </p:sp>
      <p:sp>
        <p:nvSpPr>
          <p:cNvPr id="28680" name="Rectangle 9"/>
          <p:cNvSpPr>
            <a:spLocks/>
          </p:cNvSpPr>
          <p:nvPr/>
        </p:nvSpPr>
        <p:spPr bwMode="auto">
          <a:xfrm>
            <a:off x="1828800" y="236220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10,000</a:t>
            </a:r>
          </a:p>
        </p:txBody>
      </p:sp>
      <p:sp>
        <p:nvSpPr>
          <p:cNvPr id="28681" name="Rectangle 10"/>
          <p:cNvSpPr>
            <a:spLocks/>
          </p:cNvSpPr>
          <p:nvPr/>
        </p:nvSpPr>
        <p:spPr bwMode="auto">
          <a:xfrm>
            <a:off x="1844675" y="30162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10,002</a:t>
            </a:r>
          </a:p>
        </p:txBody>
      </p:sp>
      <p:sp>
        <p:nvSpPr>
          <p:cNvPr id="28682" name="Rectangle 11"/>
          <p:cNvSpPr>
            <a:spLocks/>
          </p:cNvSpPr>
          <p:nvPr/>
        </p:nvSpPr>
        <p:spPr bwMode="auto">
          <a:xfrm>
            <a:off x="1844675" y="43116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10,008</a:t>
            </a:r>
          </a:p>
        </p:txBody>
      </p:sp>
      <p:sp>
        <p:nvSpPr>
          <p:cNvPr id="28683" name="Rectangle 12"/>
          <p:cNvSpPr>
            <a:spLocks/>
          </p:cNvSpPr>
          <p:nvPr/>
        </p:nvSpPr>
        <p:spPr bwMode="auto">
          <a:xfrm>
            <a:off x="1844675" y="48450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10,010</a:t>
            </a:r>
          </a:p>
        </p:txBody>
      </p:sp>
      <p:sp>
        <p:nvSpPr>
          <p:cNvPr id="28684" name="Rectangle 13"/>
          <p:cNvSpPr>
            <a:spLocks/>
          </p:cNvSpPr>
          <p:nvPr/>
        </p:nvSpPr>
        <p:spPr bwMode="auto">
          <a:xfrm>
            <a:off x="1844675" y="53784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10,012</a:t>
            </a:r>
          </a:p>
        </p:txBody>
      </p:sp>
      <p:sp>
        <p:nvSpPr>
          <p:cNvPr id="28685" name="Rectangle 14"/>
          <p:cNvSpPr>
            <a:spLocks/>
          </p:cNvSpPr>
          <p:nvPr/>
        </p:nvSpPr>
        <p:spPr bwMode="auto">
          <a:xfrm>
            <a:off x="2149475" y="5683250"/>
            <a:ext cx="560388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3200">
                <a:latin typeface="Arial" charset="0"/>
                <a:cs typeface="Arial" charset="0"/>
                <a:sym typeface="Arial" charset="0"/>
              </a:rPr>
              <a:t>…</a:t>
            </a:r>
          </a:p>
        </p:txBody>
      </p:sp>
      <p:sp>
        <p:nvSpPr>
          <p:cNvPr id="28686" name="Rectangle 15"/>
          <p:cNvSpPr>
            <a:spLocks/>
          </p:cNvSpPr>
          <p:nvPr/>
        </p:nvSpPr>
        <p:spPr bwMode="auto">
          <a:xfrm>
            <a:off x="2743200" y="2514600"/>
            <a:ext cx="2133600" cy="3581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87" name="Line 16"/>
          <p:cNvSpPr>
            <a:spLocks noChangeShapeType="1"/>
          </p:cNvSpPr>
          <p:nvPr/>
        </p:nvSpPr>
        <p:spPr bwMode="auto">
          <a:xfrm>
            <a:off x="2743200" y="32004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88" name="Line 17"/>
          <p:cNvSpPr>
            <a:spLocks noChangeShapeType="1"/>
          </p:cNvSpPr>
          <p:nvPr/>
        </p:nvSpPr>
        <p:spPr bwMode="auto">
          <a:xfrm>
            <a:off x="2743200" y="44958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89" name="Line 18"/>
          <p:cNvSpPr>
            <a:spLocks noChangeShapeType="1"/>
          </p:cNvSpPr>
          <p:nvPr/>
        </p:nvSpPr>
        <p:spPr bwMode="auto">
          <a:xfrm>
            <a:off x="2743200" y="50292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90" name="Line 19"/>
          <p:cNvSpPr>
            <a:spLocks noChangeShapeType="1"/>
          </p:cNvSpPr>
          <p:nvPr/>
        </p:nvSpPr>
        <p:spPr bwMode="auto">
          <a:xfrm>
            <a:off x="2743200" y="55626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91" name="Rectangle 20"/>
          <p:cNvSpPr>
            <a:spLocks/>
          </p:cNvSpPr>
          <p:nvPr/>
        </p:nvSpPr>
        <p:spPr bwMode="auto">
          <a:xfrm>
            <a:off x="3352800" y="26670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Value1</a:t>
            </a:r>
          </a:p>
        </p:txBody>
      </p:sp>
      <p:sp>
        <p:nvSpPr>
          <p:cNvPr id="28692" name="Rectangle 21"/>
          <p:cNvSpPr>
            <a:spLocks/>
          </p:cNvSpPr>
          <p:nvPr/>
        </p:nvSpPr>
        <p:spPr bwMode="auto">
          <a:xfrm>
            <a:off x="3352800" y="36576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Value2</a:t>
            </a:r>
          </a:p>
        </p:txBody>
      </p:sp>
      <p:sp>
        <p:nvSpPr>
          <p:cNvPr id="28693" name="Rectangle 22"/>
          <p:cNvSpPr>
            <a:spLocks/>
          </p:cNvSpPr>
          <p:nvPr/>
        </p:nvSpPr>
        <p:spPr bwMode="auto">
          <a:xfrm>
            <a:off x="3352800" y="45720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Value3</a:t>
            </a:r>
          </a:p>
        </p:txBody>
      </p:sp>
      <p:sp>
        <p:nvSpPr>
          <p:cNvPr id="28694" name="Rectangle 23"/>
          <p:cNvSpPr>
            <a:spLocks/>
          </p:cNvSpPr>
          <p:nvPr/>
        </p:nvSpPr>
        <p:spPr bwMode="auto">
          <a:xfrm>
            <a:off x="3352800" y="51054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Value4</a:t>
            </a:r>
          </a:p>
        </p:txBody>
      </p:sp>
      <p:sp>
        <p:nvSpPr>
          <p:cNvPr id="28695" name="Rectangle 24"/>
          <p:cNvSpPr>
            <a:spLocks/>
          </p:cNvSpPr>
          <p:nvPr/>
        </p:nvSpPr>
        <p:spPr bwMode="auto">
          <a:xfrm>
            <a:off x="3352800" y="56388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Value5</a:t>
            </a:r>
          </a:p>
        </p:txBody>
      </p:sp>
      <p:sp>
        <p:nvSpPr>
          <p:cNvPr id="28696" name="Rectangle 25"/>
          <p:cNvSpPr>
            <a:spLocks/>
          </p:cNvSpPr>
          <p:nvPr/>
        </p:nvSpPr>
        <p:spPr bwMode="auto">
          <a:xfrm>
            <a:off x="2743200" y="25146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</a:p>
        </p:txBody>
      </p:sp>
      <p:sp>
        <p:nvSpPr>
          <p:cNvPr id="28697" name="Rectangle 26"/>
          <p:cNvSpPr>
            <a:spLocks/>
          </p:cNvSpPr>
          <p:nvPr/>
        </p:nvSpPr>
        <p:spPr bwMode="auto">
          <a:xfrm>
            <a:off x="2743200" y="32004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</a:t>
            </a:r>
          </a:p>
        </p:txBody>
      </p:sp>
      <p:sp>
        <p:nvSpPr>
          <p:cNvPr id="28698" name="Rectangle 27"/>
          <p:cNvSpPr>
            <a:spLocks/>
          </p:cNvSpPr>
          <p:nvPr/>
        </p:nvSpPr>
        <p:spPr bwMode="auto">
          <a:xfrm>
            <a:off x="2743200" y="44958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</a:t>
            </a:r>
          </a:p>
        </p:txBody>
      </p:sp>
      <p:sp>
        <p:nvSpPr>
          <p:cNvPr id="28699" name="Rectangle 28"/>
          <p:cNvSpPr>
            <a:spLocks/>
          </p:cNvSpPr>
          <p:nvPr/>
        </p:nvSpPr>
        <p:spPr bwMode="auto">
          <a:xfrm>
            <a:off x="2743200" y="50292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</a:p>
        </p:txBody>
      </p:sp>
      <p:sp>
        <p:nvSpPr>
          <p:cNvPr id="28700" name="Rectangle 29"/>
          <p:cNvSpPr>
            <a:spLocks/>
          </p:cNvSpPr>
          <p:nvPr/>
        </p:nvSpPr>
        <p:spPr bwMode="auto">
          <a:xfrm>
            <a:off x="2743200" y="55626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</a:t>
            </a:r>
          </a:p>
        </p:txBody>
      </p:sp>
      <p:sp>
        <p:nvSpPr>
          <p:cNvPr id="28701" name="Line 30"/>
          <p:cNvSpPr>
            <a:spLocks noChangeShapeType="1"/>
          </p:cNvSpPr>
          <p:nvPr/>
        </p:nvSpPr>
        <p:spPr bwMode="auto">
          <a:xfrm>
            <a:off x="2743200" y="2514600"/>
            <a:ext cx="1588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702" name="Line 31"/>
          <p:cNvSpPr>
            <a:spLocks noChangeShapeType="1"/>
          </p:cNvSpPr>
          <p:nvPr/>
        </p:nvSpPr>
        <p:spPr bwMode="auto">
          <a:xfrm flipH="1">
            <a:off x="2971800" y="2209800"/>
            <a:ext cx="533400" cy="1066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703" name="Rectangle 32"/>
          <p:cNvSpPr>
            <a:spLocks/>
          </p:cNvSpPr>
          <p:nvPr/>
        </p:nvSpPr>
        <p:spPr bwMode="auto">
          <a:xfrm>
            <a:off x="3413125" y="1860550"/>
            <a:ext cx="7635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Name</a:t>
            </a:r>
          </a:p>
        </p:txBody>
      </p:sp>
      <p:sp>
        <p:nvSpPr>
          <p:cNvPr id="28704" name="Line 33"/>
          <p:cNvSpPr>
            <a:spLocks noChangeShapeType="1"/>
          </p:cNvSpPr>
          <p:nvPr/>
        </p:nvSpPr>
        <p:spPr bwMode="auto">
          <a:xfrm rot="10800000">
            <a:off x="4191000" y="3886200"/>
            <a:ext cx="13716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705" name="Rectangle 34"/>
          <p:cNvSpPr>
            <a:spLocks/>
          </p:cNvSpPr>
          <p:nvPr/>
        </p:nvSpPr>
        <p:spPr bwMode="auto">
          <a:xfrm>
            <a:off x="5546725" y="4070350"/>
            <a:ext cx="722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</a:t>
            </a:r>
          </a:p>
        </p:txBody>
      </p:sp>
      <p:sp>
        <p:nvSpPr>
          <p:cNvPr id="28706" name="Rectangle 35"/>
          <p:cNvSpPr>
            <a:spLocks/>
          </p:cNvSpPr>
          <p:nvPr/>
        </p:nvSpPr>
        <p:spPr bwMode="auto">
          <a:xfrm>
            <a:off x="227013" y="2438400"/>
            <a:ext cx="70485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&amp;y </a:t>
            </a:r>
          </a:p>
        </p:txBody>
      </p:sp>
      <p:sp>
        <p:nvSpPr>
          <p:cNvPr id="28707" name="Line 36"/>
          <p:cNvSpPr>
            <a:spLocks noChangeShapeType="1"/>
          </p:cNvSpPr>
          <p:nvPr/>
        </p:nvSpPr>
        <p:spPr bwMode="auto">
          <a:xfrm>
            <a:off x="914400" y="2743200"/>
            <a:ext cx="9906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708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A09640C-84D2-3347-9D54-CF71CC4130B1}" type="slidenum">
              <a:rPr lang="en-US"/>
              <a:pPr/>
              <a:t>26</a:t>
            </a:fld>
            <a:endParaRPr lang="en-US"/>
          </a:p>
        </p:txBody>
      </p:sp>
      <p:sp>
        <p:nvSpPr>
          <p:cNvPr id="28709" name="Footer Placeholder 3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69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9702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Pointers</a:t>
            </a:r>
          </a:p>
        </p:txBody>
      </p:sp>
      <p:sp>
        <p:nvSpPr>
          <p:cNvPr id="29704" name="Rectangle 9"/>
          <p:cNvSpPr>
            <a:spLocks/>
          </p:cNvSpPr>
          <p:nvPr/>
        </p:nvSpPr>
        <p:spPr bwMode="auto">
          <a:xfrm>
            <a:off x="1828800" y="236220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10,000</a:t>
            </a:r>
          </a:p>
        </p:txBody>
      </p:sp>
      <p:sp>
        <p:nvSpPr>
          <p:cNvPr id="29705" name="Rectangle 10"/>
          <p:cNvSpPr>
            <a:spLocks/>
          </p:cNvSpPr>
          <p:nvPr/>
        </p:nvSpPr>
        <p:spPr bwMode="auto">
          <a:xfrm>
            <a:off x="1844675" y="30162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10,002</a:t>
            </a:r>
          </a:p>
        </p:txBody>
      </p:sp>
      <p:sp>
        <p:nvSpPr>
          <p:cNvPr id="29706" name="Rectangle 11"/>
          <p:cNvSpPr>
            <a:spLocks/>
          </p:cNvSpPr>
          <p:nvPr/>
        </p:nvSpPr>
        <p:spPr bwMode="auto">
          <a:xfrm>
            <a:off x="1844675" y="43116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10,008</a:t>
            </a:r>
          </a:p>
        </p:txBody>
      </p:sp>
      <p:sp>
        <p:nvSpPr>
          <p:cNvPr id="29707" name="Rectangle 12"/>
          <p:cNvSpPr>
            <a:spLocks/>
          </p:cNvSpPr>
          <p:nvPr/>
        </p:nvSpPr>
        <p:spPr bwMode="auto">
          <a:xfrm>
            <a:off x="1844675" y="48450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10,010</a:t>
            </a:r>
          </a:p>
        </p:txBody>
      </p:sp>
      <p:sp>
        <p:nvSpPr>
          <p:cNvPr id="29708" name="Rectangle 13"/>
          <p:cNvSpPr>
            <a:spLocks/>
          </p:cNvSpPr>
          <p:nvPr/>
        </p:nvSpPr>
        <p:spPr bwMode="auto">
          <a:xfrm>
            <a:off x="1844675" y="53784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10,012</a:t>
            </a:r>
          </a:p>
        </p:txBody>
      </p:sp>
      <p:sp>
        <p:nvSpPr>
          <p:cNvPr id="29709" name="Rectangle 14"/>
          <p:cNvSpPr>
            <a:spLocks/>
          </p:cNvSpPr>
          <p:nvPr/>
        </p:nvSpPr>
        <p:spPr bwMode="auto">
          <a:xfrm>
            <a:off x="2149475" y="5683250"/>
            <a:ext cx="560388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3200">
                <a:latin typeface="Arial" charset="0"/>
                <a:cs typeface="Arial" charset="0"/>
                <a:sym typeface="Arial" charset="0"/>
              </a:rPr>
              <a:t>…</a:t>
            </a:r>
          </a:p>
        </p:txBody>
      </p:sp>
      <p:sp>
        <p:nvSpPr>
          <p:cNvPr id="29710" name="Rectangle 15"/>
          <p:cNvSpPr>
            <a:spLocks/>
          </p:cNvSpPr>
          <p:nvPr/>
        </p:nvSpPr>
        <p:spPr bwMode="auto">
          <a:xfrm>
            <a:off x="2743200" y="2514600"/>
            <a:ext cx="2133600" cy="3581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1" name="Line 16"/>
          <p:cNvSpPr>
            <a:spLocks noChangeShapeType="1"/>
          </p:cNvSpPr>
          <p:nvPr/>
        </p:nvSpPr>
        <p:spPr bwMode="auto">
          <a:xfrm>
            <a:off x="2743200" y="32004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2" name="Line 17"/>
          <p:cNvSpPr>
            <a:spLocks noChangeShapeType="1"/>
          </p:cNvSpPr>
          <p:nvPr/>
        </p:nvSpPr>
        <p:spPr bwMode="auto">
          <a:xfrm>
            <a:off x="2743200" y="44958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3" name="Line 18"/>
          <p:cNvSpPr>
            <a:spLocks noChangeShapeType="1"/>
          </p:cNvSpPr>
          <p:nvPr/>
        </p:nvSpPr>
        <p:spPr bwMode="auto">
          <a:xfrm>
            <a:off x="2743200" y="50292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4" name="Line 19"/>
          <p:cNvSpPr>
            <a:spLocks noChangeShapeType="1"/>
          </p:cNvSpPr>
          <p:nvPr/>
        </p:nvSpPr>
        <p:spPr bwMode="auto">
          <a:xfrm>
            <a:off x="2743200" y="55626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15" name="Rectangle 20"/>
          <p:cNvSpPr>
            <a:spLocks/>
          </p:cNvSpPr>
          <p:nvPr/>
        </p:nvSpPr>
        <p:spPr bwMode="auto">
          <a:xfrm>
            <a:off x="3352800" y="26670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Value1</a:t>
            </a:r>
          </a:p>
        </p:txBody>
      </p:sp>
      <p:sp>
        <p:nvSpPr>
          <p:cNvPr id="29716" name="Rectangle 21"/>
          <p:cNvSpPr>
            <a:spLocks/>
          </p:cNvSpPr>
          <p:nvPr/>
        </p:nvSpPr>
        <p:spPr bwMode="auto">
          <a:xfrm>
            <a:off x="3352800" y="36576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Value2</a:t>
            </a:r>
          </a:p>
        </p:txBody>
      </p:sp>
      <p:sp>
        <p:nvSpPr>
          <p:cNvPr id="29717" name="Rectangle 22"/>
          <p:cNvSpPr>
            <a:spLocks/>
          </p:cNvSpPr>
          <p:nvPr/>
        </p:nvSpPr>
        <p:spPr bwMode="auto">
          <a:xfrm>
            <a:off x="3352800" y="45720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Value3</a:t>
            </a:r>
          </a:p>
        </p:txBody>
      </p:sp>
      <p:sp>
        <p:nvSpPr>
          <p:cNvPr id="29718" name="Rectangle 23"/>
          <p:cNvSpPr>
            <a:spLocks/>
          </p:cNvSpPr>
          <p:nvPr/>
        </p:nvSpPr>
        <p:spPr bwMode="auto">
          <a:xfrm>
            <a:off x="3352800" y="5105400"/>
            <a:ext cx="787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solidFill>
                  <a:srgbClr val="FF0000"/>
                </a:solidFill>
                <a:latin typeface="Arial Bold" charset="0"/>
                <a:cs typeface="Arial Bold" charset="0"/>
                <a:sym typeface="Arial Bold" charset="0"/>
              </a:rPr>
              <a:t>10,002</a:t>
            </a:r>
          </a:p>
        </p:txBody>
      </p:sp>
      <p:sp>
        <p:nvSpPr>
          <p:cNvPr id="29719" name="Rectangle 24"/>
          <p:cNvSpPr>
            <a:spLocks/>
          </p:cNvSpPr>
          <p:nvPr/>
        </p:nvSpPr>
        <p:spPr bwMode="auto">
          <a:xfrm>
            <a:off x="3352800" y="56388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Value5</a:t>
            </a:r>
          </a:p>
        </p:txBody>
      </p:sp>
      <p:sp>
        <p:nvSpPr>
          <p:cNvPr id="29720" name="Rectangle 25"/>
          <p:cNvSpPr>
            <a:spLocks/>
          </p:cNvSpPr>
          <p:nvPr/>
        </p:nvSpPr>
        <p:spPr bwMode="auto">
          <a:xfrm>
            <a:off x="2743200" y="25146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</a:p>
        </p:txBody>
      </p:sp>
      <p:sp>
        <p:nvSpPr>
          <p:cNvPr id="29721" name="Rectangle 26"/>
          <p:cNvSpPr>
            <a:spLocks/>
          </p:cNvSpPr>
          <p:nvPr/>
        </p:nvSpPr>
        <p:spPr bwMode="auto">
          <a:xfrm>
            <a:off x="2743200" y="32004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</a:t>
            </a:r>
          </a:p>
        </p:txBody>
      </p:sp>
      <p:sp>
        <p:nvSpPr>
          <p:cNvPr id="29722" name="Rectangle 27"/>
          <p:cNvSpPr>
            <a:spLocks/>
          </p:cNvSpPr>
          <p:nvPr/>
        </p:nvSpPr>
        <p:spPr bwMode="auto">
          <a:xfrm>
            <a:off x="2743200" y="44958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</a:t>
            </a:r>
          </a:p>
        </p:txBody>
      </p:sp>
      <p:sp>
        <p:nvSpPr>
          <p:cNvPr id="29723" name="Rectangle 28"/>
          <p:cNvSpPr>
            <a:spLocks/>
          </p:cNvSpPr>
          <p:nvPr/>
        </p:nvSpPr>
        <p:spPr bwMode="auto">
          <a:xfrm>
            <a:off x="2743200" y="5029200"/>
            <a:ext cx="234950" cy="307975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FF0000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</a:p>
        </p:txBody>
      </p:sp>
      <p:sp>
        <p:nvSpPr>
          <p:cNvPr id="29724" name="Rectangle 29"/>
          <p:cNvSpPr>
            <a:spLocks/>
          </p:cNvSpPr>
          <p:nvPr/>
        </p:nvSpPr>
        <p:spPr bwMode="auto">
          <a:xfrm>
            <a:off x="2743200" y="55626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</a:t>
            </a:r>
          </a:p>
        </p:txBody>
      </p:sp>
      <p:sp>
        <p:nvSpPr>
          <p:cNvPr id="29725" name="Line 30"/>
          <p:cNvSpPr>
            <a:spLocks noChangeShapeType="1"/>
          </p:cNvSpPr>
          <p:nvPr/>
        </p:nvSpPr>
        <p:spPr bwMode="auto">
          <a:xfrm>
            <a:off x="2743200" y="2514600"/>
            <a:ext cx="1588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26" name="Line 31"/>
          <p:cNvSpPr>
            <a:spLocks noChangeShapeType="1"/>
          </p:cNvSpPr>
          <p:nvPr/>
        </p:nvSpPr>
        <p:spPr bwMode="auto">
          <a:xfrm flipH="1">
            <a:off x="2971800" y="2209800"/>
            <a:ext cx="533400" cy="1066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27" name="Rectangle 32"/>
          <p:cNvSpPr>
            <a:spLocks/>
          </p:cNvSpPr>
          <p:nvPr/>
        </p:nvSpPr>
        <p:spPr bwMode="auto">
          <a:xfrm>
            <a:off x="3413125" y="1860550"/>
            <a:ext cx="7635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Name</a:t>
            </a:r>
          </a:p>
        </p:txBody>
      </p:sp>
      <p:sp>
        <p:nvSpPr>
          <p:cNvPr id="29728" name="Line 33"/>
          <p:cNvSpPr>
            <a:spLocks noChangeShapeType="1"/>
          </p:cNvSpPr>
          <p:nvPr/>
        </p:nvSpPr>
        <p:spPr bwMode="auto">
          <a:xfrm rot="10800000">
            <a:off x="4191000" y="3886200"/>
            <a:ext cx="13716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29" name="Rectangle 34"/>
          <p:cNvSpPr>
            <a:spLocks/>
          </p:cNvSpPr>
          <p:nvPr/>
        </p:nvSpPr>
        <p:spPr bwMode="auto">
          <a:xfrm>
            <a:off x="5546725" y="4070350"/>
            <a:ext cx="722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</a:t>
            </a:r>
          </a:p>
        </p:txBody>
      </p:sp>
      <p:sp>
        <p:nvSpPr>
          <p:cNvPr id="29730" name="Rectangle 35"/>
          <p:cNvSpPr>
            <a:spLocks/>
          </p:cNvSpPr>
          <p:nvPr/>
        </p:nvSpPr>
        <p:spPr bwMode="auto">
          <a:xfrm>
            <a:off x="5394325" y="2014538"/>
            <a:ext cx="33020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A pointer is a variable whose value is the address of another</a:t>
            </a:r>
          </a:p>
        </p:txBody>
      </p:sp>
      <p:sp>
        <p:nvSpPr>
          <p:cNvPr id="29731" name="Rectangle 36"/>
          <p:cNvSpPr>
            <a:spLocks/>
          </p:cNvSpPr>
          <p:nvPr/>
        </p:nvSpPr>
        <p:spPr bwMode="auto">
          <a:xfrm>
            <a:off x="2743200" y="5029200"/>
            <a:ext cx="2133600" cy="533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32" name="Footer Placeholder 3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9733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B6A4756-AF34-BE42-9685-6A477BE2A9FF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2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2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2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072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dirty="0" smtClean="0">
                <a:latin typeface="Arial" charset="0"/>
              </a:rPr>
              <a:t>*p = </a:t>
            </a:r>
            <a:r>
              <a:rPr lang="ja-JP" altLang="en-US" dirty="0" smtClean="0">
                <a:latin typeface="Arial" charset="0"/>
              </a:rPr>
              <a:t>“</a:t>
            </a:r>
            <a:r>
              <a:rPr lang="en-US" dirty="0">
                <a:latin typeface="Arial" charset="0"/>
              </a:rPr>
              <a:t>Variable </a:t>
            </a:r>
            <a:r>
              <a:rPr lang="en-US" dirty="0" smtClean="0">
                <a:latin typeface="Arial" charset="0"/>
              </a:rPr>
              <a:t>p points to”</a:t>
            </a:r>
            <a:endParaRPr lang="en-US" dirty="0">
              <a:latin typeface="Arial" charset="0"/>
            </a:endParaRPr>
          </a:p>
        </p:txBody>
      </p:sp>
      <p:sp>
        <p:nvSpPr>
          <p:cNvPr id="30728" name="Rectangle 9"/>
          <p:cNvSpPr>
            <a:spLocks/>
          </p:cNvSpPr>
          <p:nvPr/>
        </p:nvSpPr>
        <p:spPr bwMode="auto">
          <a:xfrm>
            <a:off x="1828800" y="236220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10,000</a:t>
            </a:r>
          </a:p>
        </p:txBody>
      </p:sp>
      <p:sp>
        <p:nvSpPr>
          <p:cNvPr id="30729" name="Rectangle 10"/>
          <p:cNvSpPr>
            <a:spLocks/>
          </p:cNvSpPr>
          <p:nvPr/>
        </p:nvSpPr>
        <p:spPr bwMode="auto">
          <a:xfrm>
            <a:off x="1844675" y="30162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10,002</a:t>
            </a:r>
          </a:p>
        </p:txBody>
      </p:sp>
      <p:sp>
        <p:nvSpPr>
          <p:cNvPr id="30730" name="Rectangle 11"/>
          <p:cNvSpPr>
            <a:spLocks/>
          </p:cNvSpPr>
          <p:nvPr/>
        </p:nvSpPr>
        <p:spPr bwMode="auto">
          <a:xfrm>
            <a:off x="1844675" y="43116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10,008</a:t>
            </a:r>
          </a:p>
        </p:txBody>
      </p:sp>
      <p:sp>
        <p:nvSpPr>
          <p:cNvPr id="30731" name="Rectangle 12"/>
          <p:cNvSpPr>
            <a:spLocks/>
          </p:cNvSpPr>
          <p:nvPr/>
        </p:nvSpPr>
        <p:spPr bwMode="auto">
          <a:xfrm>
            <a:off x="1844675" y="48450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10,010</a:t>
            </a:r>
          </a:p>
        </p:txBody>
      </p:sp>
      <p:sp>
        <p:nvSpPr>
          <p:cNvPr id="30732" name="Rectangle 13"/>
          <p:cNvSpPr>
            <a:spLocks/>
          </p:cNvSpPr>
          <p:nvPr/>
        </p:nvSpPr>
        <p:spPr bwMode="auto">
          <a:xfrm>
            <a:off x="1844675" y="5378450"/>
            <a:ext cx="8540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10,012</a:t>
            </a:r>
          </a:p>
        </p:txBody>
      </p:sp>
      <p:sp>
        <p:nvSpPr>
          <p:cNvPr id="30733" name="Rectangle 14"/>
          <p:cNvSpPr>
            <a:spLocks/>
          </p:cNvSpPr>
          <p:nvPr/>
        </p:nvSpPr>
        <p:spPr bwMode="auto">
          <a:xfrm>
            <a:off x="2149475" y="5683250"/>
            <a:ext cx="560388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3200">
                <a:latin typeface="Arial" charset="0"/>
                <a:cs typeface="Arial" charset="0"/>
                <a:sym typeface="Arial" charset="0"/>
              </a:rPr>
              <a:t>…</a:t>
            </a:r>
          </a:p>
        </p:txBody>
      </p:sp>
      <p:sp>
        <p:nvSpPr>
          <p:cNvPr id="30734" name="Rectangle 15"/>
          <p:cNvSpPr>
            <a:spLocks/>
          </p:cNvSpPr>
          <p:nvPr/>
        </p:nvSpPr>
        <p:spPr bwMode="auto">
          <a:xfrm>
            <a:off x="2743200" y="2514600"/>
            <a:ext cx="2133600" cy="3581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5" name="Line 16"/>
          <p:cNvSpPr>
            <a:spLocks noChangeShapeType="1"/>
          </p:cNvSpPr>
          <p:nvPr/>
        </p:nvSpPr>
        <p:spPr bwMode="auto">
          <a:xfrm>
            <a:off x="2743200" y="32004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6" name="Line 17"/>
          <p:cNvSpPr>
            <a:spLocks noChangeShapeType="1"/>
          </p:cNvSpPr>
          <p:nvPr/>
        </p:nvSpPr>
        <p:spPr bwMode="auto">
          <a:xfrm>
            <a:off x="2743200" y="44958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7" name="Line 18"/>
          <p:cNvSpPr>
            <a:spLocks noChangeShapeType="1"/>
          </p:cNvSpPr>
          <p:nvPr/>
        </p:nvSpPr>
        <p:spPr bwMode="auto">
          <a:xfrm>
            <a:off x="2743200" y="50292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8" name="Line 19"/>
          <p:cNvSpPr>
            <a:spLocks noChangeShapeType="1"/>
          </p:cNvSpPr>
          <p:nvPr/>
        </p:nvSpPr>
        <p:spPr bwMode="auto">
          <a:xfrm>
            <a:off x="2743200" y="5562600"/>
            <a:ext cx="213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39" name="Rectangle 20"/>
          <p:cNvSpPr>
            <a:spLocks/>
          </p:cNvSpPr>
          <p:nvPr/>
        </p:nvSpPr>
        <p:spPr bwMode="auto">
          <a:xfrm>
            <a:off x="3352800" y="26670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Value1</a:t>
            </a:r>
          </a:p>
        </p:txBody>
      </p:sp>
      <p:sp>
        <p:nvSpPr>
          <p:cNvPr id="30740" name="Rectangle 21"/>
          <p:cNvSpPr>
            <a:spLocks/>
          </p:cNvSpPr>
          <p:nvPr/>
        </p:nvSpPr>
        <p:spPr bwMode="auto">
          <a:xfrm>
            <a:off x="3352800" y="36576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Value2</a:t>
            </a:r>
          </a:p>
        </p:txBody>
      </p:sp>
      <p:sp>
        <p:nvSpPr>
          <p:cNvPr id="30741" name="Rectangle 22"/>
          <p:cNvSpPr>
            <a:spLocks/>
          </p:cNvSpPr>
          <p:nvPr/>
        </p:nvSpPr>
        <p:spPr bwMode="auto">
          <a:xfrm>
            <a:off x="3352800" y="45720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Value3</a:t>
            </a:r>
          </a:p>
        </p:txBody>
      </p:sp>
      <p:sp>
        <p:nvSpPr>
          <p:cNvPr id="30742" name="Rectangle 23"/>
          <p:cNvSpPr>
            <a:spLocks/>
          </p:cNvSpPr>
          <p:nvPr/>
        </p:nvSpPr>
        <p:spPr bwMode="auto">
          <a:xfrm>
            <a:off x="3352800" y="5105400"/>
            <a:ext cx="787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solidFill>
                  <a:srgbClr val="FF0000"/>
                </a:solidFill>
                <a:latin typeface="Arial Bold" charset="0"/>
                <a:cs typeface="Arial Bold" charset="0"/>
                <a:sym typeface="Arial Bold" charset="0"/>
              </a:rPr>
              <a:t>10,002</a:t>
            </a:r>
          </a:p>
        </p:txBody>
      </p:sp>
      <p:sp>
        <p:nvSpPr>
          <p:cNvPr id="30743" name="Rectangle 24"/>
          <p:cNvSpPr>
            <a:spLocks/>
          </p:cNvSpPr>
          <p:nvPr/>
        </p:nvSpPr>
        <p:spPr bwMode="auto">
          <a:xfrm>
            <a:off x="3352800" y="5638800"/>
            <a:ext cx="849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Value5</a:t>
            </a:r>
          </a:p>
        </p:txBody>
      </p:sp>
      <p:sp>
        <p:nvSpPr>
          <p:cNvPr id="30744" name="Rectangle 25"/>
          <p:cNvSpPr>
            <a:spLocks/>
          </p:cNvSpPr>
          <p:nvPr/>
        </p:nvSpPr>
        <p:spPr bwMode="auto">
          <a:xfrm>
            <a:off x="2743200" y="25146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</a:p>
        </p:txBody>
      </p:sp>
      <p:sp>
        <p:nvSpPr>
          <p:cNvPr id="30745" name="Rectangle 26"/>
          <p:cNvSpPr>
            <a:spLocks/>
          </p:cNvSpPr>
          <p:nvPr/>
        </p:nvSpPr>
        <p:spPr bwMode="auto">
          <a:xfrm>
            <a:off x="2743200" y="32004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</a:t>
            </a:r>
          </a:p>
        </p:txBody>
      </p:sp>
      <p:sp>
        <p:nvSpPr>
          <p:cNvPr id="30746" name="Rectangle 27"/>
          <p:cNvSpPr>
            <a:spLocks/>
          </p:cNvSpPr>
          <p:nvPr/>
        </p:nvSpPr>
        <p:spPr bwMode="auto">
          <a:xfrm>
            <a:off x="2743200" y="44958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</a:t>
            </a:r>
          </a:p>
        </p:txBody>
      </p:sp>
      <p:sp>
        <p:nvSpPr>
          <p:cNvPr id="30747" name="Rectangle 28"/>
          <p:cNvSpPr>
            <a:spLocks/>
          </p:cNvSpPr>
          <p:nvPr/>
        </p:nvSpPr>
        <p:spPr bwMode="auto">
          <a:xfrm>
            <a:off x="2743200" y="5029200"/>
            <a:ext cx="234950" cy="307975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FF0000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</a:p>
        </p:txBody>
      </p:sp>
      <p:sp>
        <p:nvSpPr>
          <p:cNvPr id="30748" name="Rectangle 29"/>
          <p:cNvSpPr>
            <a:spLocks/>
          </p:cNvSpPr>
          <p:nvPr/>
        </p:nvSpPr>
        <p:spPr bwMode="auto">
          <a:xfrm>
            <a:off x="2743200" y="55626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</a:t>
            </a:r>
          </a:p>
        </p:txBody>
      </p:sp>
      <p:sp>
        <p:nvSpPr>
          <p:cNvPr id="30749" name="Line 30"/>
          <p:cNvSpPr>
            <a:spLocks noChangeShapeType="1"/>
          </p:cNvSpPr>
          <p:nvPr/>
        </p:nvSpPr>
        <p:spPr bwMode="auto">
          <a:xfrm>
            <a:off x="2743200" y="2514600"/>
            <a:ext cx="1588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50" name="Line 31"/>
          <p:cNvSpPr>
            <a:spLocks noChangeShapeType="1"/>
          </p:cNvSpPr>
          <p:nvPr/>
        </p:nvSpPr>
        <p:spPr bwMode="auto">
          <a:xfrm flipH="1">
            <a:off x="2971800" y="2209800"/>
            <a:ext cx="533400" cy="1066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51" name="Rectangle 32"/>
          <p:cNvSpPr>
            <a:spLocks/>
          </p:cNvSpPr>
          <p:nvPr/>
        </p:nvSpPr>
        <p:spPr bwMode="auto">
          <a:xfrm>
            <a:off x="3413125" y="1860550"/>
            <a:ext cx="76358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Name</a:t>
            </a:r>
          </a:p>
        </p:txBody>
      </p:sp>
      <p:sp>
        <p:nvSpPr>
          <p:cNvPr id="30752" name="Line 33"/>
          <p:cNvSpPr>
            <a:spLocks noChangeShapeType="1"/>
          </p:cNvSpPr>
          <p:nvPr/>
        </p:nvSpPr>
        <p:spPr bwMode="auto">
          <a:xfrm rot="10800000">
            <a:off x="4191000" y="3886200"/>
            <a:ext cx="137160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53" name="Rectangle 34"/>
          <p:cNvSpPr>
            <a:spLocks/>
          </p:cNvSpPr>
          <p:nvPr/>
        </p:nvSpPr>
        <p:spPr bwMode="auto">
          <a:xfrm>
            <a:off x="5546725" y="4070350"/>
            <a:ext cx="72231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Value</a:t>
            </a:r>
          </a:p>
        </p:txBody>
      </p:sp>
      <p:sp>
        <p:nvSpPr>
          <p:cNvPr id="30754" name="Rectangle 35"/>
          <p:cNvSpPr>
            <a:spLocks/>
          </p:cNvSpPr>
          <p:nvPr/>
        </p:nvSpPr>
        <p:spPr bwMode="auto">
          <a:xfrm>
            <a:off x="5394325" y="2014538"/>
            <a:ext cx="33020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A pointer is a variable whose value is the address of another</a:t>
            </a:r>
          </a:p>
        </p:txBody>
      </p:sp>
      <p:sp>
        <p:nvSpPr>
          <p:cNvPr id="30755" name="Rectangle 36"/>
          <p:cNvSpPr>
            <a:spLocks/>
          </p:cNvSpPr>
          <p:nvPr/>
        </p:nvSpPr>
        <p:spPr bwMode="auto">
          <a:xfrm>
            <a:off x="1828800" y="3352800"/>
            <a:ext cx="70326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</a:t>
            </a:r>
            <a:r>
              <a:rPr lang="en-US" sz="2400">
                <a:latin typeface="Courier New Bold" charset="0"/>
                <a:cs typeface="Courier New Bold" charset="0"/>
                <a:sym typeface="Courier New Bold" charset="0"/>
              </a:rPr>
              <a:t> </a:t>
            </a:r>
          </a:p>
        </p:txBody>
      </p:sp>
      <p:sp>
        <p:nvSpPr>
          <p:cNvPr id="30756" name="Freeform 37"/>
          <p:cNvSpPr>
            <a:spLocks/>
          </p:cNvSpPr>
          <p:nvPr/>
        </p:nvSpPr>
        <p:spPr bwMode="auto">
          <a:xfrm>
            <a:off x="906463" y="3800475"/>
            <a:ext cx="2370137" cy="1566863"/>
          </a:xfrm>
          <a:custGeom>
            <a:avLst/>
            <a:gdLst>
              <a:gd name="T0" fmla="*/ 2147483647 w 21215"/>
              <a:gd name="T1" fmla="*/ 2147483647 h 20815"/>
              <a:gd name="T2" fmla="*/ 2147483647 w 21215"/>
              <a:gd name="T3" fmla="*/ 2147483647 h 20815"/>
              <a:gd name="T4" fmla="*/ 2147483647 w 21215"/>
              <a:gd name="T5" fmla="*/ 2147483647 h 20815"/>
              <a:gd name="T6" fmla="*/ 2147483647 w 21215"/>
              <a:gd name="T7" fmla="*/ 2147483647 h 20815"/>
              <a:gd name="T8" fmla="*/ 2147483647 w 21215"/>
              <a:gd name="T9" fmla="*/ 2147483647 h 208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215"/>
              <a:gd name="T16" fmla="*/ 0 h 20815"/>
              <a:gd name="T17" fmla="*/ 21215 w 21215"/>
              <a:gd name="T18" fmla="*/ 20815 h 208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215" h="20815">
                <a:moveTo>
                  <a:pt x="21215" y="20363"/>
                </a:moveTo>
                <a:cubicBezTo>
                  <a:pt x="15815" y="20869"/>
                  <a:pt x="10415" y="21375"/>
                  <a:pt x="6891" y="19350"/>
                </a:cubicBezTo>
                <a:cubicBezTo>
                  <a:pt x="3367" y="17325"/>
                  <a:pt x="524" y="11250"/>
                  <a:pt x="70" y="8212"/>
                </a:cubicBezTo>
                <a:cubicBezTo>
                  <a:pt x="-385" y="5175"/>
                  <a:pt x="1434" y="2475"/>
                  <a:pt x="4162" y="1125"/>
                </a:cubicBezTo>
                <a:cubicBezTo>
                  <a:pt x="6891" y="-225"/>
                  <a:pt x="11666" y="-56"/>
                  <a:pt x="16440" y="112"/>
                </a:cubicBezTo>
              </a:path>
            </a:pathLst>
          </a:cu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757" name="Footer Placeholder 39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0758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59060BD-841A-7043-AE5F-93BA9DF00336}" type="slidenum">
              <a:rPr lang="en-US"/>
              <a:pPr/>
              <a:t>28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4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4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74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1750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What is the Output?</a:t>
            </a:r>
          </a:p>
        </p:txBody>
      </p:sp>
      <p:sp>
        <p:nvSpPr>
          <p:cNvPr id="31752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main() {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*p, q, 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x=10;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p=&amp;x;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*p=x+1;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q=x;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 = %d\n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, q);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3175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1754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62E6DE6-5AF5-6941-AC58-D92D5FD55AC5}" type="slidenum">
              <a:rPr lang="en-US"/>
              <a:pPr/>
              <a:t>29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77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2774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What is the Output?</a:t>
            </a:r>
          </a:p>
        </p:txBody>
      </p:sp>
      <p:sp>
        <p:nvSpPr>
          <p:cNvPr id="32776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main() {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*p, q, 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x=10;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p=&amp;x;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*p=x+1;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q=x;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 = %d\n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, q);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32777" name="Group 10"/>
          <p:cNvGrpSpPr>
            <a:grpSpLocks/>
          </p:cNvGrpSpPr>
          <p:nvPr/>
        </p:nvGrpSpPr>
        <p:grpSpPr bwMode="auto">
          <a:xfrm>
            <a:off x="4267200" y="2438400"/>
            <a:ext cx="1752600" cy="533400"/>
            <a:chOff x="0" y="0"/>
            <a:chExt cx="1104" cy="336"/>
          </a:xfrm>
        </p:grpSpPr>
        <p:sp>
          <p:nvSpPr>
            <p:cNvPr id="32790" name="Rectangle 11"/>
            <p:cNvSpPr>
              <a:spLocks/>
            </p:cNvSpPr>
            <p:nvPr/>
          </p:nvSpPr>
          <p:spPr bwMode="auto">
            <a:xfrm>
              <a:off x="0" y="0"/>
              <a:ext cx="1104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2791" name="Rectangle 12"/>
            <p:cNvSpPr>
              <a:spLocks/>
            </p:cNvSpPr>
            <p:nvPr/>
          </p:nvSpPr>
          <p:spPr bwMode="auto">
            <a:xfrm>
              <a:off x="215" y="28"/>
              <a:ext cx="673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#@*%!</a:t>
              </a:r>
            </a:p>
          </p:txBody>
        </p:sp>
      </p:grpSp>
      <p:grpSp>
        <p:nvGrpSpPr>
          <p:cNvPr id="32778" name="Group 13"/>
          <p:cNvGrpSpPr>
            <a:grpSpLocks/>
          </p:cNvGrpSpPr>
          <p:nvPr/>
        </p:nvGrpSpPr>
        <p:grpSpPr bwMode="auto">
          <a:xfrm>
            <a:off x="5638800" y="3048000"/>
            <a:ext cx="1752600" cy="533400"/>
            <a:chOff x="0" y="0"/>
            <a:chExt cx="1104" cy="336"/>
          </a:xfrm>
        </p:grpSpPr>
        <p:sp>
          <p:nvSpPr>
            <p:cNvPr id="32788" name="Rectangle 14"/>
            <p:cNvSpPr>
              <a:spLocks/>
            </p:cNvSpPr>
            <p:nvPr/>
          </p:nvSpPr>
          <p:spPr bwMode="auto">
            <a:xfrm>
              <a:off x="0" y="0"/>
              <a:ext cx="1104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2789" name="Rectangle 15"/>
            <p:cNvSpPr>
              <a:spLocks/>
            </p:cNvSpPr>
            <p:nvPr/>
          </p:nvSpPr>
          <p:spPr bwMode="auto">
            <a:xfrm>
              <a:off x="215" y="28"/>
              <a:ext cx="673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#@%$!</a:t>
              </a:r>
            </a:p>
          </p:txBody>
        </p:sp>
      </p:grpSp>
      <p:grpSp>
        <p:nvGrpSpPr>
          <p:cNvPr id="32779" name="Group 16"/>
          <p:cNvGrpSpPr>
            <a:grpSpLocks/>
          </p:cNvGrpSpPr>
          <p:nvPr/>
        </p:nvGrpSpPr>
        <p:grpSpPr bwMode="auto">
          <a:xfrm>
            <a:off x="7162800" y="3733800"/>
            <a:ext cx="1752600" cy="533400"/>
            <a:chOff x="0" y="0"/>
            <a:chExt cx="1104" cy="336"/>
          </a:xfrm>
        </p:grpSpPr>
        <p:sp>
          <p:nvSpPr>
            <p:cNvPr id="32786" name="Rectangle 17"/>
            <p:cNvSpPr>
              <a:spLocks/>
            </p:cNvSpPr>
            <p:nvPr/>
          </p:nvSpPr>
          <p:spPr bwMode="auto">
            <a:xfrm>
              <a:off x="0" y="0"/>
              <a:ext cx="1104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2787" name="Rectangle 18"/>
            <p:cNvSpPr>
              <a:spLocks/>
            </p:cNvSpPr>
            <p:nvPr/>
          </p:nvSpPr>
          <p:spPr bwMode="auto">
            <a:xfrm>
              <a:off x="272" y="28"/>
              <a:ext cx="55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@*%^</a:t>
              </a:r>
            </a:p>
          </p:txBody>
        </p:sp>
      </p:grpSp>
      <p:sp>
        <p:nvSpPr>
          <p:cNvPr id="32780" name="Rectangle 19"/>
          <p:cNvSpPr>
            <a:spLocks/>
          </p:cNvSpPr>
          <p:nvPr/>
        </p:nvSpPr>
        <p:spPr bwMode="auto">
          <a:xfrm>
            <a:off x="4267200" y="24384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</a:p>
        </p:txBody>
      </p:sp>
      <p:sp>
        <p:nvSpPr>
          <p:cNvPr id="32781" name="Rectangle 20"/>
          <p:cNvSpPr>
            <a:spLocks/>
          </p:cNvSpPr>
          <p:nvPr/>
        </p:nvSpPr>
        <p:spPr bwMode="auto">
          <a:xfrm>
            <a:off x="5638800" y="30480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</a:t>
            </a:r>
          </a:p>
        </p:txBody>
      </p:sp>
      <p:sp>
        <p:nvSpPr>
          <p:cNvPr id="32782" name="Rectangle 21"/>
          <p:cNvSpPr>
            <a:spLocks/>
          </p:cNvSpPr>
          <p:nvPr/>
        </p:nvSpPr>
        <p:spPr bwMode="auto">
          <a:xfrm>
            <a:off x="7162800" y="37338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</a:p>
        </p:txBody>
      </p:sp>
      <p:sp>
        <p:nvSpPr>
          <p:cNvPr id="32783" name="Footer Placeholder 2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2784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94CD01F-19CE-584F-92F3-2873DEBAE4BF}" type="slidenum">
              <a:rPr lang="en-US"/>
              <a:pPr/>
              <a:t>30</a:t>
            </a:fld>
            <a:endParaRPr lang="en-US"/>
          </a:p>
        </p:txBody>
      </p:sp>
      <p:sp>
        <p:nvSpPr>
          <p:cNvPr id="32785" name="Right Arrow 23"/>
          <p:cNvSpPr>
            <a:spLocks noChangeArrowheads="1"/>
          </p:cNvSpPr>
          <p:nvPr/>
        </p:nvSpPr>
        <p:spPr bwMode="auto">
          <a:xfrm>
            <a:off x="304800" y="3124200"/>
            <a:ext cx="990600" cy="381000"/>
          </a:xfrm>
          <a:prstGeom prst="rightArrow">
            <a:avLst>
              <a:gd name="adj1" fmla="val 50000"/>
              <a:gd name="adj2" fmla="val 50002"/>
            </a:avLst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79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79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79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3798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What is the Output?</a:t>
            </a:r>
          </a:p>
        </p:txBody>
      </p:sp>
      <p:sp>
        <p:nvSpPr>
          <p:cNvPr id="33800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main() {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*p, q, 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x=10;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p=&amp;x;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*p=x+1;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q=x;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 = %d\n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, q);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33801" name="Group 10"/>
          <p:cNvGrpSpPr>
            <a:grpSpLocks/>
          </p:cNvGrpSpPr>
          <p:nvPr/>
        </p:nvGrpSpPr>
        <p:grpSpPr bwMode="auto">
          <a:xfrm>
            <a:off x="4267200" y="2438400"/>
            <a:ext cx="1752600" cy="533400"/>
            <a:chOff x="0" y="0"/>
            <a:chExt cx="1104" cy="336"/>
          </a:xfrm>
        </p:grpSpPr>
        <p:sp>
          <p:nvSpPr>
            <p:cNvPr id="33814" name="Rectangle 11"/>
            <p:cNvSpPr>
              <a:spLocks/>
            </p:cNvSpPr>
            <p:nvPr/>
          </p:nvSpPr>
          <p:spPr bwMode="auto">
            <a:xfrm>
              <a:off x="0" y="0"/>
              <a:ext cx="1104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815" name="Rectangle 12"/>
            <p:cNvSpPr>
              <a:spLocks/>
            </p:cNvSpPr>
            <p:nvPr/>
          </p:nvSpPr>
          <p:spPr bwMode="auto">
            <a:xfrm>
              <a:off x="215" y="28"/>
              <a:ext cx="673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#@*%!</a:t>
              </a:r>
            </a:p>
          </p:txBody>
        </p:sp>
      </p:grpSp>
      <p:grpSp>
        <p:nvGrpSpPr>
          <p:cNvPr id="33802" name="Group 13"/>
          <p:cNvGrpSpPr>
            <a:grpSpLocks/>
          </p:cNvGrpSpPr>
          <p:nvPr/>
        </p:nvGrpSpPr>
        <p:grpSpPr bwMode="auto">
          <a:xfrm>
            <a:off x="5638800" y="3048000"/>
            <a:ext cx="1752600" cy="533400"/>
            <a:chOff x="0" y="0"/>
            <a:chExt cx="1104" cy="336"/>
          </a:xfrm>
        </p:grpSpPr>
        <p:sp>
          <p:nvSpPr>
            <p:cNvPr id="33812" name="Rectangle 14"/>
            <p:cNvSpPr>
              <a:spLocks/>
            </p:cNvSpPr>
            <p:nvPr/>
          </p:nvSpPr>
          <p:spPr bwMode="auto">
            <a:xfrm>
              <a:off x="0" y="0"/>
              <a:ext cx="1104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813" name="Rectangle 15"/>
            <p:cNvSpPr>
              <a:spLocks/>
            </p:cNvSpPr>
            <p:nvPr/>
          </p:nvSpPr>
          <p:spPr bwMode="auto">
            <a:xfrm>
              <a:off x="215" y="28"/>
              <a:ext cx="673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#@%$!</a:t>
              </a:r>
            </a:p>
          </p:txBody>
        </p:sp>
      </p:grpSp>
      <p:grpSp>
        <p:nvGrpSpPr>
          <p:cNvPr id="33803" name="Group 16"/>
          <p:cNvGrpSpPr>
            <a:grpSpLocks/>
          </p:cNvGrpSpPr>
          <p:nvPr/>
        </p:nvGrpSpPr>
        <p:grpSpPr bwMode="auto">
          <a:xfrm>
            <a:off x="7162800" y="3733800"/>
            <a:ext cx="1752600" cy="533400"/>
            <a:chOff x="0" y="0"/>
            <a:chExt cx="1104" cy="336"/>
          </a:xfrm>
        </p:grpSpPr>
        <p:sp>
          <p:nvSpPr>
            <p:cNvPr id="33810" name="Rectangle 17"/>
            <p:cNvSpPr>
              <a:spLocks/>
            </p:cNvSpPr>
            <p:nvPr/>
          </p:nvSpPr>
          <p:spPr bwMode="auto">
            <a:xfrm>
              <a:off x="0" y="0"/>
              <a:ext cx="1104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3811" name="Rectangle 18"/>
            <p:cNvSpPr>
              <a:spLocks/>
            </p:cNvSpPr>
            <p:nvPr/>
          </p:nvSpPr>
          <p:spPr bwMode="auto">
            <a:xfrm>
              <a:off x="387" y="28"/>
              <a:ext cx="32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10</a:t>
              </a:r>
            </a:p>
          </p:txBody>
        </p:sp>
      </p:grpSp>
      <p:sp>
        <p:nvSpPr>
          <p:cNvPr id="33804" name="Rectangle 19"/>
          <p:cNvSpPr>
            <a:spLocks/>
          </p:cNvSpPr>
          <p:nvPr/>
        </p:nvSpPr>
        <p:spPr bwMode="auto">
          <a:xfrm>
            <a:off x="4267200" y="24384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</a:p>
        </p:txBody>
      </p:sp>
      <p:sp>
        <p:nvSpPr>
          <p:cNvPr id="33805" name="Rectangle 20"/>
          <p:cNvSpPr>
            <a:spLocks/>
          </p:cNvSpPr>
          <p:nvPr/>
        </p:nvSpPr>
        <p:spPr bwMode="auto">
          <a:xfrm>
            <a:off x="5638800" y="30480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</a:t>
            </a:r>
          </a:p>
        </p:txBody>
      </p:sp>
      <p:sp>
        <p:nvSpPr>
          <p:cNvPr id="33806" name="Rectangle 21"/>
          <p:cNvSpPr>
            <a:spLocks/>
          </p:cNvSpPr>
          <p:nvPr/>
        </p:nvSpPr>
        <p:spPr bwMode="auto">
          <a:xfrm>
            <a:off x="7162800" y="37338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</a:p>
        </p:txBody>
      </p:sp>
      <p:sp>
        <p:nvSpPr>
          <p:cNvPr id="33807" name="Footer Placeholder 2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3808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3813411-8867-CB40-AC8D-5818525FBAAC}" type="slidenum">
              <a:rPr lang="en-US"/>
              <a:pPr/>
              <a:t>31</a:t>
            </a:fld>
            <a:endParaRPr lang="en-US"/>
          </a:p>
        </p:txBody>
      </p:sp>
      <p:sp>
        <p:nvSpPr>
          <p:cNvPr id="23" name="Right Arrow 22"/>
          <p:cNvSpPr>
            <a:spLocks noChangeArrowheads="1"/>
          </p:cNvSpPr>
          <p:nvPr/>
        </p:nvSpPr>
        <p:spPr bwMode="auto">
          <a:xfrm>
            <a:off x="304800" y="3124200"/>
            <a:ext cx="990600" cy="381000"/>
          </a:xfrm>
          <a:prstGeom prst="rightArrow">
            <a:avLst>
              <a:gd name="adj1" fmla="val 50000"/>
              <a:gd name="adj2" fmla="val 50002"/>
            </a:avLst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2.08189E-6 L 1.38778E-17 0.0721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481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482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482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4822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What is the Output?</a:t>
            </a:r>
          </a:p>
        </p:txBody>
      </p:sp>
      <p:sp>
        <p:nvSpPr>
          <p:cNvPr id="34824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main() {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*p, q, 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x=10;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p=&amp;x;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*p=x+1;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q=x;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 = %d\n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, q);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34825" name="Rectangle 10"/>
          <p:cNvSpPr>
            <a:spLocks/>
          </p:cNvSpPr>
          <p:nvPr/>
        </p:nvSpPr>
        <p:spPr bwMode="auto">
          <a:xfrm>
            <a:off x="4267200" y="2438400"/>
            <a:ext cx="1752600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4826" name="Group 11"/>
          <p:cNvGrpSpPr>
            <a:grpSpLocks/>
          </p:cNvGrpSpPr>
          <p:nvPr/>
        </p:nvGrpSpPr>
        <p:grpSpPr bwMode="auto">
          <a:xfrm>
            <a:off x="5638800" y="3048000"/>
            <a:ext cx="1752600" cy="533400"/>
            <a:chOff x="0" y="0"/>
            <a:chExt cx="1104" cy="336"/>
          </a:xfrm>
        </p:grpSpPr>
        <p:sp>
          <p:nvSpPr>
            <p:cNvPr id="34837" name="Rectangle 12"/>
            <p:cNvSpPr>
              <a:spLocks/>
            </p:cNvSpPr>
            <p:nvPr/>
          </p:nvSpPr>
          <p:spPr bwMode="auto">
            <a:xfrm>
              <a:off x="0" y="0"/>
              <a:ext cx="1104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4838" name="Rectangle 13"/>
            <p:cNvSpPr>
              <a:spLocks/>
            </p:cNvSpPr>
            <p:nvPr/>
          </p:nvSpPr>
          <p:spPr bwMode="auto">
            <a:xfrm>
              <a:off x="215" y="28"/>
              <a:ext cx="673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#@%$!</a:t>
              </a:r>
            </a:p>
          </p:txBody>
        </p:sp>
      </p:grpSp>
      <p:grpSp>
        <p:nvGrpSpPr>
          <p:cNvPr id="34827" name="Group 14"/>
          <p:cNvGrpSpPr>
            <a:grpSpLocks/>
          </p:cNvGrpSpPr>
          <p:nvPr/>
        </p:nvGrpSpPr>
        <p:grpSpPr bwMode="auto">
          <a:xfrm>
            <a:off x="7162800" y="3733800"/>
            <a:ext cx="1752600" cy="533400"/>
            <a:chOff x="0" y="0"/>
            <a:chExt cx="1104" cy="336"/>
          </a:xfrm>
        </p:grpSpPr>
        <p:sp>
          <p:nvSpPr>
            <p:cNvPr id="34835" name="Rectangle 15"/>
            <p:cNvSpPr>
              <a:spLocks/>
            </p:cNvSpPr>
            <p:nvPr/>
          </p:nvSpPr>
          <p:spPr bwMode="auto">
            <a:xfrm>
              <a:off x="0" y="0"/>
              <a:ext cx="1104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4836" name="Rectangle 16"/>
            <p:cNvSpPr>
              <a:spLocks/>
            </p:cNvSpPr>
            <p:nvPr/>
          </p:nvSpPr>
          <p:spPr bwMode="auto">
            <a:xfrm>
              <a:off x="387" y="28"/>
              <a:ext cx="32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10</a:t>
              </a:r>
            </a:p>
          </p:txBody>
        </p:sp>
      </p:grpSp>
      <p:sp>
        <p:nvSpPr>
          <p:cNvPr id="34828" name="Rectangle 17"/>
          <p:cNvSpPr>
            <a:spLocks/>
          </p:cNvSpPr>
          <p:nvPr/>
        </p:nvSpPr>
        <p:spPr bwMode="auto">
          <a:xfrm>
            <a:off x="4267200" y="24384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</a:p>
        </p:txBody>
      </p:sp>
      <p:sp>
        <p:nvSpPr>
          <p:cNvPr id="34829" name="Rectangle 18"/>
          <p:cNvSpPr>
            <a:spLocks/>
          </p:cNvSpPr>
          <p:nvPr/>
        </p:nvSpPr>
        <p:spPr bwMode="auto">
          <a:xfrm>
            <a:off x="5638800" y="30480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</a:t>
            </a:r>
          </a:p>
        </p:txBody>
      </p:sp>
      <p:sp>
        <p:nvSpPr>
          <p:cNvPr id="34830" name="Rectangle 19"/>
          <p:cNvSpPr>
            <a:spLocks/>
          </p:cNvSpPr>
          <p:nvPr/>
        </p:nvSpPr>
        <p:spPr bwMode="auto">
          <a:xfrm>
            <a:off x="7162800" y="37338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</a:p>
        </p:txBody>
      </p:sp>
      <p:sp>
        <p:nvSpPr>
          <p:cNvPr id="34831" name="Freeform 20"/>
          <p:cNvSpPr>
            <a:spLocks/>
          </p:cNvSpPr>
          <p:nvPr/>
        </p:nvSpPr>
        <p:spPr bwMode="auto">
          <a:xfrm>
            <a:off x="4953000" y="2743200"/>
            <a:ext cx="2133600" cy="1295400"/>
          </a:xfrm>
          <a:custGeom>
            <a:avLst/>
            <a:gdLst>
              <a:gd name="T0" fmla="*/ 0 w 21600"/>
              <a:gd name="T1" fmla="*/ 0 h 20037"/>
              <a:gd name="T2" fmla="*/ 2147483647 w 21600"/>
              <a:gd name="T3" fmla="*/ 2147483647 h 20037"/>
              <a:gd name="T4" fmla="*/ 2147483647 w 21600"/>
              <a:gd name="T5" fmla="*/ 2147483647 h 20037"/>
              <a:gd name="T6" fmla="*/ 0 60000 65536"/>
              <a:gd name="T7" fmla="*/ 0 60000 65536"/>
              <a:gd name="T8" fmla="*/ 0 60000 65536"/>
              <a:gd name="T9" fmla="*/ 0 w 21600"/>
              <a:gd name="T10" fmla="*/ 0 h 20037"/>
              <a:gd name="T11" fmla="*/ 21600 w 21600"/>
              <a:gd name="T12" fmla="*/ 20037 h 200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037">
                <a:moveTo>
                  <a:pt x="0" y="0"/>
                </a:moveTo>
                <a:cubicBezTo>
                  <a:pt x="1800" y="8051"/>
                  <a:pt x="3600" y="16102"/>
                  <a:pt x="7200" y="18851"/>
                </a:cubicBezTo>
                <a:cubicBezTo>
                  <a:pt x="10800" y="21600"/>
                  <a:pt x="16200" y="19047"/>
                  <a:pt x="21600" y="16495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4832" name="Footer Placeholder 2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4833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6129356-C2E1-454E-87AE-BD7A2CC042A2}" type="slidenum">
              <a:rPr lang="en-US"/>
              <a:pPr/>
              <a:t>32</a:t>
            </a:fld>
            <a:endParaRPr lang="en-US"/>
          </a:p>
        </p:txBody>
      </p:sp>
      <p:sp>
        <p:nvSpPr>
          <p:cNvPr id="22" name="Right Arrow 21"/>
          <p:cNvSpPr>
            <a:spLocks noChangeArrowheads="1"/>
          </p:cNvSpPr>
          <p:nvPr/>
        </p:nvSpPr>
        <p:spPr bwMode="auto">
          <a:xfrm>
            <a:off x="304800" y="3581400"/>
            <a:ext cx="990600" cy="381000"/>
          </a:xfrm>
          <a:prstGeom prst="rightArrow">
            <a:avLst>
              <a:gd name="adj1" fmla="val 50000"/>
              <a:gd name="adj2" fmla="val 50002"/>
            </a:avLst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2.08189E-6 L 1.38778E-17 0.0721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4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4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4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584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What is the Output?</a:t>
            </a:r>
          </a:p>
        </p:txBody>
      </p:sp>
      <p:sp>
        <p:nvSpPr>
          <p:cNvPr id="35848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main() {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*p, q, 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x=10;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p=&amp;x;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*p=x+1;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q=x;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 = %d\n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, q);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35849" name="Rectangle 10"/>
          <p:cNvSpPr>
            <a:spLocks/>
          </p:cNvSpPr>
          <p:nvPr/>
        </p:nvSpPr>
        <p:spPr bwMode="auto">
          <a:xfrm>
            <a:off x="4267200" y="2438400"/>
            <a:ext cx="1752600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5850" name="Group 11"/>
          <p:cNvGrpSpPr>
            <a:grpSpLocks/>
          </p:cNvGrpSpPr>
          <p:nvPr/>
        </p:nvGrpSpPr>
        <p:grpSpPr bwMode="auto">
          <a:xfrm>
            <a:off x="5638800" y="3048000"/>
            <a:ext cx="1752600" cy="533400"/>
            <a:chOff x="0" y="0"/>
            <a:chExt cx="1104" cy="336"/>
          </a:xfrm>
        </p:grpSpPr>
        <p:sp>
          <p:nvSpPr>
            <p:cNvPr id="35861" name="Rectangle 12"/>
            <p:cNvSpPr>
              <a:spLocks/>
            </p:cNvSpPr>
            <p:nvPr/>
          </p:nvSpPr>
          <p:spPr bwMode="auto">
            <a:xfrm>
              <a:off x="0" y="0"/>
              <a:ext cx="1104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62" name="Rectangle 13"/>
            <p:cNvSpPr>
              <a:spLocks/>
            </p:cNvSpPr>
            <p:nvPr/>
          </p:nvSpPr>
          <p:spPr bwMode="auto">
            <a:xfrm>
              <a:off x="215" y="28"/>
              <a:ext cx="673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#@%$!</a:t>
              </a:r>
            </a:p>
          </p:txBody>
        </p:sp>
      </p:grpSp>
      <p:grpSp>
        <p:nvGrpSpPr>
          <p:cNvPr id="35851" name="Group 14"/>
          <p:cNvGrpSpPr>
            <a:grpSpLocks/>
          </p:cNvGrpSpPr>
          <p:nvPr/>
        </p:nvGrpSpPr>
        <p:grpSpPr bwMode="auto">
          <a:xfrm>
            <a:off x="7162800" y="3733800"/>
            <a:ext cx="1752600" cy="533400"/>
            <a:chOff x="0" y="0"/>
            <a:chExt cx="1104" cy="336"/>
          </a:xfrm>
        </p:grpSpPr>
        <p:sp>
          <p:nvSpPr>
            <p:cNvPr id="35859" name="Rectangle 15"/>
            <p:cNvSpPr>
              <a:spLocks/>
            </p:cNvSpPr>
            <p:nvPr/>
          </p:nvSpPr>
          <p:spPr bwMode="auto">
            <a:xfrm>
              <a:off x="0" y="0"/>
              <a:ext cx="1104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5860" name="Rectangle 16"/>
            <p:cNvSpPr>
              <a:spLocks/>
            </p:cNvSpPr>
            <p:nvPr/>
          </p:nvSpPr>
          <p:spPr bwMode="auto">
            <a:xfrm>
              <a:off x="387" y="28"/>
              <a:ext cx="32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11</a:t>
              </a:r>
            </a:p>
          </p:txBody>
        </p:sp>
      </p:grpSp>
      <p:sp>
        <p:nvSpPr>
          <p:cNvPr id="35852" name="Rectangle 17"/>
          <p:cNvSpPr>
            <a:spLocks/>
          </p:cNvSpPr>
          <p:nvPr/>
        </p:nvSpPr>
        <p:spPr bwMode="auto">
          <a:xfrm>
            <a:off x="4267200" y="24384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</a:p>
        </p:txBody>
      </p:sp>
      <p:sp>
        <p:nvSpPr>
          <p:cNvPr id="35853" name="Rectangle 18"/>
          <p:cNvSpPr>
            <a:spLocks/>
          </p:cNvSpPr>
          <p:nvPr/>
        </p:nvSpPr>
        <p:spPr bwMode="auto">
          <a:xfrm>
            <a:off x="5638800" y="30480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</a:t>
            </a:r>
          </a:p>
        </p:txBody>
      </p:sp>
      <p:sp>
        <p:nvSpPr>
          <p:cNvPr id="35854" name="Rectangle 19"/>
          <p:cNvSpPr>
            <a:spLocks/>
          </p:cNvSpPr>
          <p:nvPr/>
        </p:nvSpPr>
        <p:spPr bwMode="auto">
          <a:xfrm>
            <a:off x="7162800" y="37338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</a:p>
        </p:txBody>
      </p:sp>
      <p:sp>
        <p:nvSpPr>
          <p:cNvPr id="35855" name="Freeform 20"/>
          <p:cNvSpPr>
            <a:spLocks/>
          </p:cNvSpPr>
          <p:nvPr/>
        </p:nvSpPr>
        <p:spPr bwMode="auto">
          <a:xfrm>
            <a:off x="4953000" y="2743200"/>
            <a:ext cx="2133600" cy="1295400"/>
          </a:xfrm>
          <a:custGeom>
            <a:avLst/>
            <a:gdLst>
              <a:gd name="T0" fmla="*/ 0 w 21600"/>
              <a:gd name="T1" fmla="*/ 0 h 20037"/>
              <a:gd name="T2" fmla="*/ 2147483647 w 21600"/>
              <a:gd name="T3" fmla="*/ 2147483647 h 20037"/>
              <a:gd name="T4" fmla="*/ 2147483647 w 21600"/>
              <a:gd name="T5" fmla="*/ 2147483647 h 20037"/>
              <a:gd name="T6" fmla="*/ 0 60000 65536"/>
              <a:gd name="T7" fmla="*/ 0 60000 65536"/>
              <a:gd name="T8" fmla="*/ 0 60000 65536"/>
              <a:gd name="T9" fmla="*/ 0 w 21600"/>
              <a:gd name="T10" fmla="*/ 0 h 20037"/>
              <a:gd name="T11" fmla="*/ 21600 w 21600"/>
              <a:gd name="T12" fmla="*/ 20037 h 200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037">
                <a:moveTo>
                  <a:pt x="0" y="0"/>
                </a:moveTo>
                <a:cubicBezTo>
                  <a:pt x="1800" y="8051"/>
                  <a:pt x="3600" y="16102"/>
                  <a:pt x="7200" y="18851"/>
                </a:cubicBezTo>
                <a:cubicBezTo>
                  <a:pt x="10800" y="21600"/>
                  <a:pt x="16200" y="19047"/>
                  <a:pt x="21600" y="16495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5856" name="Footer Placeholder 2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5857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B1834FA-7B27-DE4F-9F2D-22188BE268B8}" type="slidenum">
              <a:rPr lang="en-US"/>
              <a:pPr/>
              <a:t>33</a:t>
            </a:fld>
            <a:endParaRPr lang="en-US"/>
          </a:p>
        </p:txBody>
      </p:sp>
      <p:sp>
        <p:nvSpPr>
          <p:cNvPr id="22" name="Right Arrow 21"/>
          <p:cNvSpPr>
            <a:spLocks noChangeArrowheads="1"/>
          </p:cNvSpPr>
          <p:nvPr/>
        </p:nvSpPr>
        <p:spPr bwMode="auto">
          <a:xfrm>
            <a:off x="304800" y="4114800"/>
            <a:ext cx="990600" cy="381000"/>
          </a:xfrm>
          <a:prstGeom prst="rightArrow">
            <a:avLst>
              <a:gd name="adj1" fmla="val 50000"/>
              <a:gd name="adj2" fmla="val 50002"/>
            </a:avLst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2.08189E-6 L 1.38778E-17 0.0721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86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86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86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687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What is the Output?</a:t>
            </a:r>
          </a:p>
        </p:txBody>
      </p:sp>
      <p:sp>
        <p:nvSpPr>
          <p:cNvPr id="36872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main() {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*p, q, 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x=10;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p=&amp;x;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*p=x+1;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q=x;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 = %d\n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, q);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36873" name="Rectangle 10"/>
          <p:cNvSpPr>
            <a:spLocks/>
          </p:cNvSpPr>
          <p:nvPr/>
        </p:nvSpPr>
        <p:spPr bwMode="auto">
          <a:xfrm>
            <a:off x="4267200" y="2438400"/>
            <a:ext cx="1752600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36874" name="Group 11"/>
          <p:cNvGrpSpPr>
            <a:grpSpLocks/>
          </p:cNvGrpSpPr>
          <p:nvPr/>
        </p:nvGrpSpPr>
        <p:grpSpPr bwMode="auto">
          <a:xfrm>
            <a:off x="5638800" y="3048000"/>
            <a:ext cx="1752600" cy="533400"/>
            <a:chOff x="0" y="0"/>
            <a:chExt cx="1104" cy="336"/>
          </a:xfrm>
        </p:grpSpPr>
        <p:sp>
          <p:nvSpPr>
            <p:cNvPr id="36885" name="Rectangle 12"/>
            <p:cNvSpPr>
              <a:spLocks/>
            </p:cNvSpPr>
            <p:nvPr/>
          </p:nvSpPr>
          <p:spPr bwMode="auto">
            <a:xfrm>
              <a:off x="0" y="0"/>
              <a:ext cx="1104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86" name="Rectangle 13"/>
            <p:cNvSpPr>
              <a:spLocks/>
            </p:cNvSpPr>
            <p:nvPr/>
          </p:nvSpPr>
          <p:spPr bwMode="auto">
            <a:xfrm>
              <a:off x="387" y="28"/>
              <a:ext cx="32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11</a:t>
              </a:r>
            </a:p>
          </p:txBody>
        </p:sp>
      </p:grpSp>
      <p:grpSp>
        <p:nvGrpSpPr>
          <p:cNvPr id="36875" name="Group 14"/>
          <p:cNvGrpSpPr>
            <a:grpSpLocks/>
          </p:cNvGrpSpPr>
          <p:nvPr/>
        </p:nvGrpSpPr>
        <p:grpSpPr bwMode="auto">
          <a:xfrm>
            <a:off x="7162800" y="3733800"/>
            <a:ext cx="1752600" cy="533400"/>
            <a:chOff x="0" y="0"/>
            <a:chExt cx="1104" cy="336"/>
          </a:xfrm>
        </p:grpSpPr>
        <p:sp>
          <p:nvSpPr>
            <p:cNvPr id="36883" name="Rectangle 15"/>
            <p:cNvSpPr>
              <a:spLocks/>
            </p:cNvSpPr>
            <p:nvPr/>
          </p:nvSpPr>
          <p:spPr bwMode="auto">
            <a:xfrm>
              <a:off x="0" y="0"/>
              <a:ext cx="1104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6884" name="Rectangle 16"/>
            <p:cNvSpPr>
              <a:spLocks/>
            </p:cNvSpPr>
            <p:nvPr/>
          </p:nvSpPr>
          <p:spPr bwMode="auto">
            <a:xfrm>
              <a:off x="387" y="28"/>
              <a:ext cx="32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11</a:t>
              </a:r>
            </a:p>
          </p:txBody>
        </p:sp>
      </p:grpSp>
      <p:sp>
        <p:nvSpPr>
          <p:cNvPr id="36876" name="Rectangle 17"/>
          <p:cNvSpPr>
            <a:spLocks/>
          </p:cNvSpPr>
          <p:nvPr/>
        </p:nvSpPr>
        <p:spPr bwMode="auto">
          <a:xfrm>
            <a:off x="4267200" y="24384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</a:p>
        </p:txBody>
      </p:sp>
      <p:sp>
        <p:nvSpPr>
          <p:cNvPr id="36877" name="Rectangle 18"/>
          <p:cNvSpPr>
            <a:spLocks/>
          </p:cNvSpPr>
          <p:nvPr/>
        </p:nvSpPr>
        <p:spPr bwMode="auto">
          <a:xfrm>
            <a:off x="5638800" y="30480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</a:t>
            </a:r>
          </a:p>
        </p:txBody>
      </p:sp>
      <p:sp>
        <p:nvSpPr>
          <p:cNvPr id="36878" name="Rectangle 19"/>
          <p:cNvSpPr>
            <a:spLocks/>
          </p:cNvSpPr>
          <p:nvPr/>
        </p:nvSpPr>
        <p:spPr bwMode="auto">
          <a:xfrm>
            <a:off x="7162800" y="3733800"/>
            <a:ext cx="306388" cy="3937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</a:p>
        </p:txBody>
      </p:sp>
      <p:sp>
        <p:nvSpPr>
          <p:cNvPr id="36879" name="Freeform 20"/>
          <p:cNvSpPr>
            <a:spLocks/>
          </p:cNvSpPr>
          <p:nvPr/>
        </p:nvSpPr>
        <p:spPr bwMode="auto">
          <a:xfrm>
            <a:off x="4953000" y="2743200"/>
            <a:ext cx="2133600" cy="1295400"/>
          </a:xfrm>
          <a:custGeom>
            <a:avLst/>
            <a:gdLst>
              <a:gd name="T0" fmla="*/ 0 w 21600"/>
              <a:gd name="T1" fmla="*/ 0 h 20037"/>
              <a:gd name="T2" fmla="*/ 2147483647 w 21600"/>
              <a:gd name="T3" fmla="*/ 2147483647 h 20037"/>
              <a:gd name="T4" fmla="*/ 2147483647 w 21600"/>
              <a:gd name="T5" fmla="*/ 2147483647 h 20037"/>
              <a:gd name="T6" fmla="*/ 0 60000 65536"/>
              <a:gd name="T7" fmla="*/ 0 60000 65536"/>
              <a:gd name="T8" fmla="*/ 0 60000 65536"/>
              <a:gd name="T9" fmla="*/ 0 w 21600"/>
              <a:gd name="T10" fmla="*/ 0 h 20037"/>
              <a:gd name="T11" fmla="*/ 21600 w 21600"/>
              <a:gd name="T12" fmla="*/ 20037 h 200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037">
                <a:moveTo>
                  <a:pt x="0" y="0"/>
                </a:moveTo>
                <a:cubicBezTo>
                  <a:pt x="1800" y="8051"/>
                  <a:pt x="3600" y="16102"/>
                  <a:pt x="7200" y="18851"/>
                </a:cubicBezTo>
                <a:cubicBezTo>
                  <a:pt x="10800" y="21600"/>
                  <a:pt x="16200" y="19047"/>
                  <a:pt x="21600" y="16495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6880" name="Footer Placeholder 2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6881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727ED0B-4B16-BD44-A2D3-9819F4FDE692}" type="slidenum">
              <a:rPr lang="en-US"/>
              <a:pPr/>
              <a:t>34</a:t>
            </a:fld>
            <a:endParaRPr lang="en-US"/>
          </a:p>
        </p:txBody>
      </p:sp>
      <p:sp>
        <p:nvSpPr>
          <p:cNvPr id="36882" name="Right Arrow 21"/>
          <p:cNvSpPr>
            <a:spLocks noChangeArrowheads="1"/>
          </p:cNvSpPr>
          <p:nvPr/>
        </p:nvSpPr>
        <p:spPr bwMode="auto">
          <a:xfrm>
            <a:off x="304800" y="4648200"/>
            <a:ext cx="990600" cy="381000"/>
          </a:xfrm>
          <a:prstGeom prst="rightArrow">
            <a:avLst>
              <a:gd name="adj1" fmla="val 50000"/>
              <a:gd name="adj2" fmla="val 50002"/>
            </a:avLst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789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789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789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7894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5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Cardinal Rule: Must Initialize Pointers before Using them</a:t>
            </a:r>
          </a:p>
        </p:txBody>
      </p:sp>
      <p:sp>
        <p:nvSpPr>
          <p:cNvPr id="37896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*p;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 = 10;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37897" name="Line 10"/>
          <p:cNvSpPr>
            <a:spLocks noChangeShapeType="1"/>
          </p:cNvSpPr>
          <p:nvPr/>
        </p:nvSpPr>
        <p:spPr bwMode="auto">
          <a:xfrm flipH="1">
            <a:off x="2895600" y="2514600"/>
            <a:ext cx="14478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7898" name="Rectangle 11"/>
          <p:cNvSpPr>
            <a:spLocks/>
          </p:cNvSpPr>
          <p:nvPr/>
        </p:nvSpPr>
        <p:spPr bwMode="auto">
          <a:xfrm>
            <a:off x="4403725" y="2243138"/>
            <a:ext cx="2847975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3200">
                <a:solidFill>
                  <a:srgbClr val="FF0000"/>
                </a:solidFill>
                <a:cs typeface="Tahoma" charset="0"/>
              </a:rPr>
              <a:t>GOOD or BAD?</a:t>
            </a:r>
          </a:p>
        </p:txBody>
      </p:sp>
      <p:sp>
        <p:nvSpPr>
          <p:cNvPr id="37899" name="Footer Placeholder 1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7900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B8737C1-AAFC-FF4A-821B-B683082222D5}" type="slidenum">
              <a:rPr lang="en-US"/>
              <a:pPr/>
              <a:t>35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1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1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1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8918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Cardinal Rule: Must Initialize Pointers before Using them</a:t>
            </a:r>
          </a:p>
        </p:txBody>
      </p:sp>
      <p:sp>
        <p:nvSpPr>
          <p:cNvPr id="38920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*p;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 = 10;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38921" name="Group 10"/>
          <p:cNvGrpSpPr>
            <a:grpSpLocks/>
          </p:cNvGrpSpPr>
          <p:nvPr/>
        </p:nvGrpSpPr>
        <p:grpSpPr bwMode="auto">
          <a:xfrm>
            <a:off x="2743200" y="4343400"/>
            <a:ext cx="1828800" cy="533400"/>
            <a:chOff x="0" y="0"/>
            <a:chExt cx="1152" cy="336"/>
          </a:xfrm>
        </p:grpSpPr>
        <p:sp>
          <p:nvSpPr>
            <p:cNvPr id="38930" name="Rectangle 11"/>
            <p:cNvSpPr>
              <a:spLocks/>
            </p:cNvSpPr>
            <p:nvPr/>
          </p:nvSpPr>
          <p:spPr bwMode="auto">
            <a:xfrm>
              <a:off x="0" y="0"/>
              <a:ext cx="1152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8931" name="Rectangle 12"/>
            <p:cNvSpPr>
              <a:spLocks/>
            </p:cNvSpPr>
            <p:nvPr/>
          </p:nvSpPr>
          <p:spPr bwMode="auto">
            <a:xfrm>
              <a:off x="239" y="28"/>
              <a:ext cx="673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#@*%!</a:t>
              </a:r>
            </a:p>
          </p:txBody>
        </p:sp>
      </p:grpSp>
      <p:sp>
        <p:nvSpPr>
          <p:cNvPr id="38922" name="Rectangle 13"/>
          <p:cNvSpPr>
            <a:spLocks/>
          </p:cNvSpPr>
          <p:nvPr/>
        </p:nvSpPr>
        <p:spPr bwMode="auto">
          <a:xfrm>
            <a:off x="2743200" y="4343400"/>
            <a:ext cx="365125" cy="396875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</a:p>
        </p:txBody>
      </p:sp>
      <p:sp>
        <p:nvSpPr>
          <p:cNvPr id="38923" name="Line 14"/>
          <p:cNvSpPr>
            <a:spLocks noChangeShapeType="1"/>
          </p:cNvSpPr>
          <p:nvPr/>
        </p:nvSpPr>
        <p:spPr bwMode="auto">
          <a:xfrm>
            <a:off x="4267200" y="4724400"/>
            <a:ext cx="2590800" cy="152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24" name="Rectangle 15"/>
          <p:cNvSpPr>
            <a:spLocks/>
          </p:cNvSpPr>
          <p:nvPr/>
        </p:nvSpPr>
        <p:spPr bwMode="auto">
          <a:xfrm>
            <a:off x="6918325" y="4605338"/>
            <a:ext cx="4937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??</a:t>
            </a:r>
          </a:p>
        </p:txBody>
      </p:sp>
      <p:sp>
        <p:nvSpPr>
          <p:cNvPr id="38925" name="Rectangle 16"/>
          <p:cNvSpPr>
            <a:spLocks/>
          </p:cNvSpPr>
          <p:nvPr/>
        </p:nvSpPr>
        <p:spPr bwMode="auto">
          <a:xfrm>
            <a:off x="6094413" y="4910138"/>
            <a:ext cx="29178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Pointing somewhere</a:t>
            </a:r>
          </a:p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random</a:t>
            </a:r>
          </a:p>
        </p:txBody>
      </p:sp>
      <p:sp>
        <p:nvSpPr>
          <p:cNvPr id="38926" name="Line 17"/>
          <p:cNvSpPr>
            <a:spLocks noChangeShapeType="1"/>
          </p:cNvSpPr>
          <p:nvPr/>
        </p:nvSpPr>
        <p:spPr bwMode="auto">
          <a:xfrm flipH="1">
            <a:off x="2895600" y="2514600"/>
            <a:ext cx="14478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8927" name="Rectangle 18"/>
          <p:cNvSpPr>
            <a:spLocks/>
          </p:cNvSpPr>
          <p:nvPr/>
        </p:nvSpPr>
        <p:spPr bwMode="auto">
          <a:xfrm>
            <a:off x="4403725" y="2243138"/>
            <a:ext cx="104775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3200">
                <a:solidFill>
                  <a:srgbClr val="FF0000"/>
                </a:solidFill>
                <a:cs typeface="Tahoma" charset="0"/>
              </a:rPr>
              <a:t>BAD!</a:t>
            </a:r>
          </a:p>
        </p:txBody>
      </p:sp>
      <p:sp>
        <p:nvSpPr>
          <p:cNvPr id="38928" name="Footer Placeholder 20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8929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2ED384B-8395-114B-81E7-8D309D0B467D}" type="slidenum">
              <a:rPr lang="en-US"/>
              <a:pPr/>
              <a:t>36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993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994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994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39942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Cardinal Rule: Must Initialize Pointers before Using them</a:t>
            </a:r>
          </a:p>
        </p:txBody>
      </p:sp>
      <p:sp>
        <p:nvSpPr>
          <p:cNvPr id="39944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*p;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 = 10;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39945" name="Group 10"/>
          <p:cNvGrpSpPr>
            <a:grpSpLocks/>
          </p:cNvGrpSpPr>
          <p:nvPr/>
        </p:nvGrpSpPr>
        <p:grpSpPr bwMode="auto">
          <a:xfrm>
            <a:off x="2743200" y="4343400"/>
            <a:ext cx="1828800" cy="533400"/>
            <a:chOff x="0" y="0"/>
            <a:chExt cx="1152" cy="336"/>
          </a:xfrm>
        </p:grpSpPr>
        <p:sp>
          <p:nvSpPr>
            <p:cNvPr id="39952" name="Rectangle 11"/>
            <p:cNvSpPr>
              <a:spLocks/>
            </p:cNvSpPr>
            <p:nvPr/>
          </p:nvSpPr>
          <p:spPr bwMode="auto">
            <a:xfrm>
              <a:off x="0" y="0"/>
              <a:ext cx="1152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9953" name="Rectangle 12"/>
            <p:cNvSpPr>
              <a:spLocks/>
            </p:cNvSpPr>
            <p:nvPr/>
          </p:nvSpPr>
          <p:spPr bwMode="auto">
            <a:xfrm>
              <a:off x="239" y="28"/>
              <a:ext cx="673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 sz="2400">
                  <a:latin typeface="Courier New Bold" charset="0"/>
                  <a:cs typeface="Courier New Bold" charset="0"/>
                  <a:sym typeface="Courier New Bold" charset="0"/>
                </a:rPr>
                <a:t>#@*%!</a:t>
              </a:r>
            </a:p>
          </p:txBody>
        </p:sp>
      </p:grpSp>
      <p:sp>
        <p:nvSpPr>
          <p:cNvPr id="39946" name="Rectangle 13"/>
          <p:cNvSpPr>
            <a:spLocks/>
          </p:cNvSpPr>
          <p:nvPr/>
        </p:nvSpPr>
        <p:spPr bwMode="auto">
          <a:xfrm>
            <a:off x="2743200" y="4343400"/>
            <a:ext cx="365125" cy="396875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</a:p>
        </p:txBody>
      </p:sp>
      <p:sp>
        <p:nvSpPr>
          <p:cNvPr id="39947" name="Line 14"/>
          <p:cNvSpPr>
            <a:spLocks noChangeShapeType="1"/>
          </p:cNvSpPr>
          <p:nvPr/>
        </p:nvSpPr>
        <p:spPr bwMode="auto">
          <a:xfrm>
            <a:off x="4267200" y="4724400"/>
            <a:ext cx="2590800" cy="152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9948" name="Rectangle 15"/>
          <p:cNvSpPr>
            <a:spLocks/>
          </p:cNvSpPr>
          <p:nvPr/>
        </p:nvSpPr>
        <p:spPr bwMode="auto">
          <a:xfrm>
            <a:off x="4724400" y="4953000"/>
            <a:ext cx="23114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latin typeface="Courier New Bold" charset="0"/>
                <a:cs typeface="Courier New Bold" charset="0"/>
                <a:sym typeface="Courier New Bold" charset="0"/>
              </a:rPr>
              <a:t>write to </a:t>
            </a:r>
          </a:p>
          <a:p>
            <a:pPr marL="39688"/>
            <a:r>
              <a:rPr lang="en-US" sz="2400">
                <a:latin typeface="Courier New Bold" charset="0"/>
                <a:cs typeface="Courier New Bold" charset="0"/>
                <a:sym typeface="Courier New Bold" charset="0"/>
              </a:rPr>
              <a:t>address: #@*%!</a:t>
            </a:r>
          </a:p>
        </p:txBody>
      </p:sp>
      <p:sp>
        <p:nvSpPr>
          <p:cNvPr id="39949" name="Rectangle 16"/>
          <p:cNvSpPr>
            <a:spLocks/>
          </p:cNvSpPr>
          <p:nvPr/>
        </p:nvSpPr>
        <p:spPr bwMode="auto">
          <a:xfrm>
            <a:off x="7086600" y="4737100"/>
            <a:ext cx="5207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latin typeface="Courier New Bold" charset="0"/>
                <a:cs typeface="Courier New Bold" charset="0"/>
                <a:sym typeface="Courier New Bold" charset="0"/>
              </a:rPr>
              <a:t>10</a:t>
            </a:r>
          </a:p>
        </p:txBody>
      </p:sp>
      <p:sp>
        <p:nvSpPr>
          <p:cNvPr id="39950" name="Footer Placeholder 1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9951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2DF9A71-DA5E-FC42-A327-0C8DD7645CF5}" type="slidenum">
              <a:rPr lang="en-US"/>
              <a:pPr/>
              <a:t>37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98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98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98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4199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1" name="Rectangle 6"/>
          <p:cNvSpPr>
            <a:spLocks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How to initialize pointers</a:t>
            </a:r>
            <a:endParaRPr lang="en-US" dirty="0">
              <a:latin typeface="Arial" charset="0"/>
            </a:endParaRPr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 smtClean="0"/>
              <a:t>Set equal to address of some piece of memory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dirty="0" smtClean="0"/>
              <a:t>…or NULL for “pointing nowhere”</a:t>
            </a:r>
          </a:p>
          <a:p>
            <a:pPr>
              <a:buFont typeface="Wingdings" pitchFamily="2" charset="2"/>
              <a:buChar char="n"/>
              <a:defRPr/>
            </a:pPr>
            <a:endParaRPr lang="en-US" dirty="0"/>
          </a:p>
          <a:p>
            <a:pPr>
              <a:buFont typeface="Wingdings" pitchFamily="2" charset="2"/>
              <a:buChar char="n"/>
              <a:defRPr/>
            </a:pPr>
            <a:r>
              <a:rPr lang="en-US" dirty="0" smtClean="0"/>
              <a:t>OK, where do we get memory?</a:t>
            </a:r>
            <a:endParaRPr lang="en-US" dirty="0"/>
          </a:p>
        </p:txBody>
      </p:sp>
      <p:sp>
        <p:nvSpPr>
          <p:cNvPr id="4199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Copyright ©: University of Illinois CS 241 Staff</a:t>
            </a:r>
          </a:p>
        </p:txBody>
      </p:sp>
      <p:sp>
        <p:nvSpPr>
          <p:cNvPr id="41994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05B6B5B-B249-0F47-9FC5-9413D2C2C21F}" type="slidenum">
              <a:rPr lang="en-US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8683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1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0"/>
            <a:chExt cx="5472" cy="1584"/>
          </a:xfrm>
        </p:grpSpPr>
        <p:sp>
          <p:nvSpPr>
            <p:cNvPr id="40967" name="Oval 2"/>
            <p:cNvSpPr>
              <a:spLocks/>
            </p:cNvSpPr>
            <p:nvPr/>
          </p:nvSpPr>
          <p:spPr bwMode="auto">
            <a:xfrm>
              <a:off x="144" y="0"/>
              <a:ext cx="1584" cy="1584"/>
            </a:xfrm>
            <a:prstGeom prst="ellipse">
              <a:avLst/>
            </a:prstGeom>
            <a:noFill/>
            <a:ln w="127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68" name="Rectangle 3"/>
            <p:cNvSpPr>
              <a:spLocks/>
            </p:cNvSpPr>
            <p:nvPr/>
          </p:nvSpPr>
          <p:spPr bwMode="auto">
            <a:xfrm>
              <a:off x="0" y="480"/>
              <a:ext cx="2976" cy="720"/>
            </a:xfrm>
            <a:prstGeom prst="rect">
              <a:avLst/>
            </a:prstGeom>
            <a:solidFill>
              <a:srgbClr val="CC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69" name="Rectangle 4"/>
            <p:cNvSpPr>
              <a:spLocks/>
            </p:cNvSpPr>
            <p:nvPr/>
          </p:nvSpPr>
          <p:spPr bwMode="auto">
            <a:xfrm>
              <a:off x="2496" y="480"/>
              <a:ext cx="2976" cy="720"/>
            </a:xfrm>
            <a:prstGeom prst="rect">
              <a:avLst/>
            </a:prstGeom>
            <a:gradFill rotWithShape="0">
              <a:gsLst>
                <a:gs pos="0">
                  <a:srgbClr val="CCCC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70" name="Freeform 5"/>
            <p:cNvSpPr>
              <a:spLocks/>
            </p:cNvSpPr>
            <p:nvPr/>
          </p:nvSpPr>
          <p:spPr bwMode="auto">
            <a:xfrm>
              <a:off x="384" y="384"/>
              <a:ext cx="144" cy="9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971" name="Freeform 6"/>
            <p:cNvSpPr>
              <a:spLocks/>
            </p:cNvSpPr>
            <p:nvPr/>
          </p:nvSpPr>
          <p:spPr bwMode="auto">
            <a:xfrm>
              <a:off x="4944" y="186"/>
              <a:ext cx="165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76200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40963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Memory allocation</a:t>
            </a:r>
          </a:p>
        </p:txBody>
      </p:sp>
      <p:sp>
        <p:nvSpPr>
          <p:cNvPr id="40964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pic>
        <p:nvPicPr>
          <p:cNvPr id="40965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488586A-BD49-F44F-80A0-C160CCA0340B}" type="slidenum">
              <a:rPr lang="en-US"/>
              <a:pPr/>
              <a:t>39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98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98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98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4199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1" name="Rectangle 6"/>
          <p:cNvSpPr>
            <a:spLocks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Memory allocation</a:t>
            </a:r>
            <a:endParaRPr lang="en-US" dirty="0">
              <a:latin typeface="Arial" charset="0"/>
            </a:endParaRPr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 smtClean="0">
                <a:ea typeface="+mn-ea"/>
              </a:rPr>
              <a:t>Two ways to dynamically allocate memory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dirty="0" smtClean="0">
                <a:ea typeface="+mn-ea"/>
                <a:sym typeface="Arial Bold" charset="0"/>
              </a:rPr>
              <a:t>Stack</a:t>
            </a:r>
          </a:p>
          <a:p>
            <a:pPr lvl="1">
              <a:buFont typeface="Wingdings" pitchFamily="2" charset="2"/>
              <a:buChar char="n"/>
              <a:defRPr/>
            </a:pPr>
            <a:r>
              <a:rPr lang="en-US" dirty="0" smtClean="0"/>
              <a:t>Named </a:t>
            </a:r>
            <a:r>
              <a:rPr lang="en-US" dirty="0" smtClean="0"/>
              <a:t>variables in functions</a:t>
            </a:r>
          </a:p>
          <a:p>
            <a:pPr lvl="1">
              <a:buFont typeface="Wingdings" pitchFamily="2" charset="2"/>
              <a:buChar char="n"/>
              <a:defRPr/>
            </a:pPr>
            <a:r>
              <a:rPr lang="en-US" dirty="0" smtClean="0"/>
              <a:t>Allocated for you when you call a function</a:t>
            </a:r>
          </a:p>
          <a:p>
            <a:pPr lvl="1">
              <a:buFont typeface="Wingdings" pitchFamily="2" charset="2"/>
              <a:buChar char="n"/>
              <a:defRPr/>
            </a:pPr>
            <a:r>
              <a:rPr lang="en-US" dirty="0" err="1" smtClean="0"/>
              <a:t>Deallocated</a:t>
            </a:r>
            <a:r>
              <a:rPr lang="en-US" dirty="0" smtClean="0"/>
              <a:t> for you when function returns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dirty="0" smtClean="0">
                <a:ea typeface="+mn-ea"/>
                <a:sym typeface="Arial Bold" charset="0"/>
              </a:rPr>
              <a:t>Heap</a:t>
            </a:r>
          </a:p>
          <a:p>
            <a:pPr lvl="1">
              <a:buFont typeface="Wingdings" pitchFamily="2" charset="2"/>
              <a:buChar char="¡"/>
              <a:defRPr/>
            </a:pPr>
            <a:r>
              <a:rPr lang="en-US" dirty="0" smtClean="0"/>
              <a:t>Memory on </a:t>
            </a:r>
            <a:r>
              <a:rPr lang="en-US" dirty="0" smtClean="0"/>
              <a:t>demand</a:t>
            </a:r>
          </a:p>
          <a:p>
            <a:pPr lvl="1">
              <a:buFont typeface="Wingdings" pitchFamily="2" charset="2"/>
              <a:buChar char="¡"/>
              <a:defRPr/>
            </a:pPr>
            <a:r>
              <a:rPr lang="en-US" dirty="0" smtClean="0"/>
              <a:t>You </a:t>
            </a:r>
            <a:r>
              <a:rPr lang="en-US" dirty="0" smtClean="0"/>
              <a:t>are responsible for all allocation and </a:t>
            </a:r>
            <a:r>
              <a:rPr lang="en-US" dirty="0" err="1" smtClean="0"/>
              <a:t>deallocation</a:t>
            </a:r>
            <a:endParaRPr lang="en-US" dirty="0"/>
          </a:p>
        </p:txBody>
      </p:sp>
      <p:sp>
        <p:nvSpPr>
          <p:cNvPr id="4199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Copyright ©: University of Illinois CS 241 Staff</a:t>
            </a:r>
          </a:p>
        </p:txBody>
      </p:sp>
      <p:sp>
        <p:nvSpPr>
          <p:cNvPr id="41994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05B6B5B-B249-0F47-9FC5-9413D2C2C21F}" type="slidenum">
              <a:rPr lang="en-US"/>
              <a:pPr/>
              <a:t>40</a:t>
            </a:fld>
            <a:endParaRPr lang="en-US"/>
          </a:p>
        </p:txBody>
      </p:sp>
      <p:sp>
        <p:nvSpPr>
          <p:cNvPr id="35849" name="Rectangle 9"/>
          <p:cNvSpPr>
            <a:spLocks/>
          </p:cNvSpPr>
          <p:nvPr/>
        </p:nvSpPr>
        <p:spPr bwMode="auto">
          <a:xfrm>
            <a:off x="914400" y="4495800"/>
            <a:ext cx="7543800" cy="1524000"/>
          </a:xfrm>
          <a:prstGeom prst="rect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Allocating and deallocating heap memory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</a:rPr>
              <a:t>Dynamically </a:t>
            </a:r>
            <a:r>
              <a:rPr lang="en-US" sz="2400" b="1" dirty="0">
                <a:solidFill>
                  <a:srgbClr val="FF6600"/>
                </a:solidFill>
                <a:latin typeface="Arial" charset="0"/>
              </a:rPr>
              <a:t>allocating</a:t>
            </a:r>
            <a:r>
              <a:rPr lang="en-US" sz="2400" dirty="0">
                <a:solidFill>
                  <a:srgbClr val="FF6600"/>
                </a:solidFill>
                <a:latin typeface="Arial" charset="0"/>
              </a:rPr>
              <a:t> </a:t>
            </a:r>
            <a:r>
              <a:rPr lang="en-US" sz="2400" dirty="0">
                <a:latin typeface="Arial" charset="0"/>
              </a:rPr>
              <a:t>memory</a:t>
            </a:r>
          </a:p>
          <a:p>
            <a:pPr lvl="1"/>
            <a:r>
              <a:rPr lang="en-US" sz="2000" dirty="0">
                <a:latin typeface="Arial" charset="0"/>
              </a:rPr>
              <a:t>Programmer explicitly requests space in memory</a:t>
            </a:r>
          </a:p>
          <a:p>
            <a:pPr lvl="1"/>
            <a:r>
              <a:rPr lang="en-US" sz="2000" dirty="0">
                <a:latin typeface="Arial" charset="0"/>
              </a:rPr>
              <a:t>Space is allocated dynamically on the heap</a:t>
            </a:r>
          </a:p>
          <a:p>
            <a:pPr lvl="1"/>
            <a:r>
              <a:rPr lang="en-US" sz="2000" dirty="0">
                <a:latin typeface="Arial" charset="0"/>
              </a:rPr>
              <a:t>E.g., using </a:t>
            </a:r>
            <a:r>
              <a:rPr lang="ja-JP" altLang="en-US" sz="2000" dirty="0">
                <a:latin typeface="Arial" charset="0"/>
              </a:rPr>
              <a:t>“</a:t>
            </a:r>
            <a:r>
              <a:rPr lang="en-US" sz="2000" dirty="0" err="1">
                <a:latin typeface="Arial" charset="0"/>
              </a:rPr>
              <a:t>malloc</a:t>
            </a:r>
            <a:r>
              <a:rPr lang="ja-JP" altLang="en-US" sz="2000" dirty="0">
                <a:latin typeface="Arial" charset="0"/>
              </a:rPr>
              <a:t>”</a:t>
            </a:r>
            <a:r>
              <a:rPr lang="en-US" sz="2000" dirty="0">
                <a:latin typeface="Arial" charset="0"/>
              </a:rPr>
              <a:t> in C, </a:t>
            </a:r>
            <a:r>
              <a:rPr lang="ja-JP" altLang="en-US" sz="2000" dirty="0">
                <a:latin typeface="Arial" charset="0"/>
              </a:rPr>
              <a:t>“</a:t>
            </a:r>
            <a:r>
              <a:rPr lang="en-US" sz="2000" dirty="0">
                <a:latin typeface="Arial" charset="0"/>
              </a:rPr>
              <a:t>new</a:t>
            </a:r>
            <a:r>
              <a:rPr lang="ja-JP" altLang="en-US" sz="2000" dirty="0">
                <a:latin typeface="Arial" charset="0"/>
              </a:rPr>
              <a:t>”</a:t>
            </a:r>
            <a:r>
              <a:rPr lang="en-US" sz="2000" dirty="0">
                <a:latin typeface="Arial" charset="0"/>
              </a:rPr>
              <a:t> in Java</a:t>
            </a:r>
          </a:p>
          <a:p>
            <a:endParaRPr lang="en-US" sz="2400" dirty="0" smtClean="0">
              <a:latin typeface="Arial" charset="0"/>
            </a:endParaRPr>
          </a:p>
          <a:p>
            <a:r>
              <a:rPr lang="en-US" sz="2400" dirty="0" smtClean="0">
                <a:latin typeface="Arial" charset="0"/>
              </a:rPr>
              <a:t>Dynamically </a:t>
            </a:r>
            <a:r>
              <a:rPr lang="en-US" sz="2400" b="1" dirty="0" err="1">
                <a:solidFill>
                  <a:srgbClr val="FF6600"/>
                </a:solidFill>
                <a:latin typeface="Arial" charset="0"/>
              </a:rPr>
              <a:t>deallocating</a:t>
            </a:r>
            <a:r>
              <a:rPr lang="en-US" sz="2400" dirty="0">
                <a:solidFill>
                  <a:srgbClr val="FF6600"/>
                </a:solidFill>
                <a:latin typeface="Arial" charset="0"/>
              </a:rPr>
              <a:t> </a:t>
            </a:r>
            <a:r>
              <a:rPr lang="en-US" sz="2400" dirty="0">
                <a:latin typeface="Arial" charset="0"/>
              </a:rPr>
              <a:t>memory</a:t>
            </a:r>
          </a:p>
          <a:p>
            <a:pPr lvl="1"/>
            <a:r>
              <a:rPr lang="en-US" sz="2000" dirty="0">
                <a:latin typeface="Arial" charset="0"/>
              </a:rPr>
              <a:t>Must reclaim or recycle memory that is never used again</a:t>
            </a:r>
          </a:p>
          <a:p>
            <a:pPr lvl="1"/>
            <a:r>
              <a:rPr lang="en-US" sz="2000" dirty="0">
                <a:latin typeface="Arial" charset="0"/>
              </a:rPr>
              <a:t>To avoid (eventually) running out of memory</a:t>
            </a:r>
          </a:p>
          <a:p>
            <a:pPr lvl="1"/>
            <a:r>
              <a:rPr lang="en-US" altLang="ja-JP" sz="2000" dirty="0" smtClean="0">
                <a:latin typeface="Arial" charset="0"/>
              </a:rPr>
              <a:t>Either manual or via automatic </a:t>
            </a:r>
            <a:r>
              <a:rPr lang="ja-JP" altLang="en-US" sz="2000" dirty="0" smtClean="0">
                <a:latin typeface="Arial" charset="0"/>
              </a:rPr>
              <a:t>“</a:t>
            </a:r>
            <a:r>
              <a:rPr lang="en-US" altLang="ja-JP" sz="2000" dirty="0" smtClean="0">
                <a:latin typeface="Arial" charset="0"/>
              </a:rPr>
              <a:t>g</a:t>
            </a:r>
            <a:r>
              <a:rPr lang="en-US" sz="2000" dirty="0" smtClean="0">
                <a:latin typeface="Arial" charset="0"/>
              </a:rPr>
              <a:t>arbage collection</a:t>
            </a:r>
            <a:r>
              <a:rPr lang="ja-JP" altLang="en-US" sz="2000" dirty="0" smtClean="0">
                <a:latin typeface="Arial" charset="0"/>
              </a:rPr>
              <a:t>”</a:t>
            </a:r>
            <a:endParaRPr lang="en-US" sz="2000" dirty="0">
              <a:latin typeface="Arial" charset="0"/>
            </a:endParaRPr>
          </a:p>
        </p:txBody>
      </p:sp>
      <p:sp>
        <p:nvSpPr>
          <p:cNvPr id="430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301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B12691A-CA7A-0C47-B2D3-57B9117AED2B}" type="slidenum">
              <a:rPr lang="en-US"/>
              <a:pPr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Option #1: Garbage Collection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949325" y="1981200"/>
            <a:ext cx="7661275" cy="1447800"/>
          </a:xfrm>
        </p:spPr>
        <p:txBody>
          <a:bodyPr/>
          <a:lstStyle/>
          <a:p>
            <a:r>
              <a:rPr lang="en-US" sz="2400" b="1" dirty="0">
                <a:solidFill>
                  <a:srgbClr val="FF6600"/>
                </a:solidFill>
                <a:latin typeface="Arial" charset="0"/>
              </a:rPr>
              <a:t>Run-time system </a:t>
            </a:r>
            <a:r>
              <a:rPr lang="en-US" sz="2400" dirty="0">
                <a:latin typeface="Arial" charset="0"/>
              </a:rPr>
              <a:t>does garbage collection (Java)</a:t>
            </a:r>
          </a:p>
          <a:p>
            <a:pPr lvl="1"/>
            <a:r>
              <a:rPr lang="en-US" sz="2000" dirty="0">
                <a:latin typeface="Arial" charset="0"/>
              </a:rPr>
              <a:t>Automatically determines which objects </a:t>
            </a:r>
            <a:r>
              <a:rPr lang="en-US" sz="2000" dirty="0" smtClean="0">
                <a:latin typeface="Arial" charset="0"/>
              </a:rPr>
              <a:t>can’t </a:t>
            </a:r>
            <a:r>
              <a:rPr lang="en-US" sz="2000" dirty="0">
                <a:latin typeface="Arial" charset="0"/>
              </a:rPr>
              <a:t>be accessed</a:t>
            </a:r>
          </a:p>
          <a:p>
            <a:pPr lvl="1"/>
            <a:r>
              <a:rPr lang="en-US" sz="2000" dirty="0" smtClean="0">
                <a:latin typeface="Arial" charset="0"/>
              </a:rPr>
              <a:t>Then, </a:t>
            </a:r>
            <a:r>
              <a:rPr lang="en-US" sz="2000" dirty="0">
                <a:latin typeface="Arial" charset="0"/>
              </a:rPr>
              <a:t>reclaims the </a:t>
            </a:r>
            <a:r>
              <a:rPr lang="en-US" sz="2000" dirty="0" smtClean="0">
                <a:latin typeface="Arial" charset="0"/>
              </a:rPr>
              <a:t>memory used </a:t>
            </a:r>
            <a:r>
              <a:rPr lang="en-US" sz="2000" dirty="0">
                <a:latin typeface="Arial" charset="0"/>
              </a:rPr>
              <a:t>by these objects</a:t>
            </a:r>
          </a:p>
        </p:txBody>
      </p:sp>
      <p:sp>
        <p:nvSpPr>
          <p:cNvPr id="440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40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0199C76-987C-7E46-BAD1-BDBA75F7548D}" type="slidenum">
              <a:rPr lang="en-US"/>
              <a:pPr/>
              <a:t>42</a:t>
            </a:fld>
            <a:endParaRPr lang="en-US"/>
          </a:p>
        </p:txBody>
      </p:sp>
      <p:sp>
        <p:nvSpPr>
          <p:cNvPr id="44038" name="Rectangle 5"/>
          <p:cNvSpPr>
            <a:spLocks noChangeArrowheads="1"/>
          </p:cNvSpPr>
          <p:nvPr/>
        </p:nvSpPr>
        <p:spPr bwMode="auto">
          <a:xfrm>
            <a:off x="1447800" y="3271838"/>
            <a:ext cx="5410200" cy="3429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400" b="1">
                <a:latin typeface="Courier New" charset="0"/>
                <a:cs typeface="Courier New" charset="0"/>
              </a:rPr>
              <a:t>Object x = new Foo() ;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Object y = new Bar() ;</a:t>
            </a:r>
          </a:p>
          <a:p>
            <a:r>
              <a:rPr lang="en-US" sz="2400" b="1">
                <a:solidFill>
                  <a:srgbClr val="C00000"/>
                </a:solidFill>
                <a:latin typeface="Courier New" charset="0"/>
                <a:cs typeface="Courier New" charset="0"/>
              </a:rPr>
              <a:t>x = new Quux() ;</a:t>
            </a:r>
          </a:p>
          <a:p>
            <a:endParaRPr lang="en-US" sz="2400" b="1">
              <a:latin typeface="Courier New" charset="0"/>
              <a:cs typeface="Courier New" charset="0"/>
            </a:endParaRPr>
          </a:p>
          <a:p>
            <a:r>
              <a:rPr lang="en-US" sz="2400" b="1">
                <a:latin typeface="Courier New" charset="0"/>
                <a:cs typeface="Courier New" charset="0"/>
              </a:rPr>
              <a:t>if (x.check_something()) {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x.do_something(y) ;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}</a:t>
            </a:r>
          </a:p>
          <a:p>
            <a:endParaRPr lang="en-US" sz="2400" b="1">
              <a:latin typeface="Courier New" charset="0"/>
              <a:cs typeface="Courier New" charset="0"/>
            </a:endParaRPr>
          </a:p>
          <a:p>
            <a:r>
              <a:rPr lang="en-US" sz="2400" b="1">
                <a:latin typeface="Courier New" charset="0"/>
                <a:cs typeface="Courier New" charset="0"/>
              </a:rPr>
              <a:t>System.exit(0) ;  </a:t>
            </a:r>
          </a:p>
        </p:txBody>
      </p:sp>
      <p:sp>
        <p:nvSpPr>
          <p:cNvPr id="44039" name="Rounded Rectangular Callout 6"/>
          <p:cNvSpPr>
            <a:spLocks noChangeArrowheads="1"/>
          </p:cNvSpPr>
          <p:nvPr/>
        </p:nvSpPr>
        <p:spPr bwMode="auto">
          <a:xfrm>
            <a:off x="7086600" y="3505200"/>
            <a:ext cx="2057400" cy="1752600"/>
          </a:xfrm>
          <a:prstGeom prst="wedgeRoundRectCallout">
            <a:avLst>
              <a:gd name="adj1" fmla="val -180310"/>
              <a:gd name="adj2" fmla="val -7065"/>
              <a:gd name="adj3" fmla="val 16667"/>
            </a:avLst>
          </a:prstGeom>
          <a:solidFill>
            <a:srgbClr val="C1F3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400" dirty="0">
                <a:latin typeface="Arial" charset="0"/>
              </a:rPr>
              <a:t>Object Foo() is never used again!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Challenges of Garbage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325" y="1600200"/>
            <a:ext cx="7661275" cy="5486400"/>
          </a:xfrm>
          <a:solidFill>
            <a:schemeClr val="bg1"/>
          </a:solidFill>
        </p:spPr>
        <p:txBody>
          <a:bodyPr/>
          <a:lstStyle/>
          <a:p>
            <a:r>
              <a:rPr lang="en-US" sz="2400" dirty="0">
                <a:latin typeface="Arial" charset="0"/>
              </a:rPr>
              <a:t>Detecting the garbage is not always easy</a:t>
            </a:r>
          </a:p>
          <a:p>
            <a:pPr lvl="1"/>
            <a:r>
              <a:rPr lang="en-US" sz="2000" b="1" dirty="0">
                <a:latin typeface="Courier New" charset="0"/>
                <a:cs typeface="Courier New" charset="0"/>
              </a:rPr>
              <a:t>long char z = x ;</a:t>
            </a:r>
          </a:p>
          <a:p>
            <a:pPr lvl="1"/>
            <a:r>
              <a:rPr lang="en-US" sz="2000" b="1" dirty="0">
                <a:latin typeface="Courier New" charset="0"/>
                <a:cs typeface="Courier New" charset="0"/>
              </a:rPr>
              <a:t>x = new </a:t>
            </a:r>
            <a:r>
              <a:rPr lang="en-US" sz="2000" b="1" dirty="0" err="1">
                <a:latin typeface="Courier New" charset="0"/>
                <a:cs typeface="Courier New" charset="0"/>
              </a:rPr>
              <a:t>Quux</a:t>
            </a:r>
            <a:r>
              <a:rPr lang="en-US" sz="2000" b="1" dirty="0">
                <a:latin typeface="Courier New" charset="0"/>
                <a:cs typeface="Courier New" charset="0"/>
              </a:rPr>
              <a:t>();</a:t>
            </a:r>
          </a:p>
          <a:p>
            <a:pPr lvl="1"/>
            <a:r>
              <a:rPr lang="en-US" sz="2000" dirty="0">
                <a:latin typeface="Arial" charset="0"/>
                <a:cs typeface="Courier New" charset="0"/>
              </a:rPr>
              <a:t>Run-time system cannot collect </a:t>
            </a:r>
            <a:r>
              <a:rPr lang="en-US" sz="2000" i="1" dirty="0">
                <a:latin typeface="Arial" charset="0"/>
                <a:cs typeface="Courier New" charset="0"/>
              </a:rPr>
              <a:t>all </a:t>
            </a:r>
            <a:r>
              <a:rPr lang="en-US" sz="2000" dirty="0">
                <a:latin typeface="Arial" charset="0"/>
                <a:cs typeface="Courier New" charset="0"/>
              </a:rPr>
              <a:t>the garbage</a:t>
            </a:r>
          </a:p>
          <a:p>
            <a:r>
              <a:rPr lang="en-US" sz="2400" dirty="0">
                <a:latin typeface="Arial" charset="0"/>
                <a:cs typeface="Courier New" charset="0"/>
              </a:rPr>
              <a:t>Detecting the garbage introduces overhead</a:t>
            </a:r>
          </a:p>
          <a:p>
            <a:pPr lvl="1"/>
            <a:r>
              <a:rPr lang="en-US" sz="2000" dirty="0">
                <a:latin typeface="Arial" charset="0"/>
                <a:cs typeface="Courier New" charset="0"/>
              </a:rPr>
              <a:t>Keeping track of references to object (e.g., counters)</a:t>
            </a:r>
          </a:p>
          <a:p>
            <a:pPr lvl="1"/>
            <a:r>
              <a:rPr lang="en-US" sz="2000" dirty="0">
                <a:latin typeface="Arial" charset="0"/>
                <a:cs typeface="Courier New" charset="0"/>
              </a:rPr>
              <a:t>Scanning through accessible objects to identify garbage</a:t>
            </a:r>
          </a:p>
          <a:p>
            <a:pPr lvl="1"/>
            <a:r>
              <a:rPr lang="en-US" sz="2000" dirty="0">
                <a:latin typeface="Arial" charset="0"/>
                <a:cs typeface="Courier New" charset="0"/>
              </a:rPr>
              <a:t>Sometimes walking through a large amount of memory</a:t>
            </a:r>
          </a:p>
          <a:p>
            <a:r>
              <a:rPr lang="en-US" sz="2400" dirty="0">
                <a:latin typeface="Arial" charset="0"/>
                <a:cs typeface="Courier New" charset="0"/>
              </a:rPr>
              <a:t>Cleaning the garbage leads to </a:t>
            </a:r>
            <a:r>
              <a:rPr lang="en-US" sz="2400" dirty="0" err="1">
                <a:latin typeface="Arial" charset="0"/>
                <a:cs typeface="Courier New" charset="0"/>
              </a:rPr>
              <a:t>bursty</a:t>
            </a:r>
            <a:r>
              <a:rPr lang="en-US" sz="2400" dirty="0">
                <a:latin typeface="Arial" charset="0"/>
                <a:cs typeface="Courier New" charset="0"/>
              </a:rPr>
              <a:t> delays</a:t>
            </a:r>
          </a:p>
          <a:p>
            <a:pPr lvl="1"/>
            <a:r>
              <a:rPr lang="en-US" sz="2000" dirty="0">
                <a:latin typeface="Arial" charset="0"/>
                <a:cs typeface="Courier New" charset="0"/>
              </a:rPr>
              <a:t>E.g., periodic scans of the objects to hunt for garbage</a:t>
            </a:r>
          </a:p>
          <a:p>
            <a:pPr lvl="1"/>
            <a:r>
              <a:rPr lang="en-US" sz="2000" dirty="0">
                <a:latin typeface="Arial" charset="0"/>
                <a:cs typeface="Courier New" charset="0"/>
              </a:rPr>
              <a:t>Leads to unpredictable </a:t>
            </a:r>
            <a:r>
              <a:rPr lang="ja-JP" altLang="en-US" sz="2000" dirty="0">
                <a:latin typeface="Arial" charset="0"/>
                <a:cs typeface="Courier New" charset="0"/>
              </a:rPr>
              <a:t>“</a:t>
            </a:r>
            <a:r>
              <a:rPr lang="en-US" sz="2000" dirty="0">
                <a:latin typeface="Arial" charset="0"/>
                <a:cs typeface="Courier New" charset="0"/>
              </a:rPr>
              <a:t>freezes</a:t>
            </a:r>
            <a:r>
              <a:rPr lang="ja-JP" altLang="en-US" sz="2000" dirty="0">
                <a:latin typeface="Arial" charset="0"/>
                <a:cs typeface="Courier New" charset="0"/>
              </a:rPr>
              <a:t>”</a:t>
            </a:r>
            <a:r>
              <a:rPr lang="en-US" sz="2000" dirty="0">
                <a:latin typeface="Arial" charset="0"/>
                <a:cs typeface="Courier New" charset="0"/>
              </a:rPr>
              <a:t> of the running program</a:t>
            </a:r>
          </a:p>
          <a:p>
            <a:pPr lvl="1"/>
            <a:r>
              <a:rPr lang="en-US" sz="2000" dirty="0">
                <a:latin typeface="Arial" charset="0"/>
                <a:cs typeface="Courier New" charset="0"/>
              </a:rPr>
              <a:t>Very problematic for real-time applications</a:t>
            </a:r>
          </a:p>
          <a:p>
            <a:pPr lvl="2"/>
            <a:r>
              <a:rPr lang="en-US" sz="1600" dirty="0">
                <a:latin typeface="Arial" charset="0"/>
                <a:cs typeface="Courier New" charset="0"/>
              </a:rPr>
              <a:t>… though good run-time systems avoid long freezes</a:t>
            </a:r>
          </a:p>
        </p:txBody>
      </p:sp>
      <p:sp>
        <p:nvSpPr>
          <p:cNvPr id="4506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F4C02E9-52BF-9549-9B90-0EE88B4AC769}" type="slidenum">
              <a:rPr lang="en-US"/>
              <a:pPr/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Option #2: Manual Deallocation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949325" y="1828800"/>
            <a:ext cx="7661275" cy="4114800"/>
          </a:xfrm>
        </p:spPr>
        <p:txBody>
          <a:bodyPr/>
          <a:lstStyle/>
          <a:p>
            <a:r>
              <a:rPr lang="en-US" sz="2400" b="1" dirty="0">
                <a:solidFill>
                  <a:srgbClr val="FF6600"/>
                </a:solidFill>
                <a:latin typeface="Arial" charset="0"/>
              </a:rPr>
              <a:t>Programmer</a:t>
            </a:r>
            <a:r>
              <a:rPr lang="en-US" sz="2400" dirty="0">
                <a:solidFill>
                  <a:srgbClr val="FF6600"/>
                </a:solidFill>
                <a:latin typeface="Arial" charset="0"/>
              </a:rPr>
              <a:t> </a:t>
            </a:r>
            <a:r>
              <a:rPr lang="en-US" sz="2400" dirty="0" err="1">
                <a:latin typeface="Arial" charset="0"/>
              </a:rPr>
              <a:t>deallocates</a:t>
            </a:r>
            <a:r>
              <a:rPr lang="en-US" sz="2400" dirty="0">
                <a:latin typeface="Arial" charset="0"/>
              </a:rPr>
              <a:t> the memory (C and C++)</a:t>
            </a:r>
          </a:p>
          <a:p>
            <a:pPr lvl="1"/>
            <a:r>
              <a:rPr lang="en-US" sz="2000" dirty="0">
                <a:latin typeface="Arial" charset="0"/>
              </a:rPr>
              <a:t>Manually determines which objects </a:t>
            </a:r>
            <a:r>
              <a:rPr lang="en-US" sz="2000" dirty="0" smtClean="0">
                <a:latin typeface="Arial" charset="0"/>
              </a:rPr>
              <a:t>can’t </a:t>
            </a:r>
            <a:r>
              <a:rPr lang="en-US" sz="2000" dirty="0">
                <a:latin typeface="Arial" charset="0"/>
              </a:rPr>
              <a:t>be accessed</a:t>
            </a:r>
          </a:p>
          <a:p>
            <a:pPr lvl="1"/>
            <a:r>
              <a:rPr lang="en-US" sz="2000" dirty="0">
                <a:latin typeface="Arial" charset="0"/>
              </a:rPr>
              <a:t>And then explicitly returns those resources to the heap</a:t>
            </a:r>
          </a:p>
          <a:p>
            <a:pPr lvl="1"/>
            <a:r>
              <a:rPr lang="en-US" sz="2000" dirty="0">
                <a:latin typeface="Arial" charset="0"/>
              </a:rPr>
              <a:t>E.g., using </a:t>
            </a:r>
            <a:r>
              <a:rPr lang="ja-JP" altLang="en-US" sz="2000" dirty="0">
                <a:latin typeface="Arial" charset="0"/>
              </a:rPr>
              <a:t>“</a:t>
            </a:r>
            <a:r>
              <a:rPr lang="en-US" sz="2000" dirty="0">
                <a:latin typeface="Arial" charset="0"/>
              </a:rPr>
              <a:t>free</a:t>
            </a:r>
            <a:r>
              <a:rPr lang="ja-JP" altLang="en-US" sz="2000" dirty="0">
                <a:latin typeface="Arial" charset="0"/>
              </a:rPr>
              <a:t>”</a:t>
            </a:r>
            <a:r>
              <a:rPr lang="en-US" sz="2000" dirty="0">
                <a:latin typeface="Arial" charset="0"/>
              </a:rPr>
              <a:t> in C or </a:t>
            </a:r>
            <a:r>
              <a:rPr lang="ja-JP" altLang="en-US" sz="2000" dirty="0">
                <a:latin typeface="Arial" charset="0"/>
              </a:rPr>
              <a:t>“</a:t>
            </a:r>
            <a:r>
              <a:rPr lang="en-US" sz="2000" dirty="0">
                <a:latin typeface="Arial" charset="0"/>
              </a:rPr>
              <a:t>delete</a:t>
            </a:r>
            <a:r>
              <a:rPr lang="ja-JP" altLang="en-US" sz="2000" dirty="0">
                <a:latin typeface="Arial" charset="0"/>
              </a:rPr>
              <a:t>”</a:t>
            </a:r>
            <a:r>
              <a:rPr lang="en-US" sz="2000" dirty="0">
                <a:latin typeface="Arial" charset="0"/>
              </a:rPr>
              <a:t> in C++</a:t>
            </a:r>
          </a:p>
          <a:p>
            <a:r>
              <a:rPr lang="en-US" sz="2400" dirty="0">
                <a:latin typeface="Arial" charset="0"/>
              </a:rPr>
              <a:t>Advantages</a:t>
            </a:r>
          </a:p>
          <a:p>
            <a:pPr lvl="1"/>
            <a:r>
              <a:rPr lang="en-US" sz="2000" dirty="0">
                <a:latin typeface="Arial" charset="0"/>
              </a:rPr>
              <a:t>Lower overhead</a:t>
            </a:r>
          </a:p>
          <a:p>
            <a:pPr lvl="1"/>
            <a:r>
              <a:rPr lang="en-US" sz="2000" dirty="0">
                <a:latin typeface="Arial" charset="0"/>
              </a:rPr>
              <a:t>No unexpected </a:t>
            </a:r>
            <a:r>
              <a:rPr lang="ja-JP" altLang="en-US" sz="2000" dirty="0">
                <a:latin typeface="Arial" charset="0"/>
              </a:rPr>
              <a:t>“</a:t>
            </a:r>
            <a:r>
              <a:rPr lang="en-US" sz="2000" dirty="0">
                <a:latin typeface="Arial" charset="0"/>
              </a:rPr>
              <a:t>pauses</a:t>
            </a:r>
            <a:r>
              <a:rPr lang="ja-JP" altLang="en-US" sz="2000" dirty="0">
                <a:latin typeface="Arial" charset="0"/>
              </a:rPr>
              <a:t>”</a:t>
            </a:r>
            <a:endParaRPr lang="en-US" sz="2000" dirty="0">
              <a:latin typeface="Arial" charset="0"/>
            </a:endParaRPr>
          </a:p>
          <a:p>
            <a:pPr lvl="1"/>
            <a:r>
              <a:rPr lang="en-US" sz="2000" dirty="0">
                <a:latin typeface="Arial" charset="0"/>
              </a:rPr>
              <a:t>More efficient use of memory</a:t>
            </a:r>
          </a:p>
          <a:p>
            <a:r>
              <a:rPr lang="en-US" sz="2400" dirty="0">
                <a:latin typeface="Arial" charset="0"/>
              </a:rPr>
              <a:t>Disadvantages</a:t>
            </a:r>
          </a:p>
          <a:p>
            <a:pPr lvl="1"/>
            <a:r>
              <a:rPr lang="en-US" sz="2000" dirty="0">
                <a:latin typeface="Arial" charset="0"/>
              </a:rPr>
              <a:t>More complex for the programmer</a:t>
            </a:r>
          </a:p>
          <a:p>
            <a:pPr lvl="1"/>
            <a:r>
              <a:rPr lang="en-US" sz="2000" dirty="0">
                <a:latin typeface="Arial" charset="0"/>
              </a:rPr>
              <a:t>Subtle memory-related bugs</a:t>
            </a:r>
          </a:p>
          <a:p>
            <a:pPr lvl="1"/>
            <a:r>
              <a:rPr lang="en-US" sz="2000" dirty="0">
                <a:latin typeface="Arial" charset="0"/>
              </a:rPr>
              <a:t>Can lead to security vulnerabilities in code</a:t>
            </a:r>
          </a:p>
        </p:txBody>
      </p:sp>
      <p:sp>
        <p:nvSpPr>
          <p:cNvPr id="4608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DE5E9E9-0539-534B-829A-87618497ACDF}" type="slidenum">
              <a:rPr lang="en-US"/>
              <a:pPr/>
              <a:t>44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Manual deallocation can lead to bugs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949325" y="1981200"/>
            <a:ext cx="7661275" cy="1524000"/>
          </a:xfrm>
        </p:spPr>
        <p:txBody>
          <a:bodyPr/>
          <a:lstStyle/>
          <a:p>
            <a:r>
              <a:rPr lang="en-US" sz="2400" b="1" dirty="0">
                <a:solidFill>
                  <a:srgbClr val="FF6600"/>
                </a:solidFill>
                <a:latin typeface="Arial" charset="0"/>
              </a:rPr>
              <a:t>Dangling pointers</a:t>
            </a:r>
          </a:p>
          <a:p>
            <a:pPr lvl="1"/>
            <a:r>
              <a:rPr lang="en-US" sz="2000" dirty="0">
                <a:latin typeface="Arial" charset="0"/>
              </a:rPr>
              <a:t>Programmer frees a region of memory</a:t>
            </a:r>
          </a:p>
          <a:p>
            <a:pPr lvl="1"/>
            <a:r>
              <a:rPr lang="en-US" sz="2000" dirty="0">
                <a:latin typeface="Arial" charset="0"/>
              </a:rPr>
              <a:t>… but still has a pointer to it</a:t>
            </a:r>
          </a:p>
          <a:p>
            <a:pPr lvl="1"/>
            <a:r>
              <a:rPr lang="en-US" sz="2000" dirty="0">
                <a:latin typeface="Arial" charset="0"/>
              </a:rPr>
              <a:t>Dereferencing pointer reads or writes nonsense values</a:t>
            </a:r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71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A27A727-FAD2-B04E-BA6B-CBC69EACDB6C}" type="slidenum">
              <a:rPr lang="en-US"/>
              <a:pPr/>
              <a:t>45</a:t>
            </a:fld>
            <a:endParaRPr lang="en-US"/>
          </a:p>
        </p:txBody>
      </p:sp>
      <p:sp>
        <p:nvSpPr>
          <p:cNvPr id="47110" name="Rectangle 5"/>
          <p:cNvSpPr>
            <a:spLocks noChangeArrowheads="1"/>
          </p:cNvSpPr>
          <p:nvPr/>
        </p:nvSpPr>
        <p:spPr bwMode="auto">
          <a:xfrm>
            <a:off x="1447800" y="3657600"/>
            <a:ext cx="5410200" cy="3043238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400" b="1">
                <a:latin typeface="Courier New" charset="0"/>
                <a:cs typeface="Courier New" charset="0"/>
              </a:rPr>
              <a:t>int main(void) {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char *p;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p = malloc(10);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…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free(p);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…</a:t>
            </a:r>
          </a:p>
          <a:p>
            <a:r>
              <a:rPr lang="en-US" sz="2400" b="1">
                <a:solidFill>
                  <a:srgbClr val="C00000"/>
                </a:solidFill>
                <a:latin typeface="Courier New" charset="0"/>
                <a:cs typeface="Courier New" charset="0"/>
              </a:rPr>
              <a:t>	printf(</a:t>
            </a:r>
            <a:r>
              <a:rPr lang="ja-JP" altLang="en-US" sz="2400" b="1">
                <a:solidFill>
                  <a:srgbClr val="C00000"/>
                </a:solidFill>
                <a:latin typeface="Courier New" charset="0"/>
                <a:cs typeface="Courier New" charset="0"/>
              </a:rPr>
              <a:t>“</a:t>
            </a:r>
            <a:r>
              <a:rPr lang="en-US" sz="2400" b="1">
                <a:solidFill>
                  <a:srgbClr val="C00000"/>
                </a:solidFill>
                <a:latin typeface="Courier New" charset="0"/>
                <a:cs typeface="Courier New" charset="0"/>
              </a:rPr>
              <a:t>%c\n</a:t>
            </a:r>
            <a:r>
              <a:rPr lang="ja-JP" altLang="en-US" sz="2400" b="1">
                <a:solidFill>
                  <a:srgbClr val="C00000"/>
                </a:solidFill>
                <a:latin typeface="Courier New" charset="0"/>
                <a:cs typeface="Courier New" charset="0"/>
              </a:rPr>
              <a:t>”</a:t>
            </a:r>
            <a:r>
              <a:rPr lang="en-US" sz="2400" b="1">
                <a:solidFill>
                  <a:srgbClr val="C00000"/>
                </a:solidFill>
                <a:latin typeface="Courier New" charset="0"/>
                <a:cs typeface="Courier New" charset="0"/>
              </a:rPr>
              <a:t>,*p);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}</a:t>
            </a:r>
          </a:p>
        </p:txBody>
      </p:sp>
      <p:sp>
        <p:nvSpPr>
          <p:cNvPr id="47111" name="Rounded Rectangular Callout 6"/>
          <p:cNvSpPr>
            <a:spLocks noChangeArrowheads="1"/>
          </p:cNvSpPr>
          <p:nvPr/>
        </p:nvSpPr>
        <p:spPr bwMode="auto">
          <a:xfrm>
            <a:off x="7086600" y="4343400"/>
            <a:ext cx="2057400" cy="1752600"/>
          </a:xfrm>
          <a:prstGeom prst="wedgeRoundRectCallout">
            <a:avLst>
              <a:gd name="adj1" fmla="val -113208"/>
              <a:gd name="adj2" fmla="val 45111"/>
              <a:gd name="adj3" fmla="val 16667"/>
            </a:avLst>
          </a:prstGeom>
          <a:solidFill>
            <a:srgbClr val="C1F3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400" dirty="0">
                <a:latin typeface="Arial" charset="0"/>
              </a:rPr>
              <a:t>May print nonsense character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Manual deallocation can lead to bugs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>
          <a:xfrm>
            <a:off x="949325" y="1981200"/>
            <a:ext cx="7661275" cy="1524000"/>
          </a:xfrm>
        </p:spPr>
        <p:txBody>
          <a:bodyPr/>
          <a:lstStyle/>
          <a:p>
            <a:r>
              <a:rPr lang="en-US" sz="2400" b="1" dirty="0">
                <a:solidFill>
                  <a:srgbClr val="FF6600"/>
                </a:solidFill>
                <a:latin typeface="Arial" charset="0"/>
              </a:rPr>
              <a:t>Memory leak</a:t>
            </a:r>
          </a:p>
          <a:p>
            <a:pPr lvl="1"/>
            <a:r>
              <a:rPr lang="en-US" sz="2000" dirty="0">
                <a:latin typeface="Arial" charset="0"/>
              </a:rPr>
              <a:t>Programmer neglects to free unused region of memory</a:t>
            </a:r>
          </a:p>
          <a:p>
            <a:pPr lvl="1"/>
            <a:r>
              <a:rPr lang="en-US" sz="2000" dirty="0">
                <a:latin typeface="Arial" charset="0"/>
              </a:rPr>
              <a:t>So, the space can never be allocated again</a:t>
            </a:r>
          </a:p>
          <a:p>
            <a:pPr lvl="1"/>
            <a:r>
              <a:rPr lang="en-US" sz="2000" dirty="0">
                <a:latin typeface="Arial" charset="0"/>
              </a:rPr>
              <a:t>Eventually may consume all of the available memory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81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F7AD82D-F169-2243-9538-82D260A40876}" type="slidenum">
              <a:rPr lang="en-US"/>
              <a:pPr/>
              <a:t>46</a:t>
            </a:fld>
            <a:endParaRPr lang="en-US"/>
          </a:p>
        </p:txBody>
      </p:sp>
      <p:sp>
        <p:nvSpPr>
          <p:cNvPr id="48134" name="Rectangle 5"/>
          <p:cNvSpPr>
            <a:spLocks noChangeArrowheads="1"/>
          </p:cNvSpPr>
          <p:nvPr/>
        </p:nvSpPr>
        <p:spPr bwMode="auto">
          <a:xfrm>
            <a:off x="1447800" y="3657600"/>
            <a:ext cx="5410200" cy="3043238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400" b="1">
                <a:latin typeface="Courier New" charset="0"/>
                <a:cs typeface="Courier New" charset="0"/>
              </a:rPr>
              <a:t>void f(void) {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char *s;</a:t>
            </a:r>
          </a:p>
          <a:p>
            <a:r>
              <a:rPr lang="en-US" sz="2400" b="1">
                <a:solidFill>
                  <a:srgbClr val="C00000"/>
                </a:solidFill>
                <a:latin typeface="Courier New" charset="0"/>
                <a:cs typeface="Courier New" charset="0"/>
              </a:rPr>
              <a:t>	s = malloc(50);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}</a:t>
            </a:r>
          </a:p>
          <a:p>
            <a:endParaRPr lang="en-US" sz="2400" b="1">
              <a:latin typeface="Courier New" charset="0"/>
              <a:cs typeface="Courier New" charset="0"/>
            </a:endParaRPr>
          </a:p>
          <a:p>
            <a:r>
              <a:rPr lang="en-US" sz="2400" b="1">
                <a:latin typeface="Courier New" charset="0"/>
                <a:cs typeface="Courier New" charset="0"/>
              </a:rPr>
              <a:t>int main(void) {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while (1) f();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}</a:t>
            </a:r>
          </a:p>
        </p:txBody>
      </p:sp>
      <p:sp>
        <p:nvSpPr>
          <p:cNvPr id="48135" name="Rounded Rectangular Callout 6"/>
          <p:cNvSpPr>
            <a:spLocks noChangeArrowheads="1"/>
          </p:cNvSpPr>
          <p:nvPr/>
        </p:nvSpPr>
        <p:spPr bwMode="auto">
          <a:xfrm>
            <a:off x="7086600" y="4343400"/>
            <a:ext cx="2057400" cy="1752600"/>
          </a:xfrm>
          <a:prstGeom prst="wedgeRoundRectCallout">
            <a:avLst>
              <a:gd name="adj1" fmla="val -143708"/>
              <a:gd name="adj2" fmla="val -33662"/>
              <a:gd name="adj3" fmla="val 16667"/>
            </a:avLst>
          </a:prstGeom>
          <a:solidFill>
            <a:srgbClr val="C1F3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400">
                <a:latin typeface="Arial" charset="0"/>
              </a:rPr>
              <a:t>Eventually, malloc() returns NULL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Manual deallocation can lead to bugs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949325" y="1981200"/>
            <a:ext cx="7661275" cy="1524000"/>
          </a:xfrm>
        </p:spPr>
        <p:txBody>
          <a:bodyPr/>
          <a:lstStyle/>
          <a:p>
            <a:r>
              <a:rPr lang="en-US" sz="2400" b="1" dirty="0">
                <a:solidFill>
                  <a:srgbClr val="FF6600"/>
                </a:solidFill>
                <a:latin typeface="Arial" charset="0"/>
              </a:rPr>
              <a:t>Double free</a:t>
            </a:r>
          </a:p>
          <a:p>
            <a:pPr lvl="1"/>
            <a:r>
              <a:rPr lang="en-US" sz="2000" dirty="0">
                <a:latin typeface="Arial" charset="0"/>
              </a:rPr>
              <a:t>Programmer mistakenly frees a region more than once</a:t>
            </a:r>
          </a:p>
          <a:p>
            <a:pPr lvl="1"/>
            <a:r>
              <a:rPr lang="en-US" sz="2000" dirty="0">
                <a:latin typeface="Arial" charset="0"/>
              </a:rPr>
              <a:t>Leading to corruption of the heap data structure</a:t>
            </a:r>
          </a:p>
          <a:p>
            <a:pPr lvl="1"/>
            <a:r>
              <a:rPr lang="en-US" sz="2000" dirty="0">
                <a:latin typeface="Arial" charset="0"/>
              </a:rPr>
              <a:t>… or premature destruction of a different object</a:t>
            </a:r>
          </a:p>
        </p:txBody>
      </p:sp>
      <p:sp>
        <p:nvSpPr>
          <p:cNvPr id="491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91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68E65F8-0BFE-4843-BED6-28EA68E1A0AA}" type="slidenum">
              <a:rPr lang="en-US"/>
              <a:pPr/>
              <a:t>47</a:t>
            </a:fld>
            <a:endParaRPr lang="en-US"/>
          </a:p>
        </p:txBody>
      </p:sp>
      <p:sp>
        <p:nvSpPr>
          <p:cNvPr id="49158" name="Rectangle 5"/>
          <p:cNvSpPr>
            <a:spLocks noChangeArrowheads="1"/>
          </p:cNvSpPr>
          <p:nvPr/>
        </p:nvSpPr>
        <p:spPr bwMode="auto">
          <a:xfrm>
            <a:off x="1447800" y="3657600"/>
            <a:ext cx="5410200" cy="3043238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400" b="1">
                <a:latin typeface="Courier New" charset="0"/>
                <a:cs typeface="Courier New" charset="0"/>
              </a:rPr>
              <a:t>int main(void) {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char *p, *q;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p = malloc(10);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…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free(p)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q = malloc(10);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	free(p)</a:t>
            </a:r>
          </a:p>
          <a:p>
            <a:r>
              <a:rPr lang="en-US" sz="2400" b="1">
                <a:latin typeface="Courier New" charset="0"/>
                <a:cs typeface="Courier New" charset="0"/>
              </a:rPr>
              <a:t>}</a:t>
            </a:r>
          </a:p>
        </p:txBody>
      </p:sp>
      <p:sp>
        <p:nvSpPr>
          <p:cNvPr id="49159" name="Rounded Rectangular Callout 6"/>
          <p:cNvSpPr>
            <a:spLocks noChangeArrowheads="1"/>
          </p:cNvSpPr>
          <p:nvPr/>
        </p:nvSpPr>
        <p:spPr bwMode="auto">
          <a:xfrm>
            <a:off x="7086600" y="4343400"/>
            <a:ext cx="2057400" cy="1752600"/>
          </a:xfrm>
          <a:prstGeom prst="wedgeRoundRectCallout">
            <a:avLst>
              <a:gd name="adj1" fmla="val -210810"/>
              <a:gd name="adj2" fmla="val 51245"/>
              <a:gd name="adj3" fmla="val 16667"/>
            </a:avLst>
          </a:prstGeom>
          <a:solidFill>
            <a:srgbClr val="C1F3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400">
                <a:latin typeface="Arial" charset="0"/>
              </a:rPr>
              <a:t>Might free space allocated by </a:t>
            </a:r>
            <a:r>
              <a:rPr lang="en-US" sz="2400" b="1">
                <a:latin typeface="Arial" charset="0"/>
              </a:rPr>
              <a:t>q</a:t>
            </a:r>
            <a:r>
              <a:rPr lang="en-US" sz="2400">
                <a:latin typeface="Arial" charset="0"/>
              </a:rPr>
              <a:t>!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17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18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18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50182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Heap memory allocation</a:t>
            </a:r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50913" y="1981200"/>
            <a:ext cx="7658100" cy="4572000"/>
          </a:xfrm>
        </p:spPr>
        <p:txBody>
          <a:bodyPr rIns="132080">
            <a:normAutofit lnSpcReduction="10000"/>
          </a:bodyPr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>
                <a:latin typeface="Arial Bold" charset="0"/>
                <a:ea typeface="+mn-ea"/>
                <a:cs typeface="Arial Bold" charset="0"/>
                <a:sym typeface="Arial Bold" charset="0"/>
              </a:rPr>
              <a:t>C++:</a:t>
            </a:r>
            <a:r>
              <a:rPr lang="en-US" dirty="0">
                <a:ea typeface="+mn-ea"/>
              </a:rPr>
              <a:t> </a:t>
            </a:r>
            <a:endParaRPr lang="en-US" dirty="0" smtClean="0">
              <a:ea typeface="+mn-ea"/>
            </a:endParaRPr>
          </a:p>
          <a:p>
            <a:pPr lvl="1">
              <a:buFont typeface="Wingdings" pitchFamily="2" charset="2"/>
              <a:buChar char="¡"/>
              <a:defRPr/>
            </a:pPr>
            <a:r>
              <a:rPr lang="en-US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new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delete</a:t>
            </a:r>
            <a:r>
              <a:rPr lang="en-US" dirty="0"/>
              <a:t> allocate memory for a whole </a:t>
            </a:r>
            <a:r>
              <a:rPr lang="en-US" dirty="0" smtClean="0"/>
              <a:t>object</a:t>
            </a: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ea typeface="+mn-ea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US" dirty="0">
                <a:latin typeface="Arial Bold" charset="0"/>
                <a:ea typeface="+mn-ea"/>
                <a:cs typeface="Arial Bold" charset="0"/>
                <a:sym typeface="Arial Bold" charset="0"/>
              </a:rPr>
              <a:t>C:</a:t>
            </a:r>
            <a:r>
              <a:rPr lang="en-US" dirty="0">
                <a:ea typeface="+mn-ea"/>
              </a:rPr>
              <a:t> </a:t>
            </a:r>
            <a:endParaRPr lang="en-US" dirty="0" smtClean="0">
              <a:ea typeface="+mn-ea"/>
            </a:endParaRPr>
          </a:p>
          <a:p>
            <a:pPr lvl="1">
              <a:buFont typeface="Wingdings" pitchFamily="2" charset="2"/>
              <a:buChar char="¡"/>
              <a:defRPr/>
            </a:pPr>
            <a:r>
              <a:rPr lang="en-US" dirty="0" err="1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malloc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free</a:t>
            </a:r>
            <a:r>
              <a:rPr lang="en-US" dirty="0"/>
              <a:t> deal with unstructured blocks of </a:t>
            </a:r>
            <a:r>
              <a:rPr lang="en-US" dirty="0" smtClean="0"/>
              <a:t>bytes</a:t>
            </a:r>
            <a:endParaRPr lang="en-US" dirty="0"/>
          </a:p>
          <a:p>
            <a:pPr>
              <a:buFont typeface="Wingdings" pitchFamily="2" charset="2"/>
              <a:buNone/>
              <a:defRPr/>
            </a:pPr>
            <a:r>
              <a:rPr lang="en-US" dirty="0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		</a:t>
            </a:r>
            <a:r>
              <a:rPr lang="en-US" sz="2800" dirty="0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void</a:t>
            </a:r>
            <a:r>
              <a:rPr lang="en-US" sz="28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* </a:t>
            </a:r>
            <a:r>
              <a:rPr lang="en-US" sz="28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malloc</a:t>
            </a:r>
            <a:r>
              <a:rPr lang="en-US" sz="28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(</a:t>
            </a:r>
            <a:r>
              <a:rPr lang="en-US" sz="28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size_t</a:t>
            </a:r>
            <a:r>
              <a:rPr lang="en-US" sz="28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 size);</a:t>
            </a:r>
            <a:endParaRPr lang="en-US" sz="28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800" dirty="0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		void </a:t>
            </a:r>
            <a:r>
              <a:rPr lang="en-US" sz="28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free(void* </a:t>
            </a:r>
            <a:r>
              <a:rPr lang="en-US" sz="28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ptr</a:t>
            </a:r>
            <a:r>
              <a:rPr lang="en-US" sz="28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);</a:t>
            </a:r>
            <a:endParaRPr lang="en-US" sz="28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50185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5EB7C8B-0995-FF40-B559-EFE93790EC26}" type="slidenum">
              <a:rPr lang="en-US"/>
              <a:pPr/>
              <a:t>48</a:t>
            </a:fld>
            <a:endParaRPr lang="en-US"/>
          </a:p>
        </p:txBody>
      </p:sp>
      <p:sp>
        <p:nvSpPr>
          <p:cNvPr id="50186" name="Footer Placeholder 9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0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0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0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51206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Example</a:t>
            </a:r>
          </a:p>
        </p:txBody>
      </p:sp>
      <p:sp>
        <p:nvSpPr>
          <p:cNvPr id="51208" name="Rectangle 9"/>
          <p:cNvSpPr>
            <a:spLocks/>
          </p:cNvSpPr>
          <p:nvPr/>
        </p:nvSpPr>
        <p:spPr bwMode="auto">
          <a:xfrm>
            <a:off x="673100" y="2032000"/>
            <a:ext cx="702310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int* p;</a:t>
            </a: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 = (int*) malloc(sizeof(int));</a:t>
            </a: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 = 5;</a:t>
            </a: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free(p);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492250" y="3148013"/>
            <a:ext cx="2546350" cy="2941637"/>
            <a:chOff x="0" y="306"/>
            <a:chExt cx="1603" cy="1852"/>
          </a:xfrm>
        </p:grpSpPr>
        <p:sp>
          <p:nvSpPr>
            <p:cNvPr id="37899" name="Rectangle 11"/>
            <p:cNvSpPr>
              <a:spLocks/>
            </p:cNvSpPr>
            <p:nvPr/>
          </p:nvSpPr>
          <p:spPr bwMode="auto">
            <a:xfrm>
              <a:off x="304" y="1538"/>
              <a:ext cx="1299" cy="620"/>
            </a:xfrm>
            <a:prstGeom prst="rect">
              <a:avLst/>
            </a:prstGeom>
            <a:noFill/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40639" bIns="0">
              <a:spAutoFit/>
            </a:bodyPr>
            <a:lstStyle/>
            <a:p>
              <a:pPr marL="39688">
                <a:defRPr/>
              </a:pPr>
              <a:r>
                <a:rPr lang="en-US" sz="3200" b="1" dirty="0">
                  <a:solidFill>
                    <a:srgbClr val="FF6600"/>
                  </a:solidFill>
                  <a:latin typeface="+mn-lt"/>
                  <a:ea typeface="+mn-ea"/>
                  <a:cs typeface="Arial Bold" charset="0"/>
                  <a:sym typeface="Arial Bold" charset="0"/>
                </a:rPr>
                <a:t>Cast</a:t>
              </a:r>
              <a:r>
                <a:rPr lang="en-US" sz="3200" dirty="0">
                  <a:solidFill>
                    <a:srgbClr val="FF6600"/>
                  </a:solidFill>
                  <a:latin typeface="+mn-lt"/>
                  <a:ea typeface="+mn-ea"/>
                  <a:cs typeface="Arial" charset="0"/>
                  <a:sym typeface="Arial" charset="0"/>
                </a:rPr>
                <a:t> </a:t>
              </a:r>
              <a:r>
                <a:rPr lang="en-US" sz="3200" dirty="0">
                  <a:latin typeface="+mn-lt"/>
                  <a:ea typeface="+mn-ea"/>
                  <a:cs typeface="Arial" charset="0"/>
                  <a:sym typeface="Arial" charset="0"/>
                </a:rPr>
                <a:t>to the</a:t>
              </a:r>
            </a:p>
            <a:p>
              <a:pPr marL="39688">
                <a:defRPr/>
              </a:pPr>
              <a:r>
                <a:rPr lang="en-US" sz="3200" dirty="0">
                  <a:latin typeface="+mn-lt"/>
                  <a:ea typeface="+mn-ea"/>
                  <a:cs typeface="Arial" charset="0"/>
                  <a:sym typeface="Arial" charset="0"/>
                </a:rPr>
                <a:t>right type</a:t>
              </a:r>
            </a:p>
          </p:txBody>
        </p:sp>
        <p:sp>
          <p:nvSpPr>
            <p:cNvPr id="51217" name="Line 12"/>
            <p:cNvSpPr>
              <a:spLocks noChangeShapeType="1"/>
            </p:cNvSpPr>
            <p:nvPr/>
          </p:nvSpPr>
          <p:spPr bwMode="auto">
            <a:xfrm rot="10800000" flipH="1">
              <a:off x="0" y="306"/>
              <a:ext cx="616" cy="3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18" name="Line 13"/>
            <p:cNvSpPr>
              <a:spLocks noChangeShapeType="1"/>
            </p:cNvSpPr>
            <p:nvPr/>
          </p:nvSpPr>
          <p:spPr bwMode="auto">
            <a:xfrm rot="10800000">
              <a:off x="288" y="362"/>
              <a:ext cx="376" cy="124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4038600" y="2128838"/>
            <a:ext cx="3560763" cy="2760662"/>
            <a:chOff x="0" y="0"/>
            <a:chExt cx="2243" cy="1738"/>
          </a:xfrm>
        </p:grpSpPr>
        <p:sp>
          <p:nvSpPr>
            <p:cNvPr id="51213" name="Rectangle 15"/>
            <p:cNvSpPr>
              <a:spLocks/>
            </p:cNvSpPr>
            <p:nvPr/>
          </p:nvSpPr>
          <p:spPr bwMode="auto">
            <a:xfrm>
              <a:off x="253" y="1090"/>
              <a:ext cx="1990" cy="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/>
            <a:p>
              <a:pPr marL="39688"/>
              <a:r>
                <a:rPr lang="en-US" sz="3200" dirty="0">
                  <a:latin typeface="Arial" charset="0"/>
                  <a:cs typeface="Arial" charset="0"/>
                  <a:sym typeface="Arial" charset="0"/>
                </a:rPr>
                <a:t>How many bytes</a:t>
              </a:r>
            </a:p>
            <a:p>
              <a:pPr marL="39688"/>
              <a:r>
                <a:rPr lang="en-US" sz="3200" dirty="0">
                  <a:latin typeface="Arial" charset="0"/>
                  <a:cs typeface="Arial" charset="0"/>
                  <a:sym typeface="Arial" charset="0"/>
                </a:rPr>
                <a:t>do you want?</a:t>
              </a:r>
            </a:p>
          </p:txBody>
        </p:sp>
        <p:sp>
          <p:nvSpPr>
            <p:cNvPr id="51214" name="Line 16"/>
            <p:cNvSpPr>
              <a:spLocks noChangeShapeType="1"/>
            </p:cNvSpPr>
            <p:nvPr/>
          </p:nvSpPr>
          <p:spPr bwMode="auto">
            <a:xfrm>
              <a:off x="0" y="634"/>
              <a:ext cx="1269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15" name="Line 17"/>
            <p:cNvSpPr>
              <a:spLocks noChangeShapeType="1"/>
            </p:cNvSpPr>
            <p:nvPr/>
          </p:nvSpPr>
          <p:spPr bwMode="auto">
            <a:xfrm rot="10800000">
              <a:off x="693" y="682"/>
              <a:ext cx="144" cy="496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51211" name="Footer Placeholder 19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121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200AA12-E9AC-964B-9E9F-37E7B5493D55}" type="slidenum">
              <a:rPr lang="en-US"/>
              <a:pPr/>
              <a:t>49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2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2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2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5223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1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I</a:t>
            </a:r>
            <a:r>
              <a:rPr lang="ja-JP" altLang="en-US">
                <a:latin typeface="Arial" charset="0"/>
              </a:rPr>
              <a:t>’</a:t>
            </a:r>
            <a:r>
              <a:rPr lang="en-US">
                <a:latin typeface="Arial" charset="0"/>
              </a:rPr>
              <a:t>m hungry.  More bytes plz.</a:t>
            </a:r>
          </a:p>
        </p:txBody>
      </p:sp>
      <p:sp>
        <p:nvSpPr>
          <p:cNvPr id="52232" name="Rectangle 7"/>
          <p:cNvSpPr>
            <a:spLocks/>
          </p:cNvSpPr>
          <p:nvPr/>
        </p:nvSpPr>
        <p:spPr bwMode="auto">
          <a:xfrm>
            <a:off x="673100" y="2032000"/>
            <a:ext cx="78105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 p = (</a:t>
            </a:r>
            <a:r>
              <a:rPr lang="en-US" sz="24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*) </a:t>
            </a:r>
            <a:r>
              <a:rPr lang="en-US" sz="24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malloc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</a:t>
            </a:r>
            <a:r>
              <a:rPr lang="en-US" sz="2400" b="1" dirty="0">
                <a:solidFill>
                  <a:srgbClr val="FF6600"/>
                </a:solidFill>
                <a:latin typeface="Courier New Bold" charset="0"/>
                <a:cs typeface="Courier New Bold" charset="0"/>
                <a:sym typeface="Courier New Bold" charset="0"/>
              </a:rPr>
              <a:t>10</a:t>
            </a:r>
            <a:r>
              <a:rPr lang="en-US" sz="2400" dirty="0">
                <a:solidFill>
                  <a:srgbClr val="FF6600"/>
                </a:solidFill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 </a:t>
            </a:r>
            <a:r>
              <a:rPr lang="en-US" sz="24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sizeof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));</a:t>
            </a:r>
          </a:p>
        </p:txBody>
      </p:sp>
      <p:sp>
        <p:nvSpPr>
          <p:cNvPr id="38920" name="Rectangle 8"/>
          <p:cNvSpPr>
            <a:spLocks noChangeArrowheads="1"/>
          </p:cNvSpPr>
          <p:nvPr>
            <p:ph type="body" idx="1"/>
          </p:nvPr>
        </p:nvSpPr>
        <p:spPr>
          <a:xfrm>
            <a:off x="950913" y="3429000"/>
            <a:ext cx="7658100" cy="3429000"/>
          </a:xfrm>
        </p:spPr>
        <p:txBody>
          <a:bodyPr rIns="132080"/>
          <a:lstStyle/>
          <a:p>
            <a:r>
              <a:rPr lang="en-US">
                <a:latin typeface="Arial" charset="0"/>
              </a:rPr>
              <a:t>Now I have space for 10 integers, laid out contiguously in memory.  What would be a good name for that...?</a:t>
            </a:r>
          </a:p>
        </p:txBody>
      </p:sp>
      <p:sp>
        <p:nvSpPr>
          <p:cNvPr id="52234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E832349-150C-E54C-BB54-BFC78BA3090E}" type="slidenum">
              <a:rPr lang="en-US"/>
              <a:pPr/>
              <a:t>50</a:t>
            </a:fld>
            <a:endParaRPr lang="en-US"/>
          </a:p>
        </p:txBody>
      </p:sp>
      <p:sp>
        <p:nvSpPr>
          <p:cNvPr id="52235" name="Footer Placeholder 10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5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5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5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53254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5" name="Rectangle 6"/>
          <p:cNvSpPr>
            <a:spLocks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Arrays</a:t>
            </a:r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49325" y="1981200"/>
            <a:ext cx="8194675" cy="4114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 smtClean="0">
                <a:ea typeface="+mn-ea"/>
              </a:rPr>
              <a:t>Contiguous block of memory </a:t>
            </a:r>
          </a:p>
          <a:p>
            <a:pPr lvl="1">
              <a:buFont typeface="Wingdings" pitchFamily="2" charset="2"/>
              <a:buChar char="¡"/>
              <a:defRPr/>
            </a:pPr>
            <a:r>
              <a:rPr lang="en-US" dirty="0" smtClean="0"/>
              <a:t>Fits one or more elements of some type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dirty="0" smtClean="0">
                <a:ea typeface="+mn-ea"/>
              </a:rPr>
              <a:t>Two ways to allocate</a:t>
            </a:r>
          </a:p>
          <a:p>
            <a:pPr marL="928688" lvl="1">
              <a:buFont typeface="Wingdings" pitchFamily="2" charset="2"/>
              <a:buChar char="¡"/>
              <a:defRPr/>
            </a:pPr>
            <a:r>
              <a:rPr lang="en-US" dirty="0" smtClean="0"/>
              <a:t>named variable </a:t>
            </a:r>
          </a:p>
          <a:p>
            <a:pPr marL="928688" lvl="1">
              <a:buFont typeface="Wingdings" pitchFamily="2" charset="2"/>
              <a:buNone/>
              <a:defRPr/>
            </a:pPr>
            <a:r>
              <a:rPr lang="en-US" sz="22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sz="22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</a:t>
            </a:r>
            <a:r>
              <a:rPr lang="en-US" sz="2200" dirty="0" err="1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2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sz="22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x[10];</a:t>
            </a:r>
            <a:endParaRPr lang="en-US" sz="2200" dirty="0" smtClean="0"/>
          </a:p>
          <a:p>
            <a:pPr marL="928688" lvl="1">
              <a:buFont typeface="Wingdings" pitchFamily="2" charset="2"/>
              <a:buChar char="¡"/>
              <a:defRPr/>
            </a:pPr>
            <a:r>
              <a:rPr lang="en-US" dirty="0" smtClean="0"/>
              <a:t>dynamic</a:t>
            </a:r>
            <a:r>
              <a:rPr lang="en-US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                  </a:t>
            </a:r>
          </a:p>
          <a:p>
            <a:pPr marL="928688" lvl="1">
              <a:buFont typeface="Wingdings" pitchFamily="2" charset="2"/>
              <a:buNone/>
              <a:defRPr/>
            </a:pPr>
            <a:r>
              <a:rPr lang="en-US" sz="22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</a:t>
            </a:r>
            <a:r>
              <a:rPr lang="en-US" sz="2200" dirty="0" err="1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2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 x = (</a:t>
            </a:r>
            <a:r>
              <a:rPr lang="en-US" sz="2200" dirty="0" err="1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2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</a:t>
            </a:r>
            <a:r>
              <a:rPr lang="en-US" sz="22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 </a:t>
            </a:r>
            <a:r>
              <a:rPr lang="en-US" sz="2200" dirty="0" err="1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malloc</a:t>
            </a:r>
            <a:r>
              <a:rPr lang="en-US" sz="22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(10*</a:t>
            </a:r>
            <a:r>
              <a:rPr lang="en-US" sz="2200" dirty="0" err="1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sizeof</a:t>
            </a:r>
            <a:r>
              <a:rPr lang="en-US" sz="22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</a:t>
            </a:r>
            <a:r>
              <a:rPr lang="en-US" sz="2200" dirty="0" err="1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2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));</a:t>
            </a:r>
            <a:endParaRPr lang="en-US" sz="22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53257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325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ECCB7A3-33F3-B94E-81DD-F0E5BC007342}" type="slidenum">
              <a:rPr lang="en-US"/>
              <a:pPr/>
              <a:t>51</a:t>
            </a:fld>
            <a:endParaRPr lang="en-US" dirty="0"/>
          </a:p>
        </p:txBody>
      </p:sp>
      <p:sp>
        <p:nvSpPr>
          <p:cNvPr id="11" name="Comment 10"/>
          <p:cNvSpPr>
            <a:spLocks/>
          </p:cNvSpPr>
          <p:nvPr/>
        </p:nvSpPr>
        <p:spPr bwMode="auto">
          <a:xfrm>
            <a:off x="4876800" y="5554889"/>
            <a:ext cx="3352800" cy="861774"/>
          </a:xfrm>
          <a:prstGeom prst="rect">
            <a:avLst/>
          </a:prstGeom>
          <a:solidFill>
            <a:srgbClr val="FCFDC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800" dirty="0">
                <a:solidFill>
                  <a:srgbClr val="333333"/>
                </a:solidFill>
                <a:latin typeface="Arial"/>
                <a:cs typeface="Arial"/>
                <a:sym typeface="Marker Felt" charset="0"/>
              </a:rPr>
              <a:t>One is on the stack, one is on the heap</a:t>
            </a:r>
          </a:p>
        </p:txBody>
      </p:sp>
      <p:sp>
        <p:nvSpPr>
          <p:cNvPr id="12" name="Comment 10"/>
          <p:cNvSpPr>
            <a:spLocks/>
          </p:cNvSpPr>
          <p:nvPr/>
        </p:nvSpPr>
        <p:spPr bwMode="auto">
          <a:xfrm>
            <a:off x="1752600" y="5562600"/>
            <a:ext cx="2667000" cy="862013"/>
          </a:xfrm>
          <a:prstGeom prst="rect">
            <a:avLst/>
          </a:prstGeom>
          <a:solidFill>
            <a:srgbClr val="FCFDC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sz="2800" dirty="0">
                <a:solidFill>
                  <a:srgbClr val="333333"/>
                </a:solidFill>
                <a:latin typeface="Arial"/>
                <a:cs typeface="Arial"/>
                <a:sym typeface="Marker Felt" charset="0"/>
              </a:rPr>
              <a:t>Is there a difference?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7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7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7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54278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Arrays</a:t>
            </a:r>
          </a:p>
        </p:txBody>
      </p:sp>
      <p:sp>
        <p:nvSpPr>
          <p:cNvPr id="54280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93900"/>
            <a:ext cx="7661275" cy="4876800"/>
          </a:xfrm>
        </p:spPr>
        <p:txBody>
          <a:bodyPr rIns="132080"/>
          <a:lstStyle/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p[5]; 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54281" name="Rectangle 10"/>
          <p:cNvSpPr>
            <a:spLocks/>
          </p:cNvSpPr>
          <p:nvPr/>
        </p:nvSpPr>
        <p:spPr bwMode="auto">
          <a:xfrm>
            <a:off x="6553200" y="327660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2" name="Rectangle 11"/>
          <p:cNvSpPr>
            <a:spLocks/>
          </p:cNvSpPr>
          <p:nvPr/>
        </p:nvSpPr>
        <p:spPr bwMode="auto">
          <a:xfrm>
            <a:off x="6553200" y="358140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3" name="Rectangle 12"/>
          <p:cNvSpPr>
            <a:spLocks/>
          </p:cNvSpPr>
          <p:nvPr/>
        </p:nvSpPr>
        <p:spPr bwMode="auto">
          <a:xfrm>
            <a:off x="6553200" y="388620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4" name="Rectangle 13"/>
          <p:cNvSpPr>
            <a:spLocks/>
          </p:cNvSpPr>
          <p:nvPr/>
        </p:nvSpPr>
        <p:spPr bwMode="auto">
          <a:xfrm>
            <a:off x="6553200" y="419100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5" name="Rectangle 14"/>
          <p:cNvSpPr>
            <a:spLocks/>
          </p:cNvSpPr>
          <p:nvPr/>
        </p:nvSpPr>
        <p:spPr bwMode="auto">
          <a:xfrm>
            <a:off x="6553200" y="449580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3" name="Rectangle 15"/>
          <p:cNvSpPr>
            <a:spLocks/>
          </p:cNvSpPr>
          <p:nvPr/>
        </p:nvSpPr>
        <p:spPr bwMode="auto">
          <a:xfrm>
            <a:off x="4648200" y="289560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7" name="Rectangle 16"/>
          <p:cNvSpPr>
            <a:spLocks/>
          </p:cNvSpPr>
          <p:nvPr/>
        </p:nvSpPr>
        <p:spPr bwMode="auto">
          <a:xfrm>
            <a:off x="5943600" y="3276600"/>
            <a:ext cx="6413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p[0]</a:t>
            </a:r>
          </a:p>
        </p:txBody>
      </p:sp>
      <p:sp>
        <p:nvSpPr>
          <p:cNvPr id="54288" name="Rectangle 17"/>
          <p:cNvSpPr>
            <a:spLocks/>
          </p:cNvSpPr>
          <p:nvPr/>
        </p:nvSpPr>
        <p:spPr bwMode="auto">
          <a:xfrm>
            <a:off x="5943600" y="3581400"/>
            <a:ext cx="6413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p[1]</a:t>
            </a:r>
          </a:p>
        </p:txBody>
      </p:sp>
      <p:sp>
        <p:nvSpPr>
          <p:cNvPr id="54289" name="Rectangle 18"/>
          <p:cNvSpPr>
            <a:spLocks/>
          </p:cNvSpPr>
          <p:nvPr/>
        </p:nvSpPr>
        <p:spPr bwMode="auto">
          <a:xfrm>
            <a:off x="5943600" y="3886200"/>
            <a:ext cx="6413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p[2]</a:t>
            </a:r>
          </a:p>
        </p:txBody>
      </p:sp>
      <p:sp>
        <p:nvSpPr>
          <p:cNvPr id="54290" name="Rectangle 19"/>
          <p:cNvSpPr>
            <a:spLocks/>
          </p:cNvSpPr>
          <p:nvPr/>
        </p:nvSpPr>
        <p:spPr bwMode="auto">
          <a:xfrm>
            <a:off x="5943600" y="4191000"/>
            <a:ext cx="6413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p[3]</a:t>
            </a:r>
          </a:p>
        </p:txBody>
      </p:sp>
      <p:sp>
        <p:nvSpPr>
          <p:cNvPr id="54291" name="Rectangle 20"/>
          <p:cNvSpPr>
            <a:spLocks/>
          </p:cNvSpPr>
          <p:nvPr/>
        </p:nvSpPr>
        <p:spPr bwMode="auto">
          <a:xfrm>
            <a:off x="5943600" y="4495800"/>
            <a:ext cx="6413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p[4]</a:t>
            </a:r>
          </a:p>
        </p:txBody>
      </p:sp>
      <p:sp>
        <p:nvSpPr>
          <p:cNvPr id="43029" name="Line 21"/>
          <p:cNvSpPr>
            <a:spLocks noChangeShapeType="1"/>
          </p:cNvSpPr>
          <p:nvPr/>
        </p:nvSpPr>
        <p:spPr bwMode="auto">
          <a:xfrm rot="10800000" flipH="1">
            <a:off x="1752600" y="2590800"/>
            <a:ext cx="228600" cy="914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30" name="Rectangle 22"/>
          <p:cNvSpPr>
            <a:spLocks/>
          </p:cNvSpPr>
          <p:nvPr/>
        </p:nvSpPr>
        <p:spPr bwMode="auto">
          <a:xfrm>
            <a:off x="630238" y="3657600"/>
            <a:ext cx="38639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Name of array (is a pointer)</a:t>
            </a:r>
          </a:p>
        </p:txBody>
      </p:sp>
      <p:sp>
        <p:nvSpPr>
          <p:cNvPr id="43031" name="Rectangle 23"/>
          <p:cNvSpPr>
            <a:spLocks/>
          </p:cNvSpPr>
          <p:nvPr/>
        </p:nvSpPr>
        <p:spPr bwMode="auto">
          <a:xfrm>
            <a:off x="4175125" y="285115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</a:t>
            </a:r>
          </a:p>
        </p:txBody>
      </p:sp>
      <p:sp>
        <p:nvSpPr>
          <p:cNvPr id="43032" name="Line 24"/>
          <p:cNvSpPr>
            <a:spLocks noChangeShapeType="1"/>
          </p:cNvSpPr>
          <p:nvPr/>
        </p:nvSpPr>
        <p:spPr bwMode="auto">
          <a:xfrm>
            <a:off x="5105400" y="3048000"/>
            <a:ext cx="1447800" cy="228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33" name="Line 25"/>
          <p:cNvSpPr>
            <a:spLocks noChangeShapeType="1"/>
          </p:cNvSpPr>
          <p:nvPr/>
        </p:nvSpPr>
        <p:spPr bwMode="auto">
          <a:xfrm rot="10800000" flipH="1">
            <a:off x="4800600" y="3886200"/>
            <a:ext cx="10668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34" name="Rectangle 26"/>
          <p:cNvSpPr>
            <a:spLocks/>
          </p:cNvSpPr>
          <p:nvPr/>
        </p:nvSpPr>
        <p:spPr bwMode="auto">
          <a:xfrm>
            <a:off x="2955925" y="4605338"/>
            <a:ext cx="3995738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Shorthand:</a:t>
            </a: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*(p+1) is called p[1]</a:t>
            </a: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*(p+2) is called p[2]</a:t>
            </a:r>
          </a:p>
          <a:p>
            <a:pPr marL="39688"/>
            <a:r>
              <a:rPr lang="en-US" sz="2400">
                <a:latin typeface="Arial" charset="0"/>
                <a:cs typeface="Arial" charset="0"/>
                <a:sym typeface="Arial" charset="0"/>
              </a:rPr>
              <a:t>etc..</a:t>
            </a:r>
          </a:p>
        </p:txBody>
      </p:sp>
      <p:sp>
        <p:nvSpPr>
          <p:cNvPr id="54298" name="Footer Placeholder 28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4299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FE7788E-6F41-1D43-8330-FCB4822ADFDC}" type="slidenum">
              <a:rPr lang="en-US"/>
              <a:pPr/>
              <a:t>52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3" grpId="0" animBg="1"/>
      <p:bldP spid="43029" grpId="0" animBg="1"/>
      <p:bldP spid="43030" grpId="0"/>
      <p:bldP spid="43031" grpId="0"/>
      <p:bldP spid="43032" grpId="0" animBg="1"/>
      <p:bldP spid="43033" grpId="0" animBg="1"/>
      <p:bldP spid="4303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29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55302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Example</a:t>
            </a:r>
          </a:p>
        </p:txBody>
      </p:sp>
      <p:sp>
        <p:nvSpPr>
          <p:cNvPr id="55304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y[4];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y[1]=6;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y[2]=2; 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55305" name="Rectangle 10"/>
          <p:cNvSpPr>
            <a:spLocks/>
          </p:cNvSpPr>
          <p:nvPr/>
        </p:nvSpPr>
        <p:spPr bwMode="auto">
          <a:xfrm>
            <a:off x="6553200" y="327660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55306" name="Group 11"/>
          <p:cNvGrpSpPr>
            <a:grpSpLocks/>
          </p:cNvGrpSpPr>
          <p:nvPr/>
        </p:nvGrpSpPr>
        <p:grpSpPr bwMode="auto">
          <a:xfrm>
            <a:off x="6553200" y="3543300"/>
            <a:ext cx="914400" cy="381000"/>
            <a:chOff x="0" y="0"/>
            <a:chExt cx="576" cy="240"/>
          </a:xfrm>
        </p:grpSpPr>
        <p:sp>
          <p:nvSpPr>
            <p:cNvPr id="55320" name="Rectangle 12"/>
            <p:cNvSpPr>
              <a:spLocks/>
            </p:cNvSpPr>
            <p:nvPr/>
          </p:nvSpPr>
          <p:spPr bwMode="auto">
            <a:xfrm>
              <a:off x="0" y="24"/>
              <a:ext cx="576" cy="19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5321" name="Rectangle 13"/>
            <p:cNvSpPr>
              <a:spLocks/>
            </p:cNvSpPr>
            <p:nvPr/>
          </p:nvSpPr>
          <p:spPr bwMode="auto">
            <a:xfrm>
              <a:off x="193" y="0"/>
              <a:ext cx="18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>
                  <a:latin typeface="Tahoma Bold" charset="0"/>
                  <a:cs typeface="Tahoma Bold" charset="0"/>
                  <a:sym typeface="Tahoma Bold" charset="0"/>
                </a:rPr>
                <a:t>6</a:t>
              </a:r>
            </a:p>
          </p:txBody>
        </p:sp>
      </p:grpSp>
      <p:grpSp>
        <p:nvGrpSpPr>
          <p:cNvPr id="55307" name="Group 14"/>
          <p:cNvGrpSpPr>
            <a:grpSpLocks/>
          </p:cNvGrpSpPr>
          <p:nvPr/>
        </p:nvGrpSpPr>
        <p:grpSpPr bwMode="auto">
          <a:xfrm>
            <a:off x="6553200" y="3848100"/>
            <a:ext cx="914400" cy="381000"/>
            <a:chOff x="0" y="0"/>
            <a:chExt cx="576" cy="240"/>
          </a:xfrm>
        </p:grpSpPr>
        <p:sp>
          <p:nvSpPr>
            <p:cNvPr id="55318" name="Rectangle 15"/>
            <p:cNvSpPr>
              <a:spLocks/>
            </p:cNvSpPr>
            <p:nvPr/>
          </p:nvSpPr>
          <p:spPr bwMode="auto">
            <a:xfrm>
              <a:off x="0" y="24"/>
              <a:ext cx="576" cy="19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5319" name="Rectangle 16"/>
            <p:cNvSpPr>
              <a:spLocks/>
            </p:cNvSpPr>
            <p:nvPr/>
          </p:nvSpPr>
          <p:spPr bwMode="auto">
            <a:xfrm>
              <a:off x="193" y="0"/>
              <a:ext cx="18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/>
            <a:p>
              <a:pPr marL="39688" algn="ctr"/>
              <a:r>
                <a:rPr lang="en-US">
                  <a:latin typeface="Tahoma Bold" charset="0"/>
                  <a:cs typeface="Tahoma Bold" charset="0"/>
                  <a:sym typeface="Tahoma Bold" charset="0"/>
                </a:rPr>
                <a:t>2</a:t>
              </a:r>
            </a:p>
          </p:txBody>
        </p:sp>
      </p:grpSp>
      <p:sp>
        <p:nvSpPr>
          <p:cNvPr id="55308" name="Rectangle 17"/>
          <p:cNvSpPr>
            <a:spLocks/>
          </p:cNvSpPr>
          <p:nvPr/>
        </p:nvSpPr>
        <p:spPr bwMode="auto">
          <a:xfrm>
            <a:off x="6553200" y="419100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9" name="Rectangle 18"/>
          <p:cNvSpPr>
            <a:spLocks/>
          </p:cNvSpPr>
          <p:nvPr/>
        </p:nvSpPr>
        <p:spPr bwMode="auto">
          <a:xfrm>
            <a:off x="4648200" y="289560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0" name="Rectangle 19"/>
          <p:cNvSpPr>
            <a:spLocks/>
          </p:cNvSpPr>
          <p:nvPr/>
        </p:nvSpPr>
        <p:spPr bwMode="auto">
          <a:xfrm>
            <a:off x="5943600" y="3276600"/>
            <a:ext cx="6413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y[0]</a:t>
            </a:r>
          </a:p>
        </p:txBody>
      </p:sp>
      <p:sp>
        <p:nvSpPr>
          <p:cNvPr id="55311" name="Rectangle 20"/>
          <p:cNvSpPr>
            <a:spLocks/>
          </p:cNvSpPr>
          <p:nvPr/>
        </p:nvSpPr>
        <p:spPr bwMode="auto">
          <a:xfrm>
            <a:off x="5943600" y="3581400"/>
            <a:ext cx="6413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y[1]</a:t>
            </a:r>
          </a:p>
        </p:txBody>
      </p:sp>
      <p:sp>
        <p:nvSpPr>
          <p:cNvPr id="55312" name="Rectangle 21"/>
          <p:cNvSpPr>
            <a:spLocks/>
          </p:cNvSpPr>
          <p:nvPr/>
        </p:nvSpPr>
        <p:spPr bwMode="auto">
          <a:xfrm>
            <a:off x="5943600" y="3886200"/>
            <a:ext cx="6413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y[2]</a:t>
            </a:r>
          </a:p>
        </p:txBody>
      </p:sp>
      <p:sp>
        <p:nvSpPr>
          <p:cNvPr id="55313" name="Rectangle 22"/>
          <p:cNvSpPr>
            <a:spLocks/>
          </p:cNvSpPr>
          <p:nvPr/>
        </p:nvSpPr>
        <p:spPr bwMode="auto">
          <a:xfrm>
            <a:off x="5943600" y="4191000"/>
            <a:ext cx="6413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y[3]</a:t>
            </a:r>
          </a:p>
        </p:txBody>
      </p:sp>
      <p:sp>
        <p:nvSpPr>
          <p:cNvPr id="55314" name="Line 23"/>
          <p:cNvSpPr>
            <a:spLocks noChangeShapeType="1"/>
          </p:cNvSpPr>
          <p:nvPr/>
        </p:nvSpPr>
        <p:spPr bwMode="auto">
          <a:xfrm>
            <a:off x="5105400" y="3048000"/>
            <a:ext cx="1447800" cy="228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5" name="Rectangle 24"/>
          <p:cNvSpPr>
            <a:spLocks/>
          </p:cNvSpPr>
          <p:nvPr/>
        </p:nvSpPr>
        <p:spPr bwMode="auto">
          <a:xfrm>
            <a:off x="4175125" y="285115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</a:t>
            </a:r>
          </a:p>
        </p:txBody>
      </p:sp>
      <p:sp>
        <p:nvSpPr>
          <p:cNvPr id="55316" name="Footer Placeholder 2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5317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3EFED08-675C-284E-A8A3-2E0B05ED4BC0}" type="slidenum">
              <a:rPr lang="en-US"/>
              <a:pPr/>
              <a:t>53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2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2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2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5632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Array Name as Pointer</a:t>
            </a:r>
          </a:p>
        </p:txBody>
      </p:sp>
      <p:sp>
        <p:nvSpPr>
          <p:cNvPr id="45063" name="Rectangle 7"/>
          <p:cNvSpPr>
            <a:spLocks noGrp="1" noChangeArrowheads="1"/>
          </p:cNvSpPr>
          <p:nvPr>
            <p:ph sz="half" idx="1"/>
          </p:nvPr>
        </p:nvSpPr>
        <p:spPr>
          <a:xfrm>
            <a:off x="949325" y="1981200"/>
            <a:ext cx="7889875" cy="4114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" charset="0"/>
                <a:sym typeface="Arial" charset="0"/>
              </a:rPr>
              <a:t>What’s </a:t>
            </a:r>
            <a:r>
              <a:rPr lang="en-US" dirty="0">
                <a:latin typeface="Arial" charset="0"/>
                <a:sym typeface="Arial" charset="0"/>
              </a:rPr>
              <a:t>the difference between the examples?</a:t>
            </a:r>
          </a:p>
          <a:p>
            <a:endParaRPr lang="en-US" dirty="0">
              <a:latin typeface="Arial" charset="0"/>
              <a:sym typeface="Arial" charset="0"/>
            </a:endParaRPr>
          </a:p>
          <a:p>
            <a:r>
              <a:rPr lang="en-US" sz="2400" dirty="0">
                <a:latin typeface="Arial" charset="0"/>
                <a:sym typeface="Arial" charset="0"/>
              </a:rPr>
              <a:t>Example 1:</a:t>
            </a:r>
          </a:p>
          <a:p>
            <a:endParaRPr lang="en-US" dirty="0">
              <a:latin typeface="Arial" charset="0"/>
              <a:sym typeface="Arial" charset="0"/>
            </a:endParaRPr>
          </a:p>
          <a:p>
            <a:pPr>
              <a:spcBef>
                <a:spcPts val="538"/>
              </a:spcBef>
              <a:buClrTx/>
              <a:buSzTx/>
              <a:buFont typeface="Wingdings" charset="0"/>
              <a:buNone/>
            </a:pPr>
            <a:r>
              <a:rPr lang="en-US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z[8];</a:t>
            </a:r>
          </a:p>
          <a:p>
            <a:pPr>
              <a:spcBef>
                <a:spcPts val="538"/>
              </a:spcBef>
              <a:buClrTx/>
              <a:buSzTx/>
              <a:buFont typeface="Wingdings" charset="0"/>
              <a:buNone/>
            </a:pPr>
            <a:r>
              <a:rPr lang="en-US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*q;</a:t>
            </a:r>
          </a:p>
          <a:p>
            <a:pPr>
              <a:spcBef>
                <a:spcPts val="538"/>
              </a:spcBef>
              <a:buClrTx/>
              <a:buSzTx/>
              <a:buFont typeface="Wingdings" charset="0"/>
              <a:buNone/>
            </a:pPr>
            <a:r>
              <a:rPr lang="en-US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q=z;</a:t>
            </a:r>
          </a:p>
          <a:p>
            <a:pPr>
              <a:buFont typeface="Wingdings" charset="0"/>
              <a:buNone/>
            </a:pPr>
            <a:endParaRPr lang="en-US" dirty="0">
              <a:latin typeface="Arial" charset="0"/>
              <a:sym typeface="Arial" charset="0"/>
            </a:endParaRPr>
          </a:p>
        </p:txBody>
      </p:sp>
      <p:sp>
        <p:nvSpPr>
          <p:cNvPr id="21" name="Content Placeholder 20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87363">
              <a:spcBef>
                <a:spcPts val="550"/>
              </a:spcBef>
              <a:buClr>
                <a:srgbClr val="CC9900"/>
              </a:buClr>
              <a:buSzPct val="69000"/>
              <a:buFont typeface="Wingdings" charset="0"/>
              <a:buNone/>
            </a:pPr>
            <a:r>
              <a:rPr lang="en-US">
                <a:solidFill>
                  <a:srgbClr val="292929"/>
                </a:solidFill>
                <a:latin typeface="Arial" charset="0"/>
                <a:cs typeface="Arial" charset="0"/>
                <a:sym typeface="Arial" charset="0"/>
              </a:rPr>
              <a:t/>
            </a:r>
            <a:br>
              <a:rPr lang="en-US">
                <a:solidFill>
                  <a:srgbClr val="292929"/>
                </a:solidFill>
                <a:latin typeface="Arial" charset="0"/>
                <a:cs typeface="Arial" charset="0"/>
                <a:sym typeface="Arial" charset="0"/>
              </a:rPr>
            </a:br>
            <a:endParaRPr lang="en-US">
              <a:solidFill>
                <a:srgbClr val="292929"/>
              </a:solidFill>
              <a:latin typeface="Arial" charset="0"/>
              <a:cs typeface="Arial" charset="0"/>
              <a:sym typeface="Arial" charset="0"/>
            </a:endParaRPr>
          </a:p>
          <a:p>
            <a:pPr marL="487363">
              <a:spcBef>
                <a:spcPts val="550"/>
              </a:spcBef>
              <a:buClr>
                <a:srgbClr val="CC9900"/>
              </a:buClr>
              <a:buSzPct val="69000"/>
            </a:pPr>
            <a:r>
              <a:rPr lang="en-US" sz="2400">
                <a:solidFill>
                  <a:srgbClr val="292929"/>
                </a:solidFill>
                <a:latin typeface="Arial" charset="0"/>
                <a:cs typeface="Arial" charset="0"/>
                <a:sym typeface="Arial" charset="0"/>
              </a:rPr>
              <a:t>Example 2:</a:t>
            </a:r>
          </a:p>
          <a:p>
            <a:pPr marL="487363">
              <a:spcBef>
                <a:spcPts val="550"/>
              </a:spcBef>
              <a:buClr>
                <a:srgbClr val="CC9900"/>
              </a:buClr>
              <a:buSzPct val="69000"/>
            </a:pPr>
            <a:endParaRPr lang="en-US" sz="2400">
              <a:solidFill>
                <a:srgbClr val="292929"/>
              </a:solidFill>
              <a:latin typeface="Arial" charset="0"/>
              <a:cs typeface="Arial" charset="0"/>
              <a:sym typeface="Arial" charset="0"/>
            </a:endParaRPr>
          </a:p>
          <a:p>
            <a:pPr marL="487363">
              <a:spcBef>
                <a:spcPts val="538"/>
              </a:spcBef>
              <a:buClrTx/>
              <a:buSzTx/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z[8];</a:t>
            </a:r>
          </a:p>
          <a:p>
            <a:pPr marL="487363">
              <a:spcBef>
                <a:spcPts val="538"/>
              </a:spcBef>
              <a:buClrTx/>
              <a:buSzTx/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*q;</a:t>
            </a:r>
          </a:p>
          <a:p>
            <a:pPr marL="487363">
              <a:spcBef>
                <a:spcPts val="538"/>
              </a:spcBef>
              <a:buClrTx/>
              <a:buSzTx/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q=&amp;z[0];</a:t>
            </a:r>
          </a:p>
          <a:p>
            <a:pPr marL="487363">
              <a:buFont typeface="Wingdings" charset="0"/>
              <a:buNone/>
            </a:pPr>
            <a:endParaRPr lang="en-US">
              <a:latin typeface="Arial" charset="0"/>
            </a:endParaRPr>
          </a:p>
        </p:txBody>
      </p:sp>
      <p:sp>
        <p:nvSpPr>
          <p:cNvPr id="56330" name="Footer Placeholder 1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6331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F014FBC-771E-C34F-96B7-0E69B87D51C9}" type="slidenum">
              <a:rPr lang="en-US"/>
              <a:pPr/>
              <a:t>54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4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4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4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5735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Array Name as Pointer</a:t>
            </a:r>
          </a:p>
        </p:txBody>
      </p:sp>
      <p:sp>
        <p:nvSpPr>
          <p:cNvPr id="2" name="Rectangle 7"/>
          <p:cNvSpPr>
            <a:spLocks noGrp="1" noChangeArrowheads="1"/>
          </p:cNvSpPr>
          <p:nvPr>
            <p:ph sz="half" idx="1"/>
          </p:nvPr>
        </p:nvSpPr>
        <p:spPr>
          <a:xfrm>
            <a:off x="949325" y="1981200"/>
            <a:ext cx="7889875" cy="4114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" charset="0"/>
                <a:sym typeface="Arial" charset="0"/>
              </a:rPr>
              <a:t>What’s </a:t>
            </a:r>
            <a:r>
              <a:rPr lang="en-US" dirty="0">
                <a:latin typeface="Arial" charset="0"/>
                <a:sym typeface="Arial" charset="0"/>
              </a:rPr>
              <a:t>the difference between the examples?</a:t>
            </a:r>
          </a:p>
          <a:p>
            <a:endParaRPr lang="en-US" dirty="0">
              <a:latin typeface="Arial" charset="0"/>
              <a:sym typeface="Arial" charset="0"/>
            </a:endParaRPr>
          </a:p>
          <a:p>
            <a:r>
              <a:rPr lang="en-US" sz="2400" dirty="0">
                <a:latin typeface="Arial" charset="0"/>
                <a:sym typeface="Arial" charset="0"/>
              </a:rPr>
              <a:t>Example 1:</a:t>
            </a:r>
          </a:p>
          <a:p>
            <a:endParaRPr lang="en-US" dirty="0">
              <a:latin typeface="Arial" charset="0"/>
              <a:sym typeface="Arial" charset="0"/>
            </a:endParaRPr>
          </a:p>
          <a:p>
            <a:pPr>
              <a:spcBef>
                <a:spcPts val="538"/>
              </a:spcBef>
              <a:buClrTx/>
              <a:buSzTx/>
              <a:buFont typeface="Wingdings" charset="0"/>
              <a:buNone/>
            </a:pPr>
            <a:r>
              <a:rPr lang="en-US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z[8];</a:t>
            </a:r>
          </a:p>
          <a:p>
            <a:pPr>
              <a:spcBef>
                <a:spcPts val="538"/>
              </a:spcBef>
              <a:buClrTx/>
              <a:buSzTx/>
              <a:buFont typeface="Wingdings" charset="0"/>
              <a:buNone/>
            </a:pPr>
            <a:r>
              <a:rPr lang="en-US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*q;</a:t>
            </a:r>
          </a:p>
          <a:p>
            <a:pPr>
              <a:spcBef>
                <a:spcPts val="538"/>
              </a:spcBef>
              <a:buClrTx/>
              <a:buSzTx/>
              <a:buFont typeface="Wingdings" charset="0"/>
              <a:buNone/>
            </a:pPr>
            <a:r>
              <a:rPr lang="en-US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q=z;</a:t>
            </a:r>
          </a:p>
          <a:p>
            <a:pPr>
              <a:buFont typeface="Wingdings" charset="0"/>
              <a:buNone/>
            </a:pPr>
            <a:endParaRPr lang="en-US" dirty="0">
              <a:latin typeface="Arial" charset="0"/>
              <a:sym typeface="Arial" charset="0"/>
            </a:endParaRPr>
          </a:p>
        </p:txBody>
      </p:sp>
      <p:sp>
        <p:nvSpPr>
          <p:cNvPr id="21" name="Content Placeholder 20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87363">
              <a:spcBef>
                <a:spcPts val="550"/>
              </a:spcBef>
              <a:buClr>
                <a:srgbClr val="CC9900"/>
              </a:buClr>
              <a:buSzPct val="69000"/>
              <a:buFont typeface="Wingdings" charset="0"/>
              <a:buNone/>
            </a:pPr>
            <a:r>
              <a:rPr lang="en-US">
                <a:solidFill>
                  <a:srgbClr val="292929"/>
                </a:solidFill>
                <a:latin typeface="Arial" charset="0"/>
                <a:cs typeface="Arial" charset="0"/>
                <a:sym typeface="Arial" charset="0"/>
              </a:rPr>
              <a:t/>
            </a:r>
            <a:br>
              <a:rPr lang="en-US">
                <a:solidFill>
                  <a:srgbClr val="292929"/>
                </a:solidFill>
                <a:latin typeface="Arial" charset="0"/>
                <a:cs typeface="Arial" charset="0"/>
                <a:sym typeface="Arial" charset="0"/>
              </a:rPr>
            </a:br>
            <a:endParaRPr lang="en-US">
              <a:solidFill>
                <a:srgbClr val="292929"/>
              </a:solidFill>
              <a:latin typeface="Arial" charset="0"/>
              <a:cs typeface="Arial" charset="0"/>
              <a:sym typeface="Arial" charset="0"/>
            </a:endParaRPr>
          </a:p>
          <a:p>
            <a:pPr marL="487363">
              <a:spcBef>
                <a:spcPts val="550"/>
              </a:spcBef>
              <a:buClr>
                <a:srgbClr val="CC9900"/>
              </a:buClr>
              <a:buSzPct val="69000"/>
            </a:pPr>
            <a:r>
              <a:rPr lang="en-US" sz="2400">
                <a:solidFill>
                  <a:srgbClr val="292929"/>
                </a:solidFill>
                <a:latin typeface="Arial" charset="0"/>
                <a:cs typeface="Arial" charset="0"/>
                <a:sym typeface="Arial" charset="0"/>
              </a:rPr>
              <a:t>Example 2:</a:t>
            </a:r>
          </a:p>
          <a:p>
            <a:pPr marL="487363">
              <a:spcBef>
                <a:spcPts val="550"/>
              </a:spcBef>
              <a:buClr>
                <a:srgbClr val="CC9900"/>
              </a:buClr>
              <a:buSzPct val="69000"/>
            </a:pPr>
            <a:endParaRPr lang="en-US" sz="2400">
              <a:solidFill>
                <a:srgbClr val="292929"/>
              </a:solidFill>
              <a:latin typeface="Arial" charset="0"/>
              <a:cs typeface="Arial" charset="0"/>
              <a:sym typeface="Arial" charset="0"/>
            </a:endParaRPr>
          </a:p>
          <a:p>
            <a:pPr marL="487363">
              <a:spcBef>
                <a:spcPts val="538"/>
              </a:spcBef>
              <a:buClrTx/>
              <a:buSzTx/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z[8];</a:t>
            </a:r>
          </a:p>
          <a:p>
            <a:pPr marL="487363">
              <a:spcBef>
                <a:spcPts val="538"/>
              </a:spcBef>
              <a:buClrTx/>
              <a:buSzTx/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*q;</a:t>
            </a:r>
          </a:p>
          <a:p>
            <a:pPr marL="487363">
              <a:spcBef>
                <a:spcPts val="538"/>
              </a:spcBef>
              <a:buClrTx/>
              <a:buSzTx/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q=&amp;z[0];</a:t>
            </a:r>
          </a:p>
          <a:p>
            <a:pPr marL="487363">
              <a:buFont typeface="Wingdings" charset="0"/>
              <a:buNone/>
            </a:pPr>
            <a:endParaRPr lang="en-US">
              <a:latin typeface="Arial" charset="0"/>
            </a:endParaRPr>
          </a:p>
        </p:txBody>
      </p:sp>
      <p:sp>
        <p:nvSpPr>
          <p:cNvPr id="57354" name="Footer Placeholder 1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7355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5338E3C-3BBD-ED44-A338-4D09548043A8}" type="slidenum">
              <a:rPr lang="en-US"/>
              <a:pPr/>
              <a:t>55</a:t>
            </a:fld>
            <a:endParaRPr lang="en-US"/>
          </a:p>
        </p:txBody>
      </p:sp>
      <p:sp>
        <p:nvSpPr>
          <p:cNvPr id="12" name="Rectangle 12"/>
          <p:cNvSpPr>
            <a:spLocks/>
          </p:cNvSpPr>
          <p:nvPr/>
        </p:nvSpPr>
        <p:spPr bwMode="auto">
          <a:xfrm>
            <a:off x="2887663" y="4572000"/>
            <a:ext cx="4402137" cy="1846263"/>
          </a:xfrm>
          <a:prstGeom prst="rect">
            <a:avLst/>
          </a:prstGeom>
          <a:noFill/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40639" bIns="0">
            <a:spAutoFit/>
          </a:bodyPr>
          <a:lstStyle/>
          <a:p>
            <a:pPr marL="39688">
              <a:defRPr/>
            </a:pPr>
            <a:r>
              <a:rPr lang="en-US" sz="2400" dirty="0">
                <a:latin typeface="+mj-lt"/>
                <a:ea typeface="+mn-ea"/>
                <a:cs typeface="Arial Bold" charset="0"/>
                <a:sym typeface="Arial Bold" charset="0"/>
              </a:rPr>
              <a:t>NOTHING!!</a:t>
            </a:r>
          </a:p>
          <a:p>
            <a:pPr marL="39688">
              <a:defRPr/>
            </a:pPr>
            <a:endParaRPr lang="en-US" sz="2400" dirty="0">
              <a:latin typeface="Arial Bold" charset="0"/>
              <a:ea typeface="+mn-ea"/>
              <a:cs typeface="Arial Bold" charset="0"/>
              <a:sym typeface="Arial Bold" charset="0"/>
            </a:endParaRPr>
          </a:p>
          <a:p>
            <a:pPr marL="39688">
              <a:defRPr/>
            </a:pP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z</a:t>
            </a:r>
            <a:r>
              <a:rPr lang="en-US" sz="2400" dirty="0"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 </a:t>
            </a:r>
            <a:r>
              <a:rPr lang="en-US" sz="2400" dirty="0">
                <a:latin typeface="+mj-lt"/>
                <a:ea typeface="+mn-ea"/>
                <a:cs typeface="Arial Bold" charset="0"/>
                <a:sym typeface="Arial Bold" charset="0"/>
              </a:rPr>
              <a:t>(the array name) is a pointer </a:t>
            </a:r>
          </a:p>
          <a:p>
            <a:pPr marL="39688">
              <a:defRPr/>
            </a:pPr>
            <a:r>
              <a:rPr lang="en-US" sz="2400" dirty="0">
                <a:latin typeface="+mj-lt"/>
                <a:ea typeface="+mn-ea"/>
                <a:cs typeface="Arial Bold" charset="0"/>
                <a:sym typeface="Arial Bold" charset="0"/>
              </a:rPr>
              <a:t>to the beginning of the array, </a:t>
            </a:r>
          </a:p>
          <a:p>
            <a:pPr marL="39688">
              <a:defRPr/>
            </a:pPr>
            <a:r>
              <a:rPr lang="en-US" sz="2400" dirty="0">
                <a:latin typeface="+mj-lt"/>
                <a:ea typeface="+mn-ea"/>
                <a:cs typeface="Arial Bold" charset="0"/>
                <a:sym typeface="Arial Bold" charset="0"/>
              </a:rPr>
              <a:t>which is 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&amp;z[0]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58374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5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Questions</a:t>
            </a:r>
          </a:p>
        </p:txBody>
      </p:sp>
      <p:sp>
        <p:nvSpPr>
          <p:cNvPr id="58376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800" dirty="0" smtClean="0">
                <a:latin typeface="Arial" charset="0"/>
              </a:rPr>
              <a:t>What’s </a:t>
            </a:r>
            <a:r>
              <a:rPr lang="en-US" sz="2800" dirty="0">
                <a:latin typeface="Arial" charset="0"/>
              </a:rPr>
              <a:t>the difference between</a:t>
            </a:r>
          </a:p>
          <a:p>
            <a:pPr>
              <a:buFont typeface="Wingdings" charset="0"/>
              <a:buNone/>
            </a:pPr>
            <a:r>
              <a:rPr lang="en-US" sz="28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8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 q;</a:t>
            </a:r>
            <a:endParaRPr lang="en-US" sz="28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8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q[5];</a:t>
            </a:r>
            <a:endParaRPr lang="en-US" sz="28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endParaRPr lang="en-US" sz="2800" dirty="0">
              <a:latin typeface="Arial" charset="0"/>
            </a:endParaRPr>
          </a:p>
          <a:p>
            <a:r>
              <a:rPr lang="en-US" sz="2800" dirty="0" smtClean="0">
                <a:latin typeface="Arial" charset="0"/>
              </a:rPr>
              <a:t>What’s </a:t>
            </a:r>
            <a:r>
              <a:rPr lang="en-US" sz="2800" dirty="0">
                <a:latin typeface="Arial" charset="0"/>
              </a:rPr>
              <a:t>wrong with</a:t>
            </a:r>
          </a:p>
          <a:p>
            <a:pPr>
              <a:buFont typeface="Wingdings" charset="0"/>
              <a:buNone/>
            </a:pPr>
            <a:r>
              <a:rPr lang="en-US" sz="28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sz="28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</a:t>
            </a:r>
            <a:r>
              <a:rPr lang="en-US" sz="28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[2];</a:t>
            </a:r>
            <a:endParaRPr lang="en-US" sz="28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</a:t>
            </a:r>
            <a:r>
              <a:rPr lang="en-US" sz="28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[1] = 1;</a:t>
            </a:r>
            <a:endParaRPr lang="en-US" sz="28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 dirty="0" err="1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</a:t>
            </a:r>
            <a:r>
              <a:rPr lang="en-US" sz="2800" dirty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[2] = 2;</a:t>
            </a:r>
            <a:endParaRPr lang="en-US" sz="28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58377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837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8CA8F2B-33EE-FA4C-9DC4-12E83E48CB9D}" type="slidenum">
              <a:rPr lang="en-US"/>
              <a:pPr/>
              <a:t>56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39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39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39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59398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Questions</a:t>
            </a:r>
          </a:p>
        </p:txBody>
      </p:sp>
      <p:sp>
        <p:nvSpPr>
          <p:cNvPr id="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Char char="n"/>
              <a:defRPr/>
            </a:pPr>
            <a:r>
              <a:rPr lang="en-US" sz="2500" dirty="0">
                <a:ea typeface="+mn-ea"/>
              </a:rPr>
              <a:t>What is the value of </a:t>
            </a: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b[2]</a:t>
            </a:r>
            <a:r>
              <a:rPr lang="en-US" sz="2500" dirty="0">
                <a:ea typeface="+mn-ea"/>
              </a:rPr>
              <a:t> at the end?</a:t>
            </a:r>
            <a:endParaRPr lang="en-US" dirty="0">
              <a:ea typeface="+mn-ea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 b[3];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5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* q;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b[0]=48; b[1]=113; b[2]=1;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q=b;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*(q+1)=2;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b[2]=*b;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b[2]=b[2]+b[1];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59401" name="Group 10"/>
          <p:cNvGrpSpPr>
            <a:grpSpLocks/>
          </p:cNvGrpSpPr>
          <p:nvPr/>
        </p:nvGrpSpPr>
        <p:grpSpPr bwMode="auto">
          <a:xfrm>
            <a:off x="6324600" y="3568700"/>
            <a:ext cx="1778000" cy="406400"/>
            <a:chOff x="0" y="0"/>
            <a:chExt cx="1120" cy="256"/>
          </a:xfrm>
        </p:grpSpPr>
        <p:sp>
          <p:nvSpPr>
            <p:cNvPr id="59408" name="Rectangle 11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48</a:t>
              </a:r>
            </a:p>
          </p:txBody>
        </p:sp>
        <p:sp>
          <p:nvSpPr>
            <p:cNvPr id="59409" name="Rectangle 12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113</a:t>
              </a:r>
            </a:p>
          </p:txBody>
        </p:sp>
        <p:sp>
          <p:nvSpPr>
            <p:cNvPr id="59410" name="Rectangle 13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1</a:t>
              </a:r>
            </a:p>
          </p:txBody>
        </p:sp>
      </p:grpSp>
      <p:sp>
        <p:nvSpPr>
          <p:cNvPr id="59402" name="Footer Placeholder 2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9403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5FA2403-7E2A-B94F-97A2-36C739FFE885}" type="slidenum">
              <a:rPr lang="en-US"/>
              <a:pPr/>
              <a:t>57</a:t>
            </a:fld>
            <a:endParaRPr lang="en-US"/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324600" y="2895600"/>
            <a:ext cx="1778000" cy="406400"/>
            <a:chOff x="0" y="0"/>
            <a:chExt cx="1120" cy="256"/>
          </a:xfrm>
          <a:solidFill>
            <a:srgbClr val="CCFFFF"/>
          </a:solidFill>
        </p:grpSpPr>
        <p:sp>
          <p:nvSpPr>
            <p:cNvPr id="28" name="Rectangle 11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>
                <a:defRPr/>
              </a:pPr>
              <a:r>
                <a:rPr lang="en-US" sz="1600" b="1" dirty="0">
                  <a:latin typeface="Courier New" pitchFamily="49" charset="0"/>
                  <a:ea typeface="+mn-ea"/>
                  <a:cs typeface="Courier New" pitchFamily="49" charset="0"/>
                </a:rPr>
                <a:t>b[0]</a:t>
              </a:r>
            </a:p>
          </p:txBody>
        </p:sp>
        <p:sp>
          <p:nvSpPr>
            <p:cNvPr id="29" name="Rectangle 12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>
                <a:defRPr/>
              </a:pPr>
              <a:r>
                <a:rPr lang="en-US" sz="1600" b="1" dirty="0">
                  <a:latin typeface="Courier New" pitchFamily="49" charset="0"/>
                  <a:ea typeface="+mn-ea"/>
                  <a:cs typeface="Courier New" pitchFamily="49" charset="0"/>
                </a:rPr>
                <a:t>b[1]</a:t>
              </a:r>
            </a:p>
          </p:txBody>
        </p:sp>
        <p:sp>
          <p:nvSpPr>
            <p:cNvPr id="30" name="Rectangle 13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>
                <a:defRPr/>
              </a:pPr>
              <a:r>
                <a:rPr lang="en-US" sz="1600" b="1" dirty="0">
                  <a:latin typeface="Courier New" pitchFamily="49" charset="0"/>
                  <a:ea typeface="+mn-ea"/>
                  <a:cs typeface="Courier New" pitchFamily="49" charset="0"/>
                </a:rPr>
                <a:t>b[2]</a:t>
              </a:r>
            </a:p>
          </p:txBody>
        </p:sp>
      </p:grpSp>
      <p:sp>
        <p:nvSpPr>
          <p:cNvPr id="31" name="Right Arrow 30"/>
          <p:cNvSpPr>
            <a:spLocks noChangeArrowheads="1"/>
          </p:cNvSpPr>
          <p:nvPr/>
        </p:nvSpPr>
        <p:spPr bwMode="auto">
          <a:xfrm>
            <a:off x="304800" y="3810000"/>
            <a:ext cx="6096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5616575" y="2362200"/>
            <a:ext cx="36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39688" algn="ctr"/>
            <a:r>
              <a:rPr lang="en-US" b="1">
                <a:latin typeface="Courier New" charset="0"/>
                <a:cs typeface="Courier New" charset="0"/>
              </a:rPr>
              <a:t>q</a:t>
            </a:r>
          </a:p>
        </p:txBody>
      </p:sp>
      <p:cxnSp>
        <p:nvCxnSpPr>
          <p:cNvPr id="34" name="Shape 33"/>
          <p:cNvCxnSpPr>
            <a:cxnSpLocks noChangeShapeType="1"/>
            <a:stCxn id="32" idx="3"/>
          </p:cNvCxnSpPr>
          <p:nvPr/>
        </p:nvCxnSpPr>
        <p:spPr bwMode="auto">
          <a:xfrm>
            <a:off x="5980113" y="2546350"/>
            <a:ext cx="641350" cy="349250"/>
          </a:xfrm>
          <a:prstGeom prst="bentConnector2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1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60422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Questions</a:t>
            </a: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Char char="n"/>
              <a:defRPr/>
            </a:pPr>
            <a:r>
              <a:rPr lang="en-US" sz="2500" dirty="0">
                <a:ea typeface="+mn-ea"/>
              </a:rPr>
              <a:t>What is the value of </a:t>
            </a: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b[2]</a:t>
            </a:r>
            <a:r>
              <a:rPr lang="en-US" sz="2500" dirty="0">
                <a:ea typeface="+mn-ea"/>
              </a:rPr>
              <a:t> at the end?</a:t>
            </a:r>
            <a:endParaRPr lang="en-US" dirty="0">
              <a:ea typeface="+mn-ea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 b[3];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5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* q;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b[0]=48; b[1]=113; b[2]=1;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q=b;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*(q+1)=2;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b[2]=*b;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b[2]=b[2]+b[1];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60425" name="Group 10"/>
          <p:cNvGrpSpPr>
            <a:grpSpLocks/>
          </p:cNvGrpSpPr>
          <p:nvPr/>
        </p:nvGrpSpPr>
        <p:grpSpPr bwMode="auto">
          <a:xfrm>
            <a:off x="6324600" y="3568700"/>
            <a:ext cx="1778000" cy="406400"/>
            <a:chOff x="0" y="0"/>
            <a:chExt cx="1120" cy="256"/>
          </a:xfrm>
        </p:grpSpPr>
        <p:sp>
          <p:nvSpPr>
            <p:cNvPr id="60438" name="Rectangle 11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48</a:t>
              </a:r>
            </a:p>
          </p:txBody>
        </p:sp>
        <p:sp>
          <p:nvSpPr>
            <p:cNvPr id="60439" name="Rectangle 12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113</a:t>
              </a:r>
            </a:p>
          </p:txBody>
        </p:sp>
        <p:sp>
          <p:nvSpPr>
            <p:cNvPr id="60440" name="Rectangle 13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1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6324600" y="4114800"/>
            <a:ext cx="1778000" cy="406400"/>
            <a:chOff x="0" y="0"/>
            <a:chExt cx="1120" cy="256"/>
          </a:xfrm>
        </p:grpSpPr>
        <p:sp>
          <p:nvSpPr>
            <p:cNvPr id="60435" name="Rectangle 15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48</a:t>
              </a:r>
            </a:p>
          </p:txBody>
        </p:sp>
        <p:sp>
          <p:nvSpPr>
            <p:cNvPr id="60436" name="Rectangle 16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2</a:t>
              </a:r>
            </a:p>
          </p:txBody>
        </p:sp>
        <p:sp>
          <p:nvSpPr>
            <p:cNvPr id="60437" name="Rectangle 17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1</a:t>
              </a:r>
            </a:p>
          </p:txBody>
        </p:sp>
      </p:grpSp>
      <p:sp>
        <p:nvSpPr>
          <p:cNvPr id="60427" name="Footer Placeholder 2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042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2CD69AD-A506-B54E-AB56-6008417B2CD1}" type="slidenum">
              <a:rPr lang="en-US"/>
              <a:pPr/>
              <a:t>58</a:t>
            </a:fld>
            <a:endParaRPr lang="en-US"/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324600" y="2895600"/>
            <a:ext cx="1778000" cy="406400"/>
            <a:chOff x="0" y="0"/>
            <a:chExt cx="1120" cy="256"/>
          </a:xfrm>
          <a:solidFill>
            <a:srgbClr val="CCFFFF"/>
          </a:solidFill>
        </p:grpSpPr>
        <p:sp>
          <p:nvSpPr>
            <p:cNvPr id="28" name="Rectangle 11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>
                <a:defRPr/>
              </a:pPr>
              <a:r>
                <a:rPr lang="en-US" sz="1600" b="1" dirty="0">
                  <a:latin typeface="Courier New" pitchFamily="49" charset="0"/>
                  <a:ea typeface="+mn-ea"/>
                  <a:cs typeface="Courier New" pitchFamily="49" charset="0"/>
                </a:rPr>
                <a:t>b[0]</a:t>
              </a:r>
            </a:p>
          </p:txBody>
        </p:sp>
        <p:sp>
          <p:nvSpPr>
            <p:cNvPr id="29" name="Rectangle 12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>
                <a:defRPr/>
              </a:pPr>
              <a:r>
                <a:rPr lang="en-US" sz="1600" b="1" dirty="0">
                  <a:latin typeface="Courier New" pitchFamily="49" charset="0"/>
                  <a:ea typeface="+mn-ea"/>
                  <a:cs typeface="Courier New" pitchFamily="49" charset="0"/>
                </a:rPr>
                <a:t>b[1]</a:t>
              </a:r>
            </a:p>
          </p:txBody>
        </p:sp>
        <p:sp>
          <p:nvSpPr>
            <p:cNvPr id="30" name="Rectangle 13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>
                <a:defRPr/>
              </a:pPr>
              <a:r>
                <a:rPr lang="en-US" sz="1600" b="1" dirty="0">
                  <a:latin typeface="Courier New" pitchFamily="49" charset="0"/>
                  <a:ea typeface="+mn-ea"/>
                  <a:cs typeface="Courier New" pitchFamily="49" charset="0"/>
                </a:rPr>
                <a:t>b[2]</a:t>
              </a:r>
            </a:p>
          </p:txBody>
        </p:sp>
      </p:grpSp>
      <p:sp>
        <p:nvSpPr>
          <p:cNvPr id="31" name="Right Arrow 30"/>
          <p:cNvSpPr>
            <a:spLocks noChangeArrowheads="1"/>
          </p:cNvSpPr>
          <p:nvPr/>
        </p:nvSpPr>
        <p:spPr bwMode="auto">
          <a:xfrm>
            <a:off x="304800" y="4267200"/>
            <a:ext cx="6096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60431" name="Rectangle 31"/>
          <p:cNvSpPr>
            <a:spLocks noChangeArrowheads="1"/>
          </p:cNvSpPr>
          <p:nvPr/>
        </p:nvSpPr>
        <p:spPr bwMode="auto">
          <a:xfrm>
            <a:off x="5616575" y="2362200"/>
            <a:ext cx="36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39688" algn="ctr"/>
            <a:r>
              <a:rPr lang="en-US" b="1">
                <a:latin typeface="Courier New" charset="0"/>
                <a:cs typeface="Courier New" charset="0"/>
              </a:rPr>
              <a:t>q</a:t>
            </a:r>
          </a:p>
        </p:txBody>
      </p:sp>
      <p:cxnSp>
        <p:nvCxnSpPr>
          <p:cNvPr id="60432" name="Shape 33"/>
          <p:cNvCxnSpPr>
            <a:cxnSpLocks noChangeShapeType="1"/>
            <a:stCxn id="60431" idx="3"/>
          </p:cNvCxnSpPr>
          <p:nvPr/>
        </p:nvCxnSpPr>
        <p:spPr bwMode="auto">
          <a:xfrm>
            <a:off x="5980113" y="2546350"/>
            <a:ext cx="641350" cy="349250"/>
          </a:xfrm>
          <a:prstGeom prst="bentConnector2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7177088" y="2025650"/>
            <a:ext cx="1052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39688" algn="ctr"/>
            <a:r>
              <a:rPr lang="en-US" b="1">
                <a:latin typeface="Courier New" charset="0"/>
                <a:cs typeface="Courier New" charset="0"/>
              </a:rPr>
              <a:t>*(q+1)</a:t>
            </a:r>
          </a:p>
        </p:txBody>
      </p:sp>
      <p:cxnSp>
        <p:nvCxnSpPr>
          <p:cNvPr id="36" name="Shape 35"/>
          <p:cNvCxnSpPr>
            <a:cxnSpLocks noChangeShapeType="1"/>
            <a:stCxn id="35" idx="2"/>
          </p:cNvCxnSpPr>
          <p:nvPr/>
        </p:nvCxnSpPr>
        <p:spPr bwMode="auto">
          <a:xfrm rot="5400000">
            <a:off x="7208044" y="2399506"/>
            <a:ext cx="501650" cy="49053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4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4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4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6144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Questions</a:t>
            </a:r>
          </a:p>
        </p:txBody>
      </p:sp>
      <p:sp>
        <p:nvSpPr>
          <p:cNvPr id="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Char char="n"/>
              <a:defRPr/>
            </a:pPr>
            <a:r>
              <a:rPr lang="en-US" sz="2500" dirty="0">
                <a:ea typeface="+mn-ea"/>
              </a:rPr>
              <a:t>What is the value of </a:t>
            </a: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b[2]</a:t>
            </a:r>
            <a:r>
              <a:rPr lang="en-US" sz="2500" dirty="0">
                <a:ea typeface="+mn-ea"/>
              </a:rPr>
              <a:t> at the end?</a:t>
            </a:r>
            <a:endParaRPr lang="en-US" dirty="0">
              <a:ea typeface="+mn-ea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 b[3];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5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* q;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b[0]=48; b[1]=113; b[2]=1;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q=b;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*(q+1)=2;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b[2]=*b;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b[2]=b[2]+b[1];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61449" name="Group 10"/>
          <p:cNvGrpSpPr>
            <a:grpSpLocks/>
          </p:cNvGrpSpPr>
          <p:nvPr/>
        </p:nvGrpSpPr>
        <p:grpSpPr bwMode="auto">
          <a:xfrm>
            <a:off x="6324600" y="3568700"/>
            <a:ext cx="1778000" cy="406400"/>
            <a:chOff x="0" y="0"/>
            <a:chExt cx="1120" cy="256"/>
          </a:xfrm>
        </p:grpSpPr>
        <p:sp>
          <p:nvSpPr>
            <p:cNvPr id="61464" name="Rectangle 11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48</a:t>
              </a:r>
            </a:p>
          </p:txBody>
        </p:sp>
        <p:sp>
          <p:nvSpPr>
            <p:cNvPr id="61465" name="Rectangle 12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113</a:t>
              </a:r>
            </a:p>
          </p:txBody>
        </p:sp>
        <p:sp>
          <p:nvSpPr>
            <p:cNvPr id="61466" name="Rectangle 13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1</a:t>
              </a:r>
            </a:p>
          </p:txBody>
        </p:sp>
      </p:grpSp>
      <p:grpSp>
        <p:nvGrpSpPr>
          <p:cNvPr id="61450" name="Group 14"/>
          <p:cNvGrpSpPr>
            <a:grpSpLocks/>
          </p:cNvGrpSpPr>
          <p:nvPr/>
        </p:nvGrpSpPr>
        <p:grpSpPr bwMode="auto">
          <a:xfrm>
            <a:off x="6324600" y="4114800"/>
            <a:ext cx="1778000" cy="406400"/>
            <a:chOff x="0" y="0"/>
            <a:chExt cx="1120" cy="256"/>
          </a:xfrm>
        </p:grpSpPr>
        <p:sp>
          <p:nvSpPr>
            <p:cNvPr id="61461" name="Rectangle 15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48</a:t>
              </a:r>
            </a:p>
          </p:txBody>
        </p:sp>
        <p:sp>
          <p:nvSpPr>
            <p:cNvPr id="61462" name="Rectangle 16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2</a:t>
              </a:r>
            </a:p>
          </p:txBody>
        </p:sp>
        <p:sp>
          <p:nvSpPr>
            <p:cNvPr id="61463" name="Rectangle 17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1</a:t>
              </a:r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6324600" y="4737100"/>
            <a:ext cx="1778000" cy="406400"/>
            <a:chOff x="0" y="0"/>
            <a:chExt cx="1120" cy="256"/>
          </a:xfrm>
        </p:grpSpPr>
        <p:sp>
          <p:nvSpPr>
            <p:cNvPr id="61458" name="Rectangle 23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48</a:t>
              </a:r>
            </a:p>
          </p:txBody>
        </p:sp>
        <p:sp>
          <p:nvSpPr>
            <p:cNvPr id="61459" name="Rectangle 24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2</a:t>
              </a:r>
            </a:p>
          </p:txBody>
        </p:sp>
        <p:sp>
          <p:nvSpPr>
            <p:cNvPr id="61460" name="Rectangle 25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48</a:t>
              </a:r>
            </a:p>
          </p:txBody>
        </p:sp>
      </p:grpSp>
      <p:sp>
        <p:nvSpPr>
          <p:cNvPr id="61452" name="Footer Placeholder 2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1453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551318C-5467-1B4D-908E-C65FD323BCBB}" type="slidenum">
              <a:rPr lang="en-US"/>
              <a:pPr/>
              <a:t>59</a:t>
            </a:fld>
            <a:endParaRPr lang="en-US"/>
          </a:p>
        </p:txBody>
      </p:sp>
      <p:grpSp>
        <p:nvGrpSpPr>
          <p:cNvPr id="6" name="Group 10"/>
          <p:cNvGrpSpPr>
            <a:grpSpLocks/>
          </p:cNvGrpSpPr>
          <p:nvPr/>
        </p:nvGrpSpPr>
        <p:grpSpPr bwMode="auto">
          <a:xfrm>
            <a:off x="6324600" y="2895600"/>
            <a:ext cx="1778000" cy="406400"/>
            <a:chOff x="0" y="0"/>
            <a:chExt cx="1120" cy="256"/>
          </a:xfrm>
          <a:solidFill>
            <a:srgbClr val="CCFFFF"/>
          </a:solidFill>
        </p:grpSpPr>
        <p:sp>
          <p:nvSpPr>
            <p:cNvPr id="28" name="Rectangle 11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>
                <a:defRPr/>
              </a:pPr>
              <a:r>
                <a:rPr lang="en-US" sz="1600" b="1" dirty="0">
                  <a:latin typeface="Courier New" pitchFamily="49" charset="0"/>
                  <a:ea typeface="+mn-ea"/>
                  <a:cs typeface="Courier New" pitchFamily="49" charset="0"/>
                </a:rPr>
                <a:t>b[0]</a:t>
              </a:r>
            </a:p>
          </p:txBody>
        </p:sp>
        <p:sp>
          <p:nvSpPr>
            <p:cNvPr id="29" name="Rectangle 12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>
                <a:defRPr/>
              </a:pPr>
              <a:r>
                <a:rPr lang="en-US" sz="1600" b="1" dirty="0">
                  <a:latin typeface="Courier New" pitchFamily="49" charset="0"/>
                  <a:ea typeface="+mn-ea"/>
                  <a:cs typeface="Courier New" pitchFamily="49" charset="0"/>
                </a:rPr>
                <a:t>b[1]</a:t>
              </a:r>
            </a:p>
          </p:txBody>
        </p:sp>
        <p:sp>
          <p:nvSpPr>
            <p:cNvPr id="30" name="Rectangle 13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>
                <a:defRPr/>
              </a:pPr>
              <a:r>
                <a:rPr lang="en-US" sz="1600" b="1" dirty="0">
                  <a:latin typeface="Courier New" pitchFamily="49" charset="0"/>
                  <a:ea typeface="+mn-ea"/>
                  <a:cs typeface="Courier New" pitchFamily="49" charset="0"/>
                </a:rPr>
                <a:t>b[2]</a:t>
              </a:r>
            </a:p>
          </p:txBody>
        </p:sp>
      </p:grpSp>
      <p:sp>
        <p:nvSpPr>
          <p:cNvPr id="31" name="Right Arrow 30"/>
          <p:cNvSpPr>
            <a:spLocks noChangeArrowheads="1"/>
          </p:cNvSpPr>
          <p:nvPr/>
        </p:nvSpPr>
        <p:spPr bwMode="auto">
          <a:xfrm>
            <a:off x="304800" y="4800600"/>
            <a:ext cx="6096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5410200" y="23622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9688" algn="ctr"/>
            <a:r>
              <a:rPr lang="en-US" b="1">
                <a:latin typeface="Courier New" charset="0"/>
                <a:cs typeface="Courier New" charset="0"/>
              </a:rPr>
              <a:t>b*</a:t>
            </a:r>
          </a:p>
        </p:txBody>
      </p:sp>
      <p:cxnSp>
        <p:nvCxnSpPr>
          <p:cNvPr id="38" name="Shape 37"/>
          <p:cNvCxnSpPr>
            <a:cxnSpLocks noChangeShapeType="1"/>
            <a:stCxn id="37" idx="3"/>
          </p:cNvCxnSpPr>
          <p:nvPr/>
        </p:nvCxnSpPr>
        <p:spPr bwMode="auto">
          <a:xfrm>
            <a:off x="5980113" y="2546350"/>
            <a:ext cx="641350" cy="349250"/>
          </a:xfrm>
          <a:prstGeom prst="bentConnector2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6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6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6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6247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1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Questions</a:t>
            </a: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Char char="n"/>
              <a:defRPr/>
            </a:pPr>
            <a:r>
              <a:rPr lang="en-US" sz="2500" dirty="0">
                <a:ea typeface="+mn-ea"/>
              </a:rPr>
              <a:t>What is the value of </a:t>
            </a: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b[2]</a:t>
            </a:r>
            <a:r>
              <a:rPr lang="en-US" sz="2500" dirty="0">
                <a:ea typeface="+mn-ea"/>
              </a:rPr>
              <a:t> at the end?</a:t>
            </a:r>
            <a:endParaRPr lang="en-US" dirty="0">
              <a:ea typeface="+mn-ea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 b[3];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5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* q;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b[0]=48; b[1]=113; b[2]=1;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q=b;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*(q+1)=2;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b[2]=*b;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50000"/>
              </a:lnSpc>
              <a:buFont typeface="Wingdings" pitchFamily="2" charset="2"/>
              <a:buNone/>
              <a:defRPr/>
            </a:pPr>
            <a:r>
              <a:rPr lang="en-US" sz="25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b[2]=b[2]+b[1];</a:t>
            </a:r>
            <a:endParaRPr lang="en-US" sz="25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grpSp>
        <p:nvGrpSpPr>
          <p:cNvPr id="62473" name="Group 10"/>
          <p:cNvGrpSpPr>
            <a:grpSpLocks/>
          </p:cNvGrpSpPr>
          <p:nvPr/>
        </p:nvGrpSpPr>
        <p:grpSpPr bwMode="auto">
          <a:xfrm>
            <a:off x="6324600" y="3568700"/>
            <a:ext cx="1778000" cy="406400"/>
            <a:chOff x="0" y="0"/>
            <a:chExt cx="1120" cy="256"/>
          </a:xfrm>
        </p:grpSpPr>
        <p:sp>
          <p:nvSpPr>
            <p:cNvPr id="62490" name="Rectangle 11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48</a:t>
              </a:r>
            </a:p>
          </p:txBody>
        </p:sp>
        <p:sp>
          <p:nvSpPr>
            <p:cNvPr id="62491" name="Rectangle 12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113</a:t>
              </a:r>
            </a:p>
          </p:txBody>
        </p:sp>
        <p:sp>
          <p:nvSpPr>
            <p:cNvPr id="62492" name="Rectangle 13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1</a:t>
              </a:r>
            </a:p>
          </p:txBody>
        </p:sp>
      </p:grpSp>
      <p:grpSp>
        <p:nvGrpSpPr>
          <p:cNvPr id="62474" name="Group 14"/>
          <p:cNvGrpSpPr>
            <a:grpSpLocks/>
          </p:cNvGrpSpPr>
          <p:nvPr/>
        </p:nvGrpSpPr>
        <p:grpSpPr bwMode="auto">
          <a:xfrm>
            <a:off x="6324600" y="4114800"/>
            <a:ext cx="1778000" cy="406400"/>
            <a:chOff x="0" y="0"/>
            <a:chExt cx="1120" cy="256"/>
          </a:xfrm>
        </p:grpSpPr>
        <p:sp>
          <p:nvSpPr>
            <p:cNvPr id="62487" name="Rectangle 15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48</a:t>
              </a:r>
            </a:p>
          </p:txBody>
        </p:sp>
        <p:sp>
          <p:nvSpPr>
            <p:cNvPr id="62488" name="Rectangle 16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2</a:t>
              </a:r>
            </a:p>
          </p:txBody>
        </p:sp>
        <p:sp>
          <p:nvSpPr>
            <p:cNvPr id="62489" name="Rectangle 17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1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6324600" y="5283200"/>
            <a:ext cx="1778000" cy="406400"/>
            <a:chOff x="0" y="0"/>
            <a:chExt cx="1120" cy="256"/>
          </a:xfrm>
        </p:grpSpPr>
        <p:sp>
          <p:nvSpPr>
            <p:cNvPr id="62484" name="Rectangle 19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48</a:t>
              </a:r>
            </a:p>
          </p:txBody>
        </p:sp>
        <p:sp>
          <p:nvSpPr>
            <p:cNvPr id="62485" name="Rectangle 20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2</a:t>
              </a:r>
            </a:p>
          </p:txBody>
        </p:sp>
        <p:sp>
          <p:nvSpPr>
            <p:cNvPr id="62486" name="Rectangle 21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50</a:t>
              </a:r>
            </a:p>
          </p:txBody>
        </p:sp>
      </p:grpSp>
      <p:grpSp>
        <p:nvGrpSpPr>
          <p:cNvPr id="62476" name="Group 22"/>
          <p:cNvGrpSpPr>
            <a:grpSpLocks/>
          </p:cNvGrpSpPr>
          <p:nvPr/>
        </p:nvGrpSpPr>
        <p:grpSpPr bwMode="auto">
          <a:xfrm>
            <a:off x="6324600" y="4737100"/>
            <a:ext cx="1778000" cy="406400"/>
            <a:chOff x="0" y="0"/>
            <a:chExt cx="1120" cy="256"/>
          </a:xfrm>
        </p:grpSpPr>
        <p:sp>
          <p:nvSpPr>
            <p:cNvPr id="62481" name="Rectangle 23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48</a:t>
              </a:r>
            </a:p>
          </p:txBody>
        </p:sp>
        <p:sp>
          <p:nvSpPr>
            <p:cNvPr id="62482" name="Rectangle 24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2</a:t>
              </a:r>
            </a:p>
          </p:txBody>
        </p:sp>
        <p:sp>
          <p:nvSpPr>
            <p:cNvPr id="62483" name="Rectangle 25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/>
              <a:r>
                <a:rPr lang="en-US" sz="1600" b="1">
                  <a:latin typeface="Courier New" charset="0"/>
                  <a:cs typeface="Courier New" charset="0"/>
                </a:rPr>
                <a:t>48</a:t>
              </a:r>
            </a:p>
          </p:txBody>
        </p:sp>
      </p:grpSp>
      <p:sp>
        <p:nvSpPr>
          <p:cNvPr id="62477" name="Footer Placeholder 2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247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0E9459C-0F6A-6746-A6CB-CDB372905FA0}" type="slidenum">
              <a:rPr lang="en-US"/>
              <a:pPr/>
              <a:t>60</a:t>
            </a:fld>
            <a:endParaRPr lang="en-US"/>
          </a:p>
        </p:txBody>
      </p:sp>
      <p:grpSp>
        <p:nvGrpSpPr>
          <p:cNvPr id="6" name="Group 10"/>
          <p:cNvGrpSpPr>
            <a:grpSpLocks/>
          </p:cNvGrpSpPr>
          <p:nvPr/>
        </p:nvGrpSpPr>
        <p:grpSpPr bwMode="auto">
          <a:xfrm>
            <a:off x="6324600" y="2895600"/>
            <a:ext cx="1778000" cy="406400"/>
            <a:chOff x="0" y="0"/>
            <a:chExt cx="1120" cy="256"/>
          </a:xfrm>
          <a:solidFill>
            <a:srgbClr val="CCFFFF"/>
          </a:solidFill>
        </p:grpSpPr>
        <p:sp>
          <p:nvSpPr>
            <p:cNvPr id="28" name="Rectangle 11"/>
            <p:cNvSpPr>
              <a:spLocks/>
            </p:cNvSpPr>
            <p:nvPr/>
          </p:nvSpPr>
          <p:spPr bwMode="auto">
            <a:xfrm>
              <a:off x="0" y="0"/>
              <a:ext cx="373" cy="25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>
                <a:defRPr/>
              </a:pPr>
              <a:r>
                <a:rPr lang="en-US" sz="1600" b="1" dirty="0">
                  <a:latin typeface="Courier New" pitchFamily="49" charset="0"/>
                  <a:ea typeface="+mn-ea"/>
                  <a:cs typeface="Courier New" pitchFamily="49" charset="0"/>
                </a:rPr>
                <a:t>b[0]</a:t>
              </a:r>
            </a:p>
          </p:txBody>
        </p:sp>
        <p:sp>
          <p:nvSpPr>
            <p:cNvPr id="29" name="Rectangle 12"/>
            <p:cNvSpPr>
              <a:spLocks/>
            </p:cNvSpPr>
            <p:nvPr/>
          </p:nvSpPr>
          <p:spPr bwMode="auto">
            <a:xfrm>
              <a:off x="373" y="0"/>
              <a:ext cx="373" cy="25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>
                <a:defRPr/>
              </a:pPr>
              <a:r>
                <a:rPr lang="en-US" sz="1600" b="1" dirty="0">
                  <a:latin typeface="Courier New" pitchFamily="49" charset="0"/>
                  <a:ea typeface="+mn-ea"/>
                  <a:cs typeface="Courier New" pitchFamily="49" charset="0"/>
                </a:rPr>
                <a:t>b[1]</a:t>
              </a:r>
            </a:p>
          </p:txBody>
        </p:sp>
        <p:sp>
          <p:nvSpPr>
            <p:cNvPr id="30" name="Rectangle 13"/>
            <p:cNvSpPr>
              <a:spLocks/>
            </p:cNvSpPr>
            <p:nvPr/>
          </p:nvSpPr>
          <p:spPr bwMode="auto">
            <a:xfrm>
              <a:off x="746" y="0"/>
              <a:ext cx="374" cy="25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40639" bIns="0" anchor="ctr"/>
            <a:lstStyle/>
            <a:p>
              <a:pPr marL="39688" algn="ctr">
                <a:defRPr/>
              </a:pPr>
              <a:r>
                <a:rPr lang="en-US" sz="1600" b="1" dirty="0">
                  <a:latin typeface="Courier New" pitchFamily="49" charset="0"/>
                  <a:ea typeface="+mn-ea"/>
                  <a:cs typeface="Courier New" pitchFamily="49" charset="0"/>
                </a:rPr>
                <a:t>b[2]</a:t>
              </a:r>
            </a:p>
          </p:txBody>
        </p:sp>
      </p:grpSp>
      <p:sp>
        <p:nvSpPr>
          <p:cNvPr id="31" name="Right Arrow 30"/>
          <p:cNvSpPr>
            <a:spLocks noChangeArrowheads="1"/>
          </p:cNvSpPr>
          <p:nvPr/>
        </p:nvSpPr>
        <p:spPr bwMode="auto">
          <a:xfrm>
            <a:off x="304800" y="5257800"/>
            <a:ext cx="6096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14" name="Group 1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0"/>
            <a:chExt cx="5472" cy="1584"/>
          </a:xfrm>
        </p:grpSpPr>
        <p:sp>
          <p:nvSpPr>
            <p:cNvPr id="64519" name="Oval 2"/>
            <p:cNvSpPr>
              <a:spLocks/>
            </p:cNvSpPr>
            <p:nvPr/>
          </p:nvSpPr>
          <p:spPr bwMode="auto">
            <a:xfrm>
              <a:off x="144" y="0"/>
              <a:ext cx="1584" cy="1584"/>
            </a:xfrm>
            <a:prstGeom prst="ellipse">
              <a:avLst/>
            </a:prstGeom>
            <a:noFill/>
            <a:ln w="127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520" name="Rectangle 3"/>
            <p:cNvSpPr>
              <a:spLocks/>
            </p:cNvSpPr>
            <p:nvPr/>
          </p:nvSpPr>
          <p:spPr bwMode="auto">
            <a:xfrm>
              <a:off x="0" y="480"/>
              <a:ext cx="2976" cy="720"/>
            </a:xfrm>
            <a:prstGeom prst="rect">
              <a:avLst/>
            </a:prstGeom>
            <a:solidFill>
              <a:srgbClr val="CC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521" name="Rectangle 4"/>
            <p:cNvSpPr>
              <a:spLocks/>
            </p:cNvSpPr>
            <p:nvPr/>
          </p:nvSpPr>
          <p:spPr bwMode="auto">
            <a:xfrm>
              <a:off x="2496" y="480"/>
              <a:ext cx="2976" cy="720"/>
            </a:xfrm>
            <a:prstGeom prst="rect">
              <a:avLst/>
            </a:prstGeom>
            <a:gradFill rotWithShape="0">
              <a:gsLst>
                <a:gs pos="0">
                  <a:srgbClr val="CCCC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522" name="Freeform 5"/>
            <p:cNvSpPr>
              <a:spLocks/>
            </p:cNvSpPr>
            <p:nvPr/>
          </p:nvSpPr>
          <p:spPr bwMode="auto">
            <a:xfrm>
              <a:off x="384" y="384"/>
              <a:ext cx="144" cy="9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523" name="Freeform 6"/>
            <p:cNvSpPr>
              <a:spLocks/>
            </p:cNvSpPr>
            <p:nvPr/>
          </p:nvSpPr>
          <p:spPr bwMode="auto">
            <a:xfrm>
              <a:off x="4944" y="186"/>
              <a:ext cx="165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76200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64515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endParaRPr lang="en-US">
              <a:latin typeface="Arial" charset="0"/>
            </a:endParaRPr>
          </a:p>
        </p:txBody>
      </p:sp>
      <p:sp>
        <p:nvSpPr>
          <p:cNvPr id="64516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Strings</a:t>
            </a:r>
          </a:p>
        </p:txBody>
      </p:sp>
      <p:sp>
        <p:nvSpPr>
          <p:cNvPr id="64517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4518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5B078D9-0897-E94D-AAEA-F5C3B2CD7336}" type="slidenum">
              <a:rPr lang="en-US"/>
              <a:pPr/>
              <a:t>61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3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4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4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65542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sz="3600">
                <a:latin typeface="Arial" charset="0"/>
              </a:rPr>
              <a:t>Strings </a:t>
            </a:r>
            <a:br>
              <a:rPr lang="en-US" sz="3600">
                <a:latin typeface="Arial" charset="0"/>
              </a:rPr>
            </a:br>
            <a:r>
              <a:rPr lang="en-US" sz="3600">
                <a:latin typeface="Arial" charset="0"/>
              </a:rPr>
              <a:t>(Null-terminated Arrays of Char)</a:t>
            </a:r>
          </a:p>
        </p:txBody>
      </p:sp>
      <p:sp>
        <p:nvSpPr>
          <p:cNvPr id="65544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Strings are arrays that contain the string characters followed by a </a:t>
            </a:r>
            <a:r>
              <a:rPr lang="ja-JP" altLang="en-US">
                <a:latin typeface="Arial" charset="0"/>
              </a:rPr>
              <a:t>“</a:t>
            </a:r>
            <a:r>
              <a:rPr lang="en-US">
                <a:latin typeface="Arial" charset="0"/>
              </a:rPr>
              <a:t>Null</a:t>
            </a:r>
            <a:r>
              <a:rPr lang="ja-JP" altLang="en-US">
                <a:latin typeface="Arial" charset="0"/>
              </a:rPr>
              <a:t>”</a:t>
            </a:r>
            <a:r>
              <a:rPr lang="en-US">
                <a:latin typeface="Arial" charset="0"/>
              </a:rPr>
              <a:t> character </a:t>
            </a:r>
            <a:r>
              <a:rPr lang="ja-JP" alt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‘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\0</a:t>
            </a:r>
            <a:r>
              <a:rPr lang="ja-JP" alt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’</a:t>
            </a:r>
            <a:r>
              <a:rPr lang="en-US">
                <a:latin typeface="Arial" charset="0"/>
              </a:rPr>
              <a:t> to indicate end of string.</a:t>
            </a:r>
          </a:p>
          <a:p>
            <a:pPr marL="928688" lvl="1"/>
            <a:r>
              <a:rPr lang="en-US">
                <a:latin typeface="Arial" charset="0"/>
              </a:rPr>
              <a:t>Do not forget to leave room for the null character</a:t>
            </a:r>
          </a:p>
          <a:p>
            <a:r>
              <a:rPr lang="en-US">
                <a:latin typeface="Arial" charset="0"/>
              </a:rPr>
              <a:t>Example</a:t>
            </a:r>
          </a:p>
          <a:p>
            <a:pPr marL="928688" lvl="1"/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s[5];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5545" name="Rectangle 10"/>
          <p:cNvSpPr>
            <a:spLocks/>
          </p:cNvSpPr>
          <p:nvPr/>
        </p:nvSpPr>
        <p:spPr bwMode="auto">
          <a:xfrm>
            <a:off x="7010400" y="476885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46" name="Rectangle 11"/>
          <p:cNvSpPr>
            <a:spLocks/>
          </p:cNvSpPr>
          <p:nvPr/>
        </p:nvSpPr>
        <p:spPr bwMode="auto">
          <a:xfrm>
            <a:off x="7010400" y="507365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47" name="Rectangle 12"/>
          <p:cNvSpPr>
            <a:spLocks/>
          </p:cNvSpPr>
          <p:nvPr/>
        </p:nvSpPr>
        <p:spPr bwMode="auto">
          <a:xfrm>
            <a:off x="7010400" y="537845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48" name="Rectangle 13"/>
          <p:cNvSpPr>
            <a:spLocks/>
          </p:cNvSpPr>
          <p:nvPr/>
        </p:nvSpPr>
        <p:spPr bwMode="auto">
          <a:xfrm>
            <a:off x="7010400" y="568325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49" name="Rectangle 14"/>
          <p:cNvSpPr>
            <a:spLocks/>
          </p:cNvSpPr>
          <p:nvPr/>
        </p:nvSpPr>
        <p:spPr bwMode="auto">
          <a:xfrm>
            <a:off x="7010400" y="598805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50" name="Line 15"/>
          <p:cNvSpPr>
            <a:spLocks noChangeShapeType="1"/>
          </p:cNvSpPr>
          <p:nvPr/>
        </p:nvSpPr>
        <p:spPr bwMode="auto">
          <a:xfrm>
            <a:off x="6019800" y="4540250"/>
            <a:ext cx="990600" cy="228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51" name="Rectangle 16"/>
          <p:cNvSpPr>
            <a:spLocks/>
          </p:cNvSpPr>
          <p:nvPr/>
        </p:nvSpPr>
        <p:spPr bwMode="auto">
          <a:xfrm>
            <a:off x="5105400" y="4387850"/>
            <a:ext cx="9144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552" name="Rectangle 17"/>
          <p:cNvSpPr>
            <a:spLocks/>
          </p:cNvSpPr>
          <p:nvPr/>
        </p:nvSpPr>
        <p:spPr bwMode="auto">
          <a:xfrm>
            <a:off x="6399213" y="4768850"/>
            <a:ext cx="6429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s[0]</a:t>
            </a:r>
          </a:p>
        </p:txBody>
      </p:sp>
      <p:sp>
        <p:nvSpPr>
          <p:cNvPr id="65553" name="Rectangle 18"/>
          <p:cNvSpPr>
            <a:spLocks/>
          </p:cNvSpPr>
          <p:nvPr/>
        </p:nvSpPr>
        <p:spPr bwMode="auto">
          <a:xfrm>
            <a:off x="6399213" y="5073650"/>
            <a:ext cx="6429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s[1]</a:t>
            </a:r>
          </a:p>
        </p:txBody>
      </p:sp>
      <p:sp>
        <p:nvSpPr>
          <p:cNvPr id="65554" name="Rectangle 19"/>
          <p:cNvSpPr>
            <a:spLocks/>
          </p:cNvSpPr>
          <p:nvPr/>
        </p:nvSpPr>
        <p:spPr bwMode="auto">
          <a:xfrm>
            <a:off x="6399213" y="5378450"/>
            <a:ext cx="6429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s[2]</a:t>
            </a:r>
          </a:p>
        </p:txBody>
      </p:sp>
      <p:sp>
        <p:nvSpPr>
          <p:cNvPr id="65555" name="Rectangle 20"/>
          <p:cNvSpPr>
            <a:spLocks/>
          </p:cNvSpPr>
          <p:nvPr/>
        </p:nvSpPr>
        <p:spPr bwMode="auto">
          <a:xfrm>
            <a:off x="6399213" y="5683250"/>
            <a:ext cx="6429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s[3]</a:t>
            </a:r>
          </a:p>
        </p:txBody>
      </p:sp>
      <p:sp>
        <p:nvSpPr>
          <p:cNvPr id="65556" name="Rectangle 21"/>
          <p:cNvSpPr>
            <a:spLocks/>
          </p:cNvSpPr>
          <p:nvPr/>
        </p:nvSpPr>
        <p:spPr bwMode="auto">
          <a:xfrm>
            <a:off x="6399213" y="5988050"/>
            <a:ext cx="642937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16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s[4]</a:t>
            </a:r>
          </a:p>
        </p:txBody>
      </p:sp>
      <p:sp>
        <p:nvSpPr>
          <p:cNvPr id="65557" name="Rectangle 22"/>
          <p:cNvSpPr>
            <a:spLocks/>
          </p:cNvSpPr>
          <p:nvPr/>
        </p:nvSpPr>
        <p:spPr bwMode="auto">
          <a:xfrm>
            <a:off x="4632325" y="4343400"/>
            <a:ext cx="2921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</a:t>
            </a:r>
          </a:p>
        </p:txBody>
      </p:sp>
      <p:sp>
        <p:nvSpPr>
          <p:cNvPr id="65558" name="Footer Placeholder 2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5559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965D449-A178-A24F-8153-2D8897BBD7B1}" type="slidenum">
              <a:rPr lang="en-US"/>
              <a:pPr/>
              <a:t>62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656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656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656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6656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Conventions</a:t>
            </a:r>
          </a:p>
        </p:txBody>
      </p:sp>
      <p:sp>
        <p:nvSpPr>
          <p:cNvPr id="66568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Strings</a:t>
            </a:r>
          </a:p>
          <a:p>
            <a:pPr marL="928688" lvl="1"/>
            <a:r>
              <a:rPr lang="ja-JP" alt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string</a:t>
            </a:r>
            <a:r>
              <a:rPr lang="ja-JP" alt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ja-JP" alt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</a:t>
            </a:r>
            <a:r>
              <a:rPr lang="ja-JP" alt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endParaRPr lang="en-US">
              <a:latin typeface="Arial" charset="0"/>
            </a:endParaRPr>
          </a:p>
          <a:p>
            <a:r>
              <a:rPr lang="en-US">
                <a:latin typeface="Arial" charset="0"/>
              </a:rPr>
              <a:t>Characters</a:t>
            </a:r>
          </a:p>
          <a:p>
            <a:pPr marL="928688" lvl="1"/>
            <a:r>
              <a:rPr lang="ja-JP" alt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‘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</a:t>
            </a:r>
            <a:r>
              <a:rPr lang="ja-JP" alt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’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ja-JP" alt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‘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  <a:r>
              <a:rPr lang="ja-JP" alt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’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6569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6570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9975213-1FF4-3247-98AB-7DE542BF0299}" type="slidenum">
              <a:rPr lang="en-US"/>
              <a:pPr/>
              <a:t>63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758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758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758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6759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1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String Operations</a:t>
            </a:r>
          </a:p>
        </p:txBody>
      </p:sp>
      <p:sp>
        <p:nvSpPr>
          <p:cNvPr id="67592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strlen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strcmp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759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7594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260D5D0-253A-8E49-98CE-275F1F7B7995}" type="slidenum">
              <a:rPr lang="en-US"/>
              <a:pPr/>
              <a:t>64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861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861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861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68614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5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strcpy, strlen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8616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strcpy(ptr1, ptr2);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000">
                <a:latin typeface="Arial" charset="0"/>
              </a:rPr>
              <a:t> and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2000">
                <a:latin typeface="Arial" charset="0"/>
              </a:rPr>
              <a:t> are pointers to char </a:t>
            </a:r>
          </a:p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value = strlen(ptr);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value</a:t>
            </a:r>
            <a:r>
              <a:rPr lang="en-US" sz="2000">
                <a:latin typeface="Arial" charset="0"/>
              </a:rPr>
              <a:t> is an integer</a:t>
            </a: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</a:t>
            </a:r>
            <a:r>
              <a:rPr lang="en-US" sz="2000">
                <a:latin typeface="Arial" charset="0"/>
              </a:rPr>
              <a:t> is a pointer to char </a:t>
            </a:r>
          </a:p>
        </p:txBody>
      </p:sp>
      <p:sp>
        <p:nvSpPr>
          <p:cNvPr id="68617" name="Rectangle 8"/>
          <p:cNvSpPr>
            <a:spLocks/>
          </p:cNvSpPr>
          <p:nvPr/>
        </p:nvSpPr>
        <p:spPr bwMode="auto">
          <a:xfrm>
            <a:off x="4856163" y="1981200"/>
            <a:ext cx="37719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len;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str[15];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 (str, "Hello, world!");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len = strlen(str); </a:t>
            </a:r>
          </a:p>
        </p:txBody>
      </p:sp>
      <p:sp>
        <p:nvSpPr>
          <p:cNvPr id="68618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8619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805F7E6-1A43-C24F-9B27-70BBB31F86F4}" type="slidenum">
              <a:rPr lang="en-US"/>
              <a:pPr/>
              <a:t>65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963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963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963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69638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strcpy, strlen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9640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800">
                <a:latin typeface="Arial" charset="0"/>
              </a:rPr>
              <a:t>What</a:t>
            </a:r>
            <a:r>
              <a:rPr lang="ja-JP" altLang="en-US" sz="2800">
                <a:latin typeface="Arial" charset="0"/>
              </a:rPr>
              <a:t>’</a:t>
            </a:r>
            <a:r>
              <a:rPr lang="en-US" sz="2800">
                <a:latin typeface="Arial" charset="0"/>
              </a:rPr>
              <a:t>s wrong with </a:t>
            </a:r>
          </a:p>
          <a:p>
            <a:endParaRPr lang="en-US" sz="2800">
              <a:latin typeface="Arial" charset="0"/>
            </a:endParaRPr>
          </a:p>
          <a:p>
            <a:endParaRPr lang="en-US" sz="2800">
              <a:latin typeface="Arial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str[5]; 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 (str, "Hello"); 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9641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964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1578F20-30DC-A440-B183-8779555E4BBF}" type="slidenum">
              <a:rPr lang="en-US"/>
              <a:pPr/>
              <a:t>66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065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066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066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0662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strncpy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0664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strncpy(ptr1, ptr2, num);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000">
                <a:latin typeface="Arial" charset="0"/>
              </a:rPr>
              <a:t> and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2000">
                <a:latin typeface="Arial" charset="0"/>
              </a:rPr>
              <a:t> are pointers to char     </a:t>
            </a: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num</a:t>
            </a:r>
            <a:r>
              <a:rPr lang="en-US" sz="2000">
                <a:latin typeface="Arial" charset="0"/>
              </a:rPr>
              <a:t> is the number of characters to be copied</a:t>
            </a:r>
          </a:p>
        </p:txBody>
      </p:sp>
      <p:sp>
        <p:nvSpPr>
          <p:cNvPr id="70665" name="Rectangle 8"/>
          <p:cNvSpPr>
            <a:spLocks/>
          </p:cNvSpPr>
          <p:nvPr/>
        </p:nvSpPr>
        <p:spPr bwMode="auto">
          <a:xfrm>
            <a:off x="4856163" y="1981200"/>
            <a:ext cx="3771900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len;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str1[15], str2[15];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 (str1, "Hello, world!");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strncpy (str2, str1, 5); </a:t>
            </a:r>
          </a:p>
        </p:txBody>
      </p:sp>
      <p:sp>
        <p:nvSpPr>
          <p:cNvPr id="70666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0667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F33BB54-0020-B241-A34D-A9D37598FDB5}" type="slidenum">
              <a:rPr lang="en-US"/>
              <a:pPr/>
              <a:t>67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168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168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168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168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strncpy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1688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strncpy(ptr1, ptr2, num);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000">
                <a:latin typeface="Arial" charset="0"/>
              </a:rPr>
              <a:t> and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2000">
                <a:latin typeface="Arial" charset="0"/>
              </a:rPr>
              <a:t> are pointers to char     </a:t>
            </a: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num</a:t>
            </a:r>
            <a:r>
              <a:rPr lang="en-US" sz="2000">
                <a:latin typeface="Arial" charset="0"/>
              </a:rPr>
              <a:t> is the number of characters to be copied</a:t>
            </a:r>
          </a:p>
        </p:txBody>
      </p:sp>
      <p:sp>
        <p:nvSpPr>
          <p:cNvPr id="71689" name="Rectangle 8"/>
          <p:cNvSpPr>
            <a:spLocks/>
          </p:cNvSpPr>
          <p:nvPr/>
        </p:nvSpPr>
        <p:spPr bwMode="auto">
          <a:xfrm>
            <a:off x="4856163" y="1981200"/>
            <a:ext cx="3771900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len;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str1[15], str2[15];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 (str1, "Hello, world!"); 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strncpy (str2, str1, 5); </a:t>
            </a:r>
          </a:p>
        </p:txBody>
      </p:sp>
      <p:sp>
        <p:nvSpPr>
          <p:cNvPr id="56331" name="Rectangle 11"/>
          <p:cNvSpPr>
            <a:spLocks/>
          </p:cNvSpPr>
          <p:nvPr/>
        </p:nvSpPr>
        <p:spPr bwMode="auto">
          <a:xfrm>
            <a:off x="609600" y="4953000"/>
            <a:ext cx="4813300" cy="1570038"/>
          </a:xfrm>
          <a:prstGeom prst="rect">
            <a:avLst/>
          </a:prstGeom>
          <a:noFill/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40639" bIns="0"/>
          <a:lstStyle/>
          <a:p>
            <a:pPr marL="39688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Caution: </a:t>
            </a:r>
            <a:r>
              <a:rPr lang="en-US" sz="2400" dirty="0" err="1">
                <a:solidFill>
                  <a:srgbClr val="0000FF"/>
                </a:solidFill>
                <a:latin typeface="+mn-lt"/>
                <a:ea typeface="Tahoma" pitchFamily="34" charset="0"/>
                <a:cs typeface="Tahoma" pitchFamily="34" charset="0"/>
              </a:rPr>
              <a:t>strncpy</a:t>
            </a: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 blindly copies the characters. It does not voluntarily append the string-terminating null character. </a:t>
            </a:r>
          </a:p>
        </p:txBody>
      </p:sp>
      <p:sp>
        <p:nvSpPr>
          <p:cNvPr id="71691" name="Footer Placeholder 1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169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5A2F9BC-1500-7240-89C1-E2A3ABE7765A}" type="slidenum">
              <a:rPr lang="en-US"/>
              <a:pPr/>
              <a:t>68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270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270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270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271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1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2712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strcat(ptr1, ptr2);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0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2000">
                <a:latin typeface="Arial" charset="0"/>
              </a:rPr>
              <a:t>and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20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2000">
                <a:latin typeface="Arial" charset="0"/>
              </a:rPr>
              <a:t>are pointers to char</a:t>
            </a:r>
          </a:p>
          <a:p>
            <a:endParaRPr lang="en-US">
              <a:latin typeface="Arial" charset="0"/>
            </a:endParaRPr>
          </a:p>
          <a:p>
            <a:r>
              <a:rPr lang="en-US" sz="2400">
                <a:latin typeface="Arial" charset="0"/>
              </a:rPr>
              <a:t>Concatenates the two null terminated strings yielding one string (pointed to by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400">
                <a:latin typeface="Arial" charset="0"/>
              </a:rPr>
              <a:t>). </a:t>
            </a:r>
          </a:p>
          <a:p>
            <a:endParaRPr lang="en-US" sz="2400">
              <a:latin typeface="Arial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S[25] = "world!"; 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D[25] = "Hello, "; 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strcat(D, S); 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271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2714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0367DF0-3D32-A740-9166-213642B3A0FB}" type="slidenum">
              <a:rPr lang="en-US"/>
              <a:pPr/>
              <a:t>69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373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373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373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3734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5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3736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strcat(ptr1, ptr2);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/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0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2000">
                <a:latin typeface="Arial" charset="0"/>
              </a:rPr>
              <a:t>and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20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2000">
                <a:latin typeface="Arial" charset="0"/>
              </a:rPr>
              <a:t>are pointers to char</a:t>
            </a:r>
          </a:p>
          <a:p>
            <a:endParaRPr lang="en-US">
              <a:latin typeface="Arial" charset="0"/>
            </a:endParaRPr>
          </a:p>
          <a:p>
            <a:r>
              <a:rPr lang="en-US" sz="2400">
                <a:latin typeface="Arial" charset="0"/>
              </a:rPr>
              <a:t>Concatenates the two null terminated strings yielding one string (pointed to by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400">
                <a:latin typeface="Arial" charset="0"/>
              </a:rPr>
              <a:t>). </a:t>
            </a:r>
          </a:p>
          <a:p>
            <a:pPr marL="928688" lvl="1"/>
            <a:r>
              <a:rPr lang="en-US" sz="2000">
                <a:latin typeface="Arial" charset="0"/>
              </a:rPr>
              <a:t>Find the end of the destination string</a:t>
            </a:r>
          </a:p>
          <a:p>
            <a:pPr marL="928688" lvl="1"/>
            <a:r>
              <a:rPr lang="en-US" sz="2000">
                <a:latin typeface="Arial" charset="0"/>
              </a:rPr>
              <a:t>Append the source string to the end of the destination string</a:t>
            </a:r>
          </a:p>
          <a:p>
            <a:pPr marL="928688" lvl="1"/>
            <a:r>
              <a:rPr lang="en-US" sz="2000">
                <a:latin typeface="Arial" charset="0"/>
              </a:rPr>
              <a:t>Add a NULL to new destination string</a:t>
            </a:r>
          </a:p>
        </p:txBody>
      </p:sp>
      <p:sp>
        <p:nvSpPr>
          <p:cNvPr id="73737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373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A2BF484-B8D3-3045-82FB-8BF96829DCDE}" type="slidenum">
              <a:rPr lang="en-US"/>
              <a:pPr/>
              <a:t>70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475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475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475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4758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</a:t>
            </a:r>
            <a:r>
              <a:rPr lang="en-US"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>
                <a:latin typeface="Arial" charset="0"/>
              </a:rPr>
              <a:t>Example</a:t>
            </a:r>
          </a:p>
        </p:txBody>
      </p:sp>
      <p:sp>
        <p:nvSpPr>
          <p:cNvPr id="74760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800">
                <a:latin typeface="Arial" charset="0"/>
              </a:rPr>
              <a:t>What</a:t>
            </a:r>
            <a:r>
              <a:rPr lang="ja-JP" altLang="en-US" sz="2800">
                <a:latin typeface="Arial" charset="0"/>
              </a:rPr>
              <a:t>’</a:t>
            </a:r>
            <a:r>
              <a:rPr lang="en-US" sz="2800">
                <a:latin typeface="Arial" charset="0"/>
              </a:rPr>
              <a:t>s wrong with</a:t>
            </a:r>
          </a:p>
          <a:p>
            <a:endParaRPr lang="en-US" sz="2800">
              <a:latin typeface="Arial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S[25] = "world!"; 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strcat(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Hello, </a:t>
            </a:r>
            <a:r>
              <a:rPr lang="ja-JP" alt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, S); 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4761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476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7D51C25-D6DF-4F42-A538-09B9B3FF45D0}" type="slidenum">
              <a:rPr lang="en-US"/>
              <a:pPr/>
              <a:t>71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77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78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578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5782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</a:t>
            </a:r>
            <a:r>
              <a:rPr lang="en-US">
                <a:latin typeface="Courier New" charset="0"/>
                <a:cs typeface="Courier New" charset="0"/>
                <a:sym typeface="Courier New" charset="0"/>
              </a:rPr>
              <a:t> </a:t>
            </a:r>
            <a:r>
              <a:rPr lang="en-US">
                <a:latin typeface="Arial" charset="0"/>
              </a:rPr>
              <a:t>Example</a:t>
            </a:r>
          </a:p>
        </p:txBody>
      </p:sp>
      <p:sp>
        <p:nvSpPr>
          <p:cNvPr id="75784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800">
                <a:latin typeface="Arial" charset="0"/>
              </a:rPr>
              <a:t>What</a:t>
            </a:r>
            <a:r>
              <a:rPr lang="ja-JP" altLang="en-US" sz="2800">
                <a:latin typeface="Arial" charset="0"/>
              </a:rPr>
              <a:t>’</a:t>
            </a:r>
            <a:r>
              <a:rPr lang="en-US" sz="2800">
                <a:latin typeface="Arial" charset="0"/>
              </a:rPr>
              <a:t>s wrong with</a:t>
            </a:r>
          </a:p>
          <a:p>
            <a:endParaRPr lang="en-US" sz="2800">
              <a:latin typeface="Arial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*s = malloc(11 * sizeof(char));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/* Allocate enough memory for an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   array of 11 characters, enough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      to store a 10-char long string. */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strcat(s, "Hello");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strcat(s, "World");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5785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5786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F42FA62-98AD-944D-B934-BAA2F7B1C2C2}" type="slidenum">
              <a:rPr lang="en-US"/>
              <a:pPr/>
              <a:t>72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0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0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0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680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strcat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2"/>
              <a:buChar char="n"/>
              <a:defRPr/>
            </a:pPr>
            <a:r>
              <a:rPr lang="en-US" sz="2400" dirty="0" err="1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strcat</a:t>
            </a:r>
            <a:r>
              <a:rPr lang="en-US" sz="2400" dirty="0" smtClean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(ptr1, ptr2);</a:t>
            </a:r>
            <a:endParaRPr lang="en-US" sz="2400" dirty="0" smtClean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buFont typeface="Wingdings" charset="2"/>
              <a:buChar char="¡"/>
              <a:defRPr/>
            </a:pPr>
            <a:r>
              <a:rPr lang="en-US" sz="20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2000" dirty="0" smtClean="0">
                <a:solidFill>
                  <a:srgbClr val="0000FF"/>
                </a:solidFill>
              </a:rPr>
              <a:t> </a:t>
            </a:r>
            <a:r>
              <a:rPr lang="en-US" sz="2000" dirty="0" smtClean="0"/>
              <a:t>and </a:t>
            </a:r>
            <a:r>
              <a:rPr lang="en-US" sz="20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2000" dirty="0" smtClean="0">
                <a:solidFill>
                  <a:srgbClr val="0000FF"/>
                </a:solidFill>
              </a:rPr>
              <a:t> </a:t>
            </a:r>
            <a:r>
              <a:rPr lang="en-US" sz="2000" dirty="0" smtClean="0"/>
              <a:t>are pointers to char</a:t>
            </a:r>
          </a:p>
          <a:p>
            <a:pPr>
              <a:buFont typeface="Wingdings" charset="2"/>
              <a:buChar char="n"/>
              <a:defRPr/>
            </a:pPr>
            <a:endParaRPr lang="en-US" sz="2400" dirty="0" smtClean="0">
              <a:ea typeface="+mn-ea"/>
            </a:endParaRPr>
          </a:p>
          <a:p>
            <a:pPr>
              <a:buFont typeface="Wingdings" charset="2"/>
              <a:buChar char="n"/>
              <a:defRPr/>
            </a:pPr>
            <a:r>
              <a:rPr lang="en-US" sz="2400" dirty="0" smtClean="0">
                <a:ea typeface="+mn-ea"/>
              </a:rPr>
              <a:t>Compare to Java and C++</a:t>
            </a:r>
          </a:p>
          <a:p>
            <a:pPr marL="928688" lvl="1">
              <a:buFont typeface="Wingdings" charset="2"/>
              <a:buChar char="¡"/>
              <a:defRPr/>
            </a:pPr>
            <a:r>
              <a:rPr lang="en-US" sz="2000" dirty="0" smtClean="0">
                <a:solidFill>
                  <a:srgbClr val="C00000"/>
                </a:solidFill>
                <a:latin typeface="Courier New Bold" charset="0"/>
                <a:cs typeface="Courier New Bold" charset="0"/>
                <a:sym typeface="Courier New Bold" charset="0"/>
              </a:rPr>
              <a:t>string s = s + " World!";</a:t>
            </a:r>
            <a:endParaRPr lang="en-US" sz="2000" dirty="0" smtClean="0">
              <a:solidFill>
                <a:srgbClr val="C00000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928688" lvl="1">
              <a:buFont typeface="Wingdings" charset="2"/>
              <a:buChar char="¡"/>
              <a:defRPr/>
            </a:pPr>
            <a:endParaRPr lang="en-US" sz="2000" dirty="0" smtClean="0"/>
          </a:p>
          <a:p>
            <a:pPr>
              <a:buFont typeface="Wingdings" charset="2"/>
              <a:buChar char="n"/>
              <a:defRPr/>
            </a:pPr>
            <a:r>
              <a:rPr lang="en-US" sz="2400" dirty="0" smtClean="0">
                <a:ea typeface="+mn-ea"/>
              </a:rPr>
              <a:t>What would you get in C?</a:t>
            </a:r>
          </a:p>
          <a:p>
            <a:pPr lvl="1">
              <a:buFont typeface="Wingdings" charset="2"/>
              <a:buChar char="¡"/>
              <a:defRPr/>
            </a:pPr>
            <a:r>
              <a:rPr lang="en-US" sz="2000" dirty="0" smtClean="0"/>
              <a:t>If you did </a:t>
            </a:r>
            <a:r>
              <a:rPr lang="en-US" sz="2000" dirty="0" smtClean="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char* ptr0 = ptr1+ptr2;</a:t>
            </a:r>
            <a:endParaRPr lang="en-US" sz="2000" dirty="0" smtClean="0"/>
          </a:p>
          <a:p>
            <a:pPr marL="928688" lvl="1">
              <a:buFont typeface="Wingdings" charset="2"/>
              <a:buChar char="¡"/>
              <a:defRPr/>
            </a:pPr>
            <a:r>
              <a:rPr lang="en-US" sz="2000" dirty="0" smtClean="0"/>
              <a:t>You would get the sum of two memory locations!</a:t>
            </a:r>
          </a:p>
        </p:txBody>
      </p:sp>
      <p:sp>
        <p:nvSpPr>
          <p:cNvPr id="76809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6810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1DB7858-B74B-9C49-BC27-3285119882A6}" type="slidenum">
              <a:rPr lang="en-US"/>
              <a:pPr/>
              <a:t>73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7" grpId="0" build="p" bldLvl="5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782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782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782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783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1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strcmp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diff = strcmp(ptr1, ptr2);</a:t>
            </a:r>
            <a:r>
              <a:rPr lang="en-US" sz="2000">
                <a:solidFill>
                  <a:srgbClr val="0000FF"/>
                </a:solidFill>
                <a:latin typeface="Arial" charset="0"/>
              </a:rPr>
              <a:t>    </a:t>
            </a:r>
          </a:p>
          <a:p>
            <a:pPr marL="928688" lvl="1">
              <a:lnSpc>
                <a:spcPct val="90000"/>
              </a:lnSpc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diff</a:t>
            </a:r>
            <a:r>
              <a:rPr lang="en-US" sz="18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is an integer </a:t>
            </a:r>
          </a:p>
          <a:p>
            <a:pPr marL="928688" lvl="1">
              <a:lnSpc>
                <a:spcPct val="90000"/>
              </a:lnSpc>
            </a:pP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18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and 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1800">
                <a:solidFill>
                  <a:srgbClr val="0000FF"/>
                </a:solidFill>
                <a:latin typeface="Arial" charset="0"/>
              </a:rPr>
              <a:t> </a:t>
            </a:r>
            <a:r>
              <a:rPr lang="en-US" sz="1800">
                <a:latin typeface="Arial" charset="0"/>
              </a:rPr>
              <a:t>are pointers to char </a:t>
            </a:r>
          </a:p>
          <a:p>
            <a:pPr>
              <a:lnSpc>
                <a:spcPct val="90000"/>
              </a:lnSpc>
            </a:pPr>
            <a:r>
              <a:rPr lang="en-US" sz="2000">
                <a:latin typeface="Arial" charset="0"/>
              </a:rPr>
              <a:t>Returns </a:t>
            </a:r>
          </a:p>
          <a:p>
            <a:pPr marL="928688" lvl="1">
              <a:lnSpc>
                <a:spcPct val="90000"/>
              </a:lnSpc>
            </a:pPr>
            <a:r>
              <a:rPr lang="en-US" sz="1800">
                <a:latin typeface="Arial" charset="0"/>
              </a:rPr>
              <a:t>zero if strings are identical </a:t>
            </a:r>
          </a:p>
          <a:p>
            <a:pPr marL="928688" lvl="1">
              <a:lnSpc>
                <a:spcPct val="90000"/>
              </a:lnSpc>
            </a:pPr>
            <a:r>
              <a:rPr lang="en-US" sz="1800">
                <a:latin typeface="Arial" charset="0"/>
              </a:rPr>
              <a:t>&lt; 0 if 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1800">
                <a:latin typeface="Arial" charset="0"/>
              </a:rPr>
              <a:t> is less than 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1800">
                <a:latin typeface="Arial" charset="0"/>
              </a:rPr>
              <a:t> (earlier in a dictionary)</a:t>
            </a:r>
          </a:p>
          <a:p>
            <a:pPr marL="928688" lvl="1">
              <a:lnSpc>
                <a:spcPct val="90000"/>
              </a:lnSpc>
            </a:pPr>
            <a:r>
              <a:rPr lang="en-US" sz="1800">
                <a:latin typeface="Arial" charset="0"/>
              </a:rPr>
              <a:t>&gt; 0 if 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ptr1</a:t>
            </a:r>
            <a:r>
              <a:rPr lang="en-US" sz="1800">
                <a:latin typeface="Arial" charset="0"/>
              </a:rPr>
              <a:t> is greater than </a:t>
            </a:r>
            <a:r>
              <a:rPr lang="en-US" sz="1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ptr2</a:t>
            </a:r>
            <a:r>
              <a:rPr lang="en-US" sz="1800">
                <a:latin typeface="Arial" charset="0"/>
              </a:rPr>
              <a:t> (later in a dictionary)</a:t>
            </a:r>
          </a:p>
          <a:p>
            <a:pPr>
              <a:lnSpc>
                <a:spcPct val="90000"/>
              </a:lnSpc>
            </a:pPr>
            <a:endParaRPr lang="en-US" sz="2000">
              <a:latin typeface="Arial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diff;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s1[25] = "pat";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s2[25] = "pet";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diff = strcmp(s1, s2);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783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7834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CB1F362-367C-C448-A915-1E96EAD74751}" type="slidenum">
              <a:rPr lang="en-US"/>
              <a:pPr/>
              <a:t>74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885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885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885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8854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5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Can we make this work?!</a:t>
            </a:r>
          </a:p>
        </p:txBody>
      </p:sp>
      <p:sp>
        <p:nvSpPr>
          <p:cNvPr id="78856" name="Rectangle 7"/>
          <p:cNvSpPr>
            <a:spLocks/>
          </p:cNvSpPr>
          <p:nvPr/>
        </p:nvSpPr>
        <p:spPr bwMode="auto">
          <a:xfrm>
            <a:off x="419100" y="2298700"/>
            <a:ext cx="731520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x;</a:t>
            </a: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printf("This class is %s.\n", &amp;x);</a:t>
            </a:r>
          </a:p>
        </p:txBody>
      </p:sp>
      <p:sp>
        <p:nvSpPr>
          <p:cNvPr id="78857" name="Footer Placeholder 10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885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5C9721E-84BF-354E-9264-193B42983F20}" type="slidenum">
              <a:rPr lang="en-US"/>
              <a:pPr/>
              <a:t>75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987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987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987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9878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Can we make this work?!</a:t>
            </a:r>
          </a:p>
        </p:txBody>
      </p:sp>
      <p:sp>
        <p:nvSpPr>
          <p:cNvPr id="79880" name="Rectangle 7"/>
          <p:cNvSpPr>
            <a:spLocks/>
          </p:cNvSpPr>
          <p:nvPr/>
        </p:nvSpPr>
        <p:spPr bwMode="auto">
          <a:xfrm>
            <a:off x="419100" y="2298700"/>
            <a:ext cx="731520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x;</a:t>
            </a: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printf("This class is %s.\n",   );</a:t>
            </a:r>
          </a:p>
        </p:txBody>
      </p:sp>
      <p:sp>
        <p:nvSpPr>
          <p:cNvPr id="79881" name="Footer Placeholder 10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988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5BE0087-FE9C-C447-BEDA-F31FF643CBD3}" type="slidenum">
              <a:rPr lang="en-US"/>
              <a:pPr/>
              <a:t>76</a:t>
            </a:fld>
            <a:endParaRPr lang="en-US"/>
          </a:p>
        </p:txBody>
      </p:sp>
      <p:sp>
        <p:nvSpPr>
          <p:cNvPr id="11" name="Down Arrow 10"/>
          <p:cNvSpPr>
            <a:spLocks noChangeArrowheads="1"/>
          </p:cNvSpPr>
          <p:nvPr/>
        </p:nvSpPr>
        <p:spPr bwMode="auto">
          <a:xfrm>
            <a:off x="5715000" y="4419600"/>
            <a:ext cx="533400" cy="76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089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090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090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0902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Can we make this work?!</a:t>
            </a:r>
          </a:p>
        </p:txBody>
      </p:sp>
      <p:sp>
        <p:nvSpPr>
          <p:cNvPr id="80904" name="Rectangle 7"/>
          <p:cNvSpPr>
            <a:spLocks/>
          </p:cNvSpPr>
          <p:nvPr/>
        </p:nvSpPr>
        <p:spPr bwMode="auto">
          <a:xfrm>
            <a:off x="419100" y="2298700"/>
            <a:ext cx="731520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x;</a:t>
            </a: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printf("This class is %s.\n", &amp;x);</a:t>
            </a:r>
          </a:p>
        </p:txBody>
      </p:sp>
      <p:sp>
        <p:nvSpPr>
          <p:cNvPr id="80905" name="Rectangle 8"/>
          <p:cNvSpPr>
            <a:spLocks/>
          </p:cNvSpPr>
          <p:nvPr/>
        </p:nvSpPr>
        <p:spPr bwMode="auto">
          <a:xfrm>
            <a:off x="355600" y="2984500"/>
            <a:ext cx="19827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(char*)&amp;x</a:t>
            </a:r>
          </a:p>
        </p:txBody>
      </p:sp>
      <p:sp>
        <p:nvSpPr>
          <p:cNvPr id="80906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0907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F060F77-43B6-DC48-B8E0-FAB698E0F2DC}" type="slidenum">
              <a:rPr lang="en-US"/>
              <a:pPr/>
              <a:t>77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2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2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2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192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Can we make this work?!</a:t>
            </a:r>
          </a:p>
        </p:txBody>
      </p:sp>
      <p:sp>
        <p:nvSpPr>
          <p:cNvPr id="81928" name="Rectangle 7"/>
          <p:cNvSpPr>
            <a:spLocks/>
          </p:cNvSpPr>
          <p:nvPr/>
        </p:nvSpPr>
        <p:spPr bwMode="auto">
          <a:xfrm>
            <a:off x="419100" y="2298700"/>
            <a:ext cx="731520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x;</a:t>
            </a: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printf("This class is %s.\n", &amp;x);</a:t>
            </a:r>
          </a:p>
        </p:txBody>
      </p:sp>
      <p:sp>
        <p:nvSpPr>
          <p:cNvPr id="81929" name="Rectangle 8"/>
          <p:cNvSpPr>
            <a:spLocks/>
          </p:cNvSpPr>
          <p:nvPr/>
        </p:nvSpPr>
        <p:spPr bwMode="auto">
          <a:xfrm>
            <a:off x="355600" y="2984500"/>
            <a:ext cx="399573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((char*)&amp;x)[0] = 'f';</a:t>
            </a:r>
          </a:p>
        </p:txBody>
      </p:sp>
      <p:sp>
        <p:nvSpPr>
          <p:cNvPr id="81930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BCDB42C-810C-D04D-9DAA-8CBB32653456}" type="slidenum">
              <a:rPr lang="en-US"/>
              <a:pPr/>
              <a:t>78</a:t>
            </a:fld>
            <a:endParaRPr lang="en-US"/>
          </a:p>
        </p:txBody>
      </p:sp>
      <p:sp>
        <p:nvSpPr>
          <p:cNvPr id="81931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294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294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294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295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51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Can we make this work?!</a:t>
            </a:r>
          </a:p>
        </p:txBody>
      </p:sp>
      <p:sp>
        <p:nvSpPr>
          <p:cNvPr id="82952" name="Rectangle 7"/>
          <p:cNvSpPr>
            <a:spLocks/>
          </p:cNvSpPr>
          <p:nvPr/>
        </p:nvSpPr>
        <p:spPr bwMode="auto">
          <a:xfrm>
            <a:off x="419100" y="2298700"/>
            <a:ext cx="731520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x;</a:t>
            </a: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printf("This class is %s.\n", &amp;x);</a:t>
            </a:r>
          </a:p>
        </p:txBody>
      </p:sp>
      <p:sp>
        <p:nvSpPr>
          <p:cNvPr id="82953" name="Rectangle 9"/>
          <p:cNvSpPr>
            <a:spLocks/>
          </p:cNvSpPr>
          <p:nvPr/>
        </p:nvSpPr>
        <p:spPr bwMode="auto">
          <a:xfrm>
            <a:off x="355600" y="2984500"/>
            <a:ext cx="3995738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((char*)&amp;x)[0] = 'f';</a:t>
            </a: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((char*)&amp;x)[1] = 'u';</a:t>
            </a: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((char*)&amp;x)[2] = 'n';</a:t>
            </a:r>
          </a:p>
        </p:txBody>
      </p:sp>
      <p:sp>
        <p:nvSpPr>
          <p:cNvPr id="82954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B1CCD35-7923-2E4A-A54C-7D08E24EF818}" type="slidenum">
              <a:rPr lang="en-US"/>
              <a:pPr/>
              <a:t>79</a:t>
            </a:fld>
            <a:endParaRPr lang="en-US"/>
          </a:p>
        </p:txBody>
      </p:sp>
      <p:sp>
        <p:nvSpPr>
          <p:cNvPr id="82955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397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397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397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3974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5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Can we make this work?!</a:t>
            </a:r>
          </a:p>
        </p:txBody>
      </p:sp>
      <p:sp>
        <p:nvSpPr>
          <p:cNvPr id="83976" name="Rectangle 7"/>
          <p:cNvSpPr>
            <a:spLocks/>
          </p:cNvSpPr>
          <p:nvPr/>
        </p:nvSpPr>
        <p:spPr bwMode="auto">
          <a:xfrm>
            <a:off x="419100" y="2298700"/>
            <a:ext cx="731520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x;</a:t>
            </a: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printf("This class is %s.\n", &amp;x);</a:t>
            </a:r>
          </a:p>
        </p:txBody>
      </p:sp>
      <p:sp>
        <p:nvSpPr>
          <p:cNvPr id="83977" name="Rectangle 8"/>
          <p:cNvSpPr>
            <a:spLocks/>
          </p:cNvSpPr>
          <p:nvPr/>
        </p:nvSpPr>
        <p:spPr bwMode="auto">
          <a:xfrm>
            <a:off x="355600" y="2984500"/>
            <a:ext cx="417830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((char*)&amp;x)[0] = 'f';</a:t>
            </a: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((char*)&amp;x)[1] = 'u';</a:t>
            </a: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((char*)&amp;x)[2] = 'n';</a:t>
            </a: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((char*)&amp;x)[3] = '\0';</a:t>
            </a:r>
          </a:p>
        </p:txBody>
      </p:sp>
      <p:sp>
        <p:nvSpPr>
          <p:cNvPr id="67596" name="Rectangle 12"/>
          <p:cNvSpPr>
            <a:spLocks/>
          </p:cNvSpPr>
          <p:nvPr/>
        </p:nvSpPr>
        <p:spPr bwMode="auto">
          <a:xfrm>
            <a:off x="6184900" y="2752725"/>
            <a:ext cx="2692400" cy="15144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algn="ctr">
              <a:spcBef>
                <a:spcPts val="738"/>
              </a:spcBef>
            </a:pPr>
            <a:r>
              <a:rPr lang="en-US" sz="3200">
                <a:latin typeface="Arial" charset="0"/>
                <a:cs typeface="Arial" charset="0"/>
                <a:sym typeface="Arial" charset="0"/>
              </a:rPr>
              <a:t>Perfectly legal and perfectly horrible!</a:t>
            </a:r>
          </a:p>
        </p:txBody>
      </p:sp>
      <p:sp>
        <p:nvSpPr>
          <p:cNvPr id="83979" name="Slide Number Placeholder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DAD9616-3CD1-A749-B627-95BC4C26C7EE}" type="slidenum">
              <a:rPr lang="en-US"/>
              <a:pPr/>
              <a:t>80</a:t>
            </a:fld>
            <a:endParaRPr lang="en-US"/>
          </a:p>
        </p:txBody>
      </p:sp>
      <p:sp>
        <p:nvSpPr>
          <p:cNvPr id="83980" name="Footer Placeholder 1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499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499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499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4998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Can we make this work?!</a:t>
            </a:r>
          </a:p>
        </p:txBody>
      </p:sp>
      <p:sp>
        <p:nvSpPr>
          <p:cNvPr id="85000" name="Rectangle 7"/>
          <p:cNvSpPr>
            <a:spLocks/>
          </p:cNvSpPr>
          <p:nvPr/>
        </p:nvSpPr>
        <p:spPr bwMode="auto">
          <a:xfrm>
            <a:off x="419100" y="2298700"/>
            <a:ext cx="731520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x;</a:t>
            </a: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printf("This class is %s.\n", &amp;x);</a:t>
            </a:r>
          </a:p>
        </p:txBody>
      </p:sp>
      <p:sp>
        <p:nvSpPr>
          <p:cNvPr id="85001" name="Rectangle 8"/>
          <p:cNvSpPr>
            <a:spLocks/>
          </p:cNvSpPr>
          <p:nvPr/>
        </p:nvSpPr>
        <p:spPr bwMode="auto">
          <a:xfrm>
            <a:off x="406400" y="2984500"/>
            <a:ext cx="326390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char* s = &amp;x;</a:t>
            </a:r>
          </a:p>
          <a:p>
            <a:pPr marL="39688"/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strcpy(s, </a:t>
            </a:r>
            <a:r>
              <a:rPr lang="ja-JP" alt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fun</a:t>
            </a:r>
            <a:r>
              <a:rPr lang="ja-JP" alt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);</a:t>
            </a:r>
          </a:p>
        </p:txBody>
      </p:sp>
      <p:sp>
        <p:nvSpPr>
          <p:cNvPr id="85002" name="Slide Number Placeholder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CBC8F0F-6691-9B4F-83C0-A91087088F73}" type="slidenum">
              <a:rPr lang="en-US"/>
              <a:pPr/>
              <a:t>81</a:t>
            </a:fld>
            <a:endParaRPr lang="en-US"/>
          </a:p>
        </p:txBody>
      </p:sp>
      <p:sp>
        <p:nvSpPr>
          <p:cNvPr id="85003" name="Footer Placeholder 1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6" name="Rectangle 12"/>
          <p:cNvSpPr>
            <a:spLocks/>
          </p:cNvSpPr>
          <p:nvPr/>
        </p:nvSpPr>
        <p:spPr bwMode="auto">
          <a:xfrm>
            <a:off x="6184900" y="2752725"/>
            <a:ext cx="2692400" cy="15144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algn="ctr">
              <a:spcBef>
                <a:spcPts val="738"/>
              </a:spcBef>
            </a:pPr>
            <a:r>
              <a:rPr lang="en-US" sz="3200">
                <a:latin typeface="Arial" charset="0"/>
                <a:cs typeface="Arial" charset="0"/>
                <a:sym typeface="Arial" charset="0"/>
              </a:rPr>
              <a:t>Perfectly legal and perfectly horrible!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18" name="Group 1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0"/>
            <a:chExt cx="5472" cy="1584"/>
          </a:xfrm>
        </p:grpSpPr>
        <p:sp>
          <p:nvSpPr>
            <p:cNvPr id="86023" name="Oval 2"/>
            <p:cNvSpPr>
              <a:spLocks/>
            </p:cNvSpPr>
            <p:nvPr/>
          </p:nvSpPr>
          <p:spPr bwMode="auto">
            <a:xfrm>
              <a:off x="144" y="0"/>
              <a:ext cx="1584" cy="1584"/>
            </a:xfrm>
            <a:prstGeom prst="ellipse">
              <a:avLst/>
            </a:prstGeom>
            <a:noFill/>
            <a:ln w="127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6024" name="Rectangle 3"/>
            <p:cNvSpPr>
              <a:spLocks/>
            </p:cNvSpPr>
            <p:nvPr/>
          </p:nvSpPr>
          <p:spPr bwMode="auto">
            <a:xfrm>
              <a:off x="0" y="480"/>
              <a:ext cx="2976" cy="720"/>
            </a:xfrm>
            <a:prstGeom prst="rect">
              <a:avLst/>
            </a:prstGeom>
            <a:solidFill>
              <a:srgbClr val="CC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6025" name="Rectangle 4"/>
            <p:cNvSpPr>
              <a:spLocks/>
            </p:cNvSpPr>
            <p:nvPr/>
          </p:nvSpPr>
          <p:spPr bwMode="auto">
            <a:xfrm>
              <a:off x="2496" y="480"/>
              <a:ext cx="2976" cy="720"/>
            </a:xfrm>
            <a:prstGeom prst="rect">
              <a:avLst/>
            </a:prstGeom>
            <a:gradFill rotWithShape="0">
              <a:gsLst>
                <a:gs pos="0">
                  <a:srgbClr val="CCCC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6026" name="Freeform 5"/>
            <p:cNvSpPr>
              <a:spLocks/>
            </p:cNvSpPr>
            <p:nvPr/>
          </p:nvSpPr>
          <p:spPr bwMode="auto">
            <a:xfrm>
              <a:off x="384" y="384"/>
              <a:ext cx="144" cy="9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6027" name="Freeform 6"/>
            <p:cNvSpPr>
              <a:spLocks/>
            </p:cNvSpPr>
            <p:nvPr/>
          </p:nvSpPr>
          <p:spPr bwMode="auto">
            <a:xfrm>
              <a:off x="4944" y="186"/>
              <a:ext cx="165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76200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86019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endParaRPr lang="en-US">
              <a:latin typeface="Arial" charset="0"/>
            </a:endParaRPr>
          </a:p>
        </p:txBody>
      </p:sp>
      <p:sp>
        <p:nvSpPr>
          <p:cNvPr id="8602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Other operations</a:t>
            </a:r>
          </a:p>
        </p:txBody>
      </p:sp>
      <p:sp>
        <p:nvSpPr>
          <p:cNvPr id="86021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6022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9B0A070-2118-BE4E-98E5-BA28F94D3941}" type="slidenum">
              <a:rPr lang="en-US"/>
              <a:pPr/>
              <a:t>82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704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704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704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704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Increment &amp; decrement</a:t>
            </a:r>
          </a:p>
        </p:txBody>
      </p:sp>
      <p:sp>
        <p:nvSpPr>
          <p:cNvPr id="706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50913" y="1981200"/>
            <a:ext cx="7658100" cy="4495800"/>
          </a:xfrm>
        </p:spPr>
        <p:txBody>
          <a:bodyPr rIns="132080">
            <a:normAutofit lnSpcReduction="10000"/>
          </a:bodyPr>
          <a:lstStyle/>
          <a:p>
            <a:pPr>
              <a:buFont typeface="Wingdings" pitchFamily="2" charset="2"/>
              <a:buChar char="n"/>
              <a:defRPr/>
            </a:pPr>
            <a:r>
              <a:rPr lang="en-US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x++</a:t>
            </a:r>
            <a:r>
              <a:rPr lang="en-US" dirty="0">
                <a:ea typeface="+mn-ea"/>
              </a:rPr>
              <a:t>: yield old value, add one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++x</a:t>
            </a:r>
            <a:r>
              <a:rPr lang="en-US" dirty="0">
                <a:ea typeface="+mn-ea"/>
              </a:rPr>
              <a:t>: add one, yield new value</a:t>
            </a: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ea typeface="+mn-ea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ea typeface="+mn-ea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ea typeface="+mn-ea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ea typeface="+mn-ea"/>
            </a:endParaRPr>
          </a:p>
          <a:p>
            <a:pPr>
              <a:buFont typeface="Wingdings" pitchFamily="2" charset="2"/>
              <a:buChar char="n"/>
              <a:defRPr/>
            </a:pPr>
            <a:endParaRPr lang="en-US" dirty="0">
              <a:ea typeface="+mn-ea"/>
            </a:endParaRPr>
          </a:p>
          <a:p>
            <a:pPr>
              <a:buFont typeface="Wingdings" pitchFamily="2" charset="2"/>
              <a:buChar char="n"/>
              <a:defRPr/>
            </a:pPr>
            <a:r>
              <a:rPr lang="en-US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--x</a:t>
            </a:r>
            <a:r>
              <a:rPr lang="en-US" dirty="0">
                <a:ea typeface="+mn-ea"/>
              </a:rPr>
              <a:t> and </a:t>
            </a:r>
            <a:r>
              <a:rPr lang="en-US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x--</a:t>
            </a:r>
            <a:r>
              <a:rPr lang="en-US" dirty="0">
                <a:ea typeface="+mn-ea"/>
              </a:rPr>
              <a:t> are similar (subtract one)</a:t>
            </a:r>
          </a:p>
        </p:txBody>
      </p:sp>
      <p:sp>
        <p:nvSpPr>
          <p:cNvPr id="87049" name="Rectangle 8"/>
          <p:cNvSpPr>
            <a:spLocks/>
          </p:cNvSpPr>
          <p:nvPr/>
        </p:nvSpPr>
        <p:spPr bwMode="auto">
          <a:xfrm>
            <a:off x="1066800" y="3556000"/>
            <a:ext cx="2349500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/>
          <a:p>
            <a:pPr marL="487363" indent="-447675">
              <a:spcBef>
                <a:spcPts val="7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 = 10;</a:t>
            </a:r>
          </a:p>
          <a:p>
            <a:pPr marL="487363" indent="-447675">
              <a:spcBef>
                <a:spcPts val="7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x++;</a:t>
            </a:r>
          </a:p>
          <a:p>
            <a:pPr marL="487363" indent="-447675">
              <a:spcBef>
                <a:spcPts val="7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y = x++;</a:t>
            </a:r>
          </a:p>
          <a:p>
            <a:pPr marL="487363" indent="-447675">
              <a:spcBef>
                <a:spcPts val="738"/>
              </a:spcBef>
            </a:pPr>
            <a:endParaRPr lang="en-US" sz="2400">
              <a:solidFill>
                <a:srgbClr val="0000FF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marL="487363" indent="-447675">
              <a:spcBef>
                <a:spcPts val="7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z = ++x;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949700" y="4356100"/>
            <a:ext cx="901700" cy="596900"/>
            <a:chOff x="0" y="0"/>
            <a:chExt cx="568" cy="520"/>
          </a:xfrm>
        </p:grpSpPr>
        <p:sp>
          <p:nvSpPr>
            <p:cNvPr id="87056" name="Rectangle 10"/>
            <p:cNvSpPr>
              <a:spLocks/>
            </p:cNvSpPr>
            <p:nvPr/>
          </p:nvSpPr>
          <p:spPr bwMode="auto">
            <a:xfrm>
              <a:off x="0" y="0"/>
              <a:ext cx="568" cy="4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7057" name="Rectangle 11"/>
            <p:cNvSpPr>
              <a:spLocks/>
            </p:cNvSpPr>
            <p:nvPr/>
          </p:nvSpPr>
          <p:spPr bwMode="auto">
            <a:xfrm>
              <a:off x="26" y="22"/>
              <a:ext cx="515" cy="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algn="ctr">
                <a:spcBef>
                  <a:spcPts val="738"/>
                </a:spcBef>
              </a:pPr>
              <a:r>
                <a:rPr lang="en-US" sz="3200">
                  <a:latin typeface="Arial" charset="0"/>
                  <a:cs typeface="Arial" charset="0"/>
                  <a:sym typeface="Arial" charset="0"/>
                </a:rPr>
                <a:t>11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949700" y="5194300"/>
            <a:ext cx="901700" cy="596900"/>
            <a:chOff x="0" y="0"/>
            <a:chExt cx="568" cy="520"/>
          </a:xfrm>
        </p:grpSpPr>
        <p:sp>
          <p:nvSpPr>
            <p:cNvPr id="87054" name="Rectangle 13"/>
            <p:cNvSpPr>
              <a:spLocks/>
            </p:cNvSpPr>
            <p:nvPr/>
          </p:nvSpPr>
          <p:spPr bwMode="auto">
            <a:xfrm>
              <a:off x="0" y="0"/>
              <a:ext cx="568" cy="4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7055" name="Rectangle 14"/>
            <p:cNvSpPr>
              <a:spLocks/>
            </p:cNvSpPr>
            <p:nvPr/>
          </p:nvSpPr>
          <p:spPr bwMode="auto">
            <a:xfrm>
              <a:off x="26" y="22"/>
              <a:ext cx="515" cy="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/>
            <a:p>
              <a:pPr algn="ctr">
                <a:spcBef>
                  <a:spcPts val="738"/>
                </a:spcBef>
              </a:pPr>
              <a:r>
                <a:rPr lang="en-US" sz="3200">
                  <a:latin typeface="Arial" charset="0"/>
                  <a:cs typeface="Arial" charset="0"/>
                  <a:sym typeface="Arial" charset="0"/>
                </a:rPr>
                <a:t>13</a:t>
              </a:r>
            </a:p>
          </p:txBody>
        </p:sp>
      </p:grpSp>
      <p:sp>
        <p:nvSpPr>
          <p:cNvPr id="87052" name="Slide Number Placeholder 1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3E38823-9546-4B4D-9913-7C05BAB8A3F9}" type="slidenum">
              <a:rPr lang="en-US"/>
              <a:pPr/>
              <a:t>83</a:t>
            </a:fld>
            <a:endParaRPr lang="en-US"/>
          </a:p>
        </p:txBody>
      </p:sp>
      <p:sp>
        <p:nvSpPr>
          <p:cNvPr id="87053" name="Footer Placeholder 1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806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806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806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807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71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Math: Increment and Decrement Operators</a:t>
            </a:r>
          </a:p>
        </p:txBody>
      </p:sp>
      <p:sp>
        <p:nvSpPr>
          <p:cNvPr id="88072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r>
              <a:rPr lang="en-US" sz="2400">
                <a:latin typeface="Arial" charset="0"/>
              </a:rPr>
              <a:t>Example 1:</a:t>
            </a: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x, y, z, w;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y=10; w=2;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x=++y;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z=--w;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88073" name="Rectangle 8"/>
          <p:cNvSpPr>
            <a:spLocks/>
          </p:cNvSpPr>
          <p:nvPr/>
        </p:nvSpPr>
        <p:spPr bwMode="auto">
          <a:xfrm>
            <a:off x="4856163" y="1981200"/>
            <a:ext cx="377190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550"/>
              </a:spcBef>
              <a:buClr>
                <a:srgbClr val="CC9900"/>
              </a:buClr>
              <a:buSzPct val="69000"/>
              <a:buFont typeface="Wingdings" charset="0"/>
              <a:buChar char="n"/>
            </a:pPr>
            <a:r>
              <a:rPr lang="en-US" sz="2400">
                <a:latin typeface="Arial" charset="0"/>
                <a:cs typeface="Arial" charset="0"/>
                <a:sym typeface="Arial" charset="0"/>
              </a:rPr>
              <a:t>Example 2: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x, y, z, w;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y=10; w=2;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x=y++;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z=w--;</a:t>
            </a:r>
          </a:p>
        </p:txBody>
      </p:sp>
      <p:sp>
        <p:nvSpPr>
          <p:cNvPr id="88074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8075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6D3EDD0-419C-B242-8124-EC03E0A3753C}" type="slidenum">
              <a:rPr lang="en-US"/>
              <a:pPr/>
              <a:t>84</a:t>
            </a:fld>
            <a:endParaRPr lang="en-US"/>
          </a:p>
        </p:txBody>
      </p:sp>
      <p:sp>
        <p:nvSpPr>
          <p:cNvPr id="88076" name="Rectangle 11"/>
          <p:cNvSpPr>
            <a:spLocks noChangeArrowheads="1"/>
          </p:cNvSpPr>
          <p:nvPr/>
        </p:nvSpPr>
        <p:spPr bwMode="auto">
          <a:xfrm>
            <a:off x="7010400" y="2895600"/>
            <a:ext cx="1752600" cy="17526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2000">
                <a:latin typeface="Arial" charset="0"/>
              </a:rPr>
              <a:t>What are </a:t>
            </a:r>
            <a:r>
              <a:rPr lang="en-US" sz="2000" b="1">
                <a:solidFill>
                  <a:srgbClr val="0000FF"/>
                </a:solidFill>
                <a:latin typeface="Courier New" charset="0"/>
                <a:cs typeface="Courier New" charset="0"/>
              </a:rPr>
              <a:t>x</a:t>
            </a:r>
            <a:r>
              <a:rPr lang="en-US" sz="2000">
                <a:latin typeface="Arial" charset="0"/>
              </a:rPr>
              <a:t> and </a:t>
            </a:r>
            <a:r>
              <a:rPr lang="en-US" sz="2000" b="1">
                <a:solidFill>
                  <a:srgbClr val="0000FF"/>
                </a:solidFill>
                <a:latin typeface="Courier New" charset="0"/>
                <a:cs typeface="Courier New" charset="0"/>
              </a:rPr>
              <a:t>y</a:t>
            </a:r>
            <a:r>
              <a:rPr lang="en-US" sz="2000">
                <a:latin typeface="Arial" charset="0"/>
              </a:rPr>
              <a:t> at the end of each example?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909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909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909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9094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5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Math: Increment and Decrement Operators</a:t>
            </a:r>
          </a:p>
        </p:txBody>
      </p:sp>
      <p:sp>
        <p:nvSpPr>
          <p:cNvPr id="89096" name="Rectangle 7"/>
          <p:cNvSpPr>
            <a:spLocks noChangeArrowheads="1"/>
          </p:cNvSpPr>
          <p:nvPr>
            <p:ph type="body" idx="1"/>
          </p:nvPr>
        </p:nvSpPr>
        <p:spPr>
          <a:xfrm>
            <a:off x="949325" y="1981200"/>
            <a:ext cx="3754438" cy="4876800"/>
          </a:xfrm>
        </p:spPr>
        <p:txBody>
          <a:bodyPr rIns="132080"/>
          <a:lstStyle/>
          <a:p>
            <a:r>
              <a:rPr lang="en-US" sz="2400">
                <a:latin typeface="Arial" charset="0"/>
              </a:rPr>
              <a:t>Example 1:</a:t>
            </a: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x, y, z, w;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y=10; w=2;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x=++y;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z=--w;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240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r>
              <a:rPr lang="en-US" sz="2400">
                <a:latin typeface="Arial" charset="0"/>
              </a:rPr>
              <a:t>First increment/ decrement, then assign result</a:t>
            </a:r>
          </a:p>
          <a:p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  <a:r>
              <a:rPr lang="en-US" sz="2400">
                <a:latin typeface="Arial" charset="0"/>
              </a:rPr>
              <a:t> is 11,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</a:t>
            </a:r>
            <a:r>
              <a:rPr lang="en-US" sz="2400">
                <a:latin typeface="Arial" charset="0"/>
              </a:rPr>
              <a:t> is 1</a:t>
            </a:r>
          </a:p>
        </p:txBody>
      </p:sp>
      <p:sp>
        <p:nvSpPr>
          <p:cNvPr id="89097" name="Rectangle 8"/>
          <p:cNvSpPr>
            <a:spLocks/>
          </p:cNvSpPr>
          <p:nvPr/>
        </p:nvSpPr>
        <p:spPr bwMode="auto">
          <a:xfrm>
            <a:off x="4856163" y="1981200"/>
            <a:ext cx="37719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487363" indent="-447675">
              <a:spcBef>
                <a:spcPts val="550"/>
              </a:spcBef>
              <a:buClr>
                <a:srgbClr val="CC9900"/>
              </a:buClr>
              <a:buSzPct val="69000"/>
              <a:buFont typeface="Wingdings" charset="0"/>
              <a:buChar char="n"/>
            </a:pPr>
            <a:r>
              <a:rPr lang="en-US" sz="2400">
                <a:latin typeface="Arial" charset="0"/>
                <a:cs typeface="Arial" charset="0"/>
                <a:sym typeface="Arial" charset="0"/>
              </a:rPr>
              <a:t>Example 2: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x, y, z, w;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y=10; w=2;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x=y++;</a:t>
            </a:r>
          </a:p>
          <a:p>
            <a:pPr marL="487363" indent="-447675">
              <a:spcBef>
                <a:spcPts val="538"/>
              </a:spcBef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z=w--;</a:t>
            </a:r>
          </a:p>
          <a:p>
            <a:pPr marL="487363" indent="-447675">
              <a:spcBef>
                <a:spcPts val="538"/>
              </a:spcBef>
            </a:pPr>
            <a:endParaRPr lang="en-US" sz="2400">
              <a:latin typeface="Courier New Bold" charset="0"/>
              <a:cs typeface="Courier New Bold" charset="0"/>
              <a:sym typeface="Courier New Bold" charset="0"/>
            </a:endParaRPr>
          </a:p>
          <a:p>
            <a:pPr marL="487363" indent="-447675">
              <a:spcBef>
                <a:spcPts val="550"/>
              </a:spcBef>
              <a:buClr>
                <a:srgbClr val="CC9900"/>
              </a:buClr>
              <a:buSzPct val="69000"/>
              <a:buFont typeface="Wingdings" charset="0"/>
              <a:buChar char="n"/>
            </a:pPr>
            <a:r>
              <a:rPr lang="en-US" sz="2400">
                <a:latin typeface="Arial" charset="0"/>
                <a:cs typeface="Arial" charset="0"/>
                <a:sym typeface="Arial" charset="0"/>
              </a:rPr>
              <a:t>First assign result, then increment/ decrement</a:t>
            </a:r>
          </a:p>
          <a:p>
            <a:pPr marL="487363" indent="-447675">
              <a:spcBef>
                <a:spcPts val="538"/>
              </a:spcBef>
              <a:buClr>
                <a:srgbClr val="CC9900"/>
              </a:buClr>
              <a:buSzPct val="69000"/>
              <a:buFont typeface="Wingdings" charset="0"/>
              <a:buChar char="n"/>
            </a:pP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</a:t>
            </a:r>
            <a:r>
              <a:rPr lang="en-US" sz="2400">
                <a:latin typeface="Arial" charset="0"/>
                <a:cs typeface="Arial" charset="0"/>
                <a:sym typeface="Arial" charset="0"/>
              </a:rPr>
              <a:t> is 10,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z</a:t>
            </a:r>
            <a:r>
              <a:rPr lang="en-US" sz="2400">
                <a:latin typeface="Arial" charset="0"/>
                <a:cs typeface="Arial" charset="0"/>
                <a:sym typeface="Arial" charset="0"/>
              </a:rPr>
              <a:t> is 2</a:t>
            </a:r>
          </a:p>
        </p:txBody>
      </p:sp>
      <p:sp>
        <p:nvSpPr>
          <p:cNvPr id="89098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9099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9128ED2-80BC-824D-A0B2-766B054A44A6}" type="slidenum">
              <a:rPr lang="en-US"/>
              <a:pPr/>
              <a:t>85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011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011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011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0118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sz="3600">
                <a:latin typeface="Arial" charset="0"/>
              </a:rPr>
              <a:t>Math: Increment and Decrement Operators on Pointers</a:t>
            </a:r>
          </a:p>
        </p:txBody>
      </p:sp>
      <p:sp>
        <p:nvSpPr>
          <p:cNvPr id="737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>
            <a:normAutofit lnSpcReduction="10000"/>
          </a:bodyPr>
          <a:lstStyle/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r>
              <a:rPr lang="en-US" sz="2400">
                <a:ea typeface="+mn-ea"/>
              </a:rPr>
              <a:t>Example 1:</a:t>
            </a: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40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 a[2];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 number1, number2, *p;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a[0]=1; a[1]=10; 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p=a;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number1 = *p++;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number2 = *p;</a:t>
            </a:r>
            <a:endParaRPr lang="en-US" sz="24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endParaRPr lang="en-US">
              <a:ea typeface="+mn-ea"/>
            </a:endParaRPr>
          </a:p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endParaRPr lang="en-US">
              <a:ea typeface="+mn-ea"/>
            </a:endParaRPr>
          </a:p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r>
              <a:rPr lang="en-US" sz="2400">
                <a:ea typeface="+mn-ea"/>
              </a:rPr>
              <a:t>What will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number1</a:t>
            </a:r>
            <a:r>
              <a:rPr lang="en-US" sz="2400">
                <a:ea typeface="+mn-ea"/>
              </a:rPr>
              <a:t> and </a:t>
            </a:r>
            <a:r>
              <a:rPr lang="en-US" sz="240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number2</a:t>
            </a:r>
            <a:r>
              <a:rPr lang="en-US" sz="2400">
                <a:ea typeface="+mn-ea"/>
              </a:rPr>
              <a:t> be at the end?</a:t>
            </a:r>
          </a:p>
        </p:txBody>
      </p:sp>
      <p:sp>
        <p:nvSpPr>
          <p:cNvPr id="90121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012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B9D0624-F707-9446-B061-87DC7BCA30F1}" type="slidenum">
              <a:rPr lang="en-US"/>
              <a:pPr/>
              <a:t>86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113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114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114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1142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 sz="3600">
                <a:latin typeface="Arial" charset="0"/>
              </a:rPr>
              <a:t>Math: Increment and Decrement Operators on Pointers</a:t>
            </a:r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 rIns="132080">
            <a:normAutofit lnSpcReduction="10000"/>
          </a:bodyPr>
          <a:lstStyle/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r>
              <a:rPr lang="en-US" sz="2400" dirty="0" smtClean="0">
                <a:ea typeface="+mn-ea"/>
              </a:rPr>
              <a:t>Example</a:t>
            </a:r>
            <a:endParaRPr lang="en-US" sz="2400" dirty="0">
              <a:ea typeface="+mn-ea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endParaRPr lang="en-US" sz="2400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 a[2];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 dirty="0" err="1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int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 number1, number2, *p;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a[0]=1; a[1]=10; 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p=a;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number1 = *p++;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number2 = *p;</a:t>
            </a:r>
            <a:endParaRPr lang="en-US" sz="2400" dirty="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endParaRPr lang="en-US" dirty="0">
              <a:ea typeface="+mn-ea"/>
            </a:endParaRPr>
          </a:p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endParaRPr lang="en-US" dirty="0">
              <a:ea typeface="+mn-ea"/>
            </a:endParaRPr>
          </a:p>
          <a:p>
            <a:pPr marL="477838" indent="-319088">
              <a:spcBef>
                <a:spcPct val="0"/>
              </a:spcBef>
              <a:buFont typeface="Wingdings 2" pitchFamily="18" charset="2"/>
              <a:buChar char="¡"/>
              <a:defRPr/>
            </a:pPr>
            <a:r>
              <a:rPr lang="en-US" sz="2400" dirty="0">
                <a:ea typeface="+mn-ea"/>
              </a:rPr>
              <a:t>What will 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number1</a:t>
            </a:r>
            <a:r>
              <a:rPr lang="en-US" sz="2400" dirty="0">
                <a:ea typeface="+mn-ea"/>
              </a:rPr>
              <a:t> and </a:t>
            </a:r>
            <a:r>
              <a:rPr lang="en-US" sz="2400" dirty="0">
                <a:solidFill>
                  <a:srgbClr val="0000FF"/>
                </a:solidFill>
                <a:latin typeface="Courier New Bold" charset="0"/>
                <a:ea typeface="+mn-ea"/>
                <a:cs typeface="Courier New Bold" charset="0"/>
                <a:sym typeface="Courier New Bold" charset="0"/>
              </a:rPr>
              <a:t>number2</a:t>
            </a:r>
            <a:r>
              <a:rPr lang="en-US" sz="2400" dirty="0">
                <a:ea typeface="+mn-ea"/>
              </a:rPr>
              <a:t> be at the end?</a:t>
            </a:r>
          </a:p>
        </p:txBody>
      </p:sp>
      <p:sp>
        <p:nvSpPr>
          <p:cNvPr id="91145" name="Rectangle 10"/>
          <p:cNvSpPr>
            <a:spLocks/>
          </p:cNvSpPr>
          <p:nvPr/>
        </p:nvSpPr>
        <p:spPr bwMode="auto">
          <a:xfrm>
            <a:off x="5029200" y="4078288"/>
            <a:ext cx="39751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>
                <a:latin typeface="Arial" charset="0"/>
                <a:cs typeface="Arial" charset="0"/>
                <a:sym typeface="Arial" charset="0"/>
              </a:rPr>
              <a:t>Hint: ++ increments pointer </a:t>
            </a:r>
            <a:r>
              <a:rPr lang="en-US">
                <a:solidFill>
                  <a:srgbClr val="0000FF"/>
                </a:solidFill>
                <a:latin typeface="Arial" charset="0"/>
                <a:cs typeface="Arial" charset="0"/>
                <a:sym typeface="Arial" charset="0"/>
              </a:rPr>
              <a:t>p 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not variable </a:t>
            </a:r>
            <a:r>
              <a:rPr lang="en-US">
                <a:solidFill>
                  <a:srgbClr val="0000FF"/>
                </a:solidFill>
                <a:latin typeface="Arial" charset="0"/>
                <a:cs typeface="Arial" charset="0"/>
                <a:sym typeface="Arial" charset="0"/>
              </a:rPr>
              <a:t>*p</a:t>
            </a:r>
            <a:r>
              <a:rPr lang="en-US">
                <a:latin typeface="Arial" charset="0"/>
                <a:cs typeface="Arial" charset="0"/>
                <a:sym typeface="Arial" charset="0"/>
              </a:rPr>
              <a:t> </a:t>
            </a:r>
          </a:p>
        </p:txBody>
      </p:sp>
      <p:sp>
        <p:nvSpPr>
          <p:cNvPr id="91146" name="Line 11"/>
          <p:cNvSpPr>
            <a:spLocks noChangeShapeType="1"/>
          </p:cNvSpPr>
          <p:nvPr/>
        </p:nvSpPr>
        <p:spPr bwMode="auto">
          <a:xfrm flipH="1">
            <a:off x="4038600" y="4230688"/>
            <a:ext cx="990600" cy="7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1147" name="Footer Placeholder 1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114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D713768-191F-B149-BE8D-333D34844D70}" type="slidenum">
              <a:rPr lang="en-US"/>
              <a:pPr/>
              <a:t>87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216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216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216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216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Logic: Relational (Condition) Operators</a:t>
            </a:r>
          </a:p>
        </p:txBody>
      </p:sp>
      <p:sp>
        <p:nvSpPr>
          <p:cNvPr id="92168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==</a:t>
            </a:r>
            <a:r>
              <a:rPr lang="en-US" sz="2800">
                <a:latin typeface="Arial" charset="0"/>
              </a:rPr>
              <a:t> 		equal to </a:t>
            </a: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!=</a:t>
            </a:r>
            <a:r>
              <a:rPr lang="en-US" sz="2800">
                <a:latin typeface="Arial" charset="0"/>
              </a:rPr>
              <a:t> 			not equal to </a:t>
            </a: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&gt;</a:t>
            </a:r>
            <a:r>
              <a:rPr lang="en-US" sz="2800">
                <a:latin typeface="Arial" charset="0"/>
              </a:rPr>
              <a:t> 			greater than </a:t>
            </a: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&lt;</a:t>
            </a:r>
            <a:r>
              <a:rPr lang="en-US" sz="2800">
                <a:latin typeface="Arial" charset="0"/>
              </a:rPr>
              <a:t> 			less than </a:t>
            </a: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&gt;=</a:t>
            </a:r>
            <a:r>
              <a:rPr lang="en-US" sz="2800">
                <a:latin typeface="Arial" charset="0"/>
              </a:rPr>
              <a:t> 		greater than or equal to </a:t>
            </a: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&lt;=</a:t>
            </a:r>
            <a:r>
              <a:rPr lang="en-US" sz="2800">
                <a:latin typeface="Arial" charset="0"/>
              </a:rPr>
              <a:t> 		less than or equal to </a:t>
            </a:r>
          </a:p>
        </p:txBody>
      </p:sp>
      <p:sp>
        <p:nvSpPr>
          <p:cNvPr id="92169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2170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D3B53B3-53C8-0846-B3B2-29368F46DAA5}" type="slidenum">
              <a:rPr lang="en-US"/>
              <a:pPr/>
              <a:t>88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318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318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318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3190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91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Logic Example</a:t>
            </a:r>
          </a:p>
        </p:txBody>
      </p:sp>
      <p:sp>
        <p:nvSpPr>
          <p:cNvPr id="93192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if (a == b)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Equal.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);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else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Not Equal.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);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endParaRPr lang="en-US" sz="2000">
              <a:latin typeface="Arial" charset="0"/>
            </a:endParaRPr>
          </a:p>
          <a:p>
            <a:r>
              <a:rPr lang="en-US" sz="2000">
                <a:latin typeface="Arial" charset="0"/>
              </a:rPr>
              <a:t>Question: what will happen if I replaced the above with:</a:t>
            </a: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if (a = b)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Equal.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);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else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000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>	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 (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“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Not Equal.</a:t>
            </a:r>
            <a:r>
              <a:rPr lang="ja-JP" alt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”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); </a:t>
            </a:r>
            <a:endParaRPr lang="en-US" sz="20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76810" name="Rectangle 10"/>
          <p:cNvSpPr>
            <a:spLocks/>
          </p:cNvSpPr>
          <p:nvPr/>
        </p:nvSpPr>
        <p:spPr bwMode="auto">
          <a:xfrm>
            <a:off x="4876800" y="4343400"/>
            <a:ext cx="3975100" cy="1600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/>
          <a:p>
            <a:pPr marL="39688"/>
            <a:r>
              <a:rPr lang="en-US" sz="2000">
                <a:latin typeface="Arial" charset="0"/>
                <a:cs typeface="Arial" charset="0"/>
                <a:sym typeface="Arial" charset="0"/>
              </a:rPr>
              <a:t>Perfectly LEGAL C statement! (syntactically speaking) </a:t>
            </a:r>
          </a:p>
          <a:p>
            <a:pPr marL="39688"/>
            <a:r>
              <a:rPr lang="en-US" sz="2000">
                <a:latin typeface="Arial" charset="0"/>
                <a:cs typeface="Arial" charset="0"/>
                <a:sym typeface="Arial" charset="0"/>
              </a:rPr>
              <a:t>It copies the value in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b</a:t>
            </a:r>
            <a:r>
              <a:rPr lang="en-US" sz="2000">
                <a:latin typeface="Arial" charset="0"/>
                <a:cs typeface="Arial" charset="0"/>
                <a:sym typeface="Arial" charset="0"/>
              </a:rPr>
              <a:t> into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a</a:t>
            </a:r>
            <a:r>
              <a:rPr lang="en-US" sz="2000">
                <a:latin typeface="Arial" charset="0"/>
                <a:cs typeface="Arial" charset="0"/>
                <a:sym typeface="Arial" charset="0"/>
              </a:rPr>
              <a:t>. The statement will be interpreted as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TRUE</a:t>
            </a:r>
            <a:r>
              <a:rPr lang="en-US" sz="2000">
                <a:latin typeface="Arial" charset="0"/>
                <a:cs typeface="Arial" charset="0"/>
                <a:sym typeface="Arial" charset="0"/>
              </a:rPr>
              <a:t> if </a:t>
            </a:r>
            <a:r>
              <a:rPr lang="en-US" sz="20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b</a:t>
            </a:r>
            <a:r>
              <a:rPr lang="en-US" sz="2000">
                <a:latin typeface="Arial" charset="0"/>
                <a:cs typeface="Arial" charset="0"/>
                <a:sym typeface="Arial" charset="0"/>
              </a:rPr>
              <a:t> is non-zero. </a:t>
            </a:r>
          </a:p>
        </p:txBody>
      </p:sp>
      <p:sp>
        <p:nvSpPr>
          <p:cNvPr id="93194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3195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3CCEA64-4A59-A54A-B1B8-7565FD89B11F}" type="slidenum">
              <a:rPr lang="en-US"/>
              <a:pPr/>
              <a:t>89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10" grpId="0" animBg="1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0" name="Group 1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0"/>
            <a:chExt cx="5472" cy="1584"/>
          </a:xfrm>
        </p:grpSpPr>
        <p:sp>
          <p:nvSpPr>
            <p:cNvPr id="94215" name="Oval 2"/>
            <p:cNvSpPr>
              <a:spLocks/>
            </p:cNvSpPr>
            <p:nvPr/>
          </p:nvSpPr>
          <p:spPr bwMode="auto">
            <a:xfrm>
              <a:off x="144" y="0"/>
              <a:ext cx="1584" cy="1584"/>
            </a:xfrm>
            <a:prstGeom prst="ellipse">
              <a:avLst/>
            </a:prstGeom>
            <a:noFill/>
            <a:ln w="12700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4216" name="Rectangle 3"/>
            <p:cNvSpPr>
              <a:spLocks/>
            </p:cNvSpPr>
            <p:nvPr/>
          </p:nvSpPr>
          <p:spPr bwMode="auto">
            <a:xfrm>
              <a:off x="0" y="480"/>
              <a:ext cx="2976" cy="720"/>
            </a:xfrm>
            <a:prstGeom prst="rect">
              <a:avLst/>
            </a:prstGeom>
            <a:solidFill>
              <a:srgbClr val="CC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4217" name="Rectangle 4"/>
            <p:cNvSpPr>
              <a:spLocks/>
            </p:cNvSpPr>
            <p:nvPr/>
          </p:nvSpPr>
          <p:spPr bwMode="auto">
            <a:xfrm>
              <a:off x="2496" y="480"/>
              <a:ext cx="2976" cy="720"/>
            </a:xfrm>
            <a:prstGeom prst="rect">
              <a:avLst/>
            </a:prstGeom>
            <a:gradFill rotWithShape="0">
              <a:gsLst>
                <a:gs pos="0">
                  <a:srgbClr val="CCCC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4218" name="Freeform 5"/>
            <p:cNvSpPr>
              <a:spLocks/>
            </p:cNvSpPr>
            <p:nvPr/>
          </p:nvSpPr>
          <p:spPr bwMode="auto">
            <a:xfrm>
              <a:off x="384" y="384"/>
              <a:ext cx="144" cy="9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</a:path>
              </a:pathLst>
            </a:custGeom>
            <a:noFill/>
            <a:ln w="762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4219" name="Freeform 6"/>
            <p:cNvSpPr>
              <a:spLocks/>
            </p:cNvSpPr>
            <p:nvPr/>
          </p:nvSpPr>
          <p:spPr bwMode="auto">
            <a:xfrm>
              <a:off x="4944" y="186"/>
              <a:ext cx="165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216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noFill/>
            <a:ln w="76200">
              <a:solidFill>
                <a:srgbClr val="CC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94211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endParaRPr lang="en-US">
              <a:latin typeface="Arial" charset="0"/>
            </a:endParaRPr>
          </a:p>
        </p:txBody>
      </p:sp>
      <p:sp>
        <p:nvSpPr>
          <p:cNvPr id="94212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Review</a:t>
            </a:r>
          </a:p>
        </p:txBody>
      </p:sp>
      <p:sp>
        <p:nvSpPr>
          <p:cNvPr id="9421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4214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01A4E18-8AFB-3D4B-BE7E-459BBBDFD395}" type="slidenum">
              <a:rPr lang="en-US"/>
              <a:pPr/>
              <a:t>90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523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523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523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5238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</a:t>
            </a:r>
          </a:p>
        </p:txBody>
      </p:sp>
      <p:sp>
        <p:nvSpPr>
          <p:cNvPr id="95240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p1; </a:t>
            </a:r>
            <a:r>
              <a:rPr lang="en-US">
                <a:latin typeface="Arial" charset="0"/>
              </a:rPr>
              <a:t/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What does 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&amp;p1 </a:t>
            </a:r>
            <a:r>
              <a:rPr lang="en-US">
                <a:latin typeface="Arial" charset="0"/>
              </a:rPr>
              <a:t>mean?</a:t>
            </a:r>
          </a:p>
        </p:txBody>
      </p:sp>
      <p:sp>
        <p:nvSpPr>
          <p:cNvPr id="95241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F244526-D3D6-5844-B76C-E8590A470140}" type="slidenum">
              <a:rPr lang="en-US"/>
              <a:pPr/>
              <a:t>91</a:t>
            </a:fld>
            <a:endParaRPr lang="en-US"/>
          </a:p>
        </p:txBody>
      </p:sp>
      <p:sp>
        <p:nvSpPr>
          <p:cNvPr id="95242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625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626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626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6262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6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</a:t>
            </a:r>
          </a:p>
        </p:txBody>
      </p:sp>
      <p:sp>
        <p:nvSpPr>
          <p:cNvPr id="96264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800">
                <a:latin typeface="Arial" charset="0"/>
              </a:rPr>
              <a:t>How much is 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</a:t>
            </a:r>
            <a:r>
              <a:rPr lang="en-US" sz="2800">
                <a:latin typeface="Arial" charset="0"/>
              </a:rPr>
              <a:t> at the end?</a:t>
            </a:r>
          </a:p>
          <a:p>
            <a:endParaRPr lang="en-US" sz="2800">
              <a:latin typeface="Arial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y, x, *p;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 = 20;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 = 10; 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 = x + *p;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96265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2B5A4AA-E8BA-514D-A375-3AF0855ED7A1}" type="slidenum">
              <a:rPr lang="en-US"/>
              <a:pPr/>
              <a:t>92</a:t>
            </a:fld>
            <a:endParaRPr lang="en-US"/>
          </a:p>
        </p:txBody>
      </p:sp>
      <p:sp>
        <p:nvSpPr>
          <p:cNvPr id="96266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728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728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728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728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</a:t>
            </a:r>
          </a:p>
        </p:txBody>
      </p:sp>
      <p:sp>
        <p:nvSpPr>
          <p:cNvPr id="97288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 sz="2800">
                <a:latin typeface="Arial" charset="0"/>
              </a:rPr>
              <a:t>How much is </a:t>
            </a: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</a:t>
            </a:r>
            <a:r>
              <a:rPr lang="en-US" sz="2800">
                <a:latin typeface="Arial" charset="0"/>
              </a:rPr>
              <a:t> at the end?</a:t>
            </a:r>
          </a:p>
          <a:p>
            <a:endParaRPr lang="en-US" sz="2800">
              <a:latin typeface="Arial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y, x, *p;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 = 20;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*p = 10; 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 sz="2800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 = x + *p;</a:t>
            </a:r>
            <a:endParaRPr lang="en-US" sz="2800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97289" name="Line 10"/>
          <p:cNvSpPr>
            <a:spLocks noChangeShapeType="1"/>
          </p:cNvSpPr>
          <p:nvPr/>
        </p:nvSpPr>
        <p:spPr bwMode="auto">
          <a:xfrm flipH="1">
            <a:off x="2921000" y="3886200"/>
            <a:ext cx="1422400" cy="711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0907" name="Rectangle 11"/>
          <p:cNvSpPr>
            <a:spLocks/>
          </p:cNvSpPr>
          <p:nvPr/>
        </p:nvSpPr>
        <p:spPr bwMode="auto">
          <a:xfrm>
            <a:off x="4343400" y="3613150"/>
            <a:ext cx="4813300" cy="2578100"/>
          </a:xfrm>
          <a:prstGeom prst="rect">
            <a:avLst/>
          </a:prstGeom>
          <a:noFill/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40639" bIns="0"/>
          <a:lstStyle/>
          <a:p>
            <a:pPr marL="39688">
              <a:defRPr/>
            </a:pPr>
            <a:r>
              <a:rPr lang="en-US" sz="2400" dirty="0">
                <a:latin typeface="+mn-lt"/>
                <a:ea typeface="+mn-ea"/>
                <a:cs typeface="Arial Bold" charset="0"/>
                <a:sym typeface="Arial Bold" charset="0"/>
              </a:rPr>
              <a:t>BAD!! </a:t>
            </a:r>
          </a:p>
          <a:p>
            <a:pPr marL="39688">
              <a:defRPr/>
            </a:pPr>
            <a:r>
              <a:rPr lang="en-US" sz="2400" dirty="0">
                <a:latin typeface="+mn-lt"/>
                <a:ea typeface="+mn-ea"/>
                <a:cs typeface="Arial Bold" charset="0"/>
                <a:sym typeface="Arial Bold" charset="0"/>
              </a:rPr>
              <a:t>Dereferencing an uninitialized pointer will likely </a:t>
            </a:r>
            <a:r>
              <a:rPr lang="en-US" sz="2400" dirty="0" err="1">
                <a:latin typeface="+mn-lt"/>
                <a:ea typeface="+mn-ea"/>
                <a:cs typeface="Arial Bold" charset="0"/>
                <a:sym typeface="Arial Bold" charset="0"/>
              </a:rPr>
              <a:t>segfault</a:t>
            </a:r>
            <a:r>
              <a:rPr lang="en-US" sz="2400" dirty="0">
                <a:latin typeface="+mn-lt"/>
                <a:ea typeface="+mn-ea"/>
                <a:cs typeface="Arial Bold" charset="0"/>
                <a:sym typeface="Arial Bold" charset="0"/>
              </a:rPr>
              <a:t> or overwrite something!</a:t>
            </a:r>
          </a:p>
          <a:p>
            <a:pPr marL="39688">
              <a:defRPr/>
            </a:pPr>
            <a:endParaRPr lang="en-US" sz="2400" dirty="0">
              <a:latin typeface="+mn-lt"/>
              <a:ea typeface="+mn-ea"/>
              <a:cs typeface="Arial Bold" charset="0"/>
              <a:sym typeface="Arial Bold" charset="0"/>
            </a:endParaRPr>
          </a:p>
          <a:p>
            <a:pPr marL="39688">
              <a:defRPr/>
            </a:pPr>
            <a:r>
              <a:rPr lang="en-US" sz="2400" dirty="0" err="1">
                <a:latin typeface="+mn-lt"/>
                <a:ea typeface="+mn-ea"/>
                <a:cs typeface="Arial Bold" charset="0"/>
                <a:sym typeface="Arial Bold" charset="0"/>
              </a:rPr>
              <a:t>Segfault</a:t>
            </a:r>
            <a:r>
              <a:rPr lang="en-US" sz="2400" dirty="0">
                <a:latin typeface="+mn-lt"/>
                <a:ea typeface="+mn-ea"/>
                <a:cs typeface="Arial Bold" charset="0"/>
                <a:sym typeface="Arial Bold" charset="0"/>
              </a:rPr>
              <a:t> = unauthorized memory access</a:t>
            </a:r>
          </a:p>
        </p:txBody>
      </p:sp>
      <p:sp>
        <p:nvSpPr>
          <p:cNvPr id="97291" name="Footer Placeholder 1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729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ABE0049-B17F-664D-90CE-5BE7B312AEF4}" type="slidenum">
              <a:rPr lang="en-US"/>
              <a:pPr/>
              <a:t>93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830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830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830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8310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11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</a:t>
            </a:r>
          </a:p>
        </p:txBody>
      </p:sp>
      <p:sp>
        <p:nvSpPr>
          <p:cNvPr id="98312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What are the differences between 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x </a:t>
            </a:r>
            <a:r>
              <a:rPr lang="en-US">
                <a:latin typeface="Arial" charset="0"/>
              </a:rPr>
              <a:t>and </a:t>
            </a: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y?</a:t>
            </a:r>
            <a:r>
              <a:rPr lang="en-US">
                <a:latin typeface="Arial" charset="0"/>
              </a:rPr>
              <a:t/>
            </a:r>
            <a:br>
              <a:rPr lang="en-US">
                <a:latin typeface="Arial" charset="0"/>
              </a:rPr>
            </a:b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char* f() { </a:t>
            </a:r>
            <a: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char *x;</a:t>
            </a:r>
            <a: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static char*y;</a:t>
            </a:r>
            <a: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  return y;</a:t>
            </a:r>
            <a: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98313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8314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B9EF8E0-2208-744B-A92C-B8EF8E86B0B4}" type="slidenum">
              <a:rPr lang="en-US"/>
              <a:pPr/>
              <a:t>94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9331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9332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9333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99334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5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Review: Debugging</a:t>
            </a:r>
          </a:p>
        </p:txBody>
      </p:sp>
      <p:sp>
        <p:nvSpPr>
          <p:cNvPr id="99336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if(strcmp("a","a"))</a:t>
            </a:r>
            <a: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printf("same!");</a:t>
            </a:r>
            <a: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  <a:t/>
            </a:r>
            <a:br>
              <a:rPr lang="en-US">
                <a:solidFill>
                  <a:srgbClr val="0000FF"/>
                </a:solidFill>
                <a:latin typeface="Courier New Bold" charset="0"/>
                <a:ea typeface="ヒラギノ角ゴ ProN W6" charset="0"/>
                <a:cs typeface="ヒラギノ角ゴ ProN W6" charset="0"/>
                <a:sym typeface="Courier New Bold" charset="0"/>
              </a:rPr>
            </a:b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99337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9338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26EE6A9-6C68-7F42-82AC-7499C5D0C386}" type="slidenum">
              <a:rPr lang="en-US"/>
              <a:pPr/>
              <a:t>95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0355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0356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0357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00358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9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Review: Debugging</a:t>
            </a:r>
          </a:p>
        </p:txBody>
      </p:sp>
      <p:sp>
        <p:nvSpPr>
          <p:cNvPr id="100360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i = 4;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int *iptr;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iptr = &amp;i;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*iptr = 5;//now i=5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100361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00362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97040F4-2621-D649-856F-96DD1548D36A}" type="slidenum">
              <a:rPr lang="en-US"/>
              <a:pPr/>
              <a:t>96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1379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1380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1381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01382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3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Review: Debugging</a:t>
            </a:r>
          </a:p>
        </p:txBody>
      </p:sp>
      <p:sp>
        <p:nvSpPr>
          <p:cNvPr id="101384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*p;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p=(char*)malloc(99);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strcpy("Hello",p);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printf("%s World",p);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free(p);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101385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01386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9441089-EF26-E243-A6C2-6DFB23D0C4F3}" type="slidenum">
              <a:rPr lang="en-US"/>
              <a:pPr/>
              <a:t>97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403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404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2405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0240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7" name="Rectangle 6"/>
          <p:cNvSpPr>
            <a:spLocks noChangeArrowheads="1"/>
          </p:cNvSpPr>
          <p:nvPr>
            <p:ph type="title"/>
          </p:nvPr>
        </p:nvSpPr>
        <p:spPr/>
        <p:txBody>
          <a:bodyPr rIns="132080"/>
          <a:lstStyle/>
          <a:p>
            <a:r>
              <a:rPr lang="en-US">
                <a:latin typeface="Arial" charset="0"/>
              </a:rPr>
              <a:t>Review: Debugging</a:t>
            </a:r>
          </a:p>
        </p:txBody>
      </p:sp>
      <p:sp>
        <p:nvSpPr>
          <p:cNvPr id="102408" name="Rectangle 7"/>
          <p:cNvSpPr>
            <a:spLocks noChangeArrowheads="1"/>
          </p:cNvSpPr>
          <p:nvPr>
            <p:ph type="body" idx="1"/>
          </p:nvPr>
        </p:nvSpPr>
        <p:spPr/>
        <p:txBody>
          <a:bodyPr rIns="132080"/>
          <a:lstStyle/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char msg[5];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>
              <a:buFont typeface="Wingdings" charset="0"/>
              <a:buNone/>
            </a:pPr>
            <a:r>
              <a:rPr lang="en-US">
                <a:solidFill>
                  <a:srgbClr val="0000FF"/>
                </a:solidFill>
                <a:latin typeface="Courier New Bold" charset="0"/>
                <a:cs typeface="Courier New Bold" charset="0"/>
                <a:sym typeface="Courier New Bold" charset="0"/>
              </a:rPr>
              <a:t>strcpy (msg,"Hello");</a:t>
            </a:r>
            <a:endParaRPr lang="en-US">
              <a:solidFill>
                <a:srgbClr val="0000FF"/>
              </a:solidFill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102409" name="Footer Placeholder 11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02410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E1A54E8-BEDA-084C-AF68-A928AE4081BC}" type="slidenum">
              <a:rPr lang="en-US"/>
              <a:pPr/>
              <a:t>98</a:t>
            </a:fld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"/>
          <p:cNvSpPr>
            <a:spLocks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rgbClr val="CC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3427" name="Rectangle 2"/>
          <p:cNvSpPr>
            <a:spLocks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rgbClr val="CCCC99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3428" name="Freeform 3"/>
          <p:cNvSpPr>
            <a:spLocks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2147483647 h 21600"/>
              <a:gd name="T4" fmla="*/ 0 w 21600"/>
              <a:gd name="T5" fmla="*/ 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762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3429" name="Freeform 4"/>
          <p:cNvSpPr>
            <a:spLocks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7620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3430" name="Rectangle 6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aphicFrame>
        <p:nvGraphicFramePr>
          <p:cNvPr id="87048" name="Group 8"/>
          <p:cNvGraphicFramePr>
            <a:graphicFrameLocks noGrp="1"/>
          </p:cNvGraphicFramePr>
          <p:nvPr/>
        </p:nvGraphicFramePr>
        <p:xfrm>
          <a:off x="457200" y="76200"/>
          <a:ext cx="8229600" cy="6681471"/>
        </p:xfrm>
        <a:graphic>
          <a:graphicData uri="http://schemas.openxmlformats.org/drawingml/2006/table">
            <a:tbl>
              <a:tblPr/>
              <a:tblGrid>
                <a:gridCol w="1731963"/>
                <a:gridCol w="5270500"/>
                <a:gridCol w="1227137"/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old" charset="0"/>
                          <a:ea typeface="ＭＳ Ｐゴシック" charset="0"/>
                          <a:cs typeface="Arial Bold" charset="0"/>
                          <a:sym typeface="Arial Bold" charset="0"/>
                        </a:rPr>
                        <a:t>Operator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old" charset="0"/>
                          <a:ea typeface="ＭＳ Ｐゴシック" charset="0"/>
                          <a:cs typeface="Arial Bold" charset="0"/>
                          <a:sym typeface="Arial Bold" charset="0"/>
                        </a:rPr>
                        <a:t>Description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old" charset="0"/>
                          <a:ea typeface="ＭＳ Ｐゴシック" charset="0"/>
                          <a:cs typeface="Arial Bold" charset="0"/>
                          <a:sym typeface="Arial Bold" charset="0"/>
                        </a:rPr>
                        <a:t>Associativity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8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()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[]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.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-&gt;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++  --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Parentheses (function call) 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Brackets (array subscript)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Member selection via object name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Member selection via pointer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Postfix increment/decrement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1296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++  --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+  -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!  ~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(type)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*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&amp;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sizeof  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Prefix increment/decrement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Unary plus/minus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Logical negation/bitwise complement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Cast (change type)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Dereference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Address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Determine size in bytes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right-to-left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*  /  %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Multiplication/division/modulus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+  -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Addition/subtraction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&lt;&lt;  &gt;&gt;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Bitwise shift left, Bitwise shift right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430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&lt;  &lt;=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&gt;  &gt;=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Relational less than/less than or equal to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Relational greater than/greater than or equal to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==  !=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Relational is equal to/is not equal to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&amp;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Bitwise AND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^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Bitwise exclusive OR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|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Bitwise inclusive OR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&amp;&amp;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Logical AND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||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Logical OR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?: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Ternary conditional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right-to-left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  <a:tr h="1150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=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+=  -=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*=  /=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%=  &amp;=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^=  |=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&lt;&lt;=  &gt;&gt;=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Assignment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Addition/subtraction assignment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Multiplication/division assignment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Modulus/bitwise AND assignment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Bitwise exclusive/inclusive OR assignment</a:t>
                      </a:r>
                      <a:b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</a:b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Bitwise shift left/right assignment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right-to-left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,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Comma (separate expressions)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9900"/>
                        </a:buClr>
                        <a:buSzPct val="69000"/>
                        <a:buFont typeface="Wingdings" charset="0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ヒラギノ角ゴ ProN W3" charset="0"/>
                          <a:cs typeface="ヒラギノ角ゴ ProN W3" charset="0"/>
                          <a:sym typeface="Arial" charset="0"/>
                        </a:rPr>
                        <a:t>left-to-right</a:t>
                      </a:r>
                    </a:p>
                  </a:txBody>
                  <a:tcPr marL="25400" marR="25400" marT="25400" marB="25400" horzOverflow="overflow">
                    <a:lnL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92929">
                        <a:alpha val="19608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4304</TotalTime>
  <Words>6056</Words>
  <Application>Microsoft Macintosh PowerPoint</Application>
  <PresentationFormat>On-screen Show (4:3)</PresentationFormat>
  <Paragraphs>1420</Paragraphs>
  <Slides>99</Slides>
  <Notes>38</Notes>
  <HiddenSlides>11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14" baseType="lpstr">
      <vt:lpstr>Tahoma</vt:lpstr>
      <vt:lpstr>Arial</vt:lpstr>
      <vt:lpstr>Wingdings</vt:lpstr>
      <vt:lpstr>Times New Roman</vt:lpstr>
      <vt:lpstr>Times New Roman Bold Italic</vt:lpstr>
      <vt:lpstr>Courier New</vt:lpstr>
      <vt:lpstr>Courier New Bold</vt:lpstr>
      <vt:lpstr>ヒラギノ角ゴ ProN W6</vt:lpstr>
      <vt:lpstr>Arial Bold</vt:lpstr>
      <vt:lpstr>Arial Italic</vt:lpstr>
      <vt:lpstr>Marker Felt</vt:lpstr>
      <vt:lpstr>Tahoma Bold</vt:lpstr>
      <vt:lpstr>Wingdings 2</vt:lpstr>
      <vt:lpstr>ヒラギノ角ゴ ProN W3</vt:lpstr>
      <vt:lpstr>Theme1</vt:lpstr>
      <vt:lpstr>C  Survival Guide</vt:lpstr>
      <vt:lpstr>Announcements</vt:lpstr>
      <vt:lpstr>Good news: Writing C code is easy! </vt:lpstr>
      <vt:lpstr>Bad news: Writing BAD C code is easy! </vt:lpstr>
      <vt:lpstr>Bad news: Writing BAD C code is easy! </vt:lpstr>
      <vt:lpstr>How do I write good C programs?</vt:lpstr>
      <vt:lpstr>Why C instead of Java?</vt:lpstr>
      <vt:lpstr>C vs. Java: Design Goals</vt:lpstr>
      <vt:lpstr>C vs. Java: Design Goals</vt:lpstr>
      <vt:lpstr>C vs. C++</vt:lpstr>
      <vt:lpstr>A Few Differences between C and C++</vt:lpstr>
      <vt:lpstr>Compiler</vt:lpstr>
      <vt:lpstr>Programming in C</vt:lpstr>
      <vt:lpstr>Programming in C</vt:lpstr>
      <vt:lpstr>What we’ll show you</vt:lpstr>
      <vt:lpstr>Instant C in 3 slides: Pointers</vt:lpstr>
      <vt:lpstr>Instant C in 3 slides: Pointers</vt:lpstr>
      <vt:lpstr>Instant C in 3 slides: Pointers</vt:lpstr>
      <vt:lpstr>Instant C in 3 slides: Pointers</vt:lpstr>
      <vt:lpstr>Instant C in 3 slides: Pointers</vt:lpstr>
      <vt:lpstr>Instant C #2:  Strings</vt:lpstr>
      <vt:lpstr>Instant C #3: Dynamic Memory Allocation</vt:lpstr>
      <vt:lpstr>Common Causes of 'Death'</vt:lpstr>
      <vt:lpstr>Pointers</vt:lpstr>
      <vt:lpstr>Variables</vt:lpstr>
      <vt:lpstr>The “&amp;” Operator: Reads “Address of”</vt:lpstr>
      <vt:lpstr>Pointers</vt:lpstr>
      <vt:lpstr>*p = “Variable p points to”</vt:lpstr>
      <vt:lpstr>What is the Output?</vt:lpstr>
      <vt:lpstr>What is the Output?</vt:lpstr>
      <vt:lpstr>What is the Output?</vt:lpstr>
      <vt:lpstr>What is the Output?</vt:lpstr>
      <vt:lpstr>What is the Output?</vt:lpstr>
      <vt:lpstr>What is the Output?</vt:lpstr>
      <vt:lpstr>Cardinal Rule: Must Initialize Pointers before Using them</vt:lpstr>
      <vt:lpstr>Cardinal Rule: Must Initialize Pointers before Using them</vt:lpstr>
      <vt:lpstr>Cardinal Rule: Must Initialize Pointers before Using them</vt:lpstr>
      <vt:lpstr>How to initialize pointers</vt:lpstr>
      <vt:lpstr>Memory allocation</vt:lpstr>
      <vt:lpstr>Memory allocation</vt:lpstr>
      <vt:lpstr>Allocating and deallocating heap memory</vt:lpstr>
      <vt:lpstr>Option #1: Garbage Collection</vt:lpstr>
      <vt:lpstr>Challenges of Garbage Collection</vt:lpstr>
      <vt:lpstr>Option #2: Manual Deallocation</vt:lpstr>
      <vt:lpstr>Manual deallocation can lead to bugs</vt:lpstr>
      <vt:lpstr>Manual deallocation can lead to bugs</vt:lpstr>
      <vt:lpstr>Manual deallocation can lead to bugs</vt:lpstr>
      <vt:lpstr>Heap memory allocation</vt:lpstr>
      <vt:lpstr>Example</vt:lpstr>
      <vt:lpstr>I’m hungry.  More bytes plz.</vt:lpstr>
      <vt:lpstr>Arrays</vt:lpstr>
      <vt:lpstr>Arrays</vt:lpstr>
      <vt:lpstr>Example</vt:lpstr>
      <vt:lpstr>Array Name as Pointer</vt:lpstr>
      <vt:lpstr>Array Name as Pointer</vt:lpstr>
      <vt:lpstr>Questions</vt:lpstr>
      <vt:lpstr>Questions</vt:lpstr>
      <vt:lpstr>Questions</vt:lpstr>
      <vt:lpstr>Questions</vt:lpstr>
      <vt:lpstr>Questions</vt:lpstr>
      <vt:lpstr>Strings</vt:lpstr>
      <vt:lpstr>Strings  (Null-terminated Arrays of Char)</vt:lpstr>
      <vt:lpstr>Conventions</vt:lpstr>
      <vt:lpstr>String Operations</vt:lpstr>
      <vt:lpstr>strcpy, strlen</vt:lpstr>
      <vt:lpstr>strcpy, strlen</vt:lpstr>
      <vt:lpstr>strncpy</vt:lpstr>
      <vt:lpstr>strncpy</vt:lpstr>
      <vt:lpstr>strcat</vt:lpstr>
      <vt:lpstr>strcat</vt:lpstr>
      <vt:lpstr>strcat Example</vt:lpstr>
      <vt:lpstr>strcat Example</vt:lpstr>
      <vt:lpstr>strcat</vt:lpstr>
      <vt:lpstr>strcmp</vt:lpstr>
      <vt:lpstr>Can we make this work?!</vt:lpstr>
      <vt:lpstr>Can we make this work?!</vt:lpstr>
      <vt:lpstr>Can we make this work?!</vt:lpstr>
      <vt:lpstr>Can we make this work?!</vt:lpstr>
      <vt:lpstr>Can we make this work?!</vt:lpstr>
      <vt:lpstr>Can we make this work?!</vt:lpstr>
      <vt:lpstr>Can we make this work?!</vt:lpstr>
      <vt:lpstr>Other operations</vt:lpstr>
      <vt:lpstr>Increment &amp; decrement</vt:lpstr>
      <vt:lpstr>Math: Increment and Decrement Operators</vt:lpstr>
      <vt:lpstr>Math: Increment and Decrement Operators</vt:lpstr>
      <vt:lpstr>Math: Increment and Decrement Operators on Pointers</vt:lpstr>
      <vt:lpstr>Math: Increment and Decrement Operators on Pointers</vt:lpstr>
      <vt:lpstr>Logic: Relational (Condition) Operators</vt:lpstr>
      <vt:lpstr>Logic Example</vt:lpstr>
      <vt:lpstr>Review</vt:lpstr>
      <vt:lpstr>Review</vt:lpstr>
      <vt:lpstr>Review</vt:lpstr>
      <vt:lpstr>Review</vt:lpstr>
      <vt:lpstr>Review</vt:lpstr>
      <vt:lpstr>Review: Debugging</vt:lpstr>
      <vt:lpstr>Review: Debugging</vt:lpstr>
      <vt:lpstr>Review: Debugging</vt:lpstr>
      <vt:lpstr>Review: Debugging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rhk</dc:creator>
  <cp:lastModifiedBy>Philip Godfrey</cp:lastModifiedBy>
  <cp:revision>181</cp:revision>
  <cp:lastPrinted>2012-01-20T14:08:03Z</cp:lastPrinted>
  <dcterms:created xsi:type="dcterms:W3CDTF">2009-04-22T19:24:48Z</dcterms:created>
  <dcterms:modified xsi:type="dcterms:W3CDTF">2012-01-21T00:55:50Z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