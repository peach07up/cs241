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25"/>
  </p:notesMasterIdLst>
  <p:sldIdLst>
    <p:sldId id="257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312" r:id="rId14"/>
    <p:sldId id="298" r:id="rId15"/>
    <p:sldId id="299" r:id="rId16"/>
    <p:sldId id="300" r:id="rId17"/>
    <p:sldId id="301" r:id="rId18"/>
    <p:sldId id="307" r:id="rId19"/>
    <p:sldId id="308" r:id="rId20"/>
    <p:sldId id="313" r:id="rId21"/>
    <p:sldId id="309" r:id="rId22"/>
    <p:sldId id="310" r:id="rId23"/>
    <p:sldId id="31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85810"/>
    <a:srgbClr val="EF5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96" autoAdjust="0"/>
    <p:restoredTop sz="86486" autoAdjust="0"/>
  </p:normalViewPr>
  <p:slideViewPr>
    <p:cSldViewPr snapToGrid="0" snapToObjects="1">
      <p:cViewPr varScale="1">
        <p:scale>
          <a:sx n="73" d="100"/>
          <a:sy n="73" d="100"/>
        </p:scale>
        <p:origin x="-1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52CE7-4774-CA43-9A9C-CC2060843298}" type="datetimeFigureOut">
              <a:rPr lang="en-US" smtClean="0"/>
              <a:t>4/30/14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A69CB-4233-3440-95E2-D1EA89432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64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EDE5D-08B0-FD4C-810C-A4470B8AF5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sz="1900">
                <a:ea typeface="ＭＳ Ｐゴシック" charset="0"/>
              </a:rPr>
              <a:t>Wait until ready bit is clear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02756" indent="-270291" defTabSz="914485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081164" indent="-216233" defTabSz="914485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513629" indent="-216233" defTabSz="914485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946095" indent="-216233" defTabSz="914485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3CF04CE-AF29-DC44-9C5D-A7EB2884FA02}" type="slidenum">
              <a:rPr lang="en-US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Removed driver responsibility: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* Maintain the integrity of driver and kernel data structures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A69CB-4233-3440-95E2-D1EA894328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04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F5E27-EABC-DA4F-8864-2F3D87A76B5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97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F5E27-EABC-DA4F-8864-2F3D87A76B5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05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Also use this as a</a:t>
            </a:r>
            <a:r>
              <a:rPr lang="en-US" baseline="0" dirty="0" smtClean="0"/>
              <a:t> little review: Why does the program have a memory error when the buffer size is large?</a:t>
            </a:r>
          </a:p>
          <a:p>
            <a:endParaRPr lang="en-US" baseline="0" dirty="0" smtClean="0"/>
          </a:p>
          <a:p>
            <a:r>
              <a:rPr lang="en-US" baseline="0" dirty="0" smtClean="0"/>
              <a:t>(A: the buffer is allocated on the stack, not the heap via </a:t>
            </a:r>
            <a:r>
              <a:rPr lang="en-US" baseline="0" dirty="0" err="1" smtClean="0"/>
              <a:t>malloc</a:t>
            </a:r>
            <a:r>
              <a:rPr lang="en-US" baseline="0" dirty="0" smtClean="0"/>
              <a:t>().  Limited space on the stack. Switch to </a:t>
            </a:r>
            <a:r>
              <a:rPr lang="en-US" baseline="0" dirty="0" err="1" smtClean="0"/>
              <a:t>malloc</a:t>
            </a:r>
            <a:r>
              <a:rPr lang="en-US" baseline="0" dirty="0" smtClean="0"/>
              <a:t> and problem goes away.)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F5E27-EABC-DA4F-8864-2F3D87A76B5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48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Museo 500"/>
                <a:cs typeface="Museo 50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latin typeface="Gill Sans MT"/>
                <a:cs typeface="Gill Sans M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382000" cy="1362075"/>
          </a:xfrm>
        </p:spPr>
        <p:txBody>
          <a:bodyPr anchor="t"/>
          <a:lstStyle>
            <a:lvl1pPr algn="ctr">
              <a:defRPr sz="4000" b="1" cap="none">
                <a:solidFill>
                  <a:srgbClr val="EE6E12"/>
                </a:solidFill>
                <a:latin typeface="Museo 500"/>
                <a:cs typeface="Museo 50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1" y="371182"/>
            <a:ext cx="83889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74091" y="1524000"/>
            <a:ext cx="8388909" cy="49530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1" y="371182"/>
            <a:ext cx="83889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6150" y="64770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5600" y="6477000"/>
            <a:ext cx="38100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University of Illinois CS 241 Staff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FCE2DEA-8E42-4943-B253-1C8D96BF19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0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838891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8830843" y="6611779"/>
            <a:ext cx="3424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pitchFamily="-96" charset="-128"/>
                <a:cs typeface="Gill Sans MT"/>
              </a:rPr>
              <a:pPr/>
              <a:t>‹#›</a:t>
            </a:fld>
            <a:endParaRPr lang="en-US" dirty="0">
              <a:latin typeface="Gill Sans MT"/>
              <a:cs typeface="Gill Sans M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74090" y="1524000"/>
            <a:ext cx="838891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Text</a:t>
            </a:r>
          </a:p>
          <a:p>
            <a:pPr lvl="1"/>
            <a:r>
              <a:rPr lang="en-US" dirty="0" smtClean="0"/>
              <a:t>More text</a:t>
            </a:r>
          </a:p>
          <a:p>
            <a:pPr lvl="2"/>
            <a:r>
              <a:rPr lang="en-US" dirty="0" smtClean="0"/>
              <a:t>Still more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marL="0" indent="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EE6E12"/>
          </a:solidFill>
          <a:latin typeface="Museo 500"/>
          <a:ea typeface="+mj-ea"/>
          <a:cs typeface="Museo 500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0" indent="0" algn="l" rtl="0" eaLnBrk="1" fontAlgn="base" hangingPunct="1">
        <a:spcBef>
          <a:spcPts val="1800"/>
        </a:spcBef>
        <a:spcAft>
          <a:spcPct val="0"/>
        </a:spcAft>
        <a:buClr>
          <a:schemeClr val="bg1"/>
        </a:buClr>
        <a:buSzPct val="25000"/>
        <a:buFont typeface="Arial"/>
        <a:buNone/>
        <a:defRPr sz="2500" b="0">
          <a:solidFill>
            <a:schemeClr val="tx1"/>
          </a:solidFill>
          <a:latin typeface="Gill Sans MT"/>
          <a:ea typeface="+mn-ea"/>
          <a:cs typeface="Gill Sans MT"/>
        </a:defRPr>
      </a:lvl1pPr>
      <a:lvl2pPr marL="715963" indent="-273050" algn="l" rtl="0" eaLnBrk="1" fontAlgn="base" hangingPunct="1">
        <a:spcBef>
          <a:spcPts val="480"/>
        </a:spcBef>
        <a:spcAft>
          <a:spcPct val="0"/>
        </a:spcAft>
        <a:buClrTx/>
        <a:buSzPct val="110000"/>
        <a:buFont typeface="Arial"/>
        <a:buChar char="•"/>
        <a:defRPr sz="2000" baseline="0">
          <a:solidFill>
            <a:schemeClr val="tx1"/>
          </a:solidFill>
          <a:latin typeface="Gill Sans MT"/>
          <a:cs typeface="Gill Sans M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 baseline="0">
          <a:solidFill>
            <a:schemeClr val="tx1"/>
          </a:solidFill>
          <a:latin typeface="Gill Sans MT"/>
          <a:cs typeface="Gill Sans M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Gill Sans"/>
          <a:cs typeface="Gill San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Gill Sans"/>
          <a:cs typeface="Gill San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9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I/O systems</a:t>
            </a:r>
            <a:endParaRPr lang="en-US" dirty="0"/>
          </a:p>
        </p:txBody>
      </p:sp>
      <p:sp>
        <p:nvSpPr>
          <p:cNvPr id="8" name="Subtitle 1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4425018" cy="2971800"/>
          </a:xfrm>
        </p:spPr>
        <p:txBody>
          <a:bodyPr>
            <a:normAutofit/>
          </a:bodyPr>
          <a:lstStyle/>
          <a:p>
            <a:r>
              <a:rPr lang="en-US" dirty="0"/>
              <a:t>CS 241</a:t>
            </a:r>
          </a:p>
          <a:p>
            <a:r>
              <a:rPr lang="en-US" dirty="0" smtClean="0"/>
              <a:t>April 30, 2014</a:t>
            </a:r>
            <a:endParaRPr lang="en-US" dirty="0"/>
          </a:p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University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of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Illinois</a:t>
            </a:r>
            <a:endParaRPr lang="en-US" sz="1100" dirty="0" smtClean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80894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Input and Output</a:t>
            </a:r>
            <a:endParaRPr lang="en-US"/>
          </a:p>
        </p:txBody>
      </p:sp>
      <p:sp>
        <p:nvSpPr>
          <p:cNvPr id="27651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computer’s job is to process data</a:t>
            </a:r>
          </a:p>
          <a:p>
            <a:pPr lvl="1"/>
            <a:r>
              <a:rPr lang="en-US" dirty="0" smtClean="0"/>
              <a:t>Computation (CPU, cache, and memory)</a:t>
            </a:r>
          </a:p>
          <a:p>
            <a:pPr lvl="1"/>
            <a:r>
              <a:rPr lang="en-US" dirty="0" smtClean="0"/>
              <a:t>Move data into and out of a system (between I/O devices and memory)</a:t>
            </a:r>
          </a:p>
          <a:p>
            <a:r>
              <a:rPr lang="en-US" dirty="0" smtClean="0"/>
              <a:t>Challenges with I/O devices</a:t>
            </a:r>
          </a:p>
          <a:p>
            <a:pPr lvl="1"/>
            <a:r>
              <a:rPr lang="en-US" dirty="0" smtClean="0"/>
              <a:t>Different categories: storage, networking, displays, etc.</a:t>
            </a:r>
          </a:p>
          <a:p>
            <a:pPr lvl="1"/>
            <a:r>
              <a:rPr lang="en-US" dirty="0" smtClean="0"/>
              <a:t>Large number of device drivers to support</a:t>
            </a:r>
          </a:p>
          <a:p>
            <a:pPr lvl="1"/>
            <a:r>
              <a:rPr lang="en-US" dirty="0" smtClean="0"/>
              <a:t>Device drivers run in kernel mode and can crash systems</a:t>
            </a:r>
          </a:p>
          <a:p>
            <a:r>
              <a:rPr lang="en-US" dirty="0" smtClean="0"/>
              <a:t>Goals of the OS</a:t>
            </a:r>
          </a:p>
          <a:p>
            <a:pPr lvl="1"/>
            <a:r>
              <a:rPr lang="en-US" dirty="0" smtClean="0"/>
              <a:t>Provide a generic, consistent, convenient and reliable way to access I/O devices</a:t>
            </a:r>
          </a:p>
          <a:p>
            <a:pPr lvl="1"/>
            <a:r>
              <a:rPr lang="en-US" dirty="0" smtClean="0"/>
              <a:t>As device-independent as possible</a:t>
            </a:r>
          </a:p>
          <a:p>
            <a:pPr lvl="1"/>
            <a:r>
              <a:rPr lang="en-US" dirty="0" smtClean="0"/>
              <a:t>High performance I/O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793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does the CPU talk to devices?</a:t>
            </a:r>
            <a:endParaRPr lang="en-US"/>
          </a:p>
        </p:txBody>
      </p:sp>
      <p:sp>
        <p:nvSpPr>
          <p:cNvPr id="2867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EF5B00"/>
                </a:solidFill>
              </a:rPr>
              <a:t>Device controller:</a:t>
            </a:r>
            <a:r>
              <a:rPr lang="en-US" dirty="0" smtClean="0"/>
              <a:t> Hardware that enables devices to talk to the peripheral bus</a:t>
            </a:r>
          </a:p>
          <a:p>
            <a:r>
              <a:rPr lang="en-US" dirty="0" smtClean="0">
                <a:solidFill>
                  <a:srgbClr val="EF5B00"/>
                </a:solidFill>
              </a:rPr>
              <a:t>Host adapter:</a:t>
            </a:r>
            <a:r>
              <a:rPr lang="en-US" dirty="0" smtClean="0"/>
              <a:t> Hardware that enables the computer to talk to the peripheral bus</a:t>
            </a:r>
          </a:p>
          <a:p>
            <a:r>
              <a:rPr lang="en-US" dirty="0" smtClean="0">
                <a:solidFill>
                  <a:srgbClr val="EF5B00"/>
                </a:solidFill>
              </a:rPr>
              <a:t>Bus:</a:t>
            </a:r>
            <a:r>
              <a:rPr lang="en-US" dirty="0" smtClean="0"/>
              <a:t> Wires that transfer data between components inside computer</a:t>
            </a:r>
          </a:p>
          <a:p>
            <a:r>
              <a:rPr lang="en-US" dirty="0" smtClean="0"/>
              <a:t>Device controller allows OS to specify simpler instructions to access data</a:t>
            </a:r>
          </a:p>
          <a:p>
            <a:r>
              <a:rPr lang="en-US" dirty="0" smtClean="0"/>
              <a:t>Example: a disk controller</a:t>
            </a:r>
          </a:p>
          <a:p>
            <a:pPr lvl="1"/>
            <a:r>
              <a:rPr lang="en-US" dirty="0" smtClean="0"/>
              <a:t>Translates </a:t>
            </a:r>
            <a:r>
              <a:rPr lang="ja-JP" altLang="en-US" dirty="0" smtClean="0"/>
              <a:t>“</a:t>
            </a:r>
            <a:r>
              <a:rPr lang="en-US" dirty="0" smtClean="0"/>
              <a:t>access sector 23</a:t>
            </a:r>
            <a:r>
              <a:rPr lang="ja-JP" altLang="en-US" dirty="0" smtClean="0"/>
              <a:t>”</a:t>
            </a:r>
            <a:r>
              <a:rPr lang="en-US" dirty="0" smtClean="0"/>
              <a:t> to </a:t>
            </a:r>
            <a:r>
              <a:rPr lang="ja-JP" altLang="en-US" dirty="0" smtClean="0"/>
              <a:t>“</a:t>
            </a:r>
            <a:r>
              <a:rPr lang="en-US" dirty="0" smtClean="0"/>
              <a:t>move head reader 1.672725272 cm from edge of platter</a:t>
            </a:r>
            <a:r>
              <a:rPr lang="ja-JP" altLang="en-US" dirty="0" smtClean="0"/>
              <a:t>”</a:t>
            </a:r>
            <a:endParaRPr lang="en-US" dirty="0" smtClean="0"/>
          </a:p>
          <a:p>
            <a:pPr lvl="1"/>
            <a:r>
              <a:rPr lang="en-US" dirty="0" smtClean="0"/>
              <a:t>Disk controller </a:t>
            </a:r>
            <a:r>
              <a:rPr lang="ja-JP" altLang="en-US" dirty="0" smtClean="0"/>
              <a:t>“</a:t>
            </a:r>
            <a:r>
              <a:rPr lang="en-US" dirty="0" smtClean="0"/>
              <a:t>advertises</a:t>
            </a:r>
            <a:r>
              <a:rPr lang="ja-JP" altLang="en-US" dirty="0" smtClean="0"/>
              <a:t>”</a:t>
            </a:r>
            <a:r>
              <a:rPr lang="en-US" dirty="0" smtClean="0"/>
              <a:t> disk parameters to OS, hides internal disk geometry</a:t>
            </a:r>
          </a:p>
          <a:p>
            <a:pPr lvl="1"/>
            <a:r>
              <a:rPr lang="en-US" dirty="0" smtClean="0"/>
              <a:t>Most modern hard drives have disk controller embedded as a chip on the physical device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480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Review: Computer Architecture</a:t>
            </a:r>
            <a:endParaRPr lang="en-US"/>
          </a:p>
        </p:txBody>
      </p:sp>
      <p:sp>
        <p:nvSpPr>
          <p:cNvPr id="29699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Compute hardware</a:t>
            </a:r>
          </a:p>
          <a:p>
            <a:pPr lvl="1"/>
            <a:r>
              <a:rPr lang="en-US" smtClean="0"/>
              <a:t>CPU and caches</a:t>
            </a:r>
          </a:p>
          <a:p>
            <a:pPr lvl="1"/>
            <a:r>
              <a:rPr lang="en-US" smtClean="0"/>
              <a:t>Chipset</a:t>
            </a:r>
          </a:p>
          <a:p>
            <a:pPr lvl="1"/>
            <a:r>
              <a:rPr lang="en-US" smtClean="0"/>
              <a:t>Memory</a:t>
            </a:r>
          </a:p>
          <a:p>
            <a:r>
              <a:rPr lang="en-US" smtClean="0"/>
              <a:t>I/O Hardware</a:t>
            </a:r>
          </a:p>
          <a:p>
            <a:pPr lvl="1"/>
            <a:r>
              <a:rPr lang="en-US" smtClean="0"/>
              <a:t>I/O bus or interconnect</a:t>
            </a:r>
          </a:p>
          <a:p>
            <a:pPr lvl="1"/>
            <a:r>
              <a:rPr lang="en-US" smtClean="0"/>
              <a:t>I/O controller or adaptor</a:t>
            </a:r>
          </a:p>
          <a:p>
            <a:pPr lvl="1"/>
            <a:r>
              <a:rPr lang="en-US" smtClean="0"/>
              <a:t>I/O device</a:t>
            </a:r>
          </a:p>
          <a:p>
            <a:r>
              <a:rPr lang="en-US" smtClean="0"/>
              <a:t>Two types of I/O</a:t>
            </a:r>
          </a:p>
          <a:p>
            <a:pPr lvl="1"/>
            <a:r>
              <a:rPr lang="en-US" smtClean="0"/>
              <a:t>Programmed I/O (PIO)</a:t>
            </a:r>
          </a:p>
          <a:p>
            <a:pPr lvl="2"/>
            <a:r>
              <a:rPr lang="en-US" smtClean="0"/>
              <a:t>CPU does the work of moving data</a:t>
            </a:r>
          </a:p>
          <a:p>
            <a:pPr lvl="1"/>
            <a:r>
              <a:rPr lang="en-US" smtClean="0"/>
              <a:t>Direct Memory Access (DMA)</a:t>
            </a:r>
          </a:p>
          <a:p>
            <a:pPr lvl="2"/>
            <a:r>
              <a:rPr lang="en-US" smtClean="0"/>
              <a:t>CPU offloads the work of moving data to DMA controller</a:t>
            </a:r>
            <a:endParaRPr lang="en-US" dirty="0"/>
          </a:p>
        </p:txBody>
      </p:sp>
      <p:pic>
        <p:nvPicPr>
          <p:cNvPr id="297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990600"/>
            <a:ext cx="4495800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6833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Programmed Input Device</a:t>
            </a:r>
            <a:endParaRPr lang="en-US" dirty="0"/>
          </a:p>
        </p:txBody>
      </p:sp>
      <p:sp>
        <p:nvSpPr>
          <p:cNvPr id="3072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374091" y="1524000"/>
            <a:ext cx="4997536" cy="5334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Device controller</a:t>
            </a:r>
          </a:p>
          <a:p>
            <a:pPr lvl="1"/>
            <a:r>
              <a:rPr lang="en-US" dirty="0" smtClean="0"/>
              <a:t>Status registers</a:t>
            </a:r>
          </a:p>
          <a:p>
            <a:pPr lvl="2"/>
            <a:r>
              <a:rPr lang="en-US" dirty="0" smtClean="0"/>
              <a:t>ready: tells if the host is done</a:t>
            </a:r>
          </a:p>
          <a:p>
            <a:pPr lvl="2"/>
            <a:r>
              <a:rPr lang="en-US" dirty="0" smtClean="0"/>
              <a:t>busy: tells if the controller is done</a:t>
            </a:r>
          </a:p>
          <a:p>
            <a:pPr lvl="2"/>
            <a:r>
              <a:rPr lang="en-US" dirty="0" err="1" smtClean="0"/>
              <a:t>int</a:t>
            </a:r>
            <a:r>
              <a:rPr lang="en-US" dirty="0" smtClean="0"/>
              <a:t>: interrupt</a:t>
            </a:r>
          </a:p>
          <a:p>
            <a:pPr lvl="2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Data registers</a:t>
            </a:r>
          </a:p>
          <a:p>
            <a:r>
              <a:rPr lang="en-US" dirty="0" smtClean="0"/>
              <a:t>A simple mouse design</a:t>
            </a:r>
          </a:p>
          <a:p>
            <a:pPr lvl="1"/>
            <a:r>
              <a:rPr lang="en-US" dirty="0" smtClean="0"/>
              <a:t>When moved, put (X, Y) in mouse’s device controller’s data registers</a:t>
            </a:r>
          </a:p>
          <a:p>
            <a:pPr lvl="1"/>
            <a:r>
              <a:rPr lang="en-US" dirty="0" smtClean="0"/>
              <a:t>Interrupt CPU</a:t>
            </a:r>
          </a:p>
          <a:p>
            <a:r>
              <a:rPr lang="en-US" dirty="0" smtClean="0"/>
              <a:t>Input on an interrupt</a:t>
            </a:r>
          </a:p>
          <a:p>
            <a:pPr lvl="1"/>
            <a:r>
              <a:rPr lang="en-US" dirty="0" smtClean="0"/>
              <a:t>CPU saves state of currently-executing program</a:t>
            </a:r>
          </a:p>
          <a:p>
            <a:pPr lvl="1"/>
            <a:r>
              <a:rPr lang="en-US" dirty="0" smtClean="0"/>
              <a:t>Reads values in X, Y registers</a:t>
            </a:r>
          </a:p>
          <a:p>
            <a:pPr lvl="1"/>
            <a:r>
              <a:rPr lang="en-US" dirty="0" smtClean="0"/>
              <a:t>Sets ready bit</a:t>
            </a:r>
          </a:p>
          <a:p>
            <a:pPr lvl="1"/>
            <a:r>
              <a:rPr lang="en-US" dirty="0" smtClean="0"/>
              <a:t>Wakes up a process/thread or execute a piece of code to handle interrupt</a:t>
            </a:r>
            <a:endParaRPr lang="en-US" dirty="0"/>
          </a:p>
        </p:txBody>
      </p:sp>
      <p:pic>
        <p:nvPicPr>
          <p:cNvPr id="3072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8" y="1600200"/>
            <a:ext cx="3910012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496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Programmed Output Device</a:t>
            </a:r>
            <a:endParaRPr lang="en-US"/>
          </a:p>
        </p:txBody>
      </p:sp>
      <p:sp>
        <p:nvSpPr>
          <p:cNvPr id="31747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374092" y="1524000"/>
            <a:ext cx="4759884" cy="4953000"/>
          </a:xfrm>
        </p:spPr>
        <p:txBody>
          <a:bodyPr/>
          <a:lstStyle/>
          <a:p>
            <a:r>
              <a:rPr lang="en-US" dirty="0" smtClean="0"/>
              <a:t>Device</a:t>
            </a:r>
          </a:p>
          <a:p>
            <a:pPr lvl="1"/>
            <a:r>
              <a:rPr lang="en-US" dirty="0" smtClean="0"/>
              <a:t>Status registers (ready, busy, … )</a:t>
            </a:r>
          </a:p>
          <a:p>
            <a:pPr lvl="1"/>
            <a:r>
              <a:rPr lang="en-US" dirty="0" smtClean="0"/>
              <a:t>Data registers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serial output device</a:t>
            </a:r>
          </a:p>
          <a:p>
            <a:r>
              <a:rPr lang="en-US" dirty="0" smtClean="0"/>
              <a:t>Perform an output</a:t>
            </a:r>
          </a:p>
          <a:p>
            <a:pPr lvl="1"/>
            <a:r>
              <a:rPr lang="en-US" dirty="0" smtClean="0"/>
              <a:t>CPU: Poll the busy bit</a:t>
            </a:r>
          </a:p>
          <a:p>
            <a:pPr lvl="1"/>
            <a:r>
              <a:rPr lang="en-US" dirty="0" smtClean="0"/>
              <a:t>Writes the data to data register(s)</a:t>
            </a:r>
          </a:p>
          <a:p>
            <a:pPr lvl="1"/>
            <a:r>
              <a:rPr lang="en-US" dirty="0" smtClean="0"/>
              <a:t>Set ready bit</a:t>
            </a:r>
          </a:p>
          <a:p>
            <a:pPr lvl="1"/>
            <a:r>
              <a:rPr lang="en-US" dirty="0" smtClean="0"/>
              <a:t>Controller sets busy bit and transfers data</a:t>
            </a:r>
          </a:p>
          <a:p>
            <a:pPr lvl="1"/>
            <a:r>
              <a:rPr lang="en-US" dirty="0" smtClean="0"/>
              <a:t>Controller clears the busy bit</a:t>
            </a:r>
            <a:endParaRPr lang="en-US" dirty="0"/>
          </a:p>
        </p:txBody>
      </p:sp>
      <p:pic>
        <p:nvPicPr>
          <p:cNvPr id="317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5" y="1371600"/>
            <a:ext cx="4010025" cy="440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572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Direct Memory Access (DMA)</a:t>
            </a:r>
            <a:endParaRPr lang="en-US"/>
          </a:p>
        </p:txBody>
      </p:sp>
      <p:sp>
        <p:nvSpPr>
          <p:cNvPr id="32771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374091" y="1524000"/>
            <a:ext cx="4883709" cy="4953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DMA controller or adaptor</a:t>
            </a:r>
          </a:p>
          <a:p>
            <a:pPr lvl="1"/>
            <a:r>
              <a:rPr lang="en-US" dirty="0" smtClean="0"/>
              <a:t>Status register (ready, busy, interrupt, …)</a:t>
            </a:r>
          </a:p>
          <a:p>
            <a:pPr lvl="1"/>
            <a:r>
              <a:rPr lang="en-US" dirty="0" smtClean="0"/>
              <a:t>DMA command register</a:t>
            </a:r>
          </a:p>
          <a:p>
            <a:pPr lvl="1"/>
            <a:r>
              <a:rPr lang="en-US" dirty="0" smtClean="0"/>
              <a:t>DMA register (address, size)</a:t>
            </a:r>
          </a:p>
          <a:p>
            <a:pPr lvl="1"/>
            <a:r>
              <a:rPr lang="en-US" dirty="0" smtClean="0"/>
              <a:t>DMA buffer</a:t>
            </a:r>
          </a:p>
          <a:p>
            <a:r>
              <a:rPr lang="en-US" dirty="0" smtClean="0"/>
              <a:t>Host CPU initiates DMA</a:t>
            </a:r>
          </a:p>
          <a:p>
            <a:pPr lvl="1"/>
            <a:r>
              <a:rPr lang="en-US" dirty="0" smtClean="0"/>
              <a:t>Device driver call (kernel mode)</a:t>
            </a:r>
          </a:p>
          <a:p>
            <a:pPr lvl="1"/>
            <a:r>
              <a:rPr lang="en-US" dirty="0" smtClean="0"/>
              <a:t>Wait until DMA device is free</a:t>
            </a:r>
          </a:p>
          <a:p>
            <a:pPr lvl="1"/>
            <a:r>
              <a:rPr lang="en-US" dirty="0" smtClean="0"/>
              <a:t>Initiate a DMA transaction (command, memory address, size)</a:t>
            </a:r>
          </a:p>
          <a:p>
            <a:pPr lvl="1"/>
            <a:r>
              <a:rPr lang="en-US" dirty="0" smtClean="0"/>
              <a:t>Block</a:t>
            </a:r>
          </a:p>
          <a:p>
            <a:r>
              <a:rPr lang="en-US" dirty="0" smtClean="0"/>
              <a:t>Controller performs DMA</a:t>
            </a:r>
          </a:p>
          <a:p>
            <a:pPr lvl="1"/>
            <a:r>
              <a:rPr lang="en-US" dirty="0" smtClean="0"/>
              <a:t>DMA data to device (size--; address++)</a:t>
            </a:r>
          </a:p>
          <a:p>
            <a:pPr lvl="1"/>
            <a:r>
              <a:rPr lang="en-US" dirty="0" smtClean="0"/>
              <a:t>Issue interrupt on completion (size == 0)</a:t>
            </a:r>
          </a:p>
          <a:p>
            <a:r>
              <a:rPr lang="en-US" dirty="0" smtClean="0"/>
              <a:t>CPU’s interrupt handler</a:t>
            </a:r>
          </a:p>
          <a:p>
            <a:pPr lvl="1"/>
            <a:r>
              <a:rPr lang="en-US" dirty="0" smtClean="0"/>
              <a:t>Wakeup the blocked process</a:t>
            </a:r>
            <a:endParaRPr lang="en-US" dirty="0"/>
          </a:p>
        </p:txBody>
      </p:sp>
      <p:pic>
        <p:nvPicPr>
          <p:cNvPr id="3277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570038"/>
            <a:ext cx="3886200" cy="43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348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Memory-mapped I/O</a:t>
            </a:r>
            <a:endParaRPr lang="en-US"/>
          </a:p>
        </p:txBody>
      </p:sp>
      <p:sp>
        <p:nvSpPr>
          <p:cNvPr id="3379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mtClean="0"/>
              <a:t>Use the same address bus to address both memory and I/O devices</a:t>
            </a:r>
          </a:p>
          <a:p>
            <a:pPr lvl="1"/>
            <a:r>
              <a:rPr lang="en-US" smtClean="0"/>
              <a:t>The memory and registers of I/O devices are mapped to address values</a:t>
            </a:r>
          </a:p>
          <a:p>
            <a:pPr lvl="1"/>
            <a:r>
              <a:rPr lang="en-US" smtClean="0"/>
              <a:t>Allows same CPU instructions to be used with regular memory and devices</a:t>
            </a:r>
          </a:p>
          <a:p>
            <a:r>
              <a:rPr lang="en-US" smtClean="0"/>
              <a:t>I/O devices, memory controller, monitor address bus	</a:t>
            </a:r>
          </a:p>
          <a:p>
            <a:pPr lvl="1"/>
            <a:r>
              <a:rPr lang="en-US" smtClean="0"/>
              <a:t>Each responds to addresses they own</a:t>
            </a:r>
          </a:p>
          <a:p>
            <a:r>
              <a:rPr lang="en-US" smtClean="0"/>
              <a:t>Orthogonal to DMA</a:t>
            </a:r>
          </a:p>
          <a:p>
            <a:pPr lvl="1"/>
            <a:r>
              <a:rPr lang="en-US" smtClean="0"/>
              <a:t>May be used with, or without, DMA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878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Polling- vs. Interrupt-driven I/O</a:t>
            </a:r>
            <a:endParaRPr lang="en-US"/>
          </a:p>
        </p:txBody>
      </p:sp>
      <p:sp>
        <p:nvSpPr>
          <p:cNvPr id="34819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Polling</a:t>
            </a:r>
          </a:p>
          <a:p>
            <a:pPr lvl="1"/>
            <a:r>
              <a:rPr lang="en-US" dirty="0" smtClean="0"/>
              <a:t>CPU issues I/O command </a:t>
            </a:r>
          </a:p>
          <a:p>
            <a:pPr lvl="1"/>
            <a:r>
              <a:rPr lang="en-US" dirty="0" smtClean="0"/>
              <a:t>CPU directly writes instructions into device’s registers</a:t>
            </a:r>
          </a:p>
          <a:p>
            <a:pPr lvl="1"/>
            <a:r>
              <a:rPr lang="en-US" dirty="0" smtClean="0"/>
              <a:t>CPU busy waits for completion</a:t>
            </a:r>
          </a:p>
          <a:p>
            <a:r>
              <a:rPr lang="en-US" dirty="0" smtClean="0"/>
              <a:t>Interrupt-driven I/O</a:t>
            </a:r>
          </a:p>
          <a:p>
            <a:pPr lvl="1"/>
            <a:r>
              <a:rPr lang="en-US" dirty="0" smtClean="0"/>
              <a:t>CPU issues I/O command </a:t>
            </a:r>
          </a:p>
          <a:p>
            <a:pPr lvl="1"/>
            <a:r>
              <a:rPr lang="en-US" dirty="0" smtClean="0"/>
              <a:t>CPU directly writes instructions into device’s registers</a:t>
            </a:r>
          </a:p>
          <a:p>
            <a:pPr lvl="1"/>
            <a:r>
              <a:rPr lang="en-US" dirty="0" smtClean="0"/>
              <a:t>CPU continues operation until interrupt</a:t>
            </a:r>
          </a:p>
          <a:p>
            <a:r>
              <a:rPr lang="en-US" dirty="0" smtClean="0"/>
              <a:t>Direct Memory Access (DMA)</a:t>
            </a:r>
          </a:p>
          <a:p>
            <a:pPr lvl="1"/>
            <a:r>
              <a:rPr lang="en-US" dirty="0" smtClean="0"/>
              <a:t>Typically done with Interrupt-driven I/O</a:t>
            </a:r>
          </a:p>
          <a:p>
            <a:pPr lvl="1"/>
            <a:r>
              <a:rPr lang="en-US" dirty="0" smtClean="0"/>
              <a:t>CPU asks DMA controller to perform device-to-memory transfer</a:t>
            </a:r>
          </a:p>
          <a:p>
            <a:pPr lvl="1"/>
            <a:r>
              <a:rPr lang="en-US" dirty="0" smtClean="0"/>
              <a:t>DMA issues I/O command and transfers new item into memory</a:t>
            </a:r>
          </a:p>
          <a:p>
            <a:pPr lvl="1"/>
            <a:r>
              <a:rPr lang="en-US" dirty="0" smtClean="0"/>
              <a:t>CPU module is interrupted after completion</a:t>
            </a:r>
          </a:p>
          <a:p>
            <a:r>
              <a:rPr lang="en-US" dirty="0" smtClean="0"/>
              <a:t>Which is better, polling or interrupt-driven I/O?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351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Polling- vs. Interrupt-driven I/O</a:t>
            </a:r>
            <a:endParaRPr lang="en-US"/>
          </a:p>
        </p:txBody>
      </p:sp>
      <p:sp>
        <p:nvSpPr>
          <p:cNvPr id="3584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mtClean="0"/>
              <a:t>Polling</a:t>
            </a:r>
          </a:p>
          <a:p>
            <a:pPr lvl="1"/>
            <a:r>
              <a:rPr lang="en-US" smtClean="0"/>
              <a:t>Expensive for large transfers</a:t>
            </a:r>
          </a:p>
          <a:p>
            <a:pPr lvl="1"/>
            <a:r>
              <a:rPr lang="en-US" smtClean="0"/>
              <a:t>Better for small, dedicated systems with infrequent I/O</a:t>
            </a:r>
          </a:p>
          <a:p>
            <a:pPr lvl="1"/>
            <a:endParaRPr lang="en-US" smtClean="0"/>
          </a:p>
          <a:p>
            <a:r>
              <a:rPr lang="en-US" smtClean="0"/>
              <a:t>Interrupt-driven </a:t>
            </a:r>
          </a:p>
          <a:p>
            <a:pPr lvl="1"/>
            <a:r>
              <a:rPr lang="en-US" smtClean="0"/>
              <a:t>Overcomes CPU busy waiting</a:t>
            </a:r>
          </a:p>
          <a:p>
            <a:pPr lvl="1"/>
            <a:r>
              <a:rPr lang="en-US" smtClean="0"/>
              <a:t>I/O module interrupts when ready: event driven</a:t>
            </a:r>
          </a:p>
          <a:p>
            <a:pPr lvl="1"/>
            <a:endParaRPr lang="en-US" smtClean="0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727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Interrupts are implemented</a:t>
            </a:r>
            <a:endParaRPr lang="en-US"/>
          </a:p>
        </p:txBody>
      </p:sp>
      <p:sp>
        <p:nvSpPr>
          <p:cNvPr id="36867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mtClean="0"/>
              <a:t>CPU hardware has an interrupt report line that the CPU tests after executing every instruction </a:t>
            </a:r>
          </a:p>
          <a:p>
            <a:pPr lvl="1"/>
            <a:r>
              <a:rPr lang="en-US" smtClean="0"/>
              <a:t>If a(ny) device raises an interrupt by setting interrupt report line</a:t>
            </a:r>
          </a:p>
          <a:p>
            <a:pPr lvl="2"/>
            <a:r>
              <a:rPr lang="en-US" smtClean="0"/>
              <a:t>CPU catches the interrupt and saves the state of current running process into PCB</a:t>
            </a:r>
          </a:p>
          <a:p>
            <a:pPr lvl="2"/>
            <a:r>
              <a:rPr lang="en-US" smtClean="0"/>
              <a:t>CPU dispatches/starts the interrupt handler </a:t>
            </a:r>
          </a:p>
          <a:p>
            <a:pPr lvl="2"/>
            <a:r>
              <a:rPr lang="en-US" smtClean="0"/>
              <a:t>Interrupt handler determines cause, services the device and clears the interrupt report line</a:t>
            </a:r>
          </a:p>
          <a:p>
            <a:r>
              <a:rPr lang="en-US" smtClean="0"/>
              <a:t>Other uses of interrupts: exceptions</a:t>
            </a:r>
          </a:p>
          <a:p>
            <a:pPr lvl="1"/>
            <a:r>
              <a:rPr lang="en-US" smtClean="0"/>
              <a:t>Division by zero, wrong address </a:t>
            </a:r>
          </a:p>
          <a:p>
            <a:pPr lvl="1"/>
            <a:r>
              <a:rPr lang="en-US" smtClean="0"/>
              <a:t>System calls (software interrupts/signals, trap) </a:t>
            </a:r>
          </a:p>
          <a:p>
            <a:pPr lvl="1"/>
            <a:r>
              <a:rPr lang="en-US" smtClean="0"/>
              <a:t>Virtual memory paging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34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I/O Software Stack</a:t>
            </a:r>
            <a:endParaRPr lang="en-US"/>
          </a:p>
        </p:txBody>
      </p:sp>
      <p:pic>
        <p:nvPicPr>
          <p:cNvPr id="3789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852" y="1945697"/>
            <a:ext cx="5064409" cy="3576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47819" y="2935390"/>
            <a:ext cx="10403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952" y="1945065"/>
            <a:ext cx="161907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User space</a:t>
            </a:r>
          </a:p>
        </p:txBody>
      </p:sp>
    </p:spTree>
    <p:extLst>
      <p:ext uri="{BB962C8B-B14F-4D97-AF65-F5344CB8AC3E}">
        <p14:creationId xmlns:p14="http://schemas.microsoft.com/office/powerpoint/2010/main" val="2550850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drivers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Manage </a:t>
            </a:r>
            <a:r>
              <a:rPr lang="en-US" dirty="0"/>
              <a:t>the complexity and differences among specific types of devices (disk vs. mouse, different types of disks …)</a:t>
            </a:r>
          </a:p>
          <a:p>
            <a:r>
              <a:rPr lang="en-US" dirty="0" smtClean="0"/>
              <a:t>Special driver for each device type or group of them (</a:t>
            </a:r>
            <a:r>
              <a:rPr lang="en-US" dirty="0" err="1" smtClean="0"/>
              <a:t>eg</a:t>
            </a:r>
            <a:r>
              <a:rPr lang="en-US" dirty="0" smtClean="0"/>
              <a:t>, USB)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672" y="3214077"/>
            <a:ext cx="6029491" cy="3262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3752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Typical Device Driver Design</a:t>
            </a:r>
            <a:endParaRPr lang="en-US"/>
          </a:p>
        </p:txBody>
      </p:sp>
      <p:sp>
        <p:nvSpPr>
          <p:cNvPr id="4096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Operating system and driver communication</a:t>
            </a:r>
          </a:p>
          <a:p>
            <a:pPr lvl="1"/>
            <a:r>
              <a:rPr lang="en-US" dirty="0" smtClean="0"/>
              <a:t>Commands and data between OS and device drivers</a:t>
            </a:r>
          </a:p>
          <a:p>
            <a:r>
              <a:rPr lang="en-US" dirty="0" smtClean="0"/>
              <a:t>Driver and hardware communication</a:t>
            </a:r>
          </a:p>
          <a:p>
            <a:pPr lvl="1"/>
            <a:r>
              <a:rPr lang="en-US" dirty="0" smtClean="0"/>
              <a:t>Commands and data between driver and hardware</a:t>
            </a:r>
          </a:p>
          <a:p>
            <a:r>
              <a:rPr lang="en-US" dirty="0" smtClean="0"/>
              <a:t>Driver responsibilities</a:t>
            </a:r>
          </a:p>
          <a:p>
            <a:pPr lvl="1"/>
            <a:r>
              <a:rPr lang="en-US" dirty="0" smtClean="0"/>
              <a:t>Initialize devices</a:t>
            </a:r>
          </a:p>
          <a:p>
            <a:pPr lvl="1"/>
            <a:r>
              <a:rPr lang="en-US" dirty="0" smtClean="0"/>
              <a:t>Interpreting commands from OS</a:t>
            </a:r>
          </a:p>
          <a:p>
            <a:pPr lvl="1"/>
            <a:r>
              <a:rPr lang="en-US" dirty="0" smtClean="0"/>
              <a:t>Schedule multiple outstanding requests</a:t>
            </a:r>
          </a:p>
          <a:p>
            <a:pPr lvl="1"/>
            <a:r>
              <a:rPr lang="en-US" dirty="0" smtClean="0"/>
              <a:t>Accept and process interrupts</a:t>
            </a:r>
          </a:p>
          <a:p>
            <a:pPr lvl="1"/>
            <a:r>
              <a:rPr lang="en-US" dirty="0"/>
              <a:t>Manage data </a:t>
            </a:r>
            <a:r>
              <a:rPr lang="en-US" dirty="0" smtClean="0"/>
              <a:t>transfers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20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Device Driver Behavior</a:t>
            </a:r>
            <a:endParaRPr lang="en-US"/>
          </a:p>
        </p:txBody>
      </p:sp>
      <p:sp>
        <p:nvSpPr>
          <p:cNvPr id="41987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1. Check input parameters for validity, and translate them to device specific language</a:t>
            </a:r>
          </a:p>
          <a:p>
            <a:r>
              <a:rPr lang="en-US" dirty="0" smtClean="0"/>
              <a:t>2. Check if device is free (wait or block if not)</a:t>
            </a:r>
          </a:p>
          <a:p>
            <a:r>
              <a:rPr lang="en-US" dirty="0" smtClean="0"/>
              <a:t>3. Issue commands to control device</a:t>
            </a:r>
          </a:p>
          <a:p>
            <a:pPr lvl="1"/>
            <a:r>
              <a:rPr lang="en-US" dirty="0" smtClean="0"/>
              <a:t>Write them into device controller</a:t>
            </a:r>
            <a:r>
              <a:rPr lang="ja-JP" altLang="en-US" dirty="0" smtClean="0"/>
              <a:t>’</a:t>
            </a:r>
            <a:r>
              <a:rPr lang="en-US" dirty="0" smtClean="0"/>
              <a:t>s registers</a:t>
            </a:r>
          </a:p>
          <a:p>
            <a:pPr lvl="1"/>
            <a:r>
              <a:rPr lang="en-US" dirty="0" smtClean="0"/>
              <a:t>Check after each if device is ready for next (wait or block if not)</a:t>
            </a:r>
          </a:p>
          <a:p>
            <a:r>
              <a:rPr lang="en-US" dirty="0" smtClean="0"/>
              <a:t>4. Block or wait for controller to finish work</a:t>
            </a:r>
          </a:p>
          <a:p>
            <a:r>
              <a:rPr lang="en-US" dirty="0" smtClean="0"/>
              <a:t>5. Check for errors, and pass data to device-independent software</a:t>
            </a:r>
          </a:p>
          <a:p>
            <a:r>
              <a:rPr lang="en-US" dirty="0" smtClean="0"/>
              <a:t>6. Return status information</a:t>
            </a:r>
          </a:p>
          <a:p>
            <a:r>
              <a:rPr lang="en-US" dirty="0" smtClean="0"/>
              <a:t>7. Process next queued request, or block waiting for next</a:t>
            </a:r>
          </a:p>
          <a:p>
            <a:r>
              <a:rPr lang="en-US" dirty="0" smtClean="0"/>
              <a:t>Challenges:</a:t>
            </a:r>
          </a:p>
          <a:p>
            <a:pPr lvl="1"/>
            <a:r>
              <a:rPr lang="en-US" dirty="0" smtClean="0"/>
              <a:t>Must be reentrant (can be called by an interrupt while running)</a:t>
            </a:r>
          </a:p>
          <a:p>
            <a:pPr lvl="1"/>
            <a:r>
              <a:rPr lang="en-US" dirty="0" smtClean="0"/>
              <a:t>Handle hot-pluggable devices and device removal while running</a:t>
            </a:r>
          </a:p>
          <a:p>
            <a:pPr lvl="1"/>
            <a:r>
              <a:rPr lang="en-US" dirty="0" smtClean="0"/>
              <a:t>Complex and many of them; bugs in them can crash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86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I/O Devices</a:t>
            </a:r>
            <a:endParaRPr lang="en-US" dirty="0"/>
          </a:p>
        </p:txBody>
      </p:sp>
      <p:sp>
        <p:nvSpPr>
          <p:cNvPr id="43011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Block devices</a:t>
            </a:r>
          </a:p>
          <a:p>
            <a:pPr lvl="1"/>
            <a:r>
              <a:rPr lang="en-US" dirty="0" smtClean="0"/>
              <a:t>Organize data in fixed-size blocks</a:t>
            </a:r>
          </a:p>
          <a:p>
            <a:pPr lvl="1"/>
            <a:r>
              <a:rPr lang="en-US" dirty="0" smtClean="0"/>
              <a:t>Transfers are in units of blocks</a:t>
            </a:r>
          </a:p>
          <a:p>
            <a:pPr lvl="1"/>
            <a:r>
              <a:rPr lang="en-US" dirty="0" smtClean="0"/>
              <a:t>Blocks have addresses and data are therefore addressable</a:t>
            </a:r>
          </a:p>
          <a:p>
            <a:pPr lvl="1"/>
            <a:r>
              <a:rPr lang="en-US" dirty="0" smtClean="0"/>
              <a:t>E.g. hard disks, USB disks, CD-ROMs</a:t>
            </a:r>
          </a:p>
          <a:p>
            <a:r>
              <a:rPr lang="en-US" dirty="0" smtClean="0"/>
              <a:t>Character devices</a:t>
            </a:r>
          </a:p>
          <a:p>
            <a:pPr lvl="1"/>
            <a:r>
              <a:rPr lang="en-US" dirty="0" smtClean="0"/>
              <a:t>Delivers or accepts a stream of characters, no block structure</a:t>
            </a:r>
          </a:p>
          <a:p>
            <a:pPr lvl="1"/>
            <a:r>
              <a:rPr lang="en-US" dirty="0" smtClean="0"/>
              <a:t>Not addressable, no seeks</a:t>
            </a:r>
          </a:p>
          <a:p>
            <a:pPr lvl="1"/>
            <a:r>
              <a:rPr lang="en-US" dirty="0" smtClean="0"/>
              <a:t>Can read from stream or write to stream</a:t>
            </a:r>
          </a:p>
          <a:p>
            <a:pPr lvl="1"/>
            <a:r>
              <a:rPr lang="en-US" dirty="0" smtClean="0"/>
              <a:t>Network interfaces, keyboards</a:t>
            </a:r>
          </a:p>
          <a:p>
            <a:r>
              <a:rPr lang="en-US" dirty="0" smtClean="0"/>
              <a:t>Like everything, not a perfect classification</a:t>
            </a:r>
          </a:p>
          <a:p>
            <a:pPr lvl="1"/>
            <a:r>
              <a:rPr lang="en-US" dirty="0" smtClean="0"/>
              <a:t>E.g. tape drives have blocks but not randomly accessed</a:t>
            </a:r>
          </a:p>
          <a:p>
            <a:pPr lvl="1"/>
            <a:r>
              <a:rPr lang="en-US" dirty="0" smtClean="0"/>
              <a:t>Clocks are I/O devices that just generate interrupts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84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Char/Block Device Interfaces</a:t>
            </a:r>
            <a:endParaRPr lang="en-US"/>
          </a:p>
        </p:txBody>
      </p:sp>
      <p:sp>
        <p:nvSpPr>
          <p:cNvPr id="4403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Character device interface</a:t>
            </a:r>
          </a:p>
          <a:p>
            <a:pPr lvl="1"/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read(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deviceNumber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bufferAddr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size )</a:t>
            </a:r>
          </a:p>
          <a:p>
            <a:pPr lvl="2"/>
            <a:r>
              <a:rPr lang="en-US" dirty="0" smtClean="0"/>
              <a:t>Reads </a:t>
            </a:r>
            <a:r>
              <a:rPr lang="ja-JP" altLang="en-US" dirty="0" smtClean="0"/>
              <a:t>“</a:t>
            </a:r>
            <a:r>
              <a:rPr lang="en-US" dirty="0" smtClean="0"/>
              <a:t>size</a:t>
            </a:r>
            <a:r>
              <a:rPr lang="ja-JP" altLang="en-US" dirty="0" smtClean="0"/>
              <a:t>”</a:t>
            </a:r>
            <a:r>
              <a:rPr lang="en-US" dirty="0" smtClean="0"/>
              <a:t> bytes from a byte stream device to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endParaRPr lang="en-US" dirty="0" smtClean="0"/>
          </a:p>
          <a:p>
            <a:pPr lvl="1"/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write(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deviceNumber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bufferAddr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size )</a:t>
            </a:r>
          </a:p>
          <a:p>
            <a:pPr lvl="2"/>
            <a:r>
              <a:rPr lang="en-US" dirty="0" smtClean="0"/>
              <a:t>Write </a:t>
            </a:r>
            <a:r>
              <a:rPr lang="ja-JP" altLang="en-US" dirty="0" smtClean="0"/>
              <a:t>“</a:t>
            </a:r>
            <a:r>
              <a:rPr lang="en-US" dirty="0" smtClean="0"/>
              <a:t>size</a:t>
            </a:r>
            <a:r>
              <a:rPr lang="ja-JP" altLang="en-US" dirty="0" smtClean="0"/>
              <a:t>”</a:t>
            </a:r>
            <a:r>
              <a:rPr lang="en-US" dirty="0" smtClean="0"/>
              <a:t> bytes from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r>
              <a:rPr lang="en-US" dirty="0" smtClean="0"/>
              <a:t> to a byte stream device</a:t>
            </a:r>
          </a:p>
          <a:p>
            <a:r>
              <a:rPr lang="en-US" dirty="0" smtClean="0"/>
              <a:t>Block device interface</a:t>
            </a:r>
          </a:p>
          <a:p>
            <a:pPr lvl="1"/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read(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deviceNumber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deviceAddr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bufferAddr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 )</a:t>
            </a:r>
          </a:p>
          <a:p>
            <a:pPr lvl="2"/>
            <a:r>
              <a:rPr lang="en-US" dirty="0" smtClean="0"/>
              <a:t>Transfer a block of data from </a:t>
            </a:r>
            <a:r>
              <a:rPr lang="ja-JP" altLang="en-US" dirty="0" smtClean="0"/>
              <a:t>“</a:t>
            </a:r>
            <a:r>
              <a:rPr lang="en-US" dirty="0" err="1" smtClean="0"/>
              <a:t>deviceAddr</a:t>
            </a:r>
            <a:r>
              <a:rPr lang="ja-JP" altLang="en-US" dirty="0" smtClean="0"/>
              <a:t>”</a:t>
            </a:r>
            <a:r>
              <a:rPr lang="en-US" dirty="0" smtClean="0"/>
              <a:t> to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endParaRPr lang="en-US" dirty="0" smtClean="0"/>
          </a:p>
          <a:p>
            <a:pPr lvl="1"/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write(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deviceNumber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deviceAddr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bufferAddr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 )</a:t>
            </a:r>
          </a:p>
          <a:p>
            <a:pPr lvl="2"/>
            <a:r>
              <a:rPr lang="en-US" dirty="0" smtClean="0"/>
              <a:t>Transfer a block of data from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r>
              <a:rPr lang="en-US" dirty="0" smtClean="0"/>
              <a:t> to </a:t>
            </a:r>
            <a:r>
              <a:rPr lang="ja-JP" altLang="en-US" dirty="0" smtClean="0"/>
              <a:t>“</a:t>
            </a:r>
            <a:r>
              <a:rPr lang="en-US" dirty="0" err="1" smtClean="0"/>
              <a:t>deviceAddr</a:t>
            </a:r>
            <a:r>
              <a:rPr lang="ja-JP" altLang="en-US" dirty="0" smtClean="0"/>
              <a:t>”</a:t>
            </a:r>
            <a:endParaRPr lang="en-US" dirty="0" smtClean="0"/>
          </a:p>
          <a:p>
            <a:pPr lvl="1"/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seek(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deviceNumber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, </a:t>
            </a:r>
            <a:r>
              <a:rPr lang="en-US" sz="1800" dirty="0" err="1" smtClean="0">
                <a:solidFill>
                  <a:srgbClr val="E85810"/>
                </a:solidFill>
                <a:latin typeface="Monaco"/>
                <a:cs typeface="Monaco"/>
              </a:rPr>
              <a:t>deviceAddress</a:t>
            </a:r>
            <a:r>
              <a:rPr lang="en-US" sz="1800" dirty="0" smtClean="0">
                <a:solidFill>
                  <a:srgbClr val="E85810"/>
                </a:solidFill>
                <a:latin typeface="Monaco"/>
                <a:cs typeface="Monaco"/>
              </a:rPr>
              <a:t> )</a:t>
            </a:r>
          </a:p>
          <a:p>
            <a:pPr lvl="2"/>
            <a:r>
              <a:rPr lang="en-US" dirty="0" smtClean="0"/>
              <a:t>Move the head to the correct position</a:t>
            </a:r>
          </a:p>
          <a:p>
            <a:pPr lvl="2"/>
            <a:r>
              <a:rPr lang="en-US" dirty="0" smtClean="0"/>
              <a:t>Usually optional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63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User-level interfaces: syscalls</a:t>
            </a:r>
            <a:endParaRPr lang="en-US" dirty="0"/>
          </a:p>
        </p:txBody>
      </p:sp>
      <p:sp>
        <p:nvSpPr>
          <p:cNvPr id="4403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Character device interface</a:t>
            </a:r>
          </a:p>
          <a:p>
            <a:pPr lvl="1"/>
            <a:r>
              <a:rPr lang="en-US" dirty="0" smtClean="0"/>
              <a:t>read( </a:t>
            </a:r>
            <a:r>
              <a:rPr lang="en-US" dirty="0" err="1" smtClean="0"/>
              <a:t>deviceNumber</a:t>
            </a:r>
            <a:r>
              <a:rPr lang="en-US" dirty="0" smtClean="0"/>
              <a:t>, </a:t>
            </a:r>
            <a:r>
              <a:rPr lang="en-US" dirty="0" err="1" smtClean="0"/>
              <a:t>bufferAddr</a:t>
            </a:r>
            <a:r>
              <a:rPr lang="en-US" dirty="0" smtClean="0"/>
              <a:t>, size )</a:t>
            </a:r>
          </a:p>
          <a:p>
            <a:pPr lvl="2"/>
            <a:r>
              <a:rPr lang="en-US" dirty="0" smtClean="0"/>
              <a:t>Reads </a:t>
            </a:r>
            <a:r>
              <a:rPr lang="ja-JP" altLang="en-US" dirty="0" smtClean="0"/>
              <a:t>“</a:t>
            </a:r>
            <a:r>
              <a:rPr lang="en-US" dirty="0" smtClean="0"/>
              <a:t>size</a:t>
            </a:r>
            <a:r>
              <a:rPr lang="ja-JP" altLang="en-US" dirty="0" smtClean="0"/>
              <a:t>”</a:t>
            </a:r>
            <a:r>
              <a:rPr lang="en-US" dirty="0" smtClean="0"/>
              <a:t> bytes from a byte stream device to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endParaRPr lang="en-US" dirty="0" smtClean="0"/>
          </a:p>
          <a:p>
            <a:pPr lvl="1"/>
            <a:r>
              <a:rPr lang="en-US" dirty="0" smtClean="0"/>
              <a:t>write( </a:t>
            </a:r>
            <a:r>
              <a:rPr lang="en-US" dirty="0" err="1" smtClean="0"/>
              <a:t>deviceNumber</a:t>
            </a:r>
            <a:r>
              <a:rPr lang="en-US" dirty="0" smtClean="0"/>
              <a:t>, </a:t>
            </a:r>
            <a:r>
              <a:rPr lang="en-US" dirty="0" err="1" smtClean="0"/>
              <a:t>bufferAddr</a:t>
            </a:r>
            <a:r>
              <a:rPr lang="en-US" dirty="0" smtClean="0"/>
              <a:t>, size )</a:t>
            </a:r>
          </a:p>
          <a:p>
            <a:pPr lvl="2"/>
            <a:r>
              <a:rPr lang="en-US" dirty="0" smtClean="0"/>
              <a:t>Write </a:t>
            </a:r>
            <a:r>
              <a:rPr lang="ja-JP" altLang="en-US" dirty="0" smtClean="0"/>
              <a:t>“</a:t>
            </a:r>
            <a:r>
              <a:rPr lang="en-US" dirty="0" smtClean="0"/>
              <a:t>size</a:t>
            </a:r>
            <a:r>
              <a:rPr lang="ja-JP" altLang="en-US" dirty="0" smtClean="0"/>
              <a:t>”</a:t>
            </a:r>
            <a:r>
              <a:rPr lang="en-US" dirty="0" smtClean="0"/>
              <a:t> bytes from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r>
              <a:rPr lang="en-US" dirty="0" smtClean="0"/>
              <a:t> to a byte stream device</a:t>
            </a:r>
          </a:p>
          <a:p>
            <a:r>
              <a:rPr lang="en-US" dirty="0" smtClean="0"/>
              <a:t>Block device interface</a:t>
            </a:r>
          </a:p>
          <a:p>
            <a:pPr lvl="1"/>
            <a:r>
              <a:rPr lang="en-US" dirty="0" smtClean="0"/>
              <a:t>read( </a:t>
            </a:r>
            <a:r>
              <a:rPr lang="en-US" dirty="0" err="1" smtClean="0"/>
              <a:t>deviceNumber</a:t>
            </a:r>
            <a:r>
              <a:rPr lang="en-US" dirty="0" smtClean="0"/>
              <a:t>, </a:t>
            </a:r>
            <a:r>
              <a:rPr lang="en-US" dirty="0" err="1" smtClean="0"/>
              <a:t>deviceAddr</a:t>
            </a:r>
            <a:r>
              <a:rPr lang="en-US" dirty="0" smtClean="0"/>
              <a:t>, </a:t>
            </a:r>
            <a:r>
              <a:rPr lang="en-US" dirty="0" err="1" smtClean="0"/>
              <a:t>bufferAddr</a:t>
            </a:r>
            <a:r>
              <a:rPr lang="en-US" dirty="0" smtClean="0"/>
              <a:t> )</a:t>
            </a:r>
          </a:p>
          <a:p>
            <a:pPr lvl="2"/>
            <a:r>
              <a:rPr lang="en-US" dirty="0" smtClean="0"/>
              <a:t>Transfer a block of data from </a:t>
            </a:r>
            <a:r>
              <a:rPr lang="ja-JP" altLang="en-US" dirty="0" smtClean="0"/>
              <a:t>“</a:t>
            </a:r>
            <a:r>
              <a:rPr lang="en-US" dirty="0" err="1" smtClean="0"/>
              <a:t>deviceAddr</a:t>
            </a:r>
            <a:r>
              <a:rPr lang="ja-JP" altLang="en-US" dirty="0" smtClean="0"/>
              <a:t>”</a:t>
            </a:r>
            <a:r>
              <a:rPr lang="en-US" dirty="0" smtClean="0"/>
              <a:t> to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endParaRPr lang="en-US" dirty="0" smtClean="0"/>
          </a:p>
          <a:p>
            <a:pPr lvl="1"/>
            <a:r>
              <a:rPr lang="en-US" dirty="0" smtClean="0"/>
              <a:t>write( </a:t>
            </a:r>
            <a:r>
              <a:rPr lang="en-US" dirty="0" err="1" smtClean="0"/>
              <a:t>deviceNumber</a:t>
            </a:r>
            <a:r>
              <a:rPr lang="en-US" dirty="0" smtClean="0"/>
              <a:t>, </a:t>
            </a:r>
            <a:r>
              <a:rPr lang="en-US" dirty="0" err="1" smtClean="0"/>
              <a:t>deviceAddr</a:t>
            </a:r>
            <a:r>
              <a:rPr lang="en-US" dirty="0" smtClean="0"/>
              <a:t>, </a:t>
            </a:r>
            <a:r>
              <a:rPr lang="en-US" dirty="0" err="1" smtClean="0"/>
              <a:t>bufferAddr</a:t>
            </a:r>
            <a:r>
              <a:rPr lang="en-US" dirty="0" smtClean="0"/>
              <a:t> )</a:t>
            </a:r>
          </a:p>
          <a:p>
            <a:pPr lvl="2"/>
            <a:r>
              <a:rPr lang="en-US" dirty="0" smtClean="0"/>
              <a:t>Transfer a block of data from </a:t>
            </a:r>
            <a:r>
              <a:rPr lang="ja-JP" altLang="en-US" dirty="0" smtClean="0"/>
              <a:t>“</a:t>
            </a:r>
            <a:r>
              <a:rPr lang="en-US" dirty="0" err="1" smtClean="0"/>
              <a:t>bufferAddr</a:t>
            </a:r>
            <a:r>
              <a:rPr lang="ja-JP" altLang="en-US" dirty="0" smtClean="0"/>
              <a:t>”</a:t>
            </a:r>
            <a:r>
              <a:rPr lang="en-US" dirty="0" smtClean="0"/>
              <a:t> to </a:t>
            </a:r>
            <a:r>
              <a:rPr lang="ja-JP" altLang="en-US" dirty="0" smtClean="0"/>
              <a:t>“</a:t>
            </a:r>
            <a:r>
              <a:rPr lang="en-US" dirty="0" err="1" smtClean="0"/>
              <a:t>deviceAddr</a:t>
            </a:r>
            <a:r>
              <a:rPr lang="ja-JP" altLang="en-US" dirty="0" smtClean="0"/>
              <a:t>”</a:t>
            </a:r>
            <a:endParaRPr lang="en-US" dirty="0" smtClean="0"/>
          </a:p>
          <a:p>
            <a:pPr lvl="1"/>
            <a:r>
              <a:rPr lang="en-US" dirty="0" smtClean="0"/>
              <a:t>seek( </a:t>
            </a:r>
            <a:r>
              <a:rPr lang="en-US" dirty="0" err="1" smtClean="0"/>
              <a:t>deviceNumber</a:t>
            </a:r>
            <a:r>
              <a:rPr lang="en-US" dirty="0" smtClean="0"/>
              <a:t>, </a:t>
            </a:r>
            <a:r>
              <a:rPr lang="en-US" dirty="0" err="1" smtClean="0"/>
              <a:t>deviceAddress</a:t>
            </a:r>
            <a:r>
              <a:rPr lang="en-US" dirty="0" smtClean="0"/>
              <a:t> )</a:t>
            </a:r>
          </a:p>
          <a:p>
            <a:pPr lvl="2"/>
            <a:r>
              <a:rPr lang="en-US" dirty="0" smtClean="0"/>
              <a:t>Move the head to the correct position</a:t>
            </a:r>
          </a:p>
          <a:p>
            <a:pPr lvl="2"/>
            <a:r>
              <a:rPr lang="en-US" dirty="0" smtClean="0"/>
              <a:t>Usually not necessary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1607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Sync vs Asynchronous I/O</a:t>
            </a:r>
            <a:endParaRPr lang="en-US" dirty="0"/>
          </a:p>
        </p:txBody>
      </p:sp>
      <p:sp>
        <p:nvSpPr>
          <p:cNvPr id="45059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Synchronous I/O</a:t>
            </a:r>
          </a:p>
          <a:p>
            <a:pPr lvl="1"/>
            <a:r>
              <a:rPr lang="en-US" dirty="0" smtClean="0"/>
              <a:t>read() or write() will block a user process until its completion</a:t>
            </a:r>
          </a:p>
          <a:p>
            <a:pPr lvl="1"/>
            <a:r>
              <a:rPr lang="en-US" dirty="0" smtClean="0"/>
              <a:t>OS overlaps synchronous I/O with another process</a:t>
            </a:r>
          </a:p>
          <a:p>
            <a:r>
              <a:rPr lang="en-US" dirty="0" smtClean="0"/>
              <a:t>Asynchronous I/O</a:t>
            </a:r>
          </a:p>
          <a:p>
            <a:pPr lvl="1"/>
            <a:r>
              <a:rPr lang="en-US" dirty="0" smtClean="0"/>
              <a:t>read() or write() will not block a user process</a:t>
            </a:r>
          </a:p>
          <a:p>
            <a:pPr lvl="2"/>
            <a:r>
              <a:rPr lang="en-US" dirty="0" smtClean="0"/>
              <a:t>returns -1, sets error code EAGAIN or EWOULDBLOCK</a:t>
            </a:r>
          </a:p>
          <a:p>
            <a:pPr lvl="1"/>
            <a:r>
              <a:rPr lang="en-US" dirty="0" smtClean="0"/>
              <a:t>user process can do other things before I/O completion</a:t>
            </a:r>
          </a:p>
          <a:p>
            <a:pPr lvl="1"/>
            <a:r>
              <a:rPr lang="en-US" dirty="0" smtClean="0"/>
              <a:t>can determine if device is ready with select() / poll() / </a:t>
            </a:r>
            <a:r>
              <a:rPr lang="en-US" dirty="0" err="1" smtClean="0"/>
              <a:t>epoll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Make asynchronous with O_NONBLOCK option on open() or later via </a:t>
            </a:r>
            <a:r>
              <a:rPr lang="en-US" dirty="0" err="1" smtClean="0"/>
              <a:t>fcntl</a:t>
            </a:r>
            <a:r>
              <a:rPr lang="en-US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619964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Finished our tour through the stack</a:t>
            </a:r>
            <a:endParaRPr lang="en-US" dirty="0"/>
          </a:p>
        </p:txBody>
      </p:sp>
      <p:pic>
        <p:nvPicPr>
          <p:cNvPr id="3789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852" y="1945697"/>
            <a:ext cx="5064409" cy="3576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47819" y="2935390"/>
            <a:ext cx="10403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952" y="1945065"/>
            <a:ext cx="161907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0" dirty="0" smtClean="0">
                <a:latin typeface="Gill Sans MT"/>
                <a:cs typeface="Gill Sans MT"/>
              </a:rPr>
              <a:t>User space</a:t>
            </a:r>
          </a:p>
        </p:txBody>
      </p:sp>
    </p:spTree>
    <p:extLst>
      <p:ext uri="{BB962C8B-B14F-4D97-AF65-F5344CB8AC3E}">
        <p14:creationId xmlns:p14="http://schemas.microsoft.com/office/powerpoint/2010/main" val="4030452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Blocked Read</a:t>
            </a:r>
            <a:endParaRPr lang="en-US"/>
          </a:p>
        </p:txBody>
      </p:sp>
      <p:sp>
        <p:nvSpPr>
          <p:cNvPr id="4608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 process issues a read call which executes a system call</a:t>
            </a:r>
          </a:p>
          <a:p>
            <a:r>
              <a:rPr lang="en-US" dirty="0" smtClean="0"/>
              <a:t>System call code checks for correctness</a:t>
            </a:r>
          </a:p>
          <a:p>
            <a:r>
              <a:rPr lang="en-US" dirty="0" smtClean="0"/>
              <a:t>If it needs to perform I/O, it will issue a device driver call</a:t>
            </a:r>
          </a:p>
          <a:p>
            <a:r>
              <a:rPr lang="en-US" dirty="0" smtClean="0"/>
              <a:t>Device driver allocates a buffer for read and schedules I/O</a:t>
            </a:r>
          </a:p>
          <a:p>
            <a:r>
              <a:rPr lang="en-US" dirty="0" smtClean="0"/>
              <a:t>Controller performs DMA data transfer</a:t>
            </a:r>
          </a:p>
          <a:p>
            <a:r>
              <a:rPr lang="en-US" dirty="0" smtClean="0"/>
              <a:t>Block the current process and schedule a ready process</a:t>
            </a:r>
          </a:p>
          <a:p>
            <a:r>
              <a:rPr lang="en-US" dirty="0" smtClean="0"/>
              <a:t>Device generates an interrupt on completion</a:t>
            </a:r>
          </a:p>
          <a:p>
            <a:r>
              <a:rPr lang="en-US" dirty="0" smtClean="0"/>
              <a:t>Interrupt handler stores any data and notifies completion</a:t>
            </a:r>
          </a:p>
          <a:p>
            <a:r>
              <a:rPr lang="en-US" dirty="0" smtClean="0"/>
              <a:t>Move data from kernel buffer to user buffer</a:t>
            </a:r>
          </a:p>
          <a:p>
            <a:r>
              <a:rPr lang="en-US" dirty="0" smtClean="0"/>
              <a:t>Wakeup blocked process (make it ready)</a:t>
            </a:r>
          </a:p>
          <a:p>
            <a:r>
              <a:rPr lang="en-US" dirty="0" smtClean="0"/>
              <a:t>User process continues when it is scheduled to run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924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Does I/O overhead matter?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Many steps involved in data I/O</a:t>
            </a:r>
          </a:p>
          <a:p>
            <a:r>
              <a:rPr lang="en-US" dirty="0" smtClean="0"/>
              <a:t>How much can this overhead slow us down?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9400" y="3657600"/>
            <a:ext cx="282729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smtClean="0">
                <a:solidFill>
                  <a:srgbClr val="E85810"/>
                </a:solidFill>
                <a:latin typeface="Gill Sans MT"/>
                <a:cs typeface="Gill Sans MT"/>
              </a:rPr>
              <a:t>Experiment: </a:t>
            </a:r>
            <a:r>
              <a:rPr lang="en-US" sz="2200" dirty="0" err="1" smtClean="0">
                <a:solidFill>
                  <a:srgbClr val="E85810"/>
                </a:solidFill>
                <a:latin typeface="Monaco"/>
                <a:cs typeface="Monaco"/>
              </a:rPr>
              <a:t>copy.c</a:t>
            </a:r>
            <a:endParaRPr lang="en-US" sz="2200" dirty="0">
              <a:solidFill>
                <a:srgbClr val="E85810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5179831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Interrupt Handling</a:t>
            </a:r>
            <a:endParaRPr lang="en-US"/>
          </a:p>
        </p:txBody>
      </p:sp>
      <p:sp>
        <p:nvSpPr>
          <p:cNvPr id="3891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Save context (registers that </a:t>
            </a:r>
            <a:r>
              <a:rPr lang="en-US" dirty="0" err="1" smtClean="0"/>
              <a:t>hw</a:t>
            </a:r>
            <a:r>
              <a:rPr lang="en-US" dirty="0" smtClean="0"/>
              <a:t> hasn’t saved, PSW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r>
              <a:rPr lang="en-US" dirty="0" smtClean="0"/>
              <a:t>Mask interrupts if needed</a:t>
            </a:r>
          </a:p>
          <a:p>
            <a:r>
              <a:rPr lang="en-US" dirty="0" smtClean="0"/>
              <a:t>Set up a context for interrupt service</a:t>
            </a:r>
          </a:p>
          <a:p>
            <a:r>
              <a:rPr lang="en-US" dirty="0" smtClean="0"/>
              <a:t>Set up a stack for interrupt service</a:t>
            </a:r>
          </a:p>
          <a:p>
            <a:r>
              <a:rPr lang="en-US" dirty="0" smtClean="0"/>
              <a:t>Acknowledge interrupt controller, perhaps enable it</a:t>
            </a:r>
          </a:p>
          <a:p>
            <a:r>
              <a:rPr lang="en-US" dirty="0" smtClean="0"/>
              <a:t>Save entire context to PCB</a:t>
            </a:r>
          </a:p>
          <a:p>
            <a:r>
              <a:rPr lang="en-US" b="1" dirty="0" smtClean="0">
                <a:solidFill>
                  <a:srgbClr val="EF5B00"/>
                </a:solidFill>
              </a:rPr>
              <a:t>Run the interrupt service</a:t>
            </a:r>
          </a:p>
          <a:p>
            <a:r>
              <a:rPr lang="en-US" dirty="0" smtClean="0"/>
              <a:t>Unmask interrupts if needed</a:t>
            </a:r>
          </a:p>
          <a:p>
            <a:r>
              <a:rPr lang="en-US" dirty="0" smtClean="0"/>
              <a:t>Possibly change the priority of the process</a:t>
            </a:r>
          </a:p>
          <a:p>
            <a:r>
              <a:rPr lang="en-US" dirty="0" smtClean="0"/>
              <a:t>Run the scheduler</a:t>
            </a:r>
          </a:p>
          <a:p>
            <a:r>
              <a:rPr lang="en-US" dirty="0" smtClean="0"/>
              <a:t>Then OS will set up context for next process, load registers and PSW, start running process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51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range lectur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500" b="0" dirty="0" err="1" smtClean="0">
            <a:latin typeface="Gill Sans MT"/>
            <a:cs typeface="Gill Sans MT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lecture.thmx</Template>
  <TotalTime>10720</TotalTime>
  <Words>1792</Words>
  <Application>Microsoft Macintosh PowerPoint</Application>
  <PresentationFormat>On-screen Show (4:3)</PresentationFormat>
  <Paragraphs>250</Paragraphs>
  <Slides>23</Slides>
  <Notes>6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Orange lecture</vt:lpstr>
      <vt:lpstr>I/O systems</vt:lpstr>
      <vt:lpstr>Input and Output</vt:lpstr>
      <vt:lpstr>How does the CPU talk to devices?</vt:lpstr>
      <vt:lpstr>Review: Computer Architecture</vt:lpstr>
      <vt:lpstr>Programmed Input Device</vt:lpstr>
      <vt:lpstr>Programmed Output Device</vt:lpstr>
      <vt:lpstr>Direct Memory Access (DMA)</vt:lpstr>
      <vt:lpstr>Memory-mapped I/O</vt:lpstr>
      <vt:lpstr>Polling- vs. Interrupt-driven I/O</vt:lpstr>
      <vt:lpstr>Polling- vs. Interrupt-driven I/O</vt:lpstr>
      <vt:lpstr>How Interrupts are implemented</vt:lpstr>
      <vt:lpstr>I/O Software Stack</vt:lpstr>
      <vt:lpstr>Device drivers</vt:lpstr>
      <vt:lpstr>Typical Device Driver Design</vt:lpstr>
      <vt:lpstr>Device Driver Behavior</vt:lpstr>
      <vt:lpstr>Types of I/O Devices</vt:lpstr>
      <vt:lpstr>Char/Block Device Interfaces</vt:lpstr>
      <vt:lpstr>User-level interfaces: syscalls</vt:lpstr>
      <vt:lpstr>Sync vs Asynchronous I/O</vt:lpstr>
      <vt:lpstr>Finished our tour through the stack</vt:lpstr>
      <vt:lpstr>Example: Blocked Read</vt:lpstr>
      <vt:lpstr>Does I/O overhead matter?</vt:lpstr>
      <vt:lpstr>Interrupt Handling</vt:lpstr>
    </vt:vector>
  </TitlesOfParts>
  <Company>University of Illinois at Urbana-Champaign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Achieving Synchronization</dc:title>
  <dc:creator>Philip Godfrey</dc:creator>
  <cp:lastModifiedBy>Philip Godfrey</cp:lastModifiedBy>
  <cp:revision>663</cp:revision>
  <cp:lastPrinted>2014-04-23T11:01:34Z</cp:lastPrinted>
  <dcterms:created xsi:type="dcterms:W3CDTF">2012-03-12T04:23:55Z</dcterms:created>
  <dcterms:modified xsi:type="dcterms:W3CDTF">2014-04-30T16:03:58Z</dcterms:modified>
</cp:coreProperties>
</file>